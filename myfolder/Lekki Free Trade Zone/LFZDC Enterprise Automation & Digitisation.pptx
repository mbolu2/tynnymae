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omments/modernComment_101_C4B2FFFE.xml" ContentType="application/vnd.ms-powerpoint.comments+xml"/>
  <Override PartName="/ppt/comments/modernComment_7FFFDFD7_67F4CC9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7_B4D203D.xml" ContentType="application/vnd.ms-powerpoint.comments+xml"/>
  <Override PartName="/ppt/comments/modernComment_143A_36696F03.xml" ContentType="application/vnd.ms-powerpoint.comments+xml"/>
  <Override PartName="/ppt/comments/modernComment_143B_C4395BDA.xml" ContentType="application/vnd.ms-powerpoint.comments+xml"/>
  <Override PartName="/ppt/comments/modernComment_108_D2B3D29F.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43E_1D847440.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8" r:id="rId2"/>
    <p:sldMasterId id="2147483676" r:id="rId3"/>
  </p:sldMasterIdLst>
  <p:notesMasterIdLst>
    <p:notesMasterId r:id="rId64"/>
  </p:notesMasterIdLst>
  <p:sldIdLst>
    <p:sldId id="257" r:id="rId4"/>
    <p:sldId id="2147475415" r:id="rId5"/>
    <p:sldId id="258" r:id="rId6"/>
    <p:sldId id="260" r:id="rId7"/>
    <p:sldId id="5186" r:id="rId8"/>
    <p:sldId id="5174" r:id="rId9"/>
    <p:sldId id="2147475433" r:id="rId10"/>
    <p:sldId id="2147475420" r:id="rId11"/>
    <p:sldId id="5175" r:id="rId12"/>
    <p:sldId id="2147475434" r:id="rId13"/>
    <p:sldId id="268" r:id="rId14"/>
    <p:sldId id="5164" r:id="rId15"/>
    <p:sldId id="5177" r:id="rId16"/>
    <p:sldId id="5165" r:id="rId17"/>
    <p:sldId id="5166" r:id="rId18"/>
    <p:sldId id="5167" r:id="rId19"/>
    <p:sldId id="5168" r:id="rId20"/>
    <p:sldId id="5169" r:id="rId21"/>
    <p:sldId id="5170" r:id="rId22"/>
    <p:sldId id="5171" r:id="rId23"/>
    <p:sldId id="5172" r:id="rId24"/>
    <p:sldId id="263" r:id="rId25"/>
    <p:sldId id="2147475435" r:id="rId26"/>
    <p:sldId id="5178" r:id="rId27"/>
    <p:sldId id="2147475436" r:id="rId28"/>
    <p:sldId id="5179" r:id="rId29"/>
    <p:sldId id="2147475437" r:id="rId30"/>
    <p:sldId id="265" r:id="rId31"/>
    <p:sldId id="2147475438" r:id="rId32"/>
    <p:sldId id="5176" r:id="rId33"/>
    <p:sldId id="264" r:id="rId34"/>
    <p:sldId id="5180" r:id="rId35"/>
    <p:sldId id="261" r:id="rId36"/>
    <p:sldId id="259" r:id="rId37"/>
    <p:sldId id="2147475414" r:id="rId38"/>
    <p:sldId id="5181" r:id="rId39"/>
    <p:sldId id="2147475417" r:id="rId40"/>
    <p:sldId id="266" r:id="rId41"/>
    <p:sldId id="2147475418" r:id="rId42"/>
    <p:sldId id="2147475419" r:id="rId43"/>
    <p:sldId id="275" r:id="rId44"/>
    <p:sldId id="2147475422" r:id="rId45"/>
    <p:sldId id="2147475421" r:id="rId46"/>
    <p:sldId id="281" r:id="rId47"/>
    <p:sldId id="316" r:id="rId48"/>
    <p:sldId id="5182" r:id="rId49"/>
    <p:sldId id="299" r:id="rId50"/>
    <p:sldId id="300" r:id="rId51"/>
    <p:sldId id="5184" r:id="rId52"/>
    <p:sldId id="5185" r:id="rId53"/>
    <p:sldId id="2147475424" r:id="rId54"/>
    <p:sldId id="318" r:id="rId55"/>
    <p:sldId id="319" r:id="rId56"/>
    <p:sldId id="320" r:id="rId57"/>
    <p:sldId id="321" r:id="rId58"/>
    <p:sldId id="322" r:id="rId59"/>
    <p:sldId id="323" r:id="rId60"/>
    <p:sldId id="324" r:id="rId61"/>
    <p:sldId id="2147475413" r:id="rId62"/>
    <p:sldId id="2147475416" r:id="rId63"/>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4D872F-0920-DA53-CD58-9AF0FF277C7A}" name="Romanus Eke" initials="RE" userId="S::Romanus.Eke@heirstechnologies.com::37660edc-4075-4d4e-9a5f-26e0ebe45adf" providerId="AD"/>
  <p188:author id="{8205E86F-8CBB-7CEE-94C6-6038038B9CBA}" name="Marvelous Abolade" initials="" userId="S::Marvelous.Abolade@heirstechnologies.com::35472caf-5c2d-4f1f-9b64-061a2b671f0b" providerId="AD"/>
  <p188:author id="{8C69D879-8108-DD95-6FB9-6345FE42C963}" name="Victor Adeife" initials="VA" userId="S::Victor.Adeife@heirstechnologies.com::b83a132e-077d-4912-9396-efc0a8870af4" providerId="AD"/>
  <p188:author id="{1B23D5CB-A0A1-37CD-E317-611CDCD3563F}" name="Oluwaseun Omotunde" initials="" userId="S::Oluwaseun.Omotunde@heirstechnologies.com::db626132-67de-4f62-a78d-e7c272a4db0d" providerId="AD"/>
  <p188:author id="{10EE3FE1-29B2-30D7-69F2-5F76836052BE}" name="Anthony Odion" initials="AO" userId="S::anthony.odion@heirstechnologies.com::c37e3ef4-43e8-4cb8-bd41-b641b4d8d74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23EB6C-A740-462E-8F3A-68F5AECFC603}" v="771" dt="2026-03-05T15:18:59.852"/>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637" autoAdjust="0"/>
    <p:restoredTop sz="94660"/>
  </p:normalViewPr>
  <p:slideViewPr>
    <p:cSldViewPr snapToGrid="0">
      <p:cViewPr varScale="1">
        <p:scale>
          <a:sx n="66" d="100"/>
          <a:sy n="66" d="100"/>
        </p:scale>
        <p:origin x="40"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notesMaster" Target="notesMasters/notesMaster1.xml"/><Relationship Id="rId69"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comments/modernComment_7FFFDFD7_67F4CC96.xml><?xml version="1.0" encoding="utf-8"?>
<p188:cmLst xmlns:a="http://schemas.openxmlformats.org/drawingml/2006/main" xmlns:r="http://schemas.openxmlformats.org/officeDocument/2006/relationships" xmlns:p188="http://schemas.microsoft.com/office/powerpoint/2018/8/main">
  <p188:cm id="{F9B92F9B-E962-4E04-AEAF-4C2FDC8ED115}" authorId="{8C69D879-8108-DD95-6FB9-6345FE42C963}" status="resolved" created="2026-02-13T12:55:10.490" complete="100000">
    <pc:sldMkLst xmlns:pc="http://schemas.microsoft.com/office/powerpoint/2013/main/command">
      <pc:docMk/>
      <pc:sldMk cId="1744096406" sldId="2147475415"/>
    </pc:sldMkLst>
    <p188:txBody>
      <a:bodyPr/>
      <a:lstStyle/>
      <a:p>
        <a:r>
          <a:rPr lang="en-NG"/>
          <a:t>[@Marvelous Abolade] Kindly update this slide</a:t>
        </a:r>
      </a:p>
    </p188:txBody>
  </p188:cm>
</p188:cmLst>
</file>

<file path=ppt/comments/modernComment_101_C4B2FFFE.xml><?xml version="1.0" encoding="utf-8"?>
<p188:cmLst xmlns:a="http://schemas.openxmlformats.org/drawingml/2006/main" xmlns:r="http://schemas.openxmlformats.org/officeDocument/2006/relationships" xmlns:p188="http://schemas.microsoft.com/office/powerpoint/2018/8/main">
  <p188:cm id="{BBC42321-E65E-4A3F-9DD5-BDACAF6483EB}" authorId="{8C69D879-8108-DD95-6FB9-6345FE42C963}" created="2026-02-13T12:54:53.152" startDate="2026-02-13T12:54:53.152" dueDate="2026-02-13T12:54:53.152" assignedTo="{1B23D5CB-A0A1-37CD-E317-611CDCD3563F}" title="@Oluwaseun Omotunde Please help review the entire doc vis-a-vis the requirement. If possible, we can submit this weekend or Monday">
    <pc:sldMkLst xmlns:pc="http://schemas.microsoft.com/office/powerpoint/2013/main/command">
      <pc:docMk/>
      <pc:sldMk cId="3300065278" sldId="257"/>
    </pc:sldMkLst>
    <p188:txBody>
      <a:bodyPr/>
      <a:lstStyle/>
      <a:p>
        <a:r>
          <a:rPr lang="en-NG"/>
          <a:t>[@Oluwaseun Omotunde] Please help review the entire doc vis-a-vis the requirement.
If possible, we can submit this weekend or Monday</a:t>
        </a:r>
      </a:p>
    </p188:txBody>
    <p188:extLst>
      <p:ext xmlns:p="http://schemas.openxmlformats.org/presentationml/2006/main" uri="{5BB2D875-25FF-4072-B9AC-8F64D62656EB}">
        <p228:taskDetails xmlns:p228="http://schemas.microsoft.com/office/powerpoint/2022/08/main">
          <p228:history>
            <p228:event time="2026-02-13T12:54:53.152" id="{52F192A6-BABE-4241-8C13-E9AA26E4D7FA}">
              <p228:atrbtn authorId="{8C69D879-8108-DD95-6FB9-6345FE42C963}"/>
              <p228:anchr>
                <p228:comment id="{BBC42321-E65E-4A3F-9DD5-BDACAF6483EB}"/>
              </p228:anchr>
              <p228:add/>
            </p228:event>
            <p228:event time="2026-02-13T12:54:53.152" id="{2E004E90-30C9-4BC1-8477-473AC444D703}">
              <p228:atrbtn authorId="{8C69D879-8108-DD95-6FB9-6345FE42C963}"/>
              <p228:anchr>
                <p228:comment id="{BBC42321-E65E-4A3F-9DD5-BDACAF6483EB}"/>
              </p228:anchr>
              <p228:asgn authorId="{1B23D5CB-A0A1-37CD-E317-611CDCD3563F}"/>
            </p228:event>
            <p228:event time="2026-02-13T12:54:53.152" id="{6F77D070-E90A-442D-8B1C-54383D4E32DB}">
              <p228:atrbtn authorId="{8C69D879-8108-DD95-6FB9-6345FE42C963}"/>
              <p228:anchr>
                <p228:comment id="{BBC42321-E65E-4A3F-9DD5-BDACAF6483EB}"/>
              </p228:anchr>
              <p228:title val="@Oluwaseun Omotunde Please help review the entire doc vis-a-vis the requirement. If possible, we can submit this weekend or Monday"/>
            </p228:event>
            <p228:event time="2026-02-13T12:54:53.152" id="{BB0B9834-4C5A-4EE3-AB54-748739277F65}">
              <p228:atrbtn authorId="{8C69D879-8108-DD95-6FB9-6345FE42C963}"/>
              <p228:anchr>
                <p228:comment id="{BBC42321-E65E-4A3F-9DD5-BDACAF6483EB}"/>
              </p228:anchr>
              <p228:date stDt="2026-02-13T12:54:53.152" endDt="2026-02-13T12:54:53.152"/>
            </p228:event>
          </p228:history>
        </p228:taskDetails>
      </p:ext>
    </p188:extLst>
  </p188:cm>
</p188:cmLst>
</file>

<file path=ppt/comments/modernComment_107_B4D203D.xml><?xml version="1.0" encoding="utf-8"?>
<p188:cmLst xmlns:a="http://schemas.openxmlformats.org/drawingml/2006/main" xmlns:r="http://schemas.openxmlformats.org/officeDocument/2006/relationships" xmlns:p188="http://schemas.microsoft.com/office/powerpoint/2018/8/main">
  <p188:cm id="{AEB9144C-1C94-4990-861E-563043724799}" authorId="{8C69D879-8108-DD95-6FB9-6345FE42C963}" created="2026-02-12T08:47:54.389" startDate="2026-02-12T08:47:54.389" dueDate="2026-02-12T08:47:54.389" assignedTo="{8205E86F-8CBB-7CEE-94C6-6038038B9CBA}" title="@Marvelous Abolade improve this pls">
    <pc:sldMkLst xmlns:pc="http://schemas.microsoft.com/office/powerpoint/2013/main/command">
      <pc:docMk/>
      <pc:sldMk cId="189603901" sldId="263"/>
    </pc:sldMkLst>
    <p188:txBody>
      <a:bodyPr/>
      <a:lstStyle/>
      <a:p>
        <a:r>
          <a:rPr lang="en-NG"/>
          <a:t>[@Marvelous Abolade] improve this pls</a:t>
        </a:r>
      </a:p>
    </p188:txBody>
    <p188:extLst>
      <p:ext xmlns:p="http://schemas.openxmlformats.org/presentationml/2006/main" uri="{5BB2D875-25FF-4072-B9AC-8F64D62656EB}">
        <p228:taskDetails xmlns:p228="http://schemas.microsoft.com/office/powerpoint/2022/08/main">
          <p228:history>
            <p228:event time="2026-02-12T08:47:54.389" id="{C33A27C2-059B-4FB4-B7E5-4D7606A930E6}">
              <p228:atrbtn authorId="{8C69D879-8108-DD95-6FB9-6345FE42C963}"/>
              <p228:anchr>
                <p228:comment id="{AEB9144C-1C94-4990-861E-563043724799}"/>
              </p228:anchr>
              <p228:add/>
            </p228:event>
            <p228:event time="2026-02-12T08:47:54.389" id="{70B14B7F-C791-4FC1-90D5-F6FAA8B8FE25}">
              <p228:atrbtn authorId="{8C69D879-8108-DD95-6FB9-6345FE42C963}"/>
              <p228:anchr>
                <p228:comment id="{AEB9144C-1C94-4990-861E-563043724799}"/>
              </p228:anchr>
              <p228:asgn authorId="{8205E86F-8CBB-7CEE-94C6-6038038B9CBA}"/>
            </p228:event>
            <p228:event time="2026-02-12T08:47:54.389" id="{9CECF828-7B34-4D77-A49A-DCA48A450B92}">
              <p228:atrbtn authorId="{8C69D879-8108-DD95-6FB9-6345FE42C963}"/>
              <p228:anchr>
                <p228:comment id="{AEB9144C-1C94-4990-861E-563043724799}"/>
              </p228:anchr>
              <p228:title val="@Marvelous Abolade improve this pls"/>
            </p228:event>
            <p228:event time="2026-02-12T08:47:54.389" id="{608738ED-A7EA-4B9E-B569-214DA1905A13}">
              <p228:atrbtn authorId="{8C69D879-8108-DD95-6FB9-6345FE42C963}"/>
              <p228:anchr>
                <p228:comment id="{AEB9144C-1C94-4990-861E-563043724799}"/>
              </p228:anchr>
              <p228:date stDt="2026-02-12T08:47:54.389" endDt="2026-02-12T08:47:54.389"/>
            </p228:event>
          </p228:history>
        </p228:taskDetails>
      </p:ext>
    </p188:extLst>
  </p188:cm>
</p188:cmLst>
</file>

<file path=ppt/comments/modernComment_108_D2B3D29F.xml><?xml version="1.0" encoding="utf-8"?>
<p188:cmLst xmlns:a="http://schemas.openxmlformats.org/drawingml/2006/main" xmlns:r="http://schemas.openxmlformats.org/officeDocument/2006/relationships" xmlns:p188="http://schemas.microsoft.com/office/powerpoint/2018/8/main">
  <p188:cm id="{E57082A1-AC89-486C-810A-310C5001C9B5}" authorId="{8C69D879-8108-DD95-6FB9-6345FE42C963}" created="2026-02-12T08:46:26.095" startDate="2026-02-12T08:46:26.095" dueDate="2026-02-12T08:46:26.095" assignedTo="{8C69D879-8108-DD95-6FB9-6345FE42C963}" title="@Victor Adeife re-look">
    <pc:sldMkLst xmlns:pc="http://schemas.microsoft.com/office/powerpoint/2013/main/command">
      <pc:docMk/>
      <pc:sldMk cId="3535000223" sldId="264"/>
    </pc:sldMkLst>
    <p188:txBody>
      <a:bodyPr/>
      <a:lstStyle/>
      <a:p>
        <a:r>
          <a:rPr lang="en-NG"/>
          <a:t>[@Victor Adeife] re-look</a:t>
        </a:r>
      </a:p>
    </p188:txBody>
    <p188:extLst>
      <p:ext xmlns:p="http://schemas.openxmlformats.org/presentationml/2006/main" uri="{5BB2D875-25FF-4072-B9AC-8F64D62656EB}">
        <p228:taskDetails xmlns:p228="http://schemas.microsoft.com/office/powerpoint/2022/08/main">
          <p228:history>
            <p228:event time="2026-02-12T08:46:26.095" id="{D098C694-56FE-4288-BB26-27F38270D466}">
              <p228:atrbtn authorId="{8C69D879-8108-DD95-6FB9-6345FE42C963}"/>
              <p228:anchr>
                <p228:comment id="{E57082A1-AC89-486C-810A-310C5001C9B5}"/>
              </p228:anchr>
              <p228:add/>
            </p228:event>
            <p228:event time="2026-02-12T08:46:26.095" id="{A922AE59-ACF0-476A-B055-FFC6BFDA8AEF}">
              <p228:atrbtn authorId="{8C69D879-8108-DD95-6FB9-6345FE42C963}"/>
              <p228:anchr>
                <p228:comment id="{E57082A1-AC89-486C-810A-310C5001C9B5}"/>
              </p228:anchr>
              <p228:asgn authorId="{8C69D879-8108-DD95-6FB9-6345FE42C963}"/>
            </p228:event>
            <p228:event time="2026-02-12T08:46:26.095" id="{31D9A76A-C409-48E2-8938-28E94E00395A}">
              <p228:atrbtn authorId="{8C69D879-8108-DD95-6FB9-6345FE42C963}"/>
              <p228:anchr>
                <p228:comment id="{E57082A1-AC89-486C-810A-310C5001C9B5}"/>
              </p228:anchr>
              <p228:title val="@Victor Adeife re-look"/>
            </p228:event>
            <p228:event time="2026-02-12T08:46:26.095" id="{095F604D-7FD9-4F9E-A2BA-C76787964E1B}">
              <p228:atrbtn authorId="{8C69D879-8108-DD95-6FB9-6345FE42C963}"/>
              <p228:anchr>
                <p228:comment id="{E57082A1-AC89-486C-810A-310C5001C9B5}"/>
              </p228:anchr>
              <p228:date stDt="2026-02-12T08:46:26.095" endDt="2026-02-12T08:46:26.095"/>
            </p228:event>
          </p228:history>
        </p228:taskDetails>
      </p:ext>
    </p188:extLst>
  </p188:cm>
</p188:cmLst>
</file>

<file path=ppt/comments/modernComment_143A_36696F03.xml><?xml version="1.0" encoding="utf-8"?>
<p188:cmLst xmlns:a="http://schemas.openxmlformats.org/drawingml/2006/main" xmlns:r="http://schemas.openxmlformats.org/officeDocument/2006/relationships" xmlns:p188="http://schemas.microsoft.com/office/powerpoint/2018/8/main">
  <p188:cm id="{70A09587-A5AC-4F73-8D3F-0A22E4ED6BBD}" authorId="{254D872F-0920-DA53-CD58-9AF0FF277C7A}" status="resolved" created="2026-02-25T12:24:13.828" complete="100000">
    <ac:deMkLst xmlns:ac="http://schemas.microsoft.com/office/drawing/2013/main/command">
      <pc:docMk xmlns:pc="http://schemas.microsoft.com/office/powerpoint/2013/main/command"/>
      <pc:sldMk xmlns:pc="http://schemas.microsoft.com/office/powerpoint/2013/main/command" cId="912879363" sldId="5178"/>
      <ac:spMk id="3" creationId="{E6F0F6C9-A2A4-01B3-6C07-794E59B522A9}"/>
    </ac:deMkLst>
    <p188:replyLst>
      <p188:reply id="{65109ED9-986D-4003-B117-67A44FE7644A}" authorId="{8C69D879-8108-DD95-6FB9-6345FE42C963}" created="2026-02-25T14:28:44.958">
        <p188:txBody>
          <a:bodyPr/>
          <a:lstStyle/>
          <a:p>
            <a:r>
              <a:rPr lang="en-NG"/>
              <a:t>Done</a:t>
            </a:r>
          </a:p>
        </p188:txBody>
      </p188:reply>
    </p188:replyLst>
    <p188:txBody>
      <a:bodyPr/>
      <a:lstStyle/>
      <a:p>
        <a:r>
          <a:rPr lang="en-NG"/>
          <a:t>[@Victor Adeife] Please let’s introduce section slide to separate different aspects of the proposal</a:t>
        </a:r>
      </a:p>
    </p188:txBody>
  </p188:cm>
</p188:cmLst>
</file>

<file path=ppt/comments/modernComment_143B_C4395BDA.xml><?xml version="1.0" encoding="utf-8"?>
<p188:cmLst xmlns:a="http://schemas.openxmlformats.org/drawingml/2006/main" xmlns:r="http://schemas.openxmlformats.org/officeDocument/2006/relationships" xmlns:p188="http://schemas.microsoft.com/office/powerpoint/2018/8/main">
  <p188:cm id="{0926C7CE-DA06-43B2-A4BD-8D39ABC4DA79}" authorId="{254D872F-0920-DA53-CD58-9AF0FF277C7A}" status="resolved" created="2026-02-25T12:25:53.897" complete="100000">
    <ac:deMkLst xmlns:ac="http://schemas.microsoft.com/office/drawing/2013/main/command">
      <pc:docMk xmlns:pc="http://schemas.microsoft.com/office/powerpoint/2013/main/command"/>
      <pc:sldMk xmlns:pc="http://schemas.microsoft.com/office/powerpoint/2013/main/command" cId="3292093402" sldId="5179"/>
      <ac:spMk id="2" creationId="{C748DED1-719A-AB93-6FAA-8231DD417F86}"/>
    </ac:deMkLst>
    <p188:replyLst>
      <p188:reply id="{C2987F92-A147-4AA9-8F3B-7BD832496ACD}" authorId="{8C69D879-8108-DD95-6FB9-6345FE42C963}" created="2026-02-25T14:28:52.648">
        <p188:txBody>
          <a:bodyPr/>
          <a:lstStyle/>
          <a:p>
            <a:r>
              <a:rPr lang="en-NG"/>
              <a:t>Done
</a:t>
            </a:r>
          </a:p>
        </p188:txBody>
      </p188:reply>
    </p188:replyLst>
    <p188:txBody>
      <a:bodyPr/>
      <a:lstStyle/>
      <a:p>
        <a:r>
          <a:rPr lang="en-NG"/>
          <a:t>[@Victor Adeife]  Please let’s introduce section slide to separate different aspects of the proposal. Also, let’s define PUSD</a:t>
        </a:r>
      </a:p>
    </p188:txBody>
  </p188:cm>
</p188:cmLst>
</file>

<file path=ppt/comments/modernComment_143E_1D847440.xml><?xml version="1.0" encoding="utf-8"?>
<p188:cmLst xmlns:a="http://schemas.openxmlformats.org/drawingml/2006/main" xmlns:r="http://schemas.openxmlformats.org/officeDocument/2006/relationships" xmlns:p188="http://schemas.microsoft.com/office/powerpoint/2018/8/main">
  <p188:cm id="{0CE8979B-B05A-4EDB-8FC3-C9F00F330D24}" authorId="{8C69D879-8108-DD95-6FB9-6345FE42C963}" created="2026-02-12T08:46:02.179" startDate="2026-02-12T08:46:02.179" dueDate="2026-02-12T08:46:02.179" assignedTo="{8205E86F-8CBB-7CEE-94C6-6038038B9CBA}" title="@Marvelous Abolade to improve">
    <pc:sldMkLst xmlns:pc="http://schemas.microsoft.com/office/powerpoint/2013/main/command">
      <pc:docMk/>
      <pc:sldMk cId="495219776" sldId="5182"/>
    </pc:sldMkLst>
    <p188:txBody>
      <a:bodyPr/>
      <a:lstStyle/>
      <a:p>
        <a:r>
          <a:rPr lang="en-NG"/>
          <a:t>[@Marvelous Abolade] to improve</a:t>
        </a:r>
      </a:p>
    </p188:txBody>
    <p188:extLst>
      <p:ext xmlns:p="http://schemas.openxmlformats.org/presentationml/2006/main" uri="{5BB2D875-25FF-4072-B9AC-8F64D62656EB}">
        <p228:taskDetails xmlns:p228="http://schemas.microsoft.com/office/powerpoint/2022/08/main">
          <p228:history>
            <p228:event time="2026-02-12T08:46:02.179" id="{E357FA15-C4C4-42F9-ABBE-C243AAF0B976}">
              <p228:atrbtn authorId="{8C69D879-8108-DD95-6FB9-6345FE42C963}"/>
              <p228:anchr>
                <p228:comment id="{0CE8979B-B05A-4EDB-8FC3-C9F00F330D24}"/>
              </p228:anchr>
              <p228:add/>
            </p228:event>
            <p228:event time="2026-02-12T08:46:02.179" id="{A4C7FC22-4D7B-4BE5-954C-EAC5693717EF}">
              <p228:atrbtn authorId="{8C69D879-8108-DD95-6FB9-6345FE42C963}"/>
              <p228:anchr>
                <p228:comment id="{0CE8979B-B05A-4EDB-8FC3-C9F00F330D24}"/>
              </p228:anchr>
              <p228:asgn authorId="{8205E86F-8CBB-7CEE-94C6-6038038B9CBA}"/>
            </p228:event>
            <p228:event time="2026-02-12T08:46:02.179" id="{8AD4759D-0BFA-4C7E-8A4D-A8DC109D0CE7}">
              <p228:atrbtn authorId="{8C69D879-8108-DD95-6FB9-6345FE42C963}"/>
              <p228:anchr>
                <p228:comment id="{0CE8979B-B05A-4EDB-8FC3-C9F00F330D24}"/>
              </p228:anchr>
              <p228:title val="@Marvelous Abolade to improve"/>
            </p228:event>
            <p228:event time="2026-02-12T08:46:02.179" id="{C88E3695-93B2-4C71-90BB-976B50061207}">
              <p228:atrbtn authorId="{8C69D879-8108-DD95-6FB9-6345FE42C963}"/>
              <p228:anchr>
                <p228:comment id="{0CE8979B-B05A-4EDB-8FC3-C9F00F330D24}"/>
              </p228:anchr>
              <p228:date stDt="2026-02-12T08:46:02.179" endDt="2026-02-12T08:46:02.179"/>
            </p228:event>
          </p228:history>
        </p228:taskDetails>
      </p:ext>
    </p188:extLst>
  </p188:cm>
</p188:cmLst>
</file>

<file path=ppt/diagrams/_rels/data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ata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svg"/><Relationship Id="rId1" Type="http://schemas.openxmlformats.org/officeDocument/2006/relationships/image" Target="../media/image54.svg"/><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diagrams/_rels/data5.xml.rels><?xml version="1.0" encoding="UTF-8" standalone="yes"?>
<Relationships xmlns="http://schemas.openxmlformats.org/package/2006/relationships"><Relationship Id="rId3" Type="http://schemas.openxmlformats.org/officeDocument/2006/relationships/image" Target="../media/image124.svg"/><Relationship Id="rId2" Type="http://schemas.openxmlformats.org/officeDocument/2006/relationships/image" Target="../media/image123.svg"/><Relationship Id="rId1" Type="http://schemas.openxmlformats.org/officeDocument/2006/relationships/image" Target="../media/image122.svg"/><Relationship Id="rId6" Type="http://schemas.openxmlformats.org/officeDocument/2006/relationships/image" Target="../media/image127.svg"/><Relationship Id="rId5" Type="http://schemas.openxmlformats.org/officeDocument/2006/relationships/image" Target="../media/image126.svg"/><Relationship Id="rId4" Type="http://schemas.openxmlformats.org/officeDocument/2006/relationships/image" Target="../media/image1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svg"/><Relationship Id="rId1" Type="http://schemas.openxmlformats.org/officeDocument/2006/relationships/image" Target="../media/image54.svg"/><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image" Target="../media/image5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4.svg"/><Relationship Id="rId2" Type="http://schemas.openxmlformats.org/officeDocument/2006/relationships/image" Target="../media/image123.svg"/><Relationship Id="rId1" Type="http://schemas.openxmlformats.org/officeDocument/2006/relationships/image" Target="../media/image122.svg"/><Relationship Id="rId6" Type="http://schemas.openxmlformats.org/officeDocument/2006/relationships/image" Target="../media/image127.svg"/><Relationship Id="rId5" Type="http://schemas.openxmlformats.org/officeDocument/2006/relationships/image" Target="../media/image126.svg"/><Relationship Id="rId4" Type="http://schemas.openxmlformats.org/officeDocument/2006/relationships/image" Target="../media/image1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09FB66-4044-40D2-8555-7001B9CCE82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FE28131-77AE-46C0-9F9C-05CA0F563E47}">
      <dgm:prSet custT="1"/>
      <dgm:spPr/>
      <dgm:t>
        <a:bodyPr/>
        <a:lstStyle/>
        <a:p>
          <a:pPr>
            <a:lnSpc>
              <a:spcPct val="100000"/>
            </a:lnSpc>
          </a:pPr>
          <a:r>
            <a:rPr lang="en-US" sz="1100" b="0">
              <a:latin typeface="Century Gothic" panose="020B0502020202020204" pitchFamily="34" charset="0"/>
            </a:rPr>
            <a:t>A Tier‑1 ERP</a:t>
          </a:r>
        </a:p>
      </dgm:t>
    </dgm:pt>
    <dgm:pt modelId="{3081B4BE-A441-4F59-8BF7-7E5295DF1DCE}" type="parTrans" cxnId="{20026B05-B242-4A95-8FF6-1ED2ADC52F72}">
      <dgm:prSet/>
      <dgm:spPr/>
      <dgm:t>
        <a:bodyPr/>
        <a:lstStyle/>
        <a:p>
          <a:endParaRPr lang="en-US" sz="1800" b="0">
            <a:latin typeface="Century Gothic" panose="020B0502020202020204" pitchFamily="34" charset="0"/>
          </a:endParaRPr>
        </a:p>
      </dgm:t>
    </dgm:pt>
    <dgm:pt modelId="{54C4D4E9-60D2-4FE0-AC35-4DC3B6D7E280}" type="sibTrans" cxnId="{20026B05-B242-4A95-8FF6-1ED2ADC52F72}">
      <dgm:prSet/>
      <dgm:spPr/>
      <dgm:t>
        <a:bodyPr/>
        <a:lstStyle/>
        <a:p>
          <a:pPr>
            <a:lnSpc>
              <a:spcPct val="100000"/>
            </a:lnSpc>
          </a:pPr>
          <a:endParaRPr lang="en-US" sz="1800" b="0">
            <a:latin typeface="Century Gothic" panose="020B0502020202020204" pitchFamily="34" charset="0"/>
          </a:endParaRPr>
        </a:p>
      </dgm:t>
    </dgm:pt>
    <dgm:pt modelId="{7DF61CD4-256C-4C4A-A211-0727E323EE87}">
      <dgm:prSet custT="1"/>
      <dgm:spPr/>
      <dgm:t>
        <a:bodyPr/>
        <a:lstStyle/>
        <a:p>
          <a:pPr>
            <a:lnSpc>
              <a:spcPct val="100000"/>
            </a:lnSpc>
          </a:pPr>
          <a:r>
            <a:rPr lang="en-US" sz="1100" b="0">
              <a:latin typeface="Century Gothic" panose="020B0502020202020204" pitchFamily="34" charset="0"/>
            </a:rPr>
            <a:t>Specialized Smart Zone &amp; Security Systems</a:t>
          </a:r>
        </a:p>
      </dgm:t>
    </dgm:pt>
    <dgm:pt modelId="{688BF93C-AD17-4A7A-AD41-B0B2FF9B28BA}" type="parTrans" cxnId="{0C2BECE2-D879-48E4-87E9-40742D6B7B2C}">
      <dgm:prSet/>
      <dgm:spPr/>
      <dgm:t>
        <a:bodyPr/>
        <a:lstStyle/>
        <a:p>
          <a:endParaRPr lang="en-US" sz="1800" b="0">
            <a:latin typeface="Century Gothic" panose="020B0502020202020204" pitchFamily="34" charset="0"/>
          </a:endParaRPr>
        </a:p>
      </dgm:t>
    </dgm:pt>
    <dgm:pt modelId="{674BB2E3-F4BE-4CCD-A90C-7B83A5D53DA0}" type="sibTrans" cxnId="{0C2BECE2-D879-48E4-87E9-40742D6B7B2C}">
      <dgm:prSet/>
      <dgm:spPr/>
      <dgm:t>
        <a:bodyPr/>
        <a:lstStyle/>
        <a:p>
          <a:pPr>
            <a:lnSpc>
              <a:spcPct val="100000"/>
            </a:lnSpc>
          </a:pPr>
          <a:endParaRPr lang="en-US" sz="1800" b="0">
            <a:latin typeface="Century Gothic" panose="020B0502020202020204" pitchFamily="34" charset="0"/>
          </a:endParaRPr>
        </a:p>
      </dgm:t>
    </dgm:pt>
    <dgm:pt modelId="{ABA33766-E5A1-4310-B0BB-6E1CA2D5F247}">
      <dgm:prSet custT="1"/>
      <dgm:spPr/>
      <dgm:t>
        <a:bodyPr/>
        <a:lstStyle/>
        <a:p>
          <a:pPr>
            <a:lnSpc>
              <a:spcPct val="100000"/>
            </a:lnSpc>
          </a:pPr>
          <a:r>
            <a:rPr lang="en-US" sz="1100" b="0">
              <a:latin typeface="Century Gothic" panose="020B0502020202020204" pitchFamily="34" charset="0"/>
            </a:rPr>
            <a:t>Enterprise &amp; Investor Self‑Service Portals</a:t>
          </a:r>
        </a:p>
      </dgm:t>
    </dgm:pt>
    <dgm:pt modelId="{44F59BE6-8A09-4E5C-8239-9488D9455BB3}" type="parTrans" cxnId="{41B2F0CF-6B3C-4BCB-B189-8CD10905B975}">
      <dgm:prSet/>
      <dgm:spPr/>
      <dgm:t>
        <a:bodyPr/>
        <a:lstStyle/>
        <a:p>
          <a:endParaRPr lang="en-US" sz="1800" b="0">
            <a:latin typeface="Century Gothic" panose="020B0502020202020204" pitchFamily="34" charset="0"/>
          </a:endParaRPr>
        </a:p>
      </dgm:t>
    </dgm:pt>
    <dgm:pt modelId="{42F79AB1-F620-4F15-9A75-6EBC93D59BE8}" type="sibTrans" cxnId="{41B2F0CF-6B3C-4BCB-B189-8CD10905B975}">
      <dgm:prSet/>
      <dgm:spPr/>
      <dgm:t>
        <a:bodyPr/>
        <a:lstStyle/>
        <a:p>
          <a:pPr>
            <a:lnSpc>
              <a:spcPct val="100000"/>
            </a:lnSpc>
          </a:pPr>
          <a:endParaRPr lang="en-US" sz="1800" b="0">
            <a:latin typeface="Century Gothic" panose="020B0502020202020204" pitchFamily="34" charset="0"/>
          </a:endParaRPr>
        </a:p>
      </dgm:t>
    </dgm:pt>
    <dgm:pt modelId="{3908F386-6B2A-48E2-9729-E3DF3F499D14}">
      <dgm:prSet custT="1"/>
      <dgm:spPr/>
      <dgm:t>
        <a:bodyPr/>
        <a:lstStyle/>
        <a:p>
          <a:pPr>
            <a:lnSpc>
              <a:spcPct val="100000"/>
            </a:lnSpc>
          </a:pPr>
          <a:r>
            <a:rPr lang="en-US" sz="1100" b="0">
              <a:latin typeface="Century Gothic" panose="020B0502020202020204" pitchFamily="34" charset="0"/>
            </a:rPr>
            <a:t>Centralized Document, Records, Analytics, and Integration Layer</a:t>
          </a:r>
        </a:p>
      </dgm:t>
    </dgm:pt>
    <dgm:pt modelId="{614DB808-F9AD-4A1C-AC0B-3996BA3C7D5D}" type="parTrans" cxnId="{D3272D2F-1CB5-4F8D-AF45-EFA90CE89F8E}">
      <dgm:prSet/>
      <dgm:spPr/>
      <dgm:t>
        <a:bodyPr/>
        <a:lstStyle/>
        <a:p>
          <a:endParaRPr lang="en-US" sz="1800" b="0">
            <a:latin typeface="Century Gothic" panose="020B0502020202020204" pitchFamily="34" charset="0"/>
          </a:endParaRPr>
        </a:p>
      </dgm:t>
    </dgm:pt>
    <dgm:pt modelId="{7417A9E4-001F-4F8F-9995-3D392409FED7}" type="sibTrans" cxnId="{D3272D2F-1CB5-4F8D-AF45-EFA90CE89F8E}">
      <dgm:prSet/>
      <dgm:spPr/>
      <dgm:t>
        <a:bodyPr/>
        <a:lstStyle/>
        <a:p>
          <a:endParaRPr lang="en-US" sz="1800" b="0">
            <a:latin typeface="Century Gothic" panose="020B0502020202020204" pitchFamily="34" charset="0"/>
          </a:endParaRPr>
        </a:p>
      </dgm:t>
    </dgm:pt>
    <dgm:pt modelId="{35D42A64-B883-4DCA-9064-AC46DF542D39}" type="pres">
      <dgm:prSet presAssocID="{5C09FB66-4044-40D2-8555-7001B9CCE828}" presName="root" presStyleCnt="0">
        <dgm:presLayoutVars>
          <dgm:dir/>
          <dgm:resizeHandles val="exact"/>
        </dgm:presLayoutVars>
      </dgm:prSet>
      <dgm:spPr/>
    </dgm:pt>
    <dgm:pt modelId="{310C899E-4B5B-425F-A096-3D4B8417736D}" type="pres">
      <dgm:prSet presAssocID="{5C09FB66-4044-40D2-8555-7001B9CCE828}" presName="container" presStyleCnt="0">
        <dgm:presLayoutVars>
          <dgm:dir/>
          <dgm:resizeHandles val="exact"/>
        </dgm:presLayoutVars>
      </dgm:prSet>
      <dgm:spPr/>
    </dgm:pt>
    <dgm:pt modelId="{5F48F308-A561-463A-90C7-C0C82F2F901F}" type="pres">
      <dgm:prSet presAssocID="{BFE28131-77AE-46C0-9F9C-05CA0F563E47}" presName="compNode" presStyleCnt="0"/>
      <dgm:spPr/>
    </dgm:pt>
    <dgm:pt modelId="{7B344A90-FE7F-40AB-A05B-75EAF28E7BE5}" type="pres">
      <dgm:prSet presAssocID="{BFE28131-77AE-46C0-9F9C-05CA0F563E47}" presName="iconBgRect" presStyleLbl="bgShp" presStyleIdx="0" presStyleCnt="4"/>
      <dgm:spPr/>
    </dgm:pt>
    <dgm:pt modelId="{09A49B29-513B-46CC-A4AF-E6B29EC3617C}" type="pres">
      <dgm:prSet presAssocID="{BFE28131-77AE-46C0-9F9C-05CA0F563E4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ierarchy"/>
        </a:ext>
      </dgm:extLst>
    </dgm:pt>
    <dgm:pt modelId="{8C23499D-C0E0-49B0-B3DE-980FDA9206CB}" type="pres">
      <dgm:prSet presAssocID="{BFE28131-77AE-46C0-9F9C-05CA0F563E47}" presName="spaceRect" presStyleCnt="0"/>
      <dgm:spPr/>
    </dgm:pt>
    <dgm:pt modelId="{42468EF5-4B46-4AD7-B385-E74377340280}" type="pres">
      <dgm:prSet presAssocID="{BFE28131-77AE-46C0-9F9C-05CA0F563E47}" presName="textRect" presStyleLbl="revTx" presStyleIdx="0" presStyleCnt="4">
        <dgm:presLayoutVars>
          <dgm:chMax val="1"/>
          <dgm:chPref val="1"/>
        </dgm:presLayoutVars>
      </dgm:prSet>
      <dgm:spPr/>
    </dgm:pt>
    <dgm:pt modelId="{C51D0A70-495C-4F33-81D0-9A8384FE5E66}" type="pres">
      <dgm:prSet presAssocID="{54C4D4E9-60D2-4FE0-AC35-4DC3B6D7E280}" presName="sibTrans" presStyleLbl="sibTrans2D1" presStyleIdx="0" presStyleCnt="0"/>
      <dgm:spPr/>
    </dgm:pt>
    <dgm:pt modelId="{5A3CF068-FB96-4711-A65C-28B7AF213F14}" type="pres">
      <dgm:prSet presAssocID="{7DF61CD4-256C-4C4A-A211-0727E323EE87}" presName="compNode" presStyleCnt="0"/>
      <dgm:spPr/>
    </dgm:pt>
    <dgm:pt modelId="{D815035A-6812-4D51-89D9-907C38990742}" type="pres">
      <dgm:prSet presAssocID="{7DF61CD4-256C-4C4A-A211-0727E323EE87}" presName="iconBgRect" presStyleLbl="bgShp" presStyleIdx="1" presStyleCnt="4"/>
      <dgm:spPr/>
    </dgm:pt>
    <dgm:pt modelId="{F0A2D351-752C-4448-83E2-2D5DDE0300F2}" type="pres">
      <dgm:prSet presAssocID="{7DF61CD4-256C-4C4A-A211-0727E323EE8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curity Camera"/>
        </a:ext>
      </dgm:extLst>
    </dgm:pt>
    <dgm:pt modelId="{9BC89FDF-41FB-4322-8D88-B99B0DFFBF67}" type="pres">
      <dgm:prSet presAssocID="{7DF61CD4-256C-4C4A-A211-0727E323EE87}" presName="spaceRect" presStyleCnt="0"/>
      <dgm:spPr/>
    </dgm:pt>
    <dgm:pt modelId="{4265DE5B-AAE4-4E1E-A248-9259EA31A56D}" type="pres">
      <dgm:prSet presAssocID="{7DF61CD4-256C-4C4A-A211-0727E323EE87}" presName="textRect" presStyleLbl="revTx" presStyleIdx="1" presStyleCnt="4">
        <dgm:presLayoutVars>
          <dgm:chMax val="1"/>
          <dgm:chPref val="1"/>
        </dgm:presLayoutVars>
      </dgm:prSet>
      <dgm:spPr/>
    </dgm:pt>
    <dgm:pt modelId="{9D5F800B-EFDB-4016-AA20-CCFD6B721A92}" type="pres">
      <dgm:prSet presAssocID="{674BB2E3-F4BE-4CCD-A90C-7B83A5D53DA0}" presName="sibTrans" presStyleLbl="sibTrans2D1" presStyleIdx="0" presStyleCnt="0"/>
      <dgm:spPr/>
    </dgm:pt>
    <dgm:pt modelId="{C7A31B39-4218-4FFB-93D3-47B0BE1075F0}" type="pres">
      <dgm:prSet presAssocID="{ABA33766-E5A1-4310-B0BB-6E1CA2D5F247}" presName="compNode" presStyleCnt="0"/>
      <dgm:spPr/>
    </dgm:pt>
    <dgm:pt modelId="{24FD680F-00D5-43BA-A36E-9E518CC4C805}" type="pres">
      <dgm:prSet presAssocID="{ABA33766-E5A1-4310-B0BB-6E1CA2D5F247}" presName="iconBgRect" presStyleLbl="bgShp" presStyleIdx="2" presStyleCnt="4"/>
      <dgm:spPr/>
    </dgm:pt>
    <dgm:pt modelId="{7908DF1B-1176-4E65-A31B-B77FAC6D02C4}" type="pres">
      <dgm:prSet presAssocID="{ABA33766-E5A1-4310-B0BB-6E1CA2D5F24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loud Computing"/>
        </a:ext>
      </dgm:extLst>
    </dgm:pt>
    <dgm:pt modelId="{E4BD8136-C7E2-402B-BF39-78F6A620C1D6}" type="pres">
      <dgm:prSet presAssocID="{ABA33766-E5A1-4310-B0BB-6E1CA2D5F247}" presName="spaceRect" presStyleCnt="0"/>
      <dgm:spPr/>
    </dgm:pt>
    <dgm:pt modelId="{D7650F74-3933-4EEC-927C-4CFE5C3DBF0D}" type="pres">
      <dgm:prSet presAssocID="{ABA33766-E5A1-4310-B0BB-6E1CA2D5F247}" presName="textRect" presStyleLbl="revTx" presStyleIdx="2" presStyleCnt="4">
        <dgm:presLayoutVars>
          <dgm:chMax val="1"/>
          <dgm:chPref val="1"/>
        </dgm:presLayoutVars>
      </dgm:prSet>
      <dgm:spPr/>
    </dgm:pt>
    <dgm:pt modelId="{DB094152-CAC9-49EE-A051-1C6F48438009}" type="pres">
      <dgm:prSet presAssocID="{42F79AB1-F620-4F15-9A75-6EBC93D59BE8}" presName="sibTrans" presStyleLbl="sibTrans2D1" presStyleIdx="0" presStyleCnt="0"/>
      <dgm:spPr/>
    </dgm:pt>
    <dgm:pt modelId="{2D956035-0ABC-42DA-B283-C857CBA8BE15}" type="pres">
      <dgm:prSet presAssocID="{3908F386-6B2A-48E2-9729-E3DF3F499D14}" presName="compNode" presStyleCnt="0"/>
      <dgm:spPr/>
    </dgm:pt>
    <dgm:pt modelId="{00372CE9-3F04-4940-8252-B38AFABF7DDC}" type="pres">
      <dgm:prSet presAssocID="{3908F386-6B2A-48E2-9729-E3DF3F499D14}" presName="iconBgRect" presStyleLbl="bgShp" presStyleIdx="3" presStyleCnt="4"/>
      <dgm:spPr/>
    </dgm:pt>
    <dgm:pt modelId="{AF776BBB-7992-4055-BC5D-DB0E5EEAA029}" type="pres">
      <dgm:prSet presAssocID="{3908F386-6B2A-48E2-9729-E3DF3F499D1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rver"/>
        </a:ext>
      </dgm:extLst>
    </dgm:pt>
    <dgm:pt modelId="{B280F021-CDDD-4440-AC5B-AAB46D309B32}" type="pres">
      <dgm:prSet presAssocID="{3908F386-6B2A-48E2-9729-E3DF3F499D14}" presName="spaceRect" presStyleCnt="0"/>
      <dgm:spPr/>
    </dgm:pt>
    <dgm:pt modelId="{257E0EDB-59F0-408F-9830-698DDE74C564}" type="pres">
      <dgm:prSet presAssocID="{3908F386-6B2A-48E2-9729-E3DF3F499D14}" presName="textRect" presStyleLbl="revTx" presStyleIdx="3" presStyleCnt="4">
        <dgm:presLayoutVars>
          <dgm:chMax val="1"/>
          <dgm:chPref val="1"/>
        </dgm:presLayoutVars>
      </dgm:prSet>
      <dgm:spPr/>
    </dgm:pt>
  </dgm:ptLst>
  <dgm:cxnLst>
    <dgm:cxn modelId="{20026B05-B242-4A95-8FF6-1ED2ADC52F72}" srcId="{5C09FB66-4044-40D2-8555-7001B9CCE828}" destId="{BFE28131-77AE-46C0-9F9C-05CA0F563E47}" srcOrd="0" destOrd="0" parTransId="{3081B4BE-A441-4F59-8BF7-7E5295DF1DCE}" sibTransId="{54C4D4E9-60D2-4FE0-AC35-4DC3B6D7E280}"/>
    <dgm:cxn modelId="{D3272D2F-1CB5-4F8D-AF45-EFA90CE89F8E}" srcId="{5C09FB66-4044-40D2-8555-7001B9CCE828}" destId="{3908F386-6B2A-48E2-9729-E3DF3F499D14}" srcOrd="3" destOrd="0" parTransId="{614DB808-F9AD-4A1C-AC0B-3996BA3C7D5D}" sibTransId="{7417A9E4-001F-4F8F-9995-3D392409FED7}"/>
    <dgm:cxn modelId="{6911DE31-440E-42D0-A118-09F1F3FD0D54}" type="presOf" srcId="{BFE28131-77AE-46C0-9F9C-05CA0F563E47}" destId="{42468EF5-4B46-4AD7-B385-E74377340280}" srcOrd="0" destOrd="0" presId="urn:microsoft.com/office/officeart/2018/2/layout/IconCircleList"/>
    <dgm:cxn modelId="{CA002A35-47B8-4583-98C3-1C6F2A018449}" type="presOf" srcId="{7DF61CD4-256C-4C4A-A211-0727E323EE87}" destId="{4265DE5B-AAE4-4E1E-A248-9259EA31A56D}" srcOrd="0" destOrd="0" presId="urn:microsoft.com/office/officeart/2018/2/layout/IconCircleList"/>
    <dgm:cxn modelId="{CE571E3A-D1DF-4058-93AC-00934B8CC553}" type="presOf" srcId="{ABA33766-E5A1-4310-B0BB-6E1CA2D5F247}" destId="{D7650F74-3933-4EEC-927C-4CFE5C3DBF0D}" srcOrd="0" destOrd="0" presId="urn:microsoft.com/office/officeart/2018/2/layout/IconCircleList"/>
    <dgm:cxn modelId="{8CCC5541-585F-4782-9238-26665A39D811}" type="presOf" srcId="{3908F386-6B2A-48E2-9729-E3DF3F499D14}" destId="{257E0EDB-59F0-408F-9830-698DDE74C564}" srcOrd="0" destOrd="0" presId="urn:microsoft.com/office/officeart/2018/2/layout/IconCircleList"/>
    <dgm:cxn modelId="{28EBEA71-B5BD-469A-8169-00F405C67436}" type="presOf" srcId="{674BB2E3-F4BE-4CCD-A90C-7B83A5D53DA0}" destId="{9D5F800B-EFDB-4016-AA20-CCFD6B721A92}" srcOrd="0" destOrd="0" presId="urn:microsoft.com/office/officeart/2018/2/layout/IconCircleList"/>
    <dgm:cxn modelId="{B8CB4182-D5E5-4214-9BC8-E9C21AEBE478}" type="presOf" srcId="{5C09FB66-4044-40D2-8555-7001B9CCE828}" destId="{35D42A64-B883-4DCA-9064-AC46DF542D39}" srcOrd="0" destOrd="0" presId="urn:microsoft.com/office/officeart/2018/2/layout/IconCircleList"/>
    <dgm:cxn modelId="{6CF7AF9C-C920-48C4-B5DF-52283551F716}" type="presOf" srcId="{54C4D4E9-60D2-4FE0-AC35-4DC3B6D7E280}" destId="{C51D0A70-495C-4F33-81D0-9A8384FE5E66}" srcOrd="0" destOrd="0" presId="urn:microsoft.com/office/officeart/2018/2/layout/IconCircleList"/>
    <dgm:cxn modelId="{41B2F0CF-6B3C-4BCB-B189-8CD10905B975}" srcId="{5C09FB66-4044-40D2-8555-7001B9CCE828}" destId="{ABA33766-E5A1-4310-B0BB-6E1CA2D5F247}" srcOrd="2" destOrd="0" parTransId="{44F59BE6-8A09-4E5C-8239-9488D9455BB3}" sibTransId="{42F79AB1-F620-4F15-9A75-6EBC93D59BE8}"/>
    <dgm:cxn modelId="{0C2BECE2-D879-48E4-87E9-40742D6B7B2C}" srcId="{5C09FB66-4044-40D2-8555-7001B9CCE828}" destId="{7DF61CD4-256C-4C4A-A211-0727E323EE87}" srcOrd="1" destOrd="0" parTransId="{688BF93C-AD17-4A7A-AD41-B0B2FF9B28BA}" sibTransId="{674BB2E3-F4BE-4CCD-A90C-7B83A5D53DA0}"/>
    <dgm:cxn modelId="{EC198CF8-1A72-4B88-8E8A-BFBA5C9793F6}" type="presOf" srcId="{42F79AB1-F620-4F15-9A75-6EBC93D59BE8}" destId="{DB094152-CAC9-49EE-A051-1C6F48438009}" srcOrd="0" destOrd="0" presId="urn:microsoft.com/office/officeart/2018/2/layout/IconCircleList"/>
    <dgm:cxn modelId="{95D7F342-5D10-4338-B1C6-5B1186FC4239}" type="presParOf" srcId="{35D42A64-B883-4DCA-9064-AC46DF542D39}" destId="{310C899E-4B5B-425F-A096-3D4B8417736D}" srcOrd="0" destOrd="0" presId="urn:microsoft.com/office/officeart/2018/2/layout/IconCircleList"/>
    <dgm:cxn modelId="{765F0092-6C16-4895-8B0F-45F942A56A46}" type="presParOf" srcId="{310C899E-4B5B-425F-A096-3D4B8417736D}" destId="{5F48F308-A561-463A-90C7-C0C82F2F901F}" srcOrd="0" destOrd="0" presId="urn:microsoft.com/office/officeart/2018/2/layout/IconCircleList"/>
    <dgm:cxn modelId="{7AA8B10C-EA1F-4ED9-B15F-35AA6A462308}" type="presParOf" srcId="{5F48F308-A561-463A-90C7-C0C82F2F901F}" destId="{7B344A90-FE7F-40AB-A05B-75EAF28E7BE5}" srcOrd="0" destOrd="0" presId="urn:microsoft.com/office/officeart/2018/2/layout/IconCircleList"/>
    <dgm:cxn modelId="{AF389452-18E1-4580-9757-07CE2A0E2C35}" type="presParOf" srcId="{5F48F308-A561-463A-90C7-C0C82F2F901F}" destId="{09A49B29-513B-46CC-A4AF-E6B29EC3617C}" srcOrd="1" destOrd="0" presId="urn:microsoft.com/office/officeart/2018/2/layout/IconCircleList"/>
    <dgm:cxn modelId="{B5E50567-0449-4CB3-BD41-439C6B3F9790}" type="presParOf" srcId="{5F48F308-A561-463A-90C7-C0C82F2F901F}" destId="{8C23499D-C0E0-49B0-B3DE-980FDA9206CB}" srcOrd="2" destOrd="0" presId="urn:microsoft.com/office/officeart/2018/2/layout/IconCircleList"/>
    <dgm:cxn modelId="{A377E9ED-37C2-45B1-A628-24BAF6BE2637}" type="presParOf" srcId="{5F48F308-A561-463A-90C7-C0C82F2F901F}" destId="{42468EF5-4B46-4AD7-B385-E74377340280}" srcOrd="3" destOrd="0" presId="urn:microsoft.com/office/officeart/2018/2/layout/IconCircleList"/>
    <dgm:cxn modelId="{62E79EC2-9FDD-4535-A073-550CF1FE8C2B}" type="presParOf" srcId="{310C899E-4B5B-425F-A096-3D4B8417736D}" destId="{C51D0A70-495C-4F33-81D0-9A8384FE5E66}" srcOrd="1" destOrd="0" presId="urn:microsoft.com/office/officeart/2018/2/layout/IconCircleList"/>
    <dgm:cxn modelId="{B2B3BF54-A4D2-47DC-AE51-C3C2B2DA194D}" type="presParOf" srcId="{310C899E-4B5B-425F-A096-3D4B8417736D}" destId="{5A3CF068-FB96-4711-A65C-28B7AF213F14}" srcOrd="2" destOrd="0" presId="urn:microsoft.com/office/officeart/2018/2/layout/IconCircleList"/>
    <dgm:cxn modelId="{D843AE80-6709-46CD-B521-8CD74EC2F934}" type="presParOf" srcId="{5A3CF068-FB96-4711-A65C-28B7AF213F14}" destId="{D815035A-6812-4D51-89D9-907C38990742}" srcOrd="0" destOrd="0" presId="urn:microsoft.com/office/officeart/2018/2/layout/IconCircleList"/>
    <dgm:cxn modelId="{A5FE6084-3F95-44B3-9C06-C9276C53DA8E}" type="presParOf" srcId="{5A3CF068-FB96-4711-A65C-28B7AF213F14}" destId="{F0A2D351-752C-4448-83E2-2D5DDE0300F2}" srcOrd="1" destOrd="0" presId="urn:microsoft.com/office/officeart/2018/2/layout/IconCircleList"/>
    <dgm:cxn modelId="{8C29B5B5-7702-45FE-91E4-9F329118732B}" type="presParOf" srcId="{5A3CF068-FB96-4711-A65C-28B7AF213F14}" destId="{9BC89FDF-41FB-4322-8D88-B99B0DFFBF67}" srcOrd="2" destOrd="0" presId="urn:microsoft.com/office/officeart/2018/2/layout/IconCircleList"/>
    <dgm:cxn modelId="{CF5928E4-D04A-48CF-8A93-7402EE0A92D1}" type="presParOf" srcId="{5A3CF068-FB96-4711-A65C-28B7AF213F14}" destId="{4265DE5B-AAE4-4E1E-A248-9259EA31A56D}" srcOrd="3" destOrd="0" presId="urn:microsoft.com/office/officeart/2018/2/layout/IconCircleList"/>
    <dgm:cxn modelId="{3F3E4930-CEA1-4F0F-9410-894EAE16EEDE}" type="presParOf" srcId="{310C899E-4B5B-425F-A096-3D4B8417736D}" destId="{9D5F800B-EFDB-4016-AA20-CCFD6B721A92}" srcOrd="3" destOrd="0" presId="urn:microsoft.com/office/officeart/2018/2/layout/IconCircleList"/>
    <dgm:cxn modelId="{EF5525AE-3DF1-4495-87B4-7CC267E96EA1}" type="presParOf" srcId="{310C899E-4B5B-425F-A096-3D4B8417736D}" destId="{C7A31B39-4218-4FFB-93D3-47B0BE1075F0}" srcOrd="4" destOrd="0" presId="urn:microsoft.com/office/officeart/2018/2/layout/IconCircleList"/>
    <dgm:cxn modelId="{20080A03-11B2-4C65-BC09-A0969079B442}" type="presParOf" srcId="{C7A31B39-4218-4FFB-93D3-47B0BE1075F0}" destId="{24FD680F-00D5-43BA-A36E-9E518CC4C805}" srcOrd="0" destOrd="0" presId="urn:microsoft.com/office/officeart/2018/2/layout/IconCircleList"/>
    <dgm:cxn modelId="{4372FE34-EE27-46B8-8589-2BE7A04DAE38}" type="presParOf" srcId="{C7A31B39-4218-4FFB-93D3-47B0BE1075F0}" destId="{7908DF1B-1176-4E65-A31B-B77FAC6D02C4}" srcOrd="1" destOrd="0" presId="urn:microsoft.com/office/officeart/2018/2/layout/IconCircleList"/>
    <dgm:cxn modelId="{E169BC6D-A62B-45FA-B9AE-5290D4539EAC}" type="presParOf" srcId="{C7A31B39-4218-4FFB-93D3-47B0BE1075F0}" destId="{E4BD8136-C7E2-402B-BF39-78F6A620C1D6}" srcOrd="2" destOrd="0" presId="urn:microsoft.com/office/officeart/2018/2/layout/IconCircleList"/>
    <dgm:cxn modelId="{47DC7562-66FF-4138-A773-D83E6B9C69C4}" type="presParOf" srcId="{C7A31B39-4218-4FFB-93D3-47B0BE1075F0}" destId="{D7650F74-3933-4EEC-927C-4CFE5C3DBF0D}" srcOrd="3" destOrd="0" presId="urn:microsoft.com/office/officeart/2018/2/layout/IconCircleList"/>
    <dgm:cxn modelId="{AE9DC805-7C50-4DC4-AAD7-31C3E0736C55}" type="presParOf" srcId="{310C899E-4B5B-425F-A096-3D4B8417736D}" destId="{DB094152-CAC9-49EE-A051-1C6F48438009}" srcOrd="5" destOrd="0" presId="urn:microsoft.com/office/officeart/2018/2/layout/IconCircleList"/>
    <dgm:cxn modelId="{58C47CE0-F791-44FE-968B-F584686FE2B9}" type="presParOf" srcId="{310C899E-4B5B-425F-A096-3D4B8417736D}" destId="{2D956035-0ABC-42DA-B283-C857CBA8BE15}" srcOrd="6" destOrd="0" presId="urn:microsoft.com/office/officeart/2018/2/layout/IconCircleList"/>
    <dgm:cxn modelId="{27A9CCF7-1DFB-4A90-B791-851F387BAD2F}" type="presParOf" srcId="{2D956035-0ABC-42DA-B283-C857CBA8BE15}" destId="{00372CE9-3F04-4940-8252-B38AFABF7DDC}" srcOrd="0" destOrd="0" presId="urn:microsoft.com/office/officeart/2018/2/layout/IconCircleList"/>
    <dgm:cxn modelId="{F163177F-4489-4C39-A882-FD2AFC8F8EFB}" type="presParOf" srcId="{2D956035-0ABC-42DA-B283-C857CBA8BE15}" destId="{AF776BBB-7992-4055-BC5D-DB0E5EEAA029}" srcOrd="1" destOrd="0" presId="urn:microsoft.com/office/officeart/2018/2/layout/IconCircleList"/>
    <dgm:cxn modelId="{726E520E-C640-441C-9A67-22CA234ABCF0}" type="presParOf" srcId="{2D956035-0ABC-42DA-B283-C857CBA8BE15}" destId="{B280F021-CDDD-4440-AC5B-AAB46D309B32}" srcOrd="2" destOrd="0" presId="urn:microsoft.com/office/officeart/2018/2/layout/IconCircleList"/>
    <dgm:cxn modelId="{8946F146-3CA8-4657-85B0-0D7A689C6FCE}" type="presParOf" srcId="{2D956035-0ABC-42DA-B283-C857CBA8BE15}" destId="{257E0EDB-59F0-408F-9830-698DDE74C56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8FB322-823E-4C59-8214-5445D6D43878}"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1DF50AD-C7E1-4DE1-A87B-555B68356EBD}">
      <dgm:prSet custT="1"/>
      <dgm:spPr/>
      <dgm:t>
        <a:bodyPr/>
        <a:lstStyle/>
        <a:p>
          <a:pPr>
            <a:lnSpc>
              <a:spcPct val="100000"/>
            </a:lnSpc>
          </a:pPr>
          <a:r>
            <a:rPr lang="en-NG" sz="1200" b="0" i="0" baseline="0">
              <a:latin typeface="Century Gothic" panose="020B0502020202020204" pitchFamily="34" charset="0"/>
            </a:rPr>
            <a:t>Heavy reliance on manual processes and spreadsheets</a:t>
          </a:r>
          <a:endParaRPr lang="en-US" sz="1200">
            <a:latin typeface="Century Gothic" panose="020B0502020202020204" pitchFamily="34" charset="0"/>
          </a:endParaRPr>
        </a:p>
      </dgm:t>
    </dgm:pt>
    <dgm:pt modelId="{91B31537-E7C5-4002-A5F3-8ACC93CD179F}" type="parTrans" cxnId="{3C5E6EC2-C1D8-4B7A-B60F-AE20C7F5FC8E}">
      <dgm:prSet/>
      <dgm:spPr/>
      <dgm:t>
        <a:bodyPr/>
        <a:lstStyle/>
        <a:p>
          <a:pPr>
            <a:lnSpc>
              <a:spcPct val="100000"/>
            </a:lnSpc>
          </a:pPr>
          <a:endParaRPr lang="en-US" sz="2000">
            <a:latin typeface="Century Gothic" panose="020B0502020202020204" pitchFamily="34" charset="0"/>
          </a:endParaRPr>
        </a:p>
      </dgm:t>
    </dgm:pt>
    <dgm:pt modelId="{0C1002D4-AD9A-4E67-8236-B35D1CDF7810}" type="sibTrans" cxnId="{3C5E6EC2-C1D8-4B7A-B60F-AE20C7F5FC8E}">
      <dgm:prSet/>
      <dgm:spPr/>
      <dgm:t>
        <a:bodyPr/>
        <a:lstStyle/>
        <a:p>
          <a:pPr>
            <a:lnSpc>
              <a:spcPct val="100000"/>
            </a:lnSpc>
          </a:pPr>
          <a:endParaRPr lang="en-US" sz="2000">
            <a:latin typeface="Century Gothic" panose="020B0502020202020204" pitchFamily="34" charset="0"/>
          </a:endParaRPr>
        </a:p>
      </dgm:t>
    </dgm:pt>
    <dgm:pt modelId="{23B8BA74-F371-4E76-85AB-7508219858F7}">
      <dgm:prSet custT="1"/>
      <dgm:spPr/>
      <dgm:t>
        <a:bodyPr/>
        <a:lstStyle/>
        <a:p>
          <a:pPr>
            <a:lnSpc>
              <a:spcPct val="100000"/>
            </a:lnSpc>
          </a:pPr>
          <a:r>
            <a:rPr lang="en-NG" sz="1200" b="0" i="0" baseline="0">
              <a:latin typeface="Century Gothic" panose="020B0502020202020204" pitchFamily="34" charset="0"/>
            </a:rPr>
            <a:t>Fragmented departmental systems and data silos</a:t>
          </a:r>
          <a:endParaRPr lang="en-US" sz="1200">
            <a:latin typeface="Century Gothic" panose="020B0502020202020204" pitchFamily="34" charset="0"/>
          </a:endParaRPr>
        </a:p>
      </dgm:t>
    </dgm:pt>
    <dgm:pt modelId="{610064F7-5597-4131-AF58-26F168982112}" type="parTrans" cxnId="{6A0CEEDE-E314-403B-9399-3B57F9FD10BA}">
      <dgm:prSet/>
      <dgm:spPr/>
      <dgm:t>
        <a:bodyPr/>
        <a:lstStyle/>
        <a:p>
          <a:pPr>
            <a:lnSpc>
              <a:spcPct val="100000"/>
            </a:lnSpc>
          </a:pPr>
          <a:endParaRPr lang="en-US" sz="2000">
            <a:latin typeface="Century Gothic" panose="020B0502020202020204" pitchFamily="34" charset="0"/>
          </a:endParaRPr>
        </a:p>
      </dgm:t>
    </dgm:pt>
    <dgm:pt modelId="{C6EACA41-5C83-4F57-9618-9182493E9860}" type="sibTrans" cxnId="{6A0CEEDE-E314-403B-9399-3B57F9FD10BA}">
      <dgm:prSet/>
      <dgm:spPr/>
      <dgm:t>
        <a:bodyPr/>
        <a:lstStyle/>
        <a:p>
          <a:pPr>
            <a:lnSpc>
              <a:spcPct val="100000"/>
            </a:lnSpc>
          </a:pPr>
          <a:endParaRPr lang="en-US" sz="2000">
            <a:latin typeface="Century Gothic" panose="020B0502020202020204" pitchFamily="34" charset="0"/>
          </a:endParaRPr>
        </a:p>
      </dgm:t>
    </dgm:pt>
    <dgm:pt modelId="{2A8E7F3E-9EDE-429F-B510-F4D597A2A63D}">
      <dgm:prSet custT="1"/>
      <dgm:spPr/>
      <dgm:t>
        <a:bodyPr/>
        <a:lstStyle/>
        <a:p>
          <a:pPr>
            <a:lnSpc>
              <a:spcPct val="100000"/>
            </a:lnSpc>
          </a:pPr>
          <a:r>
            <a:rPr lang="en-NG" sz="1200" b="0" i="0" baseline="0">
              <a:latin typeface="Century Gothic" panose="020B0502020202020204" pitchFamily="34" charset="0"/>
            </a:rPr>
            <a:t>Limited real-time visibility for management</a:t>
          </a:r>
          <a:endParaRPr lang="en-US" sz="1200">
            <a:latin typeface="Century Gothic" panose="020B0502020202020204" pitchFamily="34" charset="0"/>
          </a:endParaRPr>
        </a:p>
      </dgm:t>
    </dgm:pt>
    <dgm:pt modelId="{80FFA81C-2510-40F7-916C-3983CE130F3D}" type="parTrans" cxnId="{0367FD94-26E6-4456-A033-58E580B9BC77}">
      <dgm:prSet/>
      <dgm:spPr/>
      <dgm:t>
        <a:bodyPr/>
        <a:lstStyle/>
        <a:p>
          <a:pPr>
            <a:lnSpc>
              <a:spcPct val="100000"/>
            </a:lnSpc>
          </a:pPr>
          <a:endParaRPr lang="en-US" sz="2000">
            <a:latin typeface="Century Gothic" panose="020B0502020202020204" pitchFamily="34" charset="0"/>
          </a:endParaRPr>
        </a:p>
      </dgm:t>
    </dgm:pt>
    <dgm:pt modelId="{132FF83A-3E1D-44DB-84E9-84420BB3D26C}" type="sibTrans" cxnId="{0367FD94-26E6-4456-A033-58E580B9BC77}">
      <dgm:prSet/>
      <dgm:spPr/>
      <dgm:t>
        <a:bodyPr/>
        <a:lstStyle/>
        <a:p>
          <a:pPr>
            <a:lnSpc>
              <a:spcPct val="100000"/>
            </a:lnSpc>
          </a:pPr>
          <a:endParaRPr lang="en-US" sz="2000">
            <a:latin typeface="Century Gothic" panose="020B0502020202020204" pitchFamily="34" charset="0"/>
          </a:endParaRPr>
        </a:p>
      </dgm:t>
    </dgm:pt>
    <dgm:pt modelId="{F9B7E82E-F0FF-45DA-8CE2-FB52C1689385}">
      <dgm:prSet custT="1"/>
      <dgm:spPr/>
      <dgm:t>
        <a:bodyPr/>
        <a:lstStyle/>
        <a:p>
          <a:pPr>
            <a:lnSpc>
              <a:spcPct val="100000"/>
            </a:lnSpc>
          </a:pPr>
          <a:r>
            <a:rPr lang="en-NG" sz="1200" b="0" i="0" baseline="0">
              <a:latin typeface="Century Gothic" panose="020B0502020202020204" pitchFamily="34" charset="0"/>
            </a:rPr>
            <a:t>Weak inter-departmental workflow coordination</a:t>
          </a:r>
          <a:endParaRPr lang="en-US" sz="1200">
            <a:latin typeface="Century Gothic" panose="020B0502020202020204" pitchFamily="34" charset="0"/>
          </a:endParaRPr>
        </a:p>
      </dgm:t>
    </dgm:pt>
    <dgm:pt modelId="{73761A06-B5DF-4A97-B9D9-E6A17E3B147D}" type="parTrans" cxnId="{13C9BFFE-8EEF-42FA-A0E7-E34108E279D0}">
      <dgm:prSet/>
      <dgm:spPr/>
      <dgm:t>
        <a:bodyPr/>
        <a:lstStyle/>
        <a:p>
          <a:pPr>
            <a:lnSpc>
              <a:spcPct val="100000"/>
            </a:lnSpc>
          </a:pPr>
          <a:endParaRPr lang="en-US" sz="2000">
            <a:latin typeface="Century Gothic" panose="020B0502020202020204" pitchFamily="34" charset="0"/>
          </a:endParaRPr>
        </a:p>
      </dgm:t>
    </dgm:pt>
    <dgm:pt modelId="{2D818D0A-8EA1-405B-8FE7-1A66D38CE201}" type="sibTrans" cxnId="{13C9BFFE-8EEF-42FA-A0E7-E34108E279D0}">
      <dgm:prSet/>
      <dgm:spPr/>
      <dgm:t>
        <a:bodyPr/>
        <a:lstStyle/>
        <a:p>
          <a:pPr>
            <a:lnSpc>
              <a:spcPct val="100000"/>
            </a:lnSpc>
          </a:pPr>
          <a:endParaRPr lang="en-US" sz="2000">
            <a:latin typeface="Century Gothic" panose="020B0502020202020204" pitchFamily="34" charset="0"/>
          </a:endParaRPr>
        </a:p>
      </dgm:t>
    </dgm:pt>
    <dgm:pt modelId="{7D283CF7-6BBC-4CB7-B8FE-5BE98B982860}">
      <dgm:prSet custT="1"/>
      <dgm:spPr/>
      <dgm:t>
        <a:bodyPr/>
        <a:lstStyle/>
        <a:p>
          <a:pPr>
            <a:lnSpc>
              <a:spcPct val="100000"/>
            </a:lnSpc>
          </a:pPr>
          <a:r>
            <a:rPr lang="en-NG" sz="1200" b="0" i="0" baseline="0">
              <a:latin typeface="Century Gothic" panose="020B0502020202020204" pitchFamily="34" charset="0"/>
            </a:rPr>
            <a:t>Manual billing, compliance, and reporting processes</a:t>
          </a:r>
          <a:endParaRPr lang="en-US" sz="1200">
            <a:latin typeface="Century Gothic" panose="020B0502020202020204" pitchFamily="34" charset="0"/>
          </a:endParaRPr>
        </a:p>
      </dgm:t>
    </dgm:pt>
    <dgm:pt modelId="{DC1722C4-2976-419F-94AA-0BA4505CEE28}" type="parTrans" cxnId="{E4D69587-7A67-433E-A0DA-919F4310209D}">
      <dgm:prSet/>
      <dgm:spPr/>
      <dgm:t>
        <a:bodyPr/>
        <a:lstStyle/>
        <a:p>
          <a:pPr>
            <a:lnSpc>
              <a:spcPct val="100000"/>
            </a:lnSpc>
          </a:pPr>
          <a:endParaRPr lang="en-US" sz="2000">
            <a:latin typeface="Century Gothic" panose="020B0502020202020204" pitchFamily="34" charset="0"/>
          </a:endParaRPr>
        </a:p>
      </dgm:t>
    </dgm:pt>
    <dgm:pt modelId="{579C6492-952F-462A-99BA-5A7DE1D183F5}" type="sibTrans" cxnId="{E4D69587-7A67-433E-A0DA-919F4310209D}">
      <dgm:prSet/>
      <dgm:spPr/>
      <dgm:t>
        <a:bodyPr/>
        <a:lstStyle/>
        <a:p>
          <a:pPr>
            <a:lnSpc>
              <a:spcPct val="100000"/>
            </a:lnSpc>
          </a:pPr>
          <a:endParaRPr lang="en-US" sz="2000">
            <a:latin typeface="Century Gothic" panose="020B0502020202020204" pitchFamily="34" charset="0"/>
          </a:endParaRPr>
        </a:p>
      </dgm:t>
    </dgm:pt>
    <dgm:pt modelId="{8F57FA05-77C0-4D26-B80F-9E016A6804E6}">
      <dgm:prSet custT="1"/>
      <dgm:spPr/>
      <dgm:t>
        <a:bodyPr/>
        <a:lstStyle/>
        <a:p>
          <a:pPr>
            <a:lnSpc>
              <a:spcPct val="100000"/>
            </a:lnSpc>
          </a:pPr>
          <a:r>
            <a:rPr lang="en-NG" sz="1200" b="0" i="0" baseline="0">
              <a:latin typeface="Century Gothic" panose="020B0502020202020204" pitchFamily="34" charset="0"/>
            </a:rPr>
            <a:t>Disconnected security, utilities, and enterprise data</a:t>
          </a:r>
          <a:endParaRPr lang="en-US" sz="1200">
            <a:latin typeface="Century Gothic" panose="020B0502020202020204" pitchFamily="34" charset="0"/>
          </a:endParaRPr>
        </a:p>
      </dgm:t>
    </dgm:pt>
    <dgm:pt modelId="{F893C194-F4AD-4A1E-A0E2-0D4DE3CD914B}" type="parTrans" cxnId="{F8BDA46E-EA14-416B-93E6-4E28AECCB32E}">
      <dgm:prSet/>
      <dgm:spPr/>
      <dgm:t>
        <a:bodyPr/>
        <a:lstStyle/>
        <a:p>
          <a:pPr>
            <a:lnSpc>
              <a:spcPct val="100000"/>
            </a:lnSpc>
          </a:pPr>
          <a:endParaRPr lang="en-US" sz="2000">
            <a:latin typeface="Century Gothic" panose="020B0502020202020204" pitchFamily="34" charset="0"/>
          </a:endParaRPr>
        </a:p>
      </dgm:t>
    </dgm:pt>
    <dgm:pt modelId="{6C0EB9E0-49EB-4745-B2C4-1939CC27D670}" type="sibTrans" cxnId="{F8BDA46E-EA14-416B-93E6-4E28AECCB32E}">
      <dgm:prSet/>
      <dgm:spPr/>
      <dgm:t>
        <a:bodyPr/>
        <a:lstStyle/>
        <a:p>
          <a:pPr>
            <a:lnSpc>
              <a:spcPct val="100000"/>
            </a:lnSpc>
          </a:pPr>
          <a:endParaRPr lang="en-US" sz="2000">
            <a:latin typeface="Century Gothic" panose="020B0502020202020204" pitchFamily="34" charset="0"/>
          </a:endParaRPr>
        </a:p>
      </dgm:t>
    </dgm:pt>
    <dgm:pt modelId="{8C7985A3-1FFF-47CE-863B-0BD463CE6AF4}" type="pres">
      <dgm:prSet presAssocID="{058FB322-823E-4C59-8214-5445D6D43878}" presName="root" presStyleCnt="0">
        <dgm:presLayoutVars>
          <dgm:dir/>
          <dgm:resizeHandles val="exact"/>
        </dgm:presLayoutVars>
      </dgm:prSet>
      <dgm:spPr/>
    </dgm:pt>
    <dgm:pt modelId="{F7986D20-BA47-4D5F-9A5C-695058DF204D}" type="pres">
      <dgm:prSet presAssocID="{E1DF50AD-C7E1-4DE1-A87B-555B68356EBD}" presName="compNode" presStyleCnt="0"/>
      <dgm:spPr/>
    </dgm:pt>
    <dgm:pt modelId="{D3275B0C-2DF9-4826-98FC-8CF25200020C}" type="pres">
      <dgm:prSet presAssocID="{E1DF50AD-C7E1-4DE1-A87B-555B68356EBD}"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932D01EA-68AD-479F-B6A0-329E28150F97}" type="pres">
      <dgm:prSet presAssocID="{E1DF50AD-C7E1-4DE1-A87B-555B68356EBD}" presName="spaceRect" presStyleCnt="0"/>
      <dgm:spPr/>
    </dgm:pt>
    <dgm:pt modelId="{054AD2C4-BE66-4EED-90DF-526B87B5CD8C}" type="pres">
      <dgm:prSet presAssocID="{E1DF50AD-C7E1-4DE1-A87B-555B68356EBD}" presName="textRect" presStyleLbl="revTx" presStyleIdx="0" presStyleCnt="6">
        <dgm:presLayoutVars>
          <dgm:chMax val="1"/>
          <dgm:chPref val="1"/>
        </dgm:presLayoutVars>
      </dgm:prSet>
      <dgm:spPr/>
    </dgm:pt>
    <dgm:pt modelId="{06B0F23D-81A3-408C-B76A-8E5BD816832C}" type="pres">
      <dgm:prSet presAssocID="{0C1002D4-AD9A-4E67-8236-B35D1CDF7810}" presName="sibTrans" presStyleCnt="0"/>
      <dgm:spPr/>
    </dgm:pt>
    <dgm:pt modelId="{58D3CA8F-C2C6-437B-B95A-B90E0B3C5FF3}" type="pres">
      <dgm:prSet presAssocID="{23B8BA74-F371-4E76-85AB-7508219858F7}" presName="compNode" presStyleCnt="0"/>
      <dgm:spPr/>
    </dgm:pt>
    <dgm:pt modelId="{FF3F8943-5DF4-4584-BACE-BC65A01D71F3}" type="pres">
      <dgm:prSet presAssocID="{23B8BA74-F371-4E76-85AB-7508219858F7}"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5275261B-9627-4DB4-B19B-BEE73B2ADB18}" type="pres">
      <dgm:prSet presAssocID="{23B8BA74-F371-4E76-85AB-7508219858F7}" presName="spaceRect" presStyleCnt="0"/>
      <dgm:spPr/>
    </dgm:pt>
    <dgm:pt modelId="{D3D1C526-12F7-4DB0-8FAE-998B5380FE44}" type="pres">
      <dgm:prSet presAssocID="{23B8BA74-F371-4E76-85AB-7508219858F7}" presName="textRect" presStyleLbl="revTx" presStyleIdx="1" presStyleCnt="6">
        <dgm:presLayoutVars>
          <dgm:chMax val="1"/>
          <dgm:chPref val="1"/>
        </dgm:presLayoutVars>
      </dgm:prSet>
      <dgm:spPr/>
    </dgm:pt>
    <dgm:pt modelId="{E3205ECB-BCCC-443F-80CA-F357F97750BC}" type="pres">
      <dgm:prSet presAssocID="{C6EACA41-5C83-4F57-9618-9182493E9860}" presName="sibTrans" presStyleCnt="0"/>
      <dgm:spPr/>
    </dgm:pt>
    <dgm:pt modelId="{54A1158A-F5FC-4D58-A048-95E2124538A0}" type="pres">
      <dgm:prSet presAssocID="{2A8E7F3E-9EDE-429F-B510-F4D597A2A63D}" presName="compNode" presStyleCnt="0"/>
      <dgm:spPr/>
    </dgm:pt>
    <dgm:pt modelId="{AD881F7C-3D04-4689-BADE-FD0C062C8AC7}" type="pres">
      <dgm:prSet presAssocID="{2A8E7F3E-9EDE-429F-B510-F4D597A2A63D}"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opwatch"/>
        </a:ext>
      </dgm:extLst>
    </dgm:pt>
    <dgm:pt modelId="{59E376B1-ED2D-46A9-A6D8-8DD1CDE12666}" type="pres">
      <dgm:prSet presAssocID="{2A8E7F3E-9EDE-429F-B510-F4D597A2A63D}" presName="spaceRect" presStyleCnt="0"/>
      <dgm:spPr/>
    </dgm:pt>
    <dgm:pt modelId="{A29EC8D5-F75C-49E4-8005-375B8CC7D1A7}" type="pres">
      <dgm:prSet presAssocID="{2A8E7F3E-9EDE-429F-B510-F4D597A2A63D}" presName="textRect" presStyleLbl="revTx" presStyleIdx="2" presStyleCnt="6">
        <dgm:presLayoutVars>
          <dgm:chMax val="1"/>
          <dgm:chPref val="1"/>
        </dgm:presLayoutVars>
      </dgm:prSet>
      <dgm:spPr/>
    </dgm:pt>
    <dgm:pt modelId="{526A474C-23E2-4AC1-AA52-E66AD468A589}" type="pres">
      <dgm:prSet presAssocID="{132FF83A-3E1D-44DB-84E9-84420BB3D26C}" presName="sibTrans" presStyleCnt="0"/>
      <dgm:spPr/>
    </dgm:pt>
    <dgm:pt modelId="{A8310602-5972-424E-9168-1DD1F7DF9540}" type="pres">
      <dgm:prSet presAssocID="{F9B7E82E-F0FF-45DA-8CE2-FB52C1689385}" presName="compNode" presStyleCnt="0"/>
      <dgm:spPr/>
    </dgm:pt>
    <dgm:pt modelId="{5D1561EB-58DF-425A-947E-D8452D38D58C}" type="pres">
      <dgm:prSet presAssocID="{F9B7E82E-F0FF-45DA-8CE2-FB52C1689385}"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8FD41904-2B2C-4EF0-A0B2-CCB890E57669}" type="pres">
      <dgm:prSet presAssocID="{F9B7E82E-F0FF-45DA-8CE2-FB52C1689385}" presName="spaceRect" presStyleCnt="0"/>
      <dgm:spPr/>
    </dgm:pt>
    <dgm:pt modelId="{1112A76B-6C17-441F-B0BE-5A882F95751D}" type="pres">
      <dgm:prSet presAssocID="{F9B7E82E-F0FF-45DA-8CE2-FB52C1689385}" presName="textRect" presStyleLbl="revTx" presStyleIdx="3" presStyleCnt="6">
        <dgm:presLayoutVars>
          <dgm:chMax val="1"/>
          <dgm:chPref val="1"/>
        </dgm:presLayoutVars>
      </dgm:prSet>
      <dgm:spPr/>
    </dgm:pt>
    <dgm:pt modelId="{D24CCE06-A2F3-4FB0-A159-90B42F24E24E}" type="pres">
      <dgm:prSet presAssocID="{2D818D0A-8EA1-405B-8FE7-1A66D38CE201}" presName="sibTrans" presStyleCnt="0"/>
      <dgm:spPr/>
    </dgm:pt>
    <dgm:pt modelId="{3D66D175-0278-43DA-8799-97A340628C2B}" type="pres">
      <dgm:prSet presAssocID="{7D283CF7-6BBC-4CB7-B8FE-5BE98B982860}" presName="compNode" presStyleCnt="0"/>
      <dgm:spPr/>
    </dgm:pt>
    <dgm:pt modelId="{A513D6DE-FF36-4FD4-B7EF-EFD2BCA2A2B3}" type="pres">
      <dgm:prSet presAssocID="{7D283CF7-6BBC-4CB7-B8FE-5BE98B982860}"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lowchart"/>
        </a:ext>
      </dgm:extLst>
    </dgm:pt>
    <dgm:pt modelId="{A16CFCEC-E0BF-4333-A898-411FEECC464D}" type="pres">
      <dgm:prSet presAssocID="{7D283CF7-6BBC-4CB7-B8FE-5BE98B982860}" presName="spaceRect" presStyleCnt="0"/>
      <dgm:spPr/>
    </dgm:pt>
    <dgm:pt modelId="{E40696A6-0B79-4BA7-9BFC-B34CCC608B1B}" type="pres">
      <dgm:prSet presAssocID="{7D283CF7-6BBC-4CB7-B8FE-5BE98B982860}" presName="textRect" presStyleLbl="revTx" presStyleIdx="4" presStyleCnt="6">
        <dgm:presLayoutVars>
          <dgm:chMax val="1"/>
          <dgm:chPref val="1"/>
        </dgm:presLayoutVars>
      </dgm:prSet>
      <dgm:spPr/>
    </dgm:pt>
    <dgm:pt modelId="{65F96631-4908-4622-9AEE-CBCA6A12946E}" type="pres">
      <dgm:prSet presAssocID="{579C6492-952F-462A-99BA-5A7DE1D183F5}" presName="sibTrans" presStyleCnt="0"/>
      <dgm:spPr/>
    </dgm:pt>
    <dgm:pt modelId="{1F474778-C8DF-4435-94D7-2DFDE7DE56CF}" type="pres">
      <dgm:prSet presAssocID="{8F57FA05-77C0-4D26-B80F-9E016A6804E6}" presName="compNode" presStyleCnt="0"/>
      <dgm:spPr/>
    </dgm:pt>
    <dgm:pt modelId="{99BF8DBC-FD4C-492B-8BC6-38C38BC1271E}" type="pres">
      <dgm:prSet presAssocID="{8F57FA05-77C0-4D26-B80F-9E016A6804E6}"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B8A5DDFB-7C20-49D3-AE0E-5AB803FC50E0}" type="pres">
      <dgm:prSet presAssocID="{8F57FA05-77C0-4D26-B80F-9E016A6804E6}" presName="spaceRect" presStyleCnt="0"/>
      <dgm:spPr/>
    </dgm:pt>
    <dgm:pt modelId="{C1851F34-BC76-47A5-B3C9-ACC77E74CCF3}" type="pres">
      <dgm:prSet presAssocID="{8F57FA05-77C0-4D26-B80F-9E016A6804E6}" presName="textRect" presStyleLbl="revTx" presStyleIdx="5" presStyleCnt="6">
        <dgm:presLayoutVars>
          <dgm:chMax val="1"/>
          <dgm:chPref val="1"/>
        </dgm:presLayoutVars>
      </dgm:prSet>
      <dgm:spPr/>
    </dgm:pt>
  </dgm:ptLst>
  <dgm:cxnLst>
    <dgm:cxn modelId="{906B986A-1E5B-453D-A452-CC4E5E384E7E}" type="presOf" srcId="{2A8E7F3E-9EDE-429F-B510-F4D597A2A63D}" destId="{A29EC8D5-F75C-49E4-8005-375B8CC7D1A7}" srcOrd="0" destOrd="0" presId="urn:microsoft.com/office/officeart/2018/2/layout/IconLabelList"/>
    <dgm:cxn modelId="{F8BDA46E-EA14-416B-93E6-4E28AECCB32E}" srcId="{058FB322-823E-4C59-8214-5445D6D43878}" destId="{8F57FA05-77C0-4D26-B80F-9E016A6804E6}" srcOrd="5" destOrd="0" parTransId="{F893C194-F4AD-4A1E-A0E2-0D4DE3CD914B}" sibTransId="{6C0EB9E0-49EB-4745-B2C4-1939CC27D670}"/>
    <dgm:cxn modelId="{FC216651-BAB7-4826-8871-24EA45543FCA}" type="presOf" srcId="{E1DF50AD-C7E1-4DE1-A87B-555B68356EBD}" destId="{054AD2C4-BE66-4EED-90DF-526B87B5CD8C}" srcOrd="0" destOrd="0" presId="urn:microsoft.com/office/officeart/2018/2/layout/IconLabelList"/>
    <dgm:cxn modelId="{E4D69587-7A67-433E-A0DA-919F4310209D}" srcId="{058FB322-823E-4C59-8214-5445D6D43878}" destId="{7D283CF7-6BBC-4CB7-B8FE-5BE98B982860}" srcOrd="4" destOrd="0" parTransId="{DC1722C4-2976-419F-94AA-0BA4505CEE28}" sibTransId="{579C6492-952F-462A-99BA-5A7DE1D183F5}"/>
    <dgm:cxn modelId="{0367FD94-26E6-4456-A033-58E580B9BC77}" srcId="{058FB322-823E-4C59-8214-5445D6D43878}" destId="{2A8E7F3E-9EDE-429F-B510-F4D597A2A63D}" srcOrd="2" destOrd="0" parTransId="{80FFA81C-2510-40F7-916C-3983CE130F3D}" sibTransId="{132FF83A-3E1D-44DB-84E9-84420BB3D26C}"/>
    <dgm:cxn modelId="{AE1E4DB5-FE1E-4478-A8A0-9401BDF9BC83}" type="presOf" srcId="{23B8BA74-F371-4E76-85AB-7508219858F7}" destId="{D3D1C526-12F7-4DB0-8FAE-998B5380FE44}" srcOrd="0" destOrd="0" presId="urn:microsoft.com/office/officeart/2018/2/layout/IconLabelList"/>
    <dgm:cxn modelId="{18088FBE-7646-47A5-841E-DD136818CB44}" type="presOf" srcId="{7D283CF7-6BBC-4CB7-B8FE-5BE98B982860}" destId="{E40696A6-0B79-4BA7-9BFC-B34CCC608B1B}" srcOrd="0" destOrd="0" presId="urn:microsoft.com/office/officeart/2018/2/layout/IconLabelList"/>
    <dgm:cxn modelId="{8BFDF4C0-7C34-4528-A021-F4F505CC7384}" type="presOf" srcId="{F9B7E82E-F0FF-45DA-8CE2-FB52C1689385}" destId="{1112A76B-6C17-441F-B0BE-5A882F95751D}" srcOrd="0" destOrd="0" presId="urn:microsoft.com/office/officeart/2018/2/layout/IconLabelList"/>
    <dgm:cxn modelId="{3C5E6EC2-C1D8-4B7A-B60F-AE20C7F5FC8E}" srcId="{058FB322-823E-4C59-8214-5445D6D43878}" destId="{E1DF50AD-C7E1-4DE1-A87B-555B68356EBD}" srcOrd="0" destOrd="0" parTransId="{91B31537-E7C5-4002-A5F3-8ACC93CD179F}" sibTransId="{0C1002D4-AD9A-4E67-8236-B35D1CDF7810}"/>
    <dgm:cxn modelId="{AC2856C9-3B5F-4176-946F-F5C07618E8BF}" type="presOf" srcId="{8F57FA05-77C0-4D26-B80F-9E016A6804E6}" destId="{C1851F34-BC76-47A5-B3C9-ACC77E74CCF3}" srcOrd="0" destOrd="0" presId="urn:microsoft.com/office/officeart/2018/2/layout/IconLabelList"/>
    <dgm:cxn modelId="{429D93D4-FD06-4B34-982F-F581487F80B9}" type="presOf" srcId="{058FB322-823E-4C59-8214-5445D6D43878}" destId="{8C7985A3-1FFF-47CE-863B-0BD463CE6AF4}" srcOrd="0" destOrd="0" presId="urn:microsoft.com/office/officeart/2018/2/layout/IconLabelList"/>
    <dgm:cxn modelId="{6A0CEEDE-E314-403B-9399-3B57F9FD10BA}" srcId="{058FB322-823E-4C59-8214-5445D6D43878}" destId="{23B8BA74-F371-4E76-85AB-7508219858F7}" srcOrd="1" destOrd="0" parTransId="{610064F7-5597-4131-AF58-26F168982112}" sibTransId="{C6EACA41-5C83-4F57-9618-9182493E9860}"/>
    <dgm:cxn modelId="{13C9BFFE-8EEF-42FA-A0E7-E34108E279D0}" srcId="{058FB322-823E-4C59-8214-5445D6D43878}" destId="{F9B7E82E-F0FF-45DA-8CE2-FB52C1689385}" srcOrd="3" destOrd="0" parTransId="{73761A06-B5DF-4A97-B9D9-E6A17E3B147D}" sibTransId="{2D818D0A-8EA1-405B-8FE7-1A66D38CE201}"/>
    <dgm:cxn modelId="{0DC0B9AA-3991-42C4-A37F-7356AC60696F}" type="presParOf" srcId="{8C7985A3-1FFF-47CE-863B-0BD463CE6AF4}" destId="{F7986D20-BA47-4D5F-9A5C-695058DF204D}" srcOrd="0" destOrd="0" presId="urn:microsoft.com/office/officeart/2018/2/layout/IconLabelList"/>
    <dgm:cxn modelId="{6076CC5F-EF99-4E4B-8CB2-413735A6D1E5}" type="presParOf" srcId="{F7986D20-BA47-4D5F-9A5C-695058DF204D}" destId="{D3275B0C-2DF9-4826-98FC-8CF25200020C}" srcOrd="0" destOrd="0" presId="urn:microsoft.com/office/officeart/2018/2/layout/IconLabelList"/>
    <dgm:cxn modelId="{2D321150-4A34-4C6B-8F39-6F545170D7A7}" type="presParOf" srcId="{F7986D20-BA47-4D5F-9A5C-695058DF204D}" destId="{932D01EA-68AD-479F-B6A0-329E28150F97}" srcOrd="1" destOrd="0" presId="urn:microsoft.com/office/officeart/2018/2/layout/IconLabelList"/>
    <dgm:cxn modelId="{29D112A7-B8B4-4591-A205-999D797D8575}" type="presParOf" srcId="{F7986D20-BA47-4D5F-9A5C-695058DF204D}" destId="{054AD2C4-BE66-4EED-90DF-526B87B5CD8C}" srcOrd="2" destOrd="0" presId="urn:microsoft.com/office/officeart/2018/2/layout/IconLabelList"/>
    <dgm:cxn modelId="{805993CA-C05C-4F20-872C-F1668890A634}" type="presParOf" srcId="{8C7985A3-1FFF-47CE-863B-0BD463CE6AF4}" destId="{06B0F23D-81A3-408C-B76A-8E5BD816832C}" srcOrd="1" destOrd="0" presId="urn:microsoft.com/office/officeart/2018/2/layout/IconLabelList"/>
    <dgm:cxn modelId="{EAC73C36-8710-4F98-828F-01A6FF269324}" type="presParOf" srcId="{8C7985A3-1FFF-47CE-863B-0BD463CE6AF4}" destId="{58D3CA8F-C2C6-437B-B95A-B90E0B3C5FF3}" srcOrd="2" destOrd="0" presId="urn:microsoft.com/office/officeart/2018/2/layout/IconLabelList"/>
    <dgm:cxn modelId="{52D2BC6D-2286-442C-8727-F6E7BB34AA8F}" type="presParOf" srcId="{58D3CA8F-C2C6-437B-B95A-B90E0B3C5FF3}" destId="{FF3F8943-5DF4-4584-BACE-BC65A01D71F3}" srcOrd="0" destOrd="0" presId="urn:microsoft.com/office/officeart/2018/2/layout/IconLabelList"/>
    <dgm:cxn modelId="{E12736BB-08CD-423C-A54B-7EDF79987BFC}" type="presParOf" srcId="{58D3CA8F-C2C6-437B-B95A-B90E0B3C5FF3}" destId="{5275261B-9627-4DB4-B19B-BEE73B2ADB18}" srcOrd="1" destOrd="0" presId="urn:microsoft.com/office/officeart/2018/2/layout/IconLabelList"/>
    <dgm:cxn modelId="{D3A9C080-D3E2-4B11-9CE3-9061CC985B2D}" type="presParOf" srcId="{58D3CA8F-C2C6-437B-B95A-B90E0B3C5FF3}" destId="{D3D1C526-12F7-4DB0-8FAE-998B5380FE44}" srcOrd="2" destOrd="0" presId="urn:microsoft.com/office/officeart/2018/2/layout/IconLabelList"/>
    <dgm:cxn modelId="{2ABBBF2B-50A0-4B1B-9CC4-FCEDDF6A606F}" type="presParOf" srcId="{8C7985A3-1FFF-47CE-863B-0BD463CE6AF4}" destId="{E3205ECB-BCCC-443F-80CA-F357F97750BC}" srcOrd="3" destOrd="0" presId="urn:microsoft.com/office/officeart/2018/2/layout/IconLabelList"/>
    <dgm:cxn modelId="{B06CAEC1-D497-48A2-8CEF-94FA96778CE2}" type="presParOf" srcId="{8C7985A3-1FFF-47CE-863B-0BD463CE6AF4}" destId="{54A1158A-F5FC-4D58-A048-95E2124538A0}" srcOrd="4" destOrd="0" presId="urn:microsoft.com/office/officeart/2018/2/layout/IconLabelList"/>
    <dgm:cxn modelId="{D9283520-4522-463F-85CF-93FF729B1E4D}" type="presParOf" srcId="{54A1158A-F5FC-4D58-A048-95E2124538A0}" destId="{AD881F7C-3D04-4689-BADE-FD0C062C8AC7}" srcOrd="0" destOrd="0" presId="urn:microsoft.com/office/officeart/2018/2/layout/IconLabelList"/>
    <dgm:cxn modelId="{2384B11C-2307-4A50-9315-2C6C891F92B9}" type="presParOf" srcId="{54A1158A-F5FC-4D58-A048-95E2124538A0}" destId="{59E376B1-ED2D-46A9-A6D8-8DD1CDE12666}" srcOrd="1" destOrd="0" presId="urn:microsoft.com/office/officeart/2018/2/layout/IconLabelList"/>
    <dgm:cxn modelId="{540E29A6-A0E9-462B-9D21-262F58D64F20}" type="presParOf" srcId="{54A1158A-F5FC-4D58-A048-95E2124538A0}" destId="{A29EC8D5-F75C-49E4-8005-375B8CC7D1A7}" srcOrd="2" destOrd="0" presId="urn:microsoft.com/office/officeart/2018/2/layout/IconLabelList"/>
    <dgm:cxn modelId="{5A99676C-91C9-463C-9341-25EAB8AD664E}" type="presParOf" srcId="{8C7985A3-1FFF-47CE-863B-0BD463CE6AF4}" destId="{526A474C-23E2-4AC1-AA52-E66AD468A589}" srcOrd="5" destOrd="0" presId="urn:microsoft.com/office/officeart/2018/2/layout/IconLabelList"/>
    <dgm:cxn modelId="{B2BDDCCE-D42E-4F43-A502-289051F6A395}" type="presParOf" srcId="{8C7985A3-1FFF-47CE-863B-0BD463CE6AF4}" destId="{A8310602-5972-424E-9168-1DD1F7DF9540}" srcOrd="6" destOrd="0" presId="urn:microsoft.com/office/officeart/2018/2/layout/IconLabelList"/>
    <dgm:cxn modelId="{0AE3A575-5E86-49CC-853C-2613ACA788E4}" type="presParOf" srcId="{A8310602-5972-424E-9168-1DD1F7DF9540}" destId="{5D1561EB-58DF-425A-947E-D8452D38D58C}" srcOrd="0" destOrd="0" presId="urn:microsoft.com/office/officeart/2018/2/layout/IconLabelList"/>
    <dgm:cxn modelId="{3E0885C9-59D9-40C5-B86F-30A52D179AAC}" type="presParOf" srcId="{A8310602-5972-424E-9168-1DD1F7DF9540}" destId="{8FD41904-2B2C-4EF0-A0B2-CCB890E57669}" srcOrd="1" destOrd="0" presId="urn:microsoft.com/office/officeart/2018/2/layout/IconLabelList"/>
    <dgm:cxn modelId="{21521D82-4241-420E-B2A2-34FD635EF778}" type="presParOf" srcId="{A8310602-5972-424E-9168-1DD1F7DF9540}" destId="{1112A76B-6C17-441F-B0BE-5A882F95751D}" srcOrd="2" destOrd="0" presId="urn:microsoft.com/office/officeart/2018/2/layout/IconLabelList"/>
    <dgm:cxn modelId="{716CF06D-CBAA-4DAA-A79F-A62FADB42A6C}" type="presParOf" srcId="{8C7985A3-1FFF-47CE-863B-0BD463CE6AF4}" destId="{D24CCE06-A2F3-4FB0-A159-90B42F24E24E}" srcOrd="7" destOrd="0" presId="urn:microsoft.com/office/officeart/2018/2/layout/IconLabelList"/>
    <dgm:cxn modelId="{E9C11920-2EA1-410C-84B0-F580AD29D488}" type="presParOf" srcId="{8C7985A3-1FFF-47CE-863B-0BD463CE6AF4}" destId="{3D66D175-0278-43DA-8799-97A340628C2B}" srcOrd="8" destOrd="0" presId="urn:microsoft.com/office/officeart/2018/2/layout/IconLabelList"/>
    <dgm:cxn modelId="{EBF92752-F10C-4D06-BFE4-3C2B5FA88C60}" type="presParOf" srcId="{3D66D175-0278-43DA-8799-97A340628C2B}" destId="{A513D6DE-FF36-4FD4-B7EF-EFD2BCA2A2B3}" srcOrd="0" destOrd="0" presId="urn:microsoft.com/office/officeart/2018/2/layout/IconLabelList"/>
    <dgm:cxn modelId="{60449865-9394-421A-9412-ED2DF2FE6A24}" type="presParOf" srcId="{3D66D175-0278-43DA-8799-97A340628C2B}" destId="{A16CFCEC-E0BF-4333-A898-411FEECC464D}" srcOrd="1" destOrd="0" presId="urn:microsoft.com/office/officeart/2018/2/layout/IconLabelList"/>
    <dgm:cxn modelId="{C3D9DD68-FDA9-4D56-BDE4-F94ED5B2DF4C}" type="presParOf" srcId="{3D66D175-0278-43DA-8799-97A340628C2B}" destId="{E40696A6-0B79-4BA7-9BFC-B34CCC608B1B}" srcOrd="2" destOrd="0" presId="urn:microsoft.com/office/officeart/2018/2/layout/IconLabelList"/>
    <dgm:cxn modelId="{16F53553-264D-41A2-9F3C-A7B81E0C6746}" type="presParOf" srcId="{8C7985A3-1FFF-47CE-863B-0BD463CE6AF4}" destId="{65F96631-4908-4622-9AEE-CBCA6A12946E}" srcOrd="9" destOrd="0" presId="urn:microsoft.com/office/officeart/2018/2/layout/IconLabelList"/>
    <dgm:cxn modelId="{780D75C7-C08E-40A1-BBB1-DD593BEAD731}" type="presParOf" srcId="{8C7985A3-1FFF-47CE-863B-0BD463CE6AF4}" destId="{1F474778-C8DF-4435-94D7-2DFDE7DE56CF}" srcOrd="10" destOrd="0" presId="urn:microsoft.com/office/officeart/2018/2/layout/IconLabelList"/>
    <dgm:cxn modelId="{8D804F57-B951-4C00-97E0-DAF5382A3DB3}" type="presParOf" srcId="{1F474778-C8DF-4435-94D7-2DFDE7DE56CF}" destId="{99BF8DBC-FD4C-492B-8BC6-38C38BC1271E}" srcOrd="0" destOrd="0" presId="urn:microsoft.com/office/officeart/2018/2/layout/IconLabelList"/>
    <dgm:cxn modelId="{A6B71E33-2B69-4B2C-8766-2E51D84E8CFB}" type="presParOf" srcId="{1F474778-C8DF-4435-94D7-2DFDE7DE56CF}" destId="{B8A5DDFB-7C20-49D3-AE0E-5AB803FC50E0}" srcOrd="1" destOrd="0" presId="urn:microsoft.com/office/officeart/2018/2/layout/IconLabelList"/>
    <dgm:cxn modelId="{6934FD33-0DDF-4B21-8D6D-C690BA38550D}" type="presParOf" srcId="{1F474778-C8DF-4435-94D7-2DFDE7DE56CF}" destId="{C1851F34-BC76-47A5-B3C9-ACC77E74CCF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3489A3-C7FA-42A3-BC60-052B8974E3B2}"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NG"/>
        </a:p>
      </dgm:t>
    </dgm:pt>
    <dgm:pt modelId="{BBF2FCE0-73AF-4281-AE23-B462A620AE24}">
      <dgm:prSet custT="1"/>
      <dgm:spPr>
        <a:ln>
          <a:solidFill>
            <a:srgbClr val="FF0000"/>
          </a:solidFill>
        </a:ln>
      </dgm:spPr>
      <dgm:t>
        <a:bodyPr/>
        <a:lstStyle/>
        <a:p>
          <a:r>
            <a:rPr lang="en-US" sz="1800" b="1">
              <a:latin typeface="Century Gothic" panose="020B0502020202020204" pitchFamily="34" charset="0"/>
            </a:rPr>
            <a:t>Finance:</a:t>
          </a:r>
          <a:r>
            <a:rPr lang="en-US" sz="1800">
              <a:latin typeface="Century Gothic" panose="020B0502020202020204" pitchFamily="34" charset="0"/>
            </a:rPr>
            <a:t> Receivables, billing, revenue recognition, budgets, SAP B1 replacement or coexistence</a:t>
          </a:r>
          <a:endParaRPr lang="en-NG" sz="1800">
            <a:latin typeface="Century Gothic" panose="020B0502020202020204" pitchFamily="34" charset="0"/>
          </a:endParaRPr>
        </a:p>
      </dgm:t>
    </dgm:pt>
    <dgm:pt modelId="{584EBB4D-48C0-4B93-8730-89EFF6EA8ACC}" type="parTrans" cxnId="{D729E696-7F48-46CC-BB99-0BC6632D82DE}">
      <dgm:prSet/>
      <dgm:spPr/>
      <dgm:t>
        <a:bodyPr/>
        <a:lstStyle/>
        <a:p>
          <a:endParaRPr lang="en-NG" sz="1600">
            <a:latin typeface="Century Gothic" panose="020B0502020202020204" pitchFamily="34" charset="0"/>
          </a:endParaRPr>
        </a:p>
      </dgm:t>
    </dgm:pt>
    <dgm:pt modelId="{3F714D82-25B8-4536-8E83-4746EC4B7E58}" type="sibTrans" cxnId="{D729E696-7F48-46CC-BB99-0BC6632D82DE}">
      <dgm:prSet/>
      <dgm:spPr/>
      <dgm:t>
        <a:bodyPr/>
        <a:lstStyle/>
        <a:p>
          <a:endParaRPr lang="en-NG" sz="1600">
            <a:latin typeface="Century Gothic" panose="020B0502020202020204" pitchFamily="34" charset="0"/>
          </a:endParaRPr>
        </a:p>
      </dgm:t>
    </dgm:pt>
    <dgm:pt modelId="{1032C3E7-DF0B-4856-90E9-0A5A4BEDE9B2}">
      <dgm:prSet custT="1"/>
      <dgm:spPr>
        <a:ln>
          <a:solidFill>
            <a:srgbClr val="FF0000"/>
          </a:solidFill>
        </a:ln>
      </dgm:spPr>
      <dgm:t>
        <a:bodyPr/>
        <a:lstStyle/>
        <a:p>
          <a:r>
            <a:rPr lang="en-US" sz="1800" b="1">
              <a:latin typeface="Century Gothic" panose="020B0502020202020204" pitchFamily="34" charset="0"/>
            </a:rPr>
            <a:t>HR:</a:t>
          </a:r>
          <a:r>
            <a:rPr lang="en-US" sz="1800">
              <a:latin typeface="Century Gothic" panose="020B0502020202020204" pitchFamily="34" charset="0"/>
            </a:rPr>
            <a:t> Core HR, payroll, leave, performance, ESS</a:t>
          </a:r>
          <a:endParaRPr lang="en-NG" sz="1800">
            <a:latin typeface="Century Gothic" panose="020B0502020202020204" pitchFamily="34" charset="0"/>
          </a:endParaRPr>
        </a:p>
      </dgm:t>
    </dgm:pt>
    <dgm:pt modelId="{625B3A73-896D-40E4-9A1E-FC3FBA6E686A}" type="parTrans" cxnId="{98143769-9EF7-4BDA-855E-E3FB18AB22D8}">
      <dgm:prSet/>
      <dgm:spPr/>
      <dgm:t>
        <a:bodyPr/>
        <a:lstStyle/>
        <a:p>
          <a:endParaRPr lang="en-NG" sz="1600">
            <a:latin typeface="Century Gothic" panose="020B0502020202020204" pitchFamily="34" charset="0"/>
          </a:endParaRPr>
        </a:p>
      </dgm:t>
    </dgm:pt>
    <dgm:pt modelId="{A8D550A4-4267-4F69-B171-1BF8C3BDBFC5}" type="sibTrans" cxnId="{98143769-9EF7-4BDA-855E-E3FB18AB22D8}">
      <dgm:prSet/>
      <dgm:spPr/>
      <dgm:t>
        <a:bodyPr/>
        <a:lstStyle/>
        <a:p>
          <a:endParaRPr lang="en-NG" sz="1600">
            <a:latin typeface="Century Gothic" panose="020B0502020202020204" pitchFamily="34" charset="0"/>
          </a:endParaRPr>
        </a:p>
      </dgm:t>
    </dgm:pt>
    <dgm:pt modelId="{D4E7EF82-34E1-4F33-922E-A68763DEA17B}">
      <dgm:prSet custT="1"/>
      <dgm:spPr>
        <a:ln>
          <a:solidFill>
            <a:srgbClr val="FF0000"/>
          </a:solidFill>
        </a:ln>
      </dgm:spPr>
      <dgm:t>
        <a:bodyPr/>
        <a:lstStyle/>
        <a:p>
          <a:r>
            <a:rPr lang="en-US" sz="1800" b="1">
              <a:latin typeface="Century Gothic" panose="020B0502020202020204" pitchFamily="34" charset="0"/>
            </a:rPr>
            <a:t>Admin:</a:t>
          </a:r>
          <a:r>
            <a:rPr lang="en-US" sz="1800">
              <a:latin typeface="Century Gothic" panose="020B0502020202020204" pitchFamily="34" charset="0"/>
            </a:rPr>
            <a:t> Procurement, vehicles, inventory, guest facilities</a:t>
          </a:r>
          <a:endParaRPr lang="en-NG" sz="1800">
            <a:latin typeface="Century Gothic" panose="020B0502020202020204" pitchFamily="34" charset="0"/>
          </a:endParaRPr>
        </a:p>
      </dgm:t>
    </dgm:pt>
    <dgm:pt modelId="{F4B344F3-BA02-4BA1-B67F-3D2635C1CC5E}" type="parTrans" cxnId="{B2114307-30C0-42F0-9677-67BA38C2FC4F}">
      <dgm:prSet/>
      <dgm:spPr/>
      <dgm:t>
        <a:bodyPr/>
        <a:lstStyle/>
        <a:p>
          <a:endParaRPr lang="en-NG" sz="1600">
            <a:latin typeface="Century Gothic" panose="020B0502020202020204" pitchFamily="34" charset="0"/>
          </a:endParaRPr>
        </a:p>
      </dgm:t>
    </dgm:pt>
    <dgm:pt modelId="{745B4238-1ED4-4F31-8207-D13D6319F84D}" type="sibTrans" cxnId="{B2114307-30C0-42F0-9677-67BA38C2FC4F}">
      <dgm:prSet/>
      <dgm:spPr/>
      <dgm:t>
        <a:bodyPr/>
        <a:lstStyle/>
        <a:p>
          <a:endParaRPr lang="en-NG" sz="1600">
            <a:latin typeface="Century Gothic" panose="020B0502020202020204" pitchFamily="34" charset="0"/>
          </a:endParaRPr>
        </a:p>
      </dgm:t>
    </dgm:pt>
    <dgm:pt modelId="{4C0529AB-6DFA-4BB7-B27C-2BA8539C1F90}">
      <dgm:prSet custT="1"/>
      <dgm:spPr>
        <a:ln>
          <a:solidFill>
            <a:srgbClr val="FF0000"/>
          </a:solidFill>
        </a:ln>
      </dgm:spPr>
      <dgm:t>
        <a:bodyPr/>
        <a:lstStyle/>
        <a:p>
          <a:r>
            <a:rPr lang="en-US" sz="1800" b="1">
              <a:latin typeface="Century Gothic" panose="020B0502020202020204" pitchFamily="34" charset="0"/>
            </a:rPr>
            <a:t>Construction:</a:t>
          </a:r>
          <a:r>
            <a:rPr lang="en-US" sz="1800">
              <a:latin typeface="Century Gothic" panose="020B0502020202020204" pitchFamily="34" charset="0"/>
            </a:rPr>
            <a:t> Project costing, milestones, contractor payments</a:t>
          </a:r>
          <a:endParaRPr lang="en-NG" sz="1800">
            <a:latin typeface="Century Gothic" panose="020B0502020202020204" pitchFamily="34" charset="0"/>
          </a:endParaRPr>
        </a:p>
      </dgm:t>
    </dgm:pt>
    <dgm:pt modelId="{AF7F9D56-AC2D-49A2-A077-18B55E066480}" type="parTrans" cxnId="{47DBF8E2-3B77-497E-A1A6-185D2EA9A178}">
      <dgm:prSet/>
      <dgm:spPr/>
      <dgm:t>
        <a:bodyPr/>
        <a:lstStyle/>
        <a:p>
          <a:endParaRPr lang="en-NG" sz="1600">
            <a:latin typeface="Century Gothic" panose="020B0502020202020204" pitchFamily="34" charset="0"/>
          </a:endParaRPr>
        </a:p>
      </dgm:t>
    </dgm:pt>
    <dgm:pt modelId="{FB097520-0AC4-48D2-914A-E9DEE06F03FF}" type="sibTrans" cxnId="{47DBF8E2-3B77-497E-A1A6-185D2EA9A178}">
      <dgm:prSet/>
      <dgm:spPr/>
      <dgm:t>
        <a:bodyPr/>
        <a:lstStyle/>
        <a:p>
          <a:endParaRPr lang="en-NG" sz="1600">
            <a:latin typeface="Century Gothic" panose="020B0502020202020204" pitchFamily="34" charset="0"/>
          </a:endParaRPr>
        </a:p>
      </dgm:t>
    </dgm:pt>
    <dgm:pt modelId="{228B52D4-DA89-4597-AD3B-F8C3A1A58492}">
      <dgm:prSet custT="1"/>
      <dgm:spPr>
        <a:ln>
          <a:solidFill>
            <a:srgbClr val="FF0000"/>
          </a:solidFill>
        </a:ln>
      </dgm:spPr>
      <dgm:t>
        <a:bodyPr/>
        <a:lstStyle/>
        <a:p>
          <a:r>
            <a:rPr lang="en-US" sz="1800" b="1">
              <a:latin typeface="Century Gothic" panose="020B0502020202020204" pitchFamily="34" charset="0"/>
            </a:rPr>
            <a:t>Legal:</a:t>
          </a:r>
          <a:r>
            <a:rPr lang="en-US" sz="1800">
              <a:latin typeface="Century Gothic" panose="020B0502020202020204" pitchFamily="34" charset="0"/>
            </a:rPr>
            <a:t> Contract lifecycle, obligations, renewals</a:t>
          </a:r>
          <a:endParaRPr lang="en-NG" sz="1800">
            <a:latin typeface="Century Gothic" panose="020B0502020202020204" pitchFamily="34" charset="0"/>
          </a:endParaRPr>
        </a:p>
      </dgm:t>
    </dgm:pt>
    <dgm:pt modelId="{035920F9-283D-4A5F-84FA-CB4A0E725866}" type="parTrans" cxnId="{9067AB34-5296-443D-94DF-07AAAA0BD1C5}">
      <dgm:prSet/>
      <dgm:spPr/>
      <dgm:t>
        <a:bodyPr/>
        <a:lstStyle/>
        <a:p>
          <a:endParaRPr lang="en-NG" sz="1600">
            <a:latin typeface="Century Gothic" panose="020B0502020202020204" pitchFamily="34" charset="0"/>
          </a:endParaRPr>
        </a:p>
      </dgm:t>
    </dgm:pt>
    <dgm:pt modelId="{D1C04CA7-C933-4016-B07E-D83779D78916}" type="sibTrans" cxnId="{9067AB34-5296-443D-94DF-07AAAA0BD1C5}">
      <dgm:prSet/>
      <dgm:spPr/>
      <dgm:t>
        <a:bodyPr/>
        <a:lstStyle/>
        <a:p>
          <a:endParaRPr lang="en-NG" sz="1600">
            <a:latin typeface="Century Gothic" panose="020B0502020202020204" pitchFamily="34" charset="0"/>
          </a:endParaRPr>
        </a:p>
      </dgm:t>
    </dgm:pt>
    <dgm:pt modelId="{A35B592D-DECC-4790-A949-1FCD844D6F80}" type="pres">
      <dgm:prSet presAssocID="{463489A3-C7FA-42A3-BC60-052B8974E3B2}" presName="linear" presStyleCnt="0">
        <dgm:presLayoutVars>
          <dgm:animLvl val="lvl"/>
          <dgm:resizeHandles val="exact"/>
        </dgm:presLayoutVars>
      </dgm:prSet>
      <dgm:spPr/>
    </dgm:pt>
    <dgm:pt modelId="{0CACD517-137F-4BFD-B40D-9EC05C6E9AA6}" type="pres">
      <dgm:prSet presAssocID="{BBF2FCE0-73AF-4281-AE23-B462A620AE24}" presName="parentText" presStyleLbl="node1" presStyleIdx="0" presStyleCnt="5" custLinFactY="80432" custLinFactNeighborY="100000">
        <dgm:presLayoutVars>
          <dgm:chMax val="0"/>
          <dgm:bulletEnabled val="1"/>
        </dgm:presLayoutVars>
      </dgm:prSet>
      <dgm:spPr/>
    </dgm:pt>
    <dgm:pt modelId="{C4168ABF-3F4C-43BC-97ED-C6AB25706B0E}" type="pres">
      <dgm:prSet presAssocID="{3F714D82-25B8-4536-8E83-4746EC4B7E58}" presName="spacer" presStyleCnt="0"/>
      <dgm:spPr/>
    </dgm:pt>
    <dgm:pt modelId="{AE034F70-ABBB-445B-86AE-5DA52457269A}" type="pres">
      <dgm:prSet presAssocID="{1032C3E7-DF0B-4856-90E9-0A5A4BEDE9B2}" presName="parentText" presStyleLbl="node1" presStyleIdx="1" presStyleCnt="5" custLinFactY="60774" custLinFactNeighborY="100000">
        <dgm:presLayoutVars>
          <dgm:chMax val="0"/>
          <dgm:bulletEnabled val="1"/>
        </dgm:presLayoutVars>
      </dgm:prSet>
      <dgm:spPr/>
    </dgm:pt>
    <dgm:pt modelId="{BAA11151-DB7C-41FA-86CE-B570ABDA435F}" type="pres">
      <dgm:prSet presAssocID="{A8D550A4-4267-4F69-B171-1BF8C3BDBFC5}" presName="spacer" presStyleCnt="0"/>
      <dgm:spPr/>
    </dgm:pt>
    <dgm:pt modelId="{42F1BDA7-334D-4437-A6C0-6EF0268F92D9}" type="pres">
      <dgm:prSet presAssocID="{D4E7EF82-34E1-4F33-922E-A68763DEA17B}" presName="parentText" presStyleLbl="node1" presStyleIdx="2" presStyleCnt="5" custLinFactY="39655" custLinFactNeighborX="126" custLinFactNeighborY="100000">
        <dgm:presLayoutVars>
          <dgm:chMax val="0"/>
          <dgm:bulletEnabled val="1"/>
        </dgm:presLayoutVars>
      </dgm:prSet>
      <dgm:spPr/>
    </dgm:pt>
    <dgm:pt modelId="{6D2EBDC7-6731-48A3-B78D-2C4A45667720}" type="pres">
      <dgm:prSet presAssocID="{745B4238-1ED4-4F31-8207-D13D6319F84D}" presName="spacer" presStyleCnt="0"/>
      <dgm:spPr/>
    </dgm:pt>
    <dgm:pt modelId="{7D4D5B41-9D39-4CC3-A9F6-7DD4BBE12870}" type="pres">
      <dgm:prSet presAssocID="{4C0529AB-6DFA-4BB7-B27C-2BA8539C1F90}" presName="parentText" presStyleLbl="node1" presStyleIdx="3" presStyleCnt="5" custLinFactY="23645" custLinFactNeighborY="100000">
        <dgm:presLayoutVars>
          <dgm:chMax val="0"/>
          <dgm:bulletEnabled val="1"/>
        </dgm:presLayoutVars>
      </dgm:prSet>
      <dgm:spPr/>
    </dgm:pt>
    <dgm:pt modelId="{4776F3B6-175F-4107-8E2B-4A21A833EE48}" type="pres">
      <dgm:prSet presAssocID="{FB097520-0AC4-48D2-914A-E9DEE06F03FF}" presName="spacer" presStyleCnt="0"/>
      <dgm:spPr/>
    </dgm:pt>
    <dgm:pt modelId="{9D2F71C8-C183-4AFD-8C73-D2F07F22D434}" type="pres">
      <dgm:prSet presAssocID="{228B52D4-DA89-4597-AD3B-F8C3A1A58492}" presName="parentText" presStyleLbl="node1" presStyleIdx="4" presStyleCnt="5" custLinFactNeighborY="28440">
        <dgm:presLayoutVars>
          <dgm:chMax val="0"/>
          <dgm:bulletEnabled val="1"/>
        </dgm:presLayoutVars>
      </dgm:prSet>
      <dgm:spPr/>
    </dgm:pt>
  </dgm:ptLst>
  <dgm:cxnLst>
    <dgm:cxn modelId="{B2114307-30C0-42F0-9677-67BA38C2FC4F}" srcId="{463489A3-C7FA-42A3-BC60-052B8974E3B2}" destId="{D4E7EF82-34E1-4F33-922E-A68763DEA17B}" srcOrd="2" destOrd="0" parTransId="{F4B344F3-BA02-4BA1-B67F-3D2635C1CC5E}" sibTransId="{745B4238-1ED4-4F31-8207-D13D6319F84D}"/>
    <dgm:cxn modelId="{9067AB34-5296-443D-94DF-07AAAA0BD1C5}" srcId="{463489A3-C7FA-42A3-BC60-052B8974E3B2}" destId="{228B52D4-DA89-4597-AD3B-F8C3A1A58492}" srcOrd="4" destOrd="0" parTransId="{035920F9-283D-4A5F-84FA-CB4A0E725866}" sibTransId="{D1C04CA7-C933-4016-B07E-D83779D78916}"/>
    <dgm:cxn modelId="{BA114367-AB1D-4D68-A3C9-1CB81291ECDE}" type="presOf" srcId="{D4E7EF82-34E1-4F33-922E-A68763DEA17B}" destId="{42F1BDA7-334D-4437-A6C0-6EF0268F92D9}" srcOrd="0" destOrd="0" presId="urn:microsoft.com/office/officeart/2005/8/layout/vList2"/>
    <dgm:cxn modelId="{C56DBE48-38D0-4066-8F3E-A47CC63D8E29}" type="presOf" srcId="{4C0529AB-6DFA-4BB7-B27C-2BA8539C1F90}" destId="{7D4D5B41-9D39-4CC3-A9F6-7DD4BBE12870}" srcOrd="0" destOrd="0" presId="urn:microsoft.com/office/officeart/2005/8/layout/vList2"/>
    <dgm:cxn modelId="{98143769-9EF7-4BDA-855E-E3FB18AB22D8}" srcId="{463489A3-C7FA-42A3-BC60-052B8974E3B2}" destId="{1032C3E7-DF0B-4856-90E9-0A5A4BEDE9B2}" srcOrd="1" destOrd="0" parTransId="{625B3A73-896D-40E4-9A1E-FC3FBA6E686A}" sibTransId="{A8D550A4-4267-4F69-B171-1BF8C3BDBFC5}"/>
    <dgm:cxn modelId="{D1932E6B-C179-4AD7-9425-55E7026EA46F}" type="presOf" srcId="{BBF2FCE0-73AF-4281-AE23-B462A620AE24}" destId="{0CACD517-137F-4BFD-B40D-9EC05C6E9AA6}" srcOrd="0" destOrd="0" presId="urn:microsoft.com/office/officeart/2005/8/layout/vList2"/>
    <dgm:cxn modelId="{5C2E0470-64E0-4EA0-8CA9-57E83C7AF607}" type="presOf" srcId="{463489A3-C7FA-42A3-BC60-052B8974E3B2}" destId="{A35B592D-DECC-4790-A949-1FCD844D6F80}" srcOrd="0" destOrd="0" presId="urn:microsoft.com/office/officeart/2005/8/layout/vList2"/>
    <dgm:cxn modelId="{DA6EF28B-4138-4042-9BF7-607FB8616470}" type="presOf" srcId="{1032C3E7-DF0B-4856-90E9-0A5A4BEDE9B2}" destId="{AE034F70-ABBB-445B-86AE-5DA52457269A}" srcOrd="0" destOrd="0" presId="urn:microsoft.com/office/officeart/2005/8/layout/vList2"/>
    <dgm:cxn modelId="{D729E696-7F48-46CC-BB99-0BC6632D82DE}" srcId="{463489A3-C7FA-42A3-BC60-052B8974E3B2}" destId="{BBF2FCE0-73AF-4281-AE23-B462A620AE24}" srcOrd="0" destOrd="0" parTransId="{584EBB4D-48C0-4B93-8730-89EFF6EA8ACC}" sibTransId="{3F714D82-25B8-4536-8E83-4746EC4B7E58}"/>
    <dgm:cxn modelId="{E3CA9BDC-5DE5-4A69-899D-0675B7E6F138}" type="presOf" srcId="{228B52D4-DA89-4597-AD3B-F8C3A1A58492}" destId="{9D2F71C8-C183-4AFD-8C73-D2F07F22D434}" srcOrd="0" destOrd="0" presId="urn:microsoft.com/office/officeart/2005/8/layout/vList2"/>
    <dgm:cxn modelId="{47DBF8E2-3B77-497E-A1A6-185D2EA9A178}" srcId="{463489A3-C7FA-42A3-BC60-052B8974E3B2}" destId="{4C0529AB-6DFA-4BB7-B27C-2BA8539C1F90}" srcOrd="3" destOrd="0" parTransId="{AF7F9D56-AC2D-49A2-A077-18B55E066480}" sibTransId="{FB097520-0AC4-48D2-914A-E9DEE06F03FF}"/>
    <dgm:cxn modelId="{371B566C-5F50-4F43-A5C4-9358872FB9C5}" type="presParOf" srcId="{A35B592D-DECC-4790-A949-1FCD844D6F80}" destId="{0CACD517-137F-4BFD-B40D-9EC05C6E9AA6}" srcOrd="0" destOrd="0" presId="urn:microsoft.com/office/officeart/2005/8/layout/vList2"/>
    <dgm:cxn modelId="{748D8654-FDE8-4B33-BAF0-069F1040F4C4}" type="presParOf" srcId="{A35B592D-DECC-4790-A949-1FCD844D6F80}" destId="{C4168ABF-3F4C-43BC-97ED-C6AB25706B0E}" srcOrd="1" destOrd="0" presId="urn:microsoft.com/office/officeart/2005/8/layout/vList2"/>
    <dgm:cxn modelId="{8EACE0C8-4753-4AB8-86A2-E3D8A91F9D69}" type="presParOf" srcId="{A35B592D-DECC-4790-A949-1FCD844D6F80}" destId="{AE034F70-ABBB-445B-86AE-5DA52457269A}" srcOrd="2" destOrd="0" presId="urn:microsoft.com/office/officeart/2005/8/layout/vList2"/>
    <dgm:cxn modelId="{4F5BD42B-BA04-4E90-99E9-5C7549D92A60}" type="presParOf" srcId="{A35B592D-DECC-4790-A949-1FCD844D6F80}" destId="{BAA11151-DB7C-41FA-86CE-B570ABDA435F}" srcOrd="3" destOrd="0" presId="urn:microsoft.com/office/officeart/2005/8/layout/vList2"/>
    <dgm:cxn modelId="{A2BA5835-D3D4-4534-BDB2-AC30A66E0EB3}" type="presParOf" srcId="{A35B592D-DECC-4790-A949-1FCD844D6F80}" destId="{42F1BDA7-334D-4437-A6C0-6EF0268F92D9}" srcOrd="4" destOrd="0" presId="urn:microsoft.com/office/officeart/2005/8/layout/vList2"/>
    <dgm:cxn modelId="{60540FC8-C99B-4846-BD8D-6FF7AF711347}" type="presParOf" srcId="{A35B592D-DECC-4790-A949-1FCD844D6F80}" destId="{6D2EBDC7-6731-48A3-B78D-2C4A45667720}" srcOrd="5" destOrd="0" presId="urn:microsoft.com/office/officeart/2005/8/layout/vList2"/>
    <dgm:cxn modelId="{1B0B7B51-F32B-48E7-A9B7-B408CAC236B0}" type="presParOf" srcId="{A35B592D-DECC-4790-A949-1FCD844D6F80}" destId="{7D4D5B41-9D39-4CC3-A9F6-7DD4BBE12870}" srcOrd="6" destOrd="0" presId="urn:microsoft.com/office/officeart/2005/8/layout/vList2"/>
    <dgm:cxn modelId="{2610E29D-D023-4D77-B11D-DFFA9A2CA772}" type="presParOf" srcId="{A35B592D-DECC-4790-A949-1FCD844D6F80}" destId="{4776F3B6-175F-4107-8E2B-4A21A833EE48}" srcOrd="7" destOrd="0" presId="urn:microsoft.com/office/officeart/2005/8/layout/vList2"/>
    <dgm:cxn modelId="{02A4C2A4-EFA8-40CB-8085-4C196E73C79D}" type="presParOf" srcId="{A35B592D-DECC-4790-A949-1FCD844D6F80}" destId="{9D2F71C8-C183-4AFD-8C73-D2F07F22D43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EE4B521-45C7-4E56-B12B-5E602E521A6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38B80D6-0FF6-4530-B5F9-E62A932A4C42}">
      <dgm:prSet custT="1"/>
      <dgm:spPr/>
      <dgm:t>
        <a:bodyPr/>
        <a:lstStyle/>
        <a:p>
          <a:r>
            <a:rPr lang="en-US" sz="1400">
              <a:latin typeface="Century Gothic" panose="020B0502020202020204" pitchFamily="34" charset="0"/>
            </a:rPr>
            <a:t>Presentation Layer: Web, Mobile, Portals</a:t>
          </a:r>
        </a:p>
      </dgm:t>
    </dgm:pt>
    <dgm:pt modelId="{98D84BF3-B8E1-4828-9EBF-CFB078667FA2}" type="parTrans" cxnId="{E25A512E-A91A-4BFB-9307-45CD4B05B97E}">
      <dgm:prSet/>
      <dgm:spPr/>
      <dgm:t>
        <a:bodyPr/>
        <a:lstStyle/>
        <a:p>
          <a:endParaRPr lang="en-US" sz="1600">
            <a:latin typeface="Century Gothic" panose="020B0502020202020204" pitchFamily="34" charset="0"/>
          </a:endParaRPr>
        </a:p>
      </dgm:t>
    </dgm:pt>
    <dgm:pt modelId="{E91325DE-E06C-4899-BFA4-BEB85C3087AD}" type="sibTrans" cxnId="{E25A512E-A91A-4BFB-9307-45CD4B05B97E}">
      <dgm:prSet/>
      <dgm:spPr/>
      <dgm:t>
        <a:bodyPr/>
        <a:lstStyle/>
        <a:p>
          <a:endParaRPr lang="en-US" sz="1600">
            <a:latin typeface="Century Gothic" panose="020B0502020202020204" pitchFamily="34" charset="0"/>
          </a:endParaRPr>
        </a:p>
      </dgm:t>
    </dgm:pt>
    <dgm:pt modelId="{049A39D4-744C-4253-BED3-7F66B6C3314A}">
      <dgm:prSet custT="1"/>
      <dgm:spPr/>
      <dgm:t>
        <a:bodyPr/>
        <a:lstStyle/>
        <a:p>
          <a:r>
            <a:rPr lang="en-US" sz="1400">
              <a:latin typeface="Century Gothic" panose="020B0502020202020204" pitchFamily="34" charset="0"/>
            </a:rPr>
            <a:t>Application Layer: ERP, Security, Utilities, Workflows</a:t>
          </a:r>
        </a:p>
      </dgm:t>
    </dgm:pt>
    <dgm:pt modelId="{9EC95FD0-7E26-4789-9106-52F2A2D6FC8F}" type="parTrans" cxnId="{BB8F55C3-7F17-4A81-B571-4429FB88390A}">
      <dgm:prSet/>
      <dgm:spPr/>
      <dgm:t>
        <a:bodyPr/>
        <a:lstStyle/>
        <a:p>
          <a:endParaRPr lang="en-US" sz="1600">
            <a:latin typeface="Century Gothic" panose="020B0502020202020204" pitchFamily="34" charset="0"/>
          </a:endParaRPr>
        </a:p>
      </dgm:t>
    </dgm:pt>
    <dgm:pt modelId="{EAD13E9B-3034-4010-80E9-0B416A56C78E}" type="sibTrans" cxnId="{BB8F55C3-7F17-4A81-B571-4429FB88390A}">
      <dgm:prSet/>
      <dgm:spPr/>
      <dgm:t>
        <a:bodyPr/>
        <a:lstStyle/>
        <a:p>
          <a:endParaRPr lang="en-US" sz="1600">
            <a:latin typeface="Century Gothic" panose="020B0502020202020204" pitchFamily="34" charset="0"/>
          </a:endParaRPr>
        </a:p>
      </dgm:t>
    </dgm:pt>
    <dgm:pt modelId="{969FE0FF-631F-45ED-A3FE-3B32F118477D}">
      <dgm:prSet custT="1"/>
      <dgm:spPr/>
      <dgm:t>
        <a:bodyPr/>
        <a:lstStyle/>
        <a:p>
          <a:r>
            <a:rPr lang="en-US" sz="1400">
              <a:latin typeface="Century Gothic" panose="020B0502020202020204" pitchFamily="34" charset="0"/>
            </a:rPr>
            <a:t>Integration Layer: APIs &amp; Middleware</a:t>
          </a:r>
        </a:p>
      </dgm:t>
    </dgm:pt>
    <dgm:pt modelId="{0F0D4C31-B01B-4A1B-A46B-A319D830340C}" type="parTrans" cxnId="{F29B3D8D-0D22-4B36-BE5B-818B1EF86C15}">
      <dgm:prSet/>
      <dgm:spPr/>
      <dgm:t>
        <a:bodyPr/>
        <a:lstStyle/>
        <a:p>
          <a:endParaRPr lang="en-US" sz="1600">
            <a:latin typeface="Century Gothic" panose="020B0502020202020204" pitchFamily="34" charset="0"/>
          </a:endParaRPr>
        </a:p>
      </dgm:t>
    </dgm:pt>
    <dgm:pt modelId="{39281717-733F-4A26-9BAF-E395A6C49893}" type="sibTrans" cxnId="{F29B3D8D-0D22-4B36-BE5B-818B1EF86C15}">
      <dgm:prSet/>
      <dgm:spPr/>
      <dgm:t>
        <a:bodyPr/>
        <a:lstStyle/>
        <a:p>
          <a:endParaRPr lang="en-US" sz="1600">
            <a:latin typeface="Century Gothic" panose="020B0502020202020204" pitchFamily="34" charset="0"/>
          </a:endParaRPr>
        </a:p>
      </dgm:t>
    </dgm:pt>
    <dgm:pt modelId="{B509FC08-9E2F-4587-8A6D-4F7D7D0FF370}">
      <dgm:prSet custT="1"/>
      <dgm:spPr/>
      <dgm:t>
        <a:bodyPr/>
        <a:lstStyle/>
        <a:p>
          <a:r>
            <a:rPr lang="en-US" sz="1400">
              <a:latin typeface="Century Gothic" panose="020B0502020202020204" pitchFamily="34" charset="0"/>
            </a:rPr>
            <a:t>Data Layer: Centralized Cloud Databases</a:t>
          </a:r>
        </a:p>
      </dgm:t>
    </dgm:pt>
    <dgm:pt modelId="{4442215E-5B9A-4263-8815-8AE79D1D704D}" type="parTrans" cxnId="{B77032C1-EE7B-47FB-97BF-DA5FFF32064E}">
      <dgm:prSet/>
      <dgm:spPr/>
      <dgm:t>
        <a:bodyPr/>
        <a:lstStyle/>
        <a:p>
          <a:endParaRPr lang="en-US" sz="1600">
            <a:latin typeface="Century Gothic" panose="020B0502020202020204" pitchFamily="34" charset="0"/>
          </a:endParaRPr>
        </a:p>
      </dgm:t>
    </dgm:pt>
    <dgm:pt modelId="{650BBD29-F28D-435A-9981-0601CFAD4BEA}" type="sibTrans" cxnId="{B77032C1-EE7B-47FB-97BF-DA5FFF32064E}">
      <dgm:prSet/>
      <dgm:spPr/>
      <dgm:t>
        <a:bodyPr/>
        <a:lstStyle/>
        <a:p>
          <a:endParaRPr lang="en-US" sz="1600">
            <a:latin typeface="Century Gothic" panose="020B0502020202020204" pitchFamily="34" charset="0"/>
          </a:endParaRPr>
        </a:p>
      </dgm:t>
    </dgm:pt>
    <dgm:pt modelId="{76A5AEFB-0A3A-4BD4-A5DC-BADCBDA29F92}">
      <dgm:prSet custT="1"/>
      <dgm:spPr/>
      <dgm:t>
        <a:bodyPr/>
        <a:lstStyle/>
        <a:p>
          <a:r>
            <a:rPr lang="en-US" sz="1400">
              <a:latin typeface="Century Gothic" panose="020B0502020202020204" pitchFamily="34" charset="0"/>
            </a:rPr>
            <a:t>Analytics Layer: BI &amp; Reporting</a:t>
          </a:r>
        </a:p>
      </dgm:t>
    </dgm:pt>
    <dgm:pt modelId="{DB9A79AD-6893-422F-A214-D7F3A23E687A}" type="parTrans" cxnId="{967A6B31-5EAA-4631-9C09-F410BF8009E8}">
      <dgm:prSet/>
      <dgm:spPr/>
      <dgm:t>
        <a:bodyPr/>
        <a:lstStyle/>
        <a:p>
          <a:endParaRPr lang="en-US" sz="1600">
            <a:latin typeface="Century Gothic" panose="020B0502020202020204" pitchFamily="34" charset="0"/>
          </a:endParaRPr>
        </a:p>
      </dgm:t>
    </dgm:pt>
    <dgm:pt modelId="{8FF23D1D-74C7-4AFE-B02C-2999959033D0}" type="sibTrans" cxnId="{967A6B31-5EAA-4631-9C09-F410BF8009E8}">
      <dgm:prSet/>
      <dgm:spPr/>
      <dgm:t>
        <a:bodyPr/>
        <a:lstStyle/>
        <a:p>
          <a:endParaRPr lang="en-US" sz="1600">
            <a:latin typeface="Century Gothic" panose="020B0502020202020204" pitchFamily="34" charset="0"/>
          </a:endParaRPr>
        </a:p>
      </dgm:t>
    </dgm:pt>
    <dgm:pt modelId="{01A097B3-B2D4-48CB-84A5-ECC4F9CD6659}">
      <dgm:prSet custT="1"/>
      <dgm:spPr/>
      <dgm:t>
        <a:bodyPr/>
        <a:lstStyle/>
        <a:p>
          <a:r>
            <a:rPr lang="en-US" sz="1400">
              <a:latin typeface="Century Gothic" panose="020B0502020202020204" pitchFamily="34" charset="0"/>
            </a:rPr>
            <a:t>Security Layer: IAM, MFA, Audit Logs</a:t>
          </a:r>
        </a:p>
      </dgm:t>
    </dgm:pt>
    <dgm:pt modelId="{D5F061C6-3DE8-4BC7-9B6B-8B33217A8D42}" type="parTrans" cxnId="{FA491AF8-E651-43C4-B17F-B16A346E5E44}">
      <dgm:prSet/>
      <dgm:spPr/>
      <dgm:t>
        <a:bodyPr/>
        <a:lstStyle/>
        <a:p>
          <a:endParaRPr lang="en-US" sz="1600">
            <a:latin typeface="Century Gothic" panose="020B0502020202020204" pitchFamily="34" charset="0"/>
          </a:endParaRPr>
        </a:p>
      </dgm:t>
    </dgm:pt>
    <dgm:pt modelId="{61981547-5F09-4FCD-9721-3CEBD53D347A}" type="sibTrans" cxnId="{FA491AF8-E651-43C4-B17F-B16A346E5E44}">
      <dgm:prSet/>
      <dgm:spPr/>
      <dgm:t>
        <a:bodyPr/>
        <a:lstStyle/>
        <a:p>
          <a:endParaRPr lang="en-US" sz="1600">
            <a:latin typeface="Century Gothic" panose="020B0502020202020204" pitchFamily="34" charset="0"/>
          </a:endParaRPr>
        </a:p>
      </dgm:t>
    </dgm:pt>
    <dgm:pt modelId="{28A5804A-8ACE-4B8D-BB1C-9D70AF95EF10}">
      <dgm:prSet custT="1"/>
      <dgm:spPr/>
      <dgm:t>
        <a:bodyPr/>
        <a:lstStyle/>
        <a:p>
          <a:r>
            <a:rPr lang="en-US" sz="1400">
              <a:latin typeface="Century Gothic" panose="020B0502020202020204" pitchFamily="34" charset="0"/>
            </a:rPr>
            <a:t>Cloud‑hosted, scalable, and secure.</a:t>
          </a:r>
        </a:p>
      </dgm:t>
    </dgm:pt>
    <dgm:pt modelId="{E47ED892-E891-44C7-B7FA-4602BA82873E}" type="parTrans" cxnId="{D94AEB32-6349-4368-94B5-C8F0217C0157}">
      <dgm:prSet/>
      <dgm:spPr/>
      <dgm:t>
        <a:bodyPr/>
        <a:lstStyle/>
        <a:p>
          <a:endParaRPr lang="en-US" sz="1600">
            <a:latin typeface="Century Gothic" panose="020B0502020202020204" pitchFamily="34" charset="0"/>
          </a:endParaRPr>
        </a:p>
      </dgm:t>
    </dgm:pt>
    <dgm:pt modelId="{BCC625BF-A0B2-4CF3-983F-DE3BB008EEF1}" type="sibTrans" cxnId="{D94AEB32-6349-4368-94B5-C8F0217C0157}">
      <dgm:prSet/>
      <dgm:spPr/>
      <dgm:t>
        <a:bodyPr/>
        <a:lstStyle/>
        <a:p>
          <a:endParaRPr lang="en-US" sz="1600">
            <a:latin typeface="Century Gothic" panose="020B0502020202020204" pitchFamily="34" charset="0"/>
          </a:endParaRPr>
        </a:p>
      </dgm:t>
    </dgm:pt>
    <dgm:pt modelId="{16032100-C1C2-4177-901C-BE17D1A029D8}" type="pres">
      <dgm:prSet presAssocID="{BEE4B521-45C7-4E56-B12B-5E602E521A67}" presName="root" presStyleCnt="0">
        <dgm:presLayoutVars>
          <dgm:dir/>
          <dgm:resizeHandles val="exact"/>
        </dgm:presLayoutVars>
      </dgm:prSet>
      <dgm:spPr/>
    </dgm:pt>
    <dgm:pt modelId="{4034108F-F7FE-465E-A4B3-521537FA6930}" type="pres">
      <dgm:prSet presAssocID="{838B80D6-0FF6-4530-B5F9-E62A932A4C42}" presName="compNode" presStyleCnt="0"/>
      <dgm:spPr/>
    </dgm:pt>
    <dgm:pt modelId="{93387F66-3F4C-4D35-93C4-D1312A039395}" type="pres">
      <dgm:prSet presAssocID="{838B80D6-0FF6-4530-B5F9-E62A932A4C42}" presName="bgRect" presStyleLbl="bgShp" presStyleIdx="0" presStyleCnt="7"/>
      <dgm:spPr/>
    </dgm:pt>
    <dgm:pt modelId="{18D71100-21B7-4A75-98C7-ED1DC8210636}" type="pres">
      <dgm:prSet presAssocID="{838B80D6-0FF6-4530-B5F9-E62A932A4C42}"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96C257B5-2DFD-43AC-B72B-6810673B8E25}" type="pres">
      <dgm:prSet presAssocID="{838B80D6-0FF6-4530-B5F9-E62A932A4C42}" presName="spaceRect" presStyleCnt="0"/>
      <dgm:spPr/>
    </dgm:pt>
    <dgm:pt modelId="{92C41D34-6FBE-46A3-9B10-788E524AF38A}" type="pres">
      <dgm:prSet presAssocID="{838B80D6-0FF6-4530-B5F9-E62A932A4C42}" presName="parTx" presStyleLbl="revTx" presStyleIdx="0" presStyleCnt="7">
        <dgm:presLayoutVars>
          <dgm:chMax val="0"/>
          <dgm:chPref val="0"/>
        </dgm:presLayoutVars>
      </dgm:prSet>
      <dgm:spPr/>
    </dgm:pt>
    <dgm:pt modelId="{F210E87E-8BC4-4306-926B-012F620A4836}" type="pres">
      <dgm:prSet presAssocID="{E91325DE-E06C-4899-BFA4-BEB85C3087AD}" presName="sibTrans" presStyleCnt="0"/>
      <dgm:spPr/>
    </dgm:pt>
    <dgm:pt modelId="{A13F9179-F91A-4B61-91BE-49D4CC56F3B4}" type="pres">
      <dgm:prSet presAssocID="{049A39D4-744C-4253-BED3-7F66B6C3314A}" presName="compNode" presStyleCnt="0"/>
      <dgm:spPr/>
    </dgm:pt>
    <dgm:pt modelId="{E8CDA2E6-05DF-4689-B725-88E5B96DC72A}" type="pres">
      <dgm:prSet presAssocID="{049A39D4-744C-4253-BED3-7F66B6C3314A}" presName="bgRect" presStyleLbl="bgShp" presStyleIdx="1" presStyleCnt="7"/>
      <dgm:spPr/>
    </dgm:pt>
    <dgm:pt modelId="{E68BA363-D62D-401A-8A79-D309F567CDC3}" type="pres">
      <dgm:prSet presAssocID="{049A39D4-744C-4253-BED3-7F66B6C3314A}"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877393F4-66FB-4B45-9EF9-0D27CC16E305}" type="pres">
      <dgm:prSet presAssocID="{049A39D4-744C-4253-BED3-7F66B6C3314A}" presName="spaceRect" presStyleCnt="0"/>
      <dgm:spPr/>
    </dgm:pt>
    <dgm:pt modelId="{BECC668D-1E3A-4F86-A6FC-D0E5090D4575}" type="pres">
      <dgm:prSet presAssocID="{049A39D4-744C-4253-BED3-7F66B6C3314A}" presName="parTx" presStyleLbl="revTx" presStyleIdx="1" presStyleCnt="7">
        <dgm:presLayoutVars>
          <dgm:chMax val="0"/>
          <dgm:chPref val="0"/>
        </dgm:presLayoutVars>
      </dgm:prSet>
      <dgm:spPr/>
    </dgm:pt>
    <dgm:pt modelId="{F7FC6618-9669-4B80-A44B-136557812801}" type="pres">
      <dgm:prSet presAssocID="{EAD13E9B-3034-4010-80E9-0B416A56C78E}" presName="sibTrans" presStyleCnt="0"/>
      <dgm:spPr/>
    </dgm:pt>
    <dgm:pt modelId="{B57D1F50-FA45-4DC5-86A2-55DEC077F0B2}" type="pres">
      <dgm:prSet presAssocID="{969FE0FF-631F-45ED-A3FE-3B32F118477D}" presName="compNode" presStyleCnt="0"/>
      <dgm:spPr/>
    </dgm:pt>
    <dgm:pt modelId="{3D3A70AE-E06B-4A00-9C9D-09D5BCBD3614}" type="pres">
      <dgm:prSet presAssocID="{969FE0FF-631F-45ED-A3FE-3B32F118477D}" presName="bgRect" presStyleLbl="bgShp" presStyleIdx="2" presStyleCnt="7"/>
      <dgm:spPr/>
    </dgm:pt>
    <dgm:pt modelId="{DEB1FDC0-4772-4BF6-993D-A0F5E93D01F5}" type="pres">
      <dgm:prSet presAssocID="{969FE0FF-631F-45ED-A3FE-3B32F118477D}"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yncing Cloud"/>
        </a:ext>
      </dgm:extLst>
    </dgm:pt>
    <dgm:pt modelId="{8E1A9474-6598-4264-AEA6-1FCE64E342E9}" type="pres">
      <dgm:prSet presAssocID="{969FE0FF-631F-45ED-A3FE-3B32F118477D}" presName="spaceRect" presStyleCnt="0"/>
      <dgm:spPr/>
    </dgm:pt>
    <dgm:pt modelId="{41201589-3BCC-413E-B5D6-B694F8ADC298}" type="pres">
      <dgm:prSet presAssocID="{969FE0FF-631F-45ED-A3FE-3B32F118477D}" presName="parTx" presStyleLbl="revTx" presStyleIdx="2" presStyleCnt="7">
        <dgm:presLayoutVars>
          <dgm:chMax val="0"/>
          <dgm:chPref val="0"/>
        </dgm:presLayoutVars>
      </dgm:prSet>
      <dgm:spPr/>
    </dgm:pt>
    <dgm:pt modelId="{F27605A4-A8BB-4D1B-9B5E-33A2FDBDBFB5}" type="pres">
      <dgm:prSet presAssocID="{39281717-733F-4A26-9BAF-E395A6C49893}" presName="sibTrans" presStyleCnt="0"/>
      <dgm:spPr/>
    </dgm:pt>
    <dgm:pt modelId="{419F52D1-982C-4030-A34B-C242125B37AB}" type="pres">
      <dgm:prSet presAssocID="{B509FC08-9E2F-4587-8A6D-4F7D7D0FF370}" presName="compNode" presStyleCnt="0"/>
      <dgm:spPr/>
    </dgm:pt>
    <dgm:pt modelId="{D222ED22-20DD-431B-98F8-10DE7BD78B05}" type="pres">
      <dgm:prSet presAssocID="{B509FC08-9E2F-4587-8A6D-4F7D7D0FF370}" presName="bgRect" presStyleLbl="bgShp" presStyleIdx="3" presStyleCnt="7"/>
      <dgm:spPr/>
    </dgm:pt>
    <dgm:pt modelId="{2B5009A2-DEB2-4FA7-B446-D4F5C766A7B0}" type="pres">
      <dgm:prSet presAssocID="{B509FC08-9E2F-4587-8A6D-4F7D7D0FF370}"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64A2606-9764-4EEB-B29B-C8290534C4A7}" type="pres">
      <dgm:prSet presAssocID="{B509FC08-9E2F-4587-8A6D-4F7D7D0FF370}" presName="spaceRect" presStyleCnt="0"/>
      <dgm:spPr/>
    </dgm:pt>
    <dgm:pt modelId="{F573301E-AEF0-4F78-848E-BD36AA7E44B6}" type="pres">
      <dgm:prSet presAssocID="{B509FC08-9E2F-4587-8A6D-4F7D7D0FF370}" presName="parTx" presStyleLbl="revTx" presStyleIdx="3" presStyleCnt="7">
        <dgm:presLayoutVars>
          <dgm:chMax val="0"/>
          <dgm:chPref val="0"/>
        </dgm:presLayoutVars>
      </dgm:prSet>
      <dgm:spPr/>
    </dgm:pt>
    <dgm:pt modelId="{4DA52C26-5616-4023-821F-7647BC425496}" type="pres">
      <dgm:prSet presAssocID="{650BBD29-F28D-435A-9981-0601CFAD4BEA}" presName="sibTrans" presStyleCnt="0"/>
      <dgm:spPr/>
    </dgm:pt>
    <dgm:pt modelId="{954E1433-A6D4-4A32-9328-557A97892355}" type="pres">
      <dgm:prSet presAssocID="{76A5AEFB-0A3A-4BD4-A5DC-BADCBDA29F92}" presName="compNode" presStyleCnt="0"/>
      <dgm:spPr/>
    </dgm:pt>
    <dgm:pt modelId="{A0FB8AB3-9DE5-4260-87ED-1F92435A4D46}" type="pres">
      <dgm:prSet presAssocID="{76A5AEFB-0A3A-4BD4-A5DC-BADCBDA29F92}" presName="bgRect" presStyleLbl="bgShp" presStyleIdx="4" presStyleCnt="7"/>
      <dgm:spPr/>
    </dgm:pt>
    <dgm:pt modelId="{2DBB371F-6157-496A-AA63-EE41AB4B7B9B}" type="pres">
      <dgm:prSet presAssocID="{76A5AEFB-0A3A-4BD4-A5DC-BADCBDA29F92}"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ar chart"/>
        </a:ext>
      </dgm:extLst>
    </dgm:pt>
    <dgm:pt modelId="{CC577F50-4993-4EDA-AA93-6D2FA1EAE9E9}" type="pres">
      <dgm:prSet presAssocID="{76A5AEFB-0A3A-4BD4-A5DC-BADCBDA29F92}" presName="spaceRect" presStyleCnt="0"/>
      <dgm:spPr/>
    </dgm:pt>
    <dgm:pt modelId="{1968AAEF-DEF7-4E25-82AE-1C2A510CDD3D}" type="pres">
      <dgm:prSet presAssocID="{76A5AEFB-0A3A-4BD4-A5DC-BADCBDA29F92}" presName="parTx" presStyleLbl="revTx" presStyleIdx="4" presStyleCnt="7">
        <dgm:presLayoutVars>
          <dgm:chMax val="0"/>
          <dgm:chPref val="0"/>
        </dgm:presLayoutVars>
      </dgm:prSet>
      <dgm:spPr/>
    </dgm:pt>
    <dgm:pt modelId="{B0E94C59-9667-48EF-920A-AF8FDB5BEEB6}" type="pres">
      <dgm:prSet presAssocID="{8FF23D1D-74C7-4AFE-B02C-2999959033D0}" presName="sibTrans" presStyleCnt="0"/>
      <dgm:spPr/>
    </dgm:pt>
    <dgm:pt modelId="{A12374D0-6C77-4E96-97B3-CF6780DDC75B}" type="pres">
      <dgm:prSet presAssocID="{01A097B3-B2D4-48CB-84A5-ECC4F9CD6659}" presName="compNode" presStyleCnt="0"/>
      <dgm:spPr/>
    </dgm:pt>
    <dgm:pt modelId="{AF01DDA5-9900-442C-88AF-10C437C7C897}" type="pres">
      <dgm:prSet presAssocID="{01A097B3-B2D4-48CB-84A5-ECC4F9CD6659}" presName="bgRect" presStyleLbl="bgShp" presStyleIdx="5" presStyleCnt="7"/>
      <dgm:spPr/>
    </dgm:pt>
    <dgm:pt modelId="{FB439103-0E19-4E59-B515-AF2FC7435860}" type="pres">
      <dgm:prSet presAssocID="{01A097B3-B2D4-48CB-84A5-ECC4F9CD6659}"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2109815C-5C4A-439B-878A-10974E8A306F}" type="pres">
      <dgm:prSet presAssocID="{01A097B3-B2D4-48CB-84A5-ECC4F9CD6659}" presName="spaceRect" presStyleCnt="0"/>
      <dgm:spPr/>
    </dgm:pt>
    <dgm:pt modelId="{81696F55-7244-4B05-97D6-48C1DAC2D5BF}" type="pres">
      <dgm:prSet presAssocID="{01A097B3-B2D4-48CB-84A5-ECC4F9CD6659}" presName="parTx" presStyleLbl="revTx" presStyleIdx="5" presStyleCnt="7">
        <dgm:presLayoutVars>
          <dgm:chMax val="0"/>
          <dgm:chPref val="0"/>
        </dgm:presLayoutVars>
      </dgm:prSet>
      <dgm:spPr/>
    </dgm:pt>
    <dgm:pt modelId="{07361935-9E83-4D9F-8FE2-21EBC29A3A85}" type="pres">
      <dgm:prSet presAssocID="{61981547-5F09-4FCD-9721-3CEBD53D347A}" presName="sibTrans" presStyleCnt="0"/>
      <dgm:spPr/>
    </dgm:pt>
    <dgm:pt modelId="{E7B38976-74A8-45AC-8F17-03925DEAE076}" type="pres">
      <dgm:prSet presAssocID="{28A5804A-8ACE-4B8D-BB1C-9D70AF95EF10}" presName="compNode" presStyleCnt="0"/>
      <dgm:spPr/>
    </dgm:pt>
    <dgm:pt modelId="{30A899F1-A975-47DE-B3E4-AA7A665F8CAC}" type="pres">
      <dgm:prSet presAssocID="{28A5804A-8ACE-4B8D-BB1C-9D70AF95EF10}" presName="bgRect" presStyleLbl="bgShp" presStyleIdx="6" presStyleCnt="7"/>
      <dgm:spPr/>
    </dgm:pt>
    <dgm:pt modelId="{7C30C54B-21E2-45EA-A016-E11C58AB206C}" type="pres">
      <dgm:prSet presAssocID="{28A5804A-8ACE-4B8D-BB1C-9D70AF95EF10}"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loud Computing"/>
        </a:ext>
      </dgm:extLst>
    </dgm:pt>
    <dgm:pt modelId="{CACEFFC9-D14C-4E03-B769-B04C39BBD358}" type="pres">
      <dgm:prSet presAssocID="{28A5804A-8ACE-4B8D-BB1C-9D70AF95EF10}" presName="spaceRect" presStyleCnt="0"/>
      <dgm:spPr/>
    </dgm:pt>
    <dgm:pt modelId="{A608BBFE-4A45-42EE-8C75-2EE87A5BF736}" type="pres">
      <dgm:prSet presAssocID="{28A5804A-8ACE-4B8D-BB1C-9D70AF95EF10}" presName="parTx" presStyleLbl="revTx" presStyleIdx="6" presStyleCnt="7">
        <dgm:presLayoutVars>
          <dgm:chMax val="0"/>
          <dgm:chPref val="0"/>
        </dgm:presLayoutVars>
      </dgm:prSet>
      <dgm:spPr/>
    </dgm:pt>
  </dgm:ptLst>
  <dgm:cxnLst>
    <dgm:cxn modelId="{E25A512E-A91A-4BFB-9307-45CD4B05B97E}" srcId="{BEE4B521-45C7-4E56-B12B-5E602E521A67}" destId="{838B80D6-0FF6-4530-B5F9-E62A932A4C42}" srcOrd="0" destOrd="0" parTransId="{98D84BF3-B8E1-4828-9EBF-CFB078667FA2}" sibTransId="{E91325DE-E06C-4899-BFA4-BEB85C3087AD}"/>
    <dgm:cxn modelId="{967A6B31-5EAA-4631-9C09-F410BF8009E8}" srcId="{BEE4B521-45C7-4E56-B12B-5E602E521A67}" destId="{76A5AEFB-0A3A-4BD4-A5DC-BADCBDA29F92}" srcOrd="4" destOrd="0" parTransId="{DB9A79AD-6893-422F-A214-D7F3A23E687A}" sibTransId="{8FF23D1D-74C7-4AFE-B02C-2999959033D0}"/>
    <dgm:cxn modelId="{D94AEB32-6349-4368-94B5-C8F0217C0157}" srcId="{BEE4B521-45C7-4E56-B12B-5E602E521A67}" destId="{28A5804A-8ACE-4B8D-BB1C-9D70AF95EF10}" srcOrd="6" destOrd="0" parTransId="{E47ED892-E891-44C7-B7FA-4602BA82873E}" sibTransId="{BCC625BF-A0B2-4CF3-983F-DE3BB008EEF1}"/>
    <dgm:cxn modelId="{190D9F5B-807A-454F-B01A-3EBE6F8D4726}" type="presOf" srcId="{76A5AEFB-0A3A-4BD4-A5DC-BADCBDA29F92}" destId="{1968AAEF-DEF7-4E25-82AE-1C2A510CDD3D}" srcOrd="0" destOrd="0" presId="urn:microsoft.com/office/officeart/2018/2/layout/IconVerticalSolidList"/>
    <dgm:cxn modelId="{CD199552-7AFF-4A4A-ABBD-BFF5006B3D16}" type="presOf" srcId="{28A5804A-8ACE-4B8D-BB1C-9D70AF95EF10}" destId="{A608BBFE-4A45-42EE-8C75-2EE87A5BF736}" srcOrd="0" destOrd="0" presId="urn:microsoft.com/office/officeart/2018/2/layout/IconVerticalSolidList"/>
    <dgm:cxn modelId="{E140FE74-0DC3-4ECE-BF78-5DC24159AC80}" type="presOf" srcId="{BEE4B521-45C7-4E56-B12B-5E602E521A67}" destId="{16032100-C1C2-4177-901C-BE17D1A029D8}" srcOrd="0" destOrd="0" presId="urn:microsoft.com/office/officeart/2018/2/layout/IconVerticalSolidList"/>
    <dgm:cxn modelId="{3AC6F086-A743-4D7A-BAD0-A7183EDE466D}" type="presOf" srcId="{969FE0FF-631F-45ED-A3FE-3B32F118477D}" destId="{41201589-3BCC-413E-B5D6-B694F8ADC298}" srcOrd="0" destOrd="0" presId="urn:microsoft.com/office/officeart/2018/2/layout/IconVerticalSolidList"/>
    <dgm:cxn modelId="{F29B3D8D-0D22-4B36-BE5B-818B1EF86C15}" srcId="{BEE4B521-45C7-4E56-B12B-5E602E521A67}" destId="{969FE0FF-631F-45ED-A3FE-3B32F118477D}" srcOrd="2" destOrd="0" parTransId="{0F0D4C31-B01B-4A1B-A46B-A319D830340C}" sibTransId="{39281717-733F-4A26-9BAF-E395A6C49893}"/>
    <dgm:cxn modelId="{5246B6B1-CEF1-450A-8977-23EA7AEE8EA4}" type="presOf" srcId="{838B80D6-0FF6-4530-B5F9-E62A932A4C42}" destId="{92C41D34-6FBE-46A3-9B10-788E524AF38A}" srcOrd="0" destOrd="0" presId="urn:microsoft.com/office/officeart/2018/2/layout/IconVerticalSolidList"/>
    <dgm:cxn modelId="{B77032C1-EE7B-47FB-97BF-DA5FFF32064E}" srcId="{BEE4B521-45C7-4E56-B12B-5E602E521A67}" destId="{B509FC08-9E2F-4587-8A6D-4F7D7D0FF370}" srcOrd="3" destOrd="0" parTransId="{4442215E-5B9A-4263-8815-8AE79D1D704D}" sibTransId="{650BBD29-F28D-435A-9981-0601CFAD4BEA}"/>
    <dgm:cxn modelId="{BB8F55C3-7F17-4A81-B571-4429FB88390A}" srcId="{BEE4B521-45C7-4E56-B12B-5E602E521A67}" destId="{049A39D4-744C-4253-BED3-7F66B6C3314A}" srcOrd="1" destOrd="0" parTransId="{9EC95FD0-7E26-4789-9106-52F2A2D6FC8F}" sibTransId="{EAD13E9B-3034-4010-80E9-0B416A56C78E}"/>
    <dgm:cxn modelId="{7CAC8FC3-8FE4-45F3-A519-54119E89BB31}" type="presOf" srcId="{01A097B3-B2D4-48CB-84A5-ECC4F9CD6659}" destId="{81696F55-7244-4B05-97D6-48C1DAC2D5BF}" srcOrd="0" destOrd="0" presId="urn:microsoft.com/office/officeart/2018/2/layout/IconVerticalSolidList"/>
    <dgm:cxn modelId="{C782AED6-FE2D-4814-944F-0A294099E250}" type="presOf" srcId="{049A39D4-744C-4253-BED3-7F66B6C3314A}" destId="{BECC668D-1E3A-4F86-A6FC-D0E5090D4575}" srcOrd="0" destOrd="0" presId="urn:microsoft.com/office/officeart/2018/2/layout/IconVerticalSolidList"/>
    <dgm:cxn modelId="{FA491AF8-E651-43C4-B17F-B16A346E5E44}" srcId="{BEE4B521-45C7-4E56-B12B-5E602E521A67}" destId="{01A097B3-B2D4-48CB-84A5-ECC4F9CD6659}" srcOrd="5" destOrd="0" parTransId="{D5F061C6-3DE8-4BC7-9B6B-8B33217A8D42}" sibTransId="{61981547-5F09-4FCD-9721-3CEBD53D347A}"/>
    <dgm:cxn modelId="{4363B5FD-7A85-4292-B93A-E98E184F4A1C}" type="presOf" srcId="{B509FC08-9E2F-4587-8A6D-4F7D7D0FF370}" destId="{F573301E-AEF0-4F78-848E-BD36AA7E44B6}" srcOrd="0" destOrd="0" presId="urn:microsoft.com/office/officeart/2018/2/layout/IconVerticalSolidList"/>
    <dgm:cxn modelId="{42F1C6D6-48EB-4CD1-AC34-CD577270BA3E}" type="presParOf" srcId="{16032100-C1C2-4177-901C-BE17D1A029D8}" destId="{4034108F-F7FE-465E-A4B3-521537FA6930}" srcOrd="0" destOrd="0" presId="urn:microsoft.com/office/officeart/2018/2/layout/IconVerticalSolidList"/>
    <dgm:cxn modelId="{6E0D2E62-A1FC-44B2-ACB7-E8A80A79EAB1}" type="presParOf" srcId="{4034108F-F7FE-465E-A4B3-521537FA6930}" destId="{93387F66-3F4C-4D35-93C4-D1312A039395}" srcOrd="0" destOrd="0" presId="urn:microsoft.com/office/officeart/2018/2/layout/IconVerticalSolidList"/>
    <dgm:cxn modelId="{BDD76F63-CD68-4496-880F-5996BC90243E}" type="presParOf" srcId="{4034108F-F7FE-465E-A4B3-521537FA6930}" destId="{18D71100-21B7-4A75-98C7-ED1DC8210636}" srcOrd="1" destOrd="0" presId="urn:microsoft.com/office/officeart/2018/2/layout/IconVerticalSolidList"/>
    <dgm:cxn modelId="{4F2CCFEE-EC52-404D-8032-7B4155C407A5}" type="presParOf" srcId="{4034108F-F7FE-465E-A4B3-521537FA6930}" destId="{96C257B5-2DFD-43AC-B72B-6810673B8E25}" srcOrd="2" destOrd="0" presId="urn:microsoft.com/office/officeart/2018/2/layout/IconVerticalSolidList"/>
    <dgm:cxn modelId="{D5ABF207-0FC3-450D-9198-65BCC5FB3AB9}" type="presParOf" srcId="{4034108F-F7FE-465E-A4B3-521537FA6930}" destId="{92C41D34-6FBE-46A3-9B10-788E524AF38A}" srcOrd="3" destOrd="0" presId="urn:microsoft.com/office/officeart/2018/2/layout/IconVerticalSolidList"/>
    <dgm:cxn modelId="{133456C4-1739-4E37-8864-6E437B8F8256}" type="presParOf" srcId="{16032100-C1C2-4177-901C-BE17D1A029D8}" destId="{F210E87E-8BC4-4306-926B-012F620A4836}" srcOrd="1" destOrd="0" presId="urn:microsoft.com/office/officeart/2018/2/layout/IconVerticalSolidList"/>
    <dgm:cxn modelId="{F80C8748-6B49-4D38-BCB1-D160F224BF25}" type="presParOf" srcId="{16032100-C1C2-4177-901C-BE17D1A029D8}" destId="{A13F9179-F91A-4B61-91BE-49D4CC56F3B4}" srcOrd="2" destOrd="0" presId="urn:microsoft.com/office/officeart/2018/2/layout/IconVerticalSolidList"/>
    <dgm:cxn modelId="{A1A83552-410B-4F21-93BB-297C6ED8CC35}" type="presParOf" srcId="{A13F9179-F91A-4B61-91BE-49D4CC56F3B4}" destId="{E8CDA2E6-05DF-4689-B725-88E5B96DC72A}" srcOrd="0" destOrd="0" presId="urn:microsoft.com/office/officeart/2018/2/layout/IconVerticalSolidList"/>
    <dgm:cxn modelId="{938E2D34-4BCB-415A-8335-E940973E1062}" type="presParOf" srcId="{A13F9179-F91A-4B61-91BE-49D4CC56F3B4}" destId="{E68BA363-D62D-401A-8A79-D309F567CDC3}" srcOrd="1" destOrd="0" presId="urn:microsoft.com/office/officeart/2018/2/layout/IconVerticalSolidList"/>
    <dgm:cxn modelId="{42F77E11-BDD0-40DB-98F1-2DD1DCF7D446}" type="presParOf" srcId="{A13F9179-F91A-4B61-91BE-49D4CC56F3B4}" destId="{877393F4-66FB-4B45-9EF9-0D27CC16E305}" srcOrd="2" destOrd="0" presId="urn:microsoft.com/office/officeart/2018/2/layout/IconVerticalSolidList"/>
    <dgm:cxn modelId="{0CB5D064-A06C-4B15-A6D0-4553622F39BC}" type="presParOf" srcId="{A13F9179-F91A-4B61-91BE-49D4CC56F3B4}" destId="{BECC668D-1E3A-4F86-A6FC-D0E5090D4575}" srcOrd="3" destOrd="0" presId="urn:microsoft.com/office/officeart/2018/2/layout/IconVerticalSolidList"/>
    <dgm:cxn modelId="{40FC9D04-9475-4F8E-B738-3E7B8730B28D}" type="presParOf" srcId="{16032100-C1C2-4177-901C-BE17D1A029D8}" destId="{F7FC6618-9669-4B80-A44B-136557812801}" srcOrd="3" destOrd="0" presId="urn:microsoft.com/office/officeart/2018/2/layout/IconVerticalSolidList"/>
    <dgm:cxn modelId="{DEC6A9CB-44BE-4F50-91DA-1A872EF2CE52}" type="presParOf" srcId="{16032100-C1C2-4177-901C-BE17D1A029D8}" destId="{B57D1F50-FA45-4DC5-86A2-55DEC077F0B2}" srcOrd="4" destOrd="0" presId="urn:microsoft.com/office/officeart/2018/2/layout/IconVerticalSolidList"/>
    <dgm:cxn modelId="{9D712D55-8653-48A7-B721-55C0FB384DAF}" type="presParOf" srcId="{B57D1F50-FA45-4DC5-86A2-55DEC077F0B2}" destId="{3D3A70AE-E06B-4A00-9C9D-09D5BCBD3614}" srcOrd="0" destOrd="0" presId="urn:microsoft.com/office/officeart/2018/2/layout/IconVerticalSolidList"/>
    <dgm:cxn modelId="{7C2EA2FE-FDD6-490A-AA48-E2A264BDA106}" type="presParOf" srcId="{B57D1F50-FA45-4DC5-86A2-55DEC077F0B2}" destId="{DEB1FDC0-4772-4BF6-993D-A0F5E93D01F5}" srcOrd="1" destOrd="0" presId="urn:microsoft.com/office/officeart/2018/2/layout/IconVerticalSolidList"/>
    <dgm:cxn modelId="{6755DBFB-ECDB-4D22-9D37-101C3F6352C9}" type="presParOf" srcId="{B57D1F50-FA45-4DC5-86A2-55DEC077F0B2}" destId="{8E1A9474-6598-4264-AEA6-1FCE64E342E9}" srcOrd="2" destOrd="0" presId="urn:microsoft.com/office/officeart/2018/2/layout/IconVerticalSolidList"/>
    <dgm:cxn modelId="{8D412683-688C-4B5C-B34D-2D385A19C56C}" type="presParOf" srcId="{B57D1F50-FA45-4DC5-86A2-55DEC077F0B2}" destId="{41201589-3BCC-413E-B5D6-B694F8ADC298}" srcOrd="3" destOrd="0" presId="urn:microsoft.com/office/officeart/2018/2/layout/IconVerticalSolidList"/>
    <dgm:cxn modelId="{658D0E6F-89AA-4095-A61E-61413B26EC5E}" type="presParOf" srcId="{16032100-C1C2-4177-901C-BE17D1A029D8}" destId="{F27605A4-A8BB-4D1B-9B5E-33A2FDBDBFB5}" srcOrd="5" destOrd="0" presId="urn:microsoft.com/office/officeart/2018/2/layout/IconVerticalSolidList"/>
    <dgm:cxn modelId="{4B267ADA-A9A8-4F6B-9DF3-0AF46696D25D}" type="presParOf" srcId="{16032100-C1C2-4177-901C-BE17D1A029D8}" destId="{419F52D1-982C-4030-A34B-C242125B37AB}" srcOrd="6" destOrd="0" presId="urn:microsoft.com/office/officeart/2018/2/layout/IconVerticalSolidList"/>
    <dgm:cxn modelId="{D61942CD-9754-4D2F-BBEC-796ACAF3A9C1}" type="presParOf" srcId="{419F52D1-982C-4030-A34B-C242125B37AB}" destId="{D222ED22-20DD-431B-98F8-10DE7BD78B05}" srcOrd="0" destOrd="0" presId="urn:microsoft.com/office/officeart/2018/2/layout/IconVerticalSolidList"/>
    <dgm:cxn modelId="{A78C862B-C7E5-4118-B306-F5010C52DBF0}" type="presParOf" srcId="{419F52D1-982C-4030-A34B-C242125B37AB}" destId="{2B5009A2-DEB2-4FA7-B446-D4F5C766A7B0}" srcOrd="1" destOrd="0" presId="urn:microsoft.com/office/officeart/2018/2/layout/IconVerticalSolidList"/>
    <dgm:cxn modelId="{72AF287D-C094-4248-9656-FB433ABF4775}" type="presParOf" srcId="{419F52D1-982C-4030-A34B-C242125B37AB}" destId="{564A2606-9764-4EEB-B29B-C8290534C4A7}" srcOrd="2" destOrd="0" presId="urn:microsoft.com/office/officeart/2018/2/layout/IconVerticalSolidList"/>
    <dgm:cxn modelId="{6546961F-A179-402E-A9A0-B4F87F2D7AAA}" type="presParOf" srcId="{419F52D1-982C-4030-A34B-C242125B37AB}" destId="{F573301E-AEF0-4F78-848E-BD36AA7E44B6}" srcOrd="3" destOrd="0" presId="urn:microsoft.com/office/officeart/2018/2/layout/IconVerticalSolidList"/>
    <dgm:cxn modelId="{FAEB2497-6031-4FD2-90A1-A82D48B759B4}" type="presParOf" srcId="{16032100-C1C2-4177-901C-BE17D1A029D8}" destId="{4DA52C26-5616-4023-821F-7647BC425496}" srcOrd="7" destOrd="0" presId="urn:microsoft.com/office/officeart/2018/2/layout/IconVerticalSolidList"/>
    <dgm:cxn modelId="{15F36403-D719-4985-ACB5-3D72C4243206}" type="presParOf" srcId="{16032100-C1C2-4177-901C-BE17D1A029D8}" destId="{954E1433-A6D4-4A32-9328-557A97892355}" srcOrd="8" destOrd="0" presId="urn:microsoft.com/office/officeart/2018/2/layout/IconVerticalSolidList"/>
    <dgm:cxn modelId="{C24FFC13-9A99-4B99-AE71-ABF8813DC804}" type="presParOf" srcId="{954E1433-A6D4-4A32-9328-557A97892355}" destId="{A0FB8AB3-9DE5-4260-87ED-1F92435A4D46}" srcOrd="0" destOrd="0" presId="urn:microsoft.com/office/officeart/2018/2/layout/IconVerticalSolidList"/>
    <dgm:cxn modelId="{DBD07E4A-1C87-4650-9AB7-C1551B7FE44B}" type="presParOf" srcId="{954E1433-A6D4-4A32-9328-557A97892355}" destId="{2DBB371F-6157-496A-AA63-EE41AB4B7B9B}" srcOrd="1" destOrd="0" presId="urn:microsoft.com/office/officeart/2018/2/layout/IconVerticalSolidList"/>
    <dgm:cxn modelId="{DA650FD9-D61F-41B6-BF1B-74423FE168BF}" type="presParOf" srcId="{954E1433-A6D4-4A32-9328-557A97892355}" destId="{CC577F50-4993-4EDA-AA93-6D2FA1EAE9E9}" srcOrd="2" destOrd="0" presId="urn:microsoft.com/office/officeart/2018/2/layout/IconVerticalSolidList"/>
    <dgm:cxn modelId="{D08FB522-1900-44B7-933B-F3233C6B8295}" type="presParOf" srcId="{954E1433-A6D4-4A32-9328-557A97892355}" destId="{1968AAEF-DEF7-4E25-82AE-1C2A510CDD3D}" srcOrd="3" destOrd="0" presId="urn:microsoft.com/office/officeart/2018/2/layout/IconVerticalSolidList"/>
    <dgm:cxn modelId="{B6BE9AD7-F5E3-47CA-8415-4604A216A06C}" type="presParOf" srcId="{16032100-C1C2-4177-901C-BE17D1A029D8}" destId="{B0E94C59-9667-48EF-920A-AF8FDB5BEEB6}" srcOrd="9" destOrd="0" presId="urn:microsoft.com/office/officeart/2018/2/layout/IconVerticalSolidList"/>
    <dgm:cxn modelId="{600A0D7C-06A7-4BF7-8B7E-C2D2B0CC981C}" type="presParOf" srcId="{16032100-C1C2-4177-901C-BE17D1A029D8}" destId="{A12374D0-6C77-4E96-97B3-CF6780DDC75B}" srcOrd="10" destOrd="0" presId="urn:microsoft.com/office/officeart/2018/2/layout/IconVerticalSolidList"/>
    <dgm:cxn modelId="{F140AF88-696D-4A68-BA9E-584980212FA4}" type="presParOf" srcId="{A12374D0-6C77-4E96-97B3-CF6780DDC75B}" destId="{AF01DDA5-9900-442C-88AF-10C437C7C897}" srcOrd="0" destOrd="0" presId="urn:microsoft.com/office/officeart/2018/2/layout/IconVerticalSolidList"/>
    <dgm:cxn modelId="{A756AA31-ABC9-48D0-800E-58BF200C95CF}" type="presParOf" srcId="{A12374D0-6C77-4E96-97B3-CF6780DDC75B}" destId="{FB439103-0E19-4E59-B515-AF2FC7435860}" srcOrd="1" destOrd="0" presId="urn:microsoft.com/office/officeart/2018/2/layout/IconVerticalSolidList"/>
    <dgm:cxn modelId="{89CAAADB-A781-4888-8731-C66A7C9D6478}" type="presParOf" srcId="{A12374D0-6C77-4E96-97B3-CF6780DDC75B}" destId="{2109815C-5C4A-439B-878A-10974E8A306F}" srcOrd="2" destOrd="0" presId="urn:microsoft.com/office/officeart/2018/2/layout/IconVerticalSolidList"/>
    <dgm:cxn modelId="{74F9E666-7161-4587-8735-C85FCE56BE39}" type="presParOf" srcId="{A12374D0-6C77-4E96-97B3-CF6780DDC75B}" destId="{81696F55-7244-4B05-97D6-48C1DAC2D5BF}" srcOrd="3" destOrd="0" presId="urn:microsoft.com/office/officeart/2018/2/layout/IconVerticalSolidList"/>
    <dgm:cxn modelId="{75F9DDFB-CD72-4919-BE48-AB454CC8C3B8}" type="presParOf" srcId="{16032100-C1C2-4177-901C-BE17D1A029D8}" destId="{07361935-9E83-4D9F-8FE2-21EBC29A3A85}" srcOrd="11" destOrd="0" presId="urn:microsoft.com/office/officeart/2018/2/layout/IconVerticalSolidList"/>
    <dgm:cxn modelId="{5B1E3CB6-F9D1-4323-A538-5DD9DDD14875}" type="presParOf" srcId="{16032100-C1C2-4177-901C-BE17D1A029D8}" destId="{E7B38976-74A8-45AC-8F17-03925DEAE076}" srcOrd="12" destOrd="0" presId="urn:microsoft.com/office/officeart/2018/2/layout/IconVerticalSolidList"/>
    <dgm:cxn modelId="{9C544F46-2096-49B9-BE3C-85CFDBE7FEBE}" type="presParOf" srcId="{E7B38976-74A8-45AC-8F17-03925DEAE076}" destId="{30A899F1-A975-47DE-B3E4-AA7A665F8CAC}" srcOrd="0" destOrd="0" presId="urn:microsoft.com/office/officeart/2018/2/layout/IconVerticalSolidList"/>
    <dgm:cxn modelId="{9A108CF5-5BAC-4B53-8EDE-3F3BC9FEA085}" type="presParOf" srcId="{E7B38976-74A8-45AC-8F17-03925DEAE076}" destId="{7C30C54B-21E2-45EA-A016-E11C58AB206C}" srcOrd="1" destOrd="0" presId="urn:microsoft.com/office/officeart/2018/2/layout/IconVerticalSolidList"/>
    <dgm:cxn modelId="{579F782F-271E-42B3-B795-6F524F98153C}" type="presParOf" srcId="{E7B38976-74A8-45AC-8F17-03925DEAE076}" destId="{CACEFFC9-D14C-4E03-B769-B04C39BBD358}" srcOrd="2" destOrd="0" presId="urn:microsoft.com/office/officeart/2018/2/layout/IconVerticalSolidList"/>
    <dgm:cxn modelId="{2E717877-BFBA-4C4F-89C8-CE850F64EB5C}" type="presParOf" srcId="{E7B38976-74A8-45AC-8F17-03925DEAE076}" destId="{A608BBFE-4A45-42EE-8C75-2EE87A5BF7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09797F2-8B86-455F-88CC-4A1197F14F70}"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87359DFE-D445-44F7-9723-1CAFB1918BAC}">
      <dgm:prSet/>
      <dgm:spPr/>
      <dgm:t>
        <a:bodyPr/>
        <a:lstStyle/>
        <a:p>
          <a:r>
            <a:rPr lang="en-NG" b="0" i="0" baseline="0">
              <a:latin typeface="Century Gothic" panose="020B0502020202020204" pitchFamily="34" charset="0"/>
            </a:rPr>
            <a:t>End‑to‑end digitization</a:t>
          </a:r>
          <a:endParaRPr lang="en-US">
            <a:latin typeface="Century Gothic" panose="020B0502020202020204" pitchFamily="34" charset="0"/>
          </a:endParaRPr>
        </a:p>
      </dgm:t>
    </dgm:pt>
    <dgm:pt modelId="{651A45A5-29C4-44D2-B367-AE32FBDD1699}" type="parTrans" cxnId="{ADBF0EC2-26ED-4CAD-AA02-C92B3DE9F53A}">
      <dgm:prSet/>
      <dgm:spPr/>
      <dgm:t>
        <a:bodyPr/>
        <a:lstStyle/>
        <a:p>
          <a:endParaRPr lang="en-US">
            <a:latin typeface="Century Gothic" panose="020B0502020202020204" pitchFamily="34" charset="0"/>
          </a:endParaRPr>
        </a:p>
      </dgm:t>
    </dgm:pt>
    <dgm:pt modelId="{1033A1E1-6183-446C-8141-04587462D6D1}" type="sibTrans" cxnId="{ADBF0EC2-26ED-4CAD-AA02-C92B3DE9F53A}">
      <dgm:prSet/>
      <dgm:spPr/>
      <dgm:t>
        <a:bodyPr/>
        <a:lstStyle/>
        <a:p>
          <a:endParaRPr lang="en-US">
            <a:latin typeface="Century Gothic" panose="020B0502020202020204" pitchFamily="34" charset="0"/>
          </a:endParaRPr>
        </a:p>
      </dgm:t>
    </dgm:pt>
    <dgm:pt modelId="{A9C040A9-BB77-4D4F-B2E8-903D5A8DC64B}">
      <dgm:prSet/>
      <dgm:spPr/>
      <dgm:t>
        <a:bodyPr/>
        <a:lstStyle/>
        <a:p>
          <a:r>
            <a:rPr lang="en-NG" b="0" i="0" baseline="0">
              <a:latin typeface="Century Gothic" panose="020B0502020202020204" pitchFamily="34" charset="0"/>
            </a:rPr>
            <a:t>Faster service delivery to enterprises</a:t>
          </a:r>
          <a:endParaRPr lang="en-US">
            <a:latin typeface="Century Gothic" panose="020B0502020202020204" pitchFamily="34" charset="0"/>
          </a:endParaRPr>
        </a:p>
      </dgm:t>
    </dgm:pt>
    <dgm:pt modelId="{271254F9-77A9-44DE-BF2F-292EAB6AEB65}" type="parTrans" cxnId="{F8764F19-ACB2-44E1-AA99-657F6C696B98}">
      <dgm:prSet/>
      <dgm:spPr/>
      <dgm:t>
        <a:bodyPr/>
        <a:lstStyle/>
        <a:p>
          <a:endParaRPr lang="en-US">
            <a:latin typeface="Century Gothic" panose="020B0502020202020204" pitchFamily="34" charset="0"/>
          </a:endParaRPr>
        </a:p>
      </dgm:t>
    </dgm:pt>
    <dgm:pt modelId="{C8A1948A-381B-4604-A4BF-97AEF7250C44}" type="sibTrans" cxnId="{F8764F19-ACB2-44E1-AA99-657F6C696B98}">
      <dgm:prSet/>
      <dgm:spPr/>
      <dgm:t>
        <a:bodyPr/>
        <a:lstStyle/>
        <a:p>
          <a:endParaRPr lang="en-US">
            <a:latin typeface="Century Gothic" panose="020B0502020202020204" pitchFamily="34" charset="0"/>
          </a:endParaRPr>
        </a:p>
      </dgm:t>
    </dgm:pt>
    <dgm:pt modelId="{2CA85E08-2583-41EA-86A9-AE68012A3A94}">
      <dgm:prSet/>
      <dgm:spPr/>
      <dgm:t>
        <a:bodyPr/>
        <a:lstStyle/>
        <a:p>
          <a:r>
            <a:rPr lang="en-NG" b="0" i="0" baseline="0">
              <a:latin typeface="Century Gothic" panose="020B0502020202020204" pitchFamily="34" charset="0"/>
            </a:rPr>
            <a:t>Improved revenue assurance</a:t>
          </a:r>
          <a:endParaRPr lang="en-US">
            <a:latin typeface="Century Gothic" panose="020B0502020202020204" pitchFamily="34" charset="0"/>
          </a:endParaRPr>
        </a:p>
      </dgm:t>
    </dgm:pt>
    <dgm:pt modelId="{46BC40F7-AFA1-470D-BC3D-84007D26D1C6}" type="parTrans" cxnId="{F65DD784-855C-4182-87EF-0F0F23EFA83D}">
      <dgm:prSet/>
      <dgm:spPr/>
      <dgm:t>
        <a:bodyPr/>
        <a:lstStyle/>
        <a:p>
          <a:endParaRPr lang="en-US">
            <a:latin typeface="Century Gothic" panose="020B0502020202020204" pitchFamily="34" charset="0"/>
          </a:endParaRPr>
        </a:p>
      </dgm:t>
    </dgm:pt>
    <dgm:pt modelId="{DD403245-0D79-4393-9F7C-5A5E5BD5C01F}" type="sibTrans" cxnId="{F65DD784-855C-4182-87EF-0F0F23EFA83D}">
      <dgm:prSet/>
      <dgm:spPr/>
      <dgm:t>
        <a:bodyPr/>
        <a:lstStyle/>
        <a:p>
          <a:endParaRPr lang="en-US">
            <a:latin typeface="Century Gothic" panose="020B0502020202020204" pitchFamily="34" charset="0"/>
          </a:endParaRPr>
        </a:p>
      </dgm:t>
    </dgm:pt>
    <dgm:pt modelId="{A22E201F-4DA8-4700-A347-3E296D1C1F07}">
      <dgm:prSet/>
      <dgm:spPr/>
      <dgm:t>
        <a:bodyPr/>
        <a:lstStyle/>
        <a:p>
          <a:r>
            <a:rPr lang="en-NG" b="0" i="0" baseline="0">
              <a:latin typeface="Century Gothic" panose="020B0502020202020204" pitchFamily="34" charset="0"/>
            </a:rPr>
            <a:t>Real‑time management visibility</a:t>
          </a:r>
          <a:endParaRPr lang="en-US">
            <a:latin typeface="Century Gothic" panose="020B0502020202020204" pitchFamily="34" charset="0"/>
          </a:endParaRPr>
        </a:p>
      </dgm:t>
    </dgm:pt>
    <dgm:pt modelId="{D5B07D95-03EF-4DAD-B2BD-E57CF42786D4}" type="parTrans" cxnId="{491586DF-E54A-4CA6-B576-BF5AE63D56C7}">
      <dgm:prSet/>
      <dgm:spPr/>
      <dgm:t>
        <a:bodyPr/>
        <a:lstStyle/>
        <a:p>
          <a:endParaRPr lang="en-US">
            <a:latin typeface="Century Gothic" panose="020B0502020202020204" pitchFamily="34" charset="0"/>
          </a:endParaRPr>
        </a:p>
      </dgm:t>
    </dgm:pt>
    <dgm:pt modelId="{5A7D8F6B-F269-41F2-B48F-6CC525A1B0A2}" type="sibTrans" cxnId="{491586DF-E54A-4CA6-B576-BF5AE63D56C7}">
      <dgm:prSet/>
      <dgm:spPr/>
      <dgm:t>
        <a:bodyPr/>
        <a:lstStyle/>
        <a:p>
          <a:endParaRPr lang="en-US">
            <a:latin typeface="Century Gothic" panose="020B0502020202020204" pitchFamily="34" charset="0"/>
          </a:endParaRPr>
        </a:p>
      </dgm:t>
    </dgm:pt>
    <dgm:pt modelId="{2B829834-FFA1-4FF5-AA8F-89386D8FD97D}">
      <dgm:prSet/>
      <dgm:spPr/>
      <dgm:t>
        <a:bodyPr/>
        <a:lstStyle/>
        <a:p>
          <a:r>
            <a:rPr lang="en-NG" b="0" i="0" baseline="0">
              <a:latin typeface="Century Gothic" panose="020B0502020202020204" pitchFamily="34" charset="0"/>
            </a:rPr>
            <a:t>Enhanced investor confidence</a:t>
          </a:r>
          <a:endParaRPr lang="en-US">
            <a:latin typeface="Century Gothic" panose="020B0502020202020204" pitchFamily="34" charset="0"/>
          </a:endParaRPr>
        </a:p>
      </dgm:t>
    </dgm:pt>
    <dgm:pt modelId="{18EF1621-8098-4819-904F-0AF13AF56D3B}" type="parTrans" cxnId="{54EFBCCB-1A13-464F-99B6-EE923178B00C}">
      <dgm:prSet/>
      <dgm:spPr/>
      <dgm:t>
        <a:bodyPr/>
        <a:lstStyle/>
        <a:p>
          <a:endParaRPr lang="en-US">
            <a:latin typeface="Century Gothic" panose="020B0502020202020204" pitchFamily="34" charset="0"/>
          </a:endParaRPr>
        </a:p>
      </dgm:t>
    </dgm:pt>
    <dgm:pt modelId="{90EB0F44-A158-440F-BF07-04C55C859960}" type="sibTrans" cxnId="{54EFBCCB-1A13-464F-99B6-EE923178B00C}">
      <dgm:prSet/>
      <dgm:spPr/>
      <dgm:t>
        <a:bodyPr/>
        <a:lstStyle/>
        <a:p>
          <a:endParaRPr lang="en-US">
            <a:latin typeface="Century Gothic" panose="020B0502020202020204" pitchFamily="34" charset="0"/>
          </a:endParaRPr>
        </a:p>
      </dgm:t>
    </dgm:pt>
    <dgm:pt modelId="{1BF3A377-22BA-494C-8C29-F4A8E29B4A49}">
      <dgm:prSet/>
      <dgm:spPr/>
      <dgm:t>
        <a:bodyPr/>
        <a:lstStyle/>
        <a:p>
          <a:r>
            <a:rPr lang="en-NG" b="0" i="0" baseline="0">
              <a:latin typeface="Century Gothic" panose="020B0502020202020204" pitchFamily="34" charset="0"/>
            </a:rPr>
            <a:t>Scalable Smart Zone foundation</a:t>
          </a:r>
          <a:endParaRPr lang="en-US">
            <a:latin typeface="Century Gothic" panose="020B0502020202020204" pitchFamily="34" charset="0"/>
          </a:endParaRPr>
        </a:p>
      </dgm:t>
    </dgm:pt>
    <dgm:pt modelId="{303C831B-A36A-4AFA-9210-731597B52AE2}" type="parTrans" cxnId="{D62712DA-B522-4585-A4BC-B81E123604CD}">
      <dgm:prSet/>
      <dgm:spPr/>
      <dgm:t>
        <a:bodyPr/>
        <a:lstStyle/>
        <a:p>
          <a:endParaRPr lang="en-US">
            <a:latin typeface="Century Gothic" panose="020B0502020202020204" pitchFamily="34" charset="0"/>
          </a:endParaRPr>
        </a:p>
      </dgm:t>
    </dgm:pt>
    <dgm:pt modelId="{ED9B90C6-8DB2-4A73-B7DE-450D505ED534}" type="sibTrans" cxnId="{D62712DA-B522-4585-A4BC-B81E123604CD}">
      <dgm:prSet/>
      <dgm:spPr/>
      <dgm:t>
        <a:bodyPr/>
        <a:lstStyle/>
        <a:p>
          <a:endParaRPr lang="en-US">
            <a:latin typeface="Century Gothic" panose="020B0502020202020204" pitchFamily="34" charset="0"/>
          </a:endParaRPr>
        </a:p>
      </dgm:t>
    </dgm:pt>
    <dgm:pt modelId="{0C03AE5A-389F-46A7-91BA-0BBBCBE6ED10}" type="pres">
      <dgm:prSet presAssocID="{609797F2-8B86-455F-88CC-4A1197F14F70}" presName="root" presStyleCnt="0">
        <dgm:presLayoutVars>
          <dgm:dir/>
          <dgm:resizeHandles val="exact"/>
        </dgm:presLayoutVars>
      </dgm:prSet>
      <dgm:spPr/>
    </dgm:pt>
    <dgm:pt modelId="{F3C3D117-EAF9-4BBA-903A-E22DF5385C39}" type="pres">
      <dgm:prSet presAssocID="{87359DFE-D445-44F7-9723-1CAFB1918BAC}" presName="compNode" presStyleCnt="0"/>
      <dgm:spPr/>
    </dgm:pt>
    <dgm:pt modelId="{73FB4062-2375-457F-A01C-17469315F68F}" type="pres">
      <dgm:prSet presAssocID="{87359DFE-D445-44F7-9723-1CAFB1918BAC}" presName="bgRect" presStyleLbl="bgShp" presStyleIdx="0" presStyleCnt="6"/>
      <dgm:spPr/>
    </dgm:pt>
    <dgm:pt modelId="{B8867252-0B6F-4247-889A-E9E94A425EE7}" type="pres">
      <dgm:prSet presAssocID="{87359DFE-D445-44F7-9723-1CAFB1918BA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89665F32-A2F6-4ED3-B940-48BCB04FD725}" type="pres">
      <dgm:prSet presAssocID="{87359DFE-D445-44F7-9723-1CAFB1918BAC}" presName="spaceRect" presStyleCnt="0"/>
      <dgm:spPr/>
    </dgm:pt>
    <dgm:pt modelId="{E8A4E487-333E-4722-8A65-58F477E32E57}" type="pres">
      <dgm:prSet presAssocID="{87359DFE-D445-44F7-9723-1CAFB1918BAC}" presName="parTx" presStyleLbl="revTx" presStyleIdx="0" presStyleCnt="6">
        <dgm:presLayoutVars>
          <dgm:chMax val="0"/>
          <dgm:chPref val="0"/>
        </dgm:presLayoutVars>
      </dgm:prSet>
      <dgm:spPr/>
    </dgm:pt>
    <dgm:pt modelId="{4E1192E5-2B1A-407A-8955-4A284AD715B9}" type="pres">
      <dgm:prSet presAssocID="{1033A1E1-6183-446C-8141-04587462D6D1}" presName="sibTrans" presStyleCnt="0"/>
      <dgm:spPr/>
    </dgm:pt>
    <dgm:pt modelId="{C8AD6006-32FA-4BEF-AFC4-8E1A369E05D9}" type="pres">
      <dgm:prSet presAssocID="{A9C040A9-BB77-4D4F-B2E8-903D5A8DC64B}" presName="compNode" presStyleCnt="0"/>
      <dgm:spPr/>
    </dgm:pt>
    <dgm:pt modelId="{D7EE8CD4-658A-4CEF-95FF-8498293DCFEB}" type="pres">
      <dgm:prSet presAssocID="{A9C040A9-BB77-4D4F-B2E8-903D5A8DC64B}" presName="bgRect" presStyleLbl="bgShp" presStyleIdx="1" presStyleCnt="6"/>
      <dgm:spPr/>
    </dgm:pt>
    <dgm:pt modelId="{C0B601DF-2783-47EC-A877-E071E3BD211B}" type="pres">
      <dgm:prSet presAssocID="{A9C040A9-BB77-4D4F-B2E8-903D5A8DC64B}"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A867D087-1319-4030-BCE5-4549EBC8289A}" type="pres">
      <dgm:prSet presAssocID="{A9C040A9-BB77-4D4F-B2E8-903D5A8DC64B}" presName="spaceRect" presStyleCnt="0"/>
      <dgm:spPr/>
    </dgm:pt>
    <dgm:pt modelId="{9DAAF9F8-1E27-480F-A56D-7009D73F8ACE}" type="pres">
      <dgm:prSet presAssocID="{A9C040A9-BB77-4D4F-B2E8-903D5A8DC64B}" presName="parTx" presStyleLbl="revTx" presStyleIdx="1" presStyleCnt="6">
        <dgm:presLayoutVars>
          <dgm:chMax val="0"/>
          <dgm:chPref val="0"/>
        </dgm:presLayoutVars>
      </dgm:prSet>
      <dgm:spPr/>
    </dgm:pt>
    <dgm:pt modelId="{08121D4C-D457-4703-8D37-AD19B06E8C27}" type="pres">
      <dgm:prSet presAssocID="{C8A1948A-381B-4604-A4BF-97AEF7250C44}" presName="sibTrans" presStyleCnt="0"/>
      <dgm:spPr/>
    </dgm:pt>
    <dgm:pt modelId="{5F795C83-C96C-4E2F-9CA4-D811CF18ACB9}" type="pres">
      <dgm:prSet presAssocID="{2CA85E08-2583-41EA-86A9-AE68012A3A94}" presName="compNode" presStyleCnt="0"/>
      <dgm:spPr/>
    </dgm:pt>
    <dgm:pt modelId="{CA77F140-B36D-45F3-90D4-43D217906026}" type="pres">
      <dgm:prSet presAssocID="{2CA85E08-2583-41EA-86A9-AE68012A3A94}" presName="bgRect" presStyleLbl="bgShp" presStyleIdx="2" presStyleCnt="6"/>
      <dgm:spPr/>
    </dgm:pt>
    <dgm:pt modelId="{B35BE21A-3D57-490E-AAEC-E0937250CF92}" type="pres">
      <dgm:prSet presAssocID="{2CA85E08-2583-41EA-86A9-AE68012A3A9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uge"/>
        </a:ext>
      </dgm:extLst>
    </dgm:pt>
    <dgm:pt modelId="{44C8FC4B-482F-421C-8BEC-6F789595DC73}" type="pres">
      <dgm:prSet presAssocID="{2CA85E08-2583-41EA-86A9-AE68012A3A94}" presName="spaceRect" presStyleCnt="0"/>
      <dgm:spPr/>
    </dgm:pt>
    <dgm:pt modelId="{9E459AEA-6A2C-459B-AD5A-E984DADDB897}" type="pres">
      <dgm:prSet presAssocID="{2CA85E08-2583-41EA-86A9-AE68012A3A94}" presName="parTx" presStyleLbl="revTx" presStyleIdx="2" presStyleCnt="6">
        <dgm:presLayoutVars>
          <dgm:chMax val="0"/>
          <dgm:chPref val="0"/>
        </dgm:presLayoutVars>
      </dgm:prSet>
      <dgm:spPr/>
    </dgm:pt>
    <dgm:pt modelId="{3046E395-DEEB-4699-8390-468B6BBE87E7}" type="pres">
      <dgm:prSet presAssocID="{DD403245-0D79-4393-9F7C-5A5E5BD5C01F}" presName="sibTrans" presStyleCnt="0"/>
      <dgm:spPr/>
    </dgm:pt>
    <dgm:pt modelId="{1E08152C-3A6C-4141-AE16-65231F34BEA5}" type="pres">
      <dgm:prSet presAssocID="{A22E201F-4DA8-4700-A347-3E296D1C1F07}" presName="compNode" presStyleCnt="0"/>
      <dgm:spPr/>
    </dgm:pt>
    <dgm:pt modelId="{69CF209D-6EC0-46E4-9075-8E39DA367044}" type="pres">
      <dgm:prSet presAssocID="{A22E201F-4DA8-4700-A347-3E296D1C1F07}" presName="bgRect" presStyleLbl="bgShp" presStyleIdx="3" presStyleCnt="6"/>
      <dgm:spPr/>
    </dgm:pt>
    <dgm:pt modelId="{1D5407CE-3CFE-4FD8-8CEB-8986E2D336A0}" type="pres">
      <dgm:prSet presAssocID="{A22E201F-4DA8-4700-A347-3E296D1C1F0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ADABC37B-7443-459D-8EB4-6633A4B5D566}" type="pres">
      <dgm:prSet presAssocID="{A22E201F-4DA8-4700-A347-3E296D1C1F07}" presName="spaceRect" presStyleCnt="0"/>
      <dgm:spPr/>
    </dgm:pt>
    <dgm:pt modelId="{B806C318-EB59-4BFF-9381-4EDD29276372}" type="pres">
      <dgm:prSet presAssocID="{A22E201F-4DA8-4700-A347-3E296D1C1F07}" presName="parTx" presStyleLbl="revTx" presStyleIdx="3" presStyleCnt="6">
        <dgm:presLayoutVars>
          <dgm:chMax val="0"/>
          <dgm:chPref val="0"/>
        </dgm:presLayoutVars>
      </dgm:prSet>
      <dgm:spPr/>
    </dgm:pt>
    <dgm:pt modelId="{8CA5D4A4-04FF-45C5-B4C6-CE75E60D7C65}" type="pres">
      <dgm:prSet presAssocID="{5A7D8F6B-F269-41F2-B48F-6CC525A1B0A2}" presName="sibTrans" presStyleCnt="0"/>
      <dgm:spPr/>
    </dgm:pt>
    <dgm:pt modelId="{0E0AE887-D87B-4179-9005-4BF1827DE21A}" type="pres">
      <dgm:prSet presAssocID="{2B829834-FFA1-4FF5-AA8F-89386D8FD97D}" presName="compNode" presStyleCnt="0"/>
      <dgm:spPr/>
    </dgm:pt>
    <dgm:pt modelId="{8B846B42-E64D-498F-93EC-B315B5FA3DA1}" type="pres">
      <dgm:prSet presAssocID="{2B829834-FFA1-4FF5-AA8F-89386D8FD97D}" presName="bgRect" presStyleLbl="bgShp" presStyleIdx="4" presStyleCnt="6"/>
      <dgm:spPr/>
    </dgm:pt>
    <dgm:pt modelId="{6A4D67B6-0741-4360-95E2-9FF2D3491776}" type="pres">
      <dgm:prSet presAssocID="{2B829834-FFA1-4FF5-AA8F-89386D8FD97D}"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andshake"/>
        </a:ext>
      </dgm:extLst>
    </dgm:pt>
    <dgm:pt modelId="{505E3FDD-F5C6-4C06-8ED6-6F924222A042}" type="pres">
      <dgm:prSet presAssocID="{2B829834-FFA1-4FF5-AA8F-89386D8FD97D}" presName="spaceRect" presStyleCnt="0"/>
      <dgm:spPr/>
    </dgm:pt>
    <dgm:pt modelId="{25D70C8B-67AC-4E0A-9BF2-4A9E93E98A22}" type="pres">
      <dgm:prSet presAssocID="{2B829834-FFA1-4FF5-AA8F-89386D8FD97D}" presName="parTx" presStyleLbl="revTx" presStyleIdx="4" presStyleCnt="6">
        <dgm:presLayoutVars>
          <dgm:chMax val="0"/>
          <dgm:chPref val="0"/>
        </dgm:presLayoutVars>
      </dgm:prSet>
      <dgm:spPr/>
    </dgm:pt>
    <dgm:pt modelId="{17BB1B74-D01E-4EBC-91C7-19362FAD5D56}" type="pres">
      <dgm:prSet presAssocID="{90EB0F44-A158-440F-BF07-04C55C859960}" presName="sibTrans" presStyleCnt="0"/>
      <dgm:spPr/>
    </dgm:pt>
    <dgm:pt modelId="{F380F0E8-FE54-4A00-BB91-E8F6E7EF22C2}" type="pres">
      <dgm:prSet presAssocID="{1BF3A377-22BA-494C-8C29-F4A8E29B4A49}" presName="compNode" presStyleCnt="0"/>
      <dgm:spPr/>
    </dgm:pt>
    <dgm:pt modelId="{7B0DEF6A-D5F0-4B47-ACC0-7DB0906485EA}" type="pres">
      <dgm:prSet presAssocID="{1BF3A377-22BA-494C-8C29-F4A8E29B4A49}" presName="bgRect" presStyleLbl="bgShp" presStyleIdx="5" presStyleCnt="6"/>
      <dgm:spPr/>
    </dgm:pt>
    <dgm:pt modelId="{BAB0EFCA-3DA7-48C4-9730-FEEF3C745315}" type="pres">
      <dgm:prSet presAssocID="{1BF3A377-22BA-494C-8C29-F4A8E29B4A49}"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A0BDCBE5-EEE6-49EF-97C0-601678B93F58}" type="pres">
      <dgm:prSet presAssocID="{1BF3A377-22BA-494C-8C29-F4A8E29B4A49}" presName="spaceRect" presStyleCnt="0"/>
      <dgm:spPr/>
    </dgm:pt>
    <dgm:pt modelId="{84067A0D-D01C-4C37-9722-E533AAA775D7}" type="pres">
      <dgm:prSet presAssocID="{1BF3A377-22BA-494C-8C29-F4A8E29B4A49}" presName="parTx" presStyleLbl="revTx" presStyleIdx="5" presStyleCnt="6">
        <dgm:presLayoutVars>
          <dgm:chMax val="0"/>
          <dgm:chPref val="0"/>
        </dgm:presLayoutVars>
      </dgm:prSet>
      <dgm:spPr/>
    </dgm:pt>
  </dgm:ptLst>
  <dgm:cxnLst>
    <dgm:cxn modelId="{0FEF8C05-B400-4E24-89AA-C20BC69A2394}" type="presOf" srcId="{609797F2-8B86-455F-88CC-4A1197F14F70}" destId="{0C03AE5A-389F-46A7-91BA-0BBBCBE6ED10}" srcOrd="0" destOrd="0" presId="urn:microsoft.com/office/officeart/2018/2/layout/IconVerticalSolidList"/>
    <dgm:cxn modelId="{F8764F19-ACB2-44E1-AA99-657F6C696B98}" srcId="{609797F2-8B86-455F-88CC-4A1197F14F70}" destId="{A9C040A9-BB77-4D4F-B2E8-903D5A8DC64B}" srcOrd="1" destOrd="0" parTransId="{271254F9-77A9-44DE-BF2F-292EAB6AEB65}" sibTransId="{C8A1948A-381B-4604-A4BF-97AEF7250C44}"/>
    <dgm:cxn modelId="{B45E1E52-84A0-4967-A701-56F1979E67A6}" type="presOf" srcId="{1BF3A377-22BA-494C-8C29-F4A8E29B4A49}" destId="{84067A0D-D01C-4C37-9722-E533AAA775D7}" srcOrd="0" destOrd="0" presId="urn:microsoft.com/office/officeart/2018/2/layout/IconVerticalSolidList"/>
    <dgm:cxn modelId="{F65DD784-855C-4182-87EF-0F0F23EFA83D}" srcId="{609797F2-8B86-455F-88CC-4A1197F14F70}" destId="{2CA85E08-2583-41EA-86A9-AE68012A3A94}" srcOrd="2" destOrd="0" parTransId="{46BC40F7-AFA1-470D-BC3D-84007D26D1C6}" sibTransId="{DD403245-0D79-4393-9F7C-5A5E5BD5C01F}"/>
    <dgm:cxn modelId="{B939D185-0F7D-4668-A352-EB43967C7E27}" type="presOf" srcId="{A9C040A9-BB77-4D4F-B2E8-903D5A8DC64B}" destId="{9DAAF9F8-1E27-480F-A56D-7009D73F8ACE}" srcOrd="0" destOrd="0" presId="urn:microsoft.com/office/officeart/2018/2/layout/IconVerticalSolidList"/>
    <dgm:cxn modelId="{E2C5DEB2-199A-4A74-B1B1-0E83EEE0C0B6}" type="presOf" srcId="{2CA85E08-2583-41EA-86A9-AE68012A3A94}" destId="{9E459AEA-6A2C-459B-AD5A-E984DADDB897}" srcOrd="0" destOrd="0" presId="urn:microsoft.com/office/officeart/2018/2/layout/IconVerticalSolidList"/>
    <dgm:cxn modelId="{ADBF0EC2-26ED-4CAD-AA02-C92B3DE9F53A}" srcId="{609797F2-8B86-455F-88CC-4A1197F14F70}" destId="{87359DFE-D445-44F7-9723-1CAFB1918BAC}" srcOrd="0" destOrd="0" parTransId="{651A45A5-29C4-44D2-B367-AE32FBDD1699}" sibTransId="{1033A1E1-6183-446C-8141-04587462D6D1}"/>
    <dgm:cxn modelId="{54EFBCCB-1A13-464F-99B6-EE923178B00C}" srcId="{609797F2-8B86-455F-88CC-4A1197F14F70}" destId="{2B829834-FFA1-4FF5-AA8F-89386D8FD97D}" srcOrd="4" destOrd="0" parTransId="{18EF1621-8098-4819-904F-0AF13AF56D3B}" sibTransId="{90EB0F44-A158-440F-BF07-04C55C859960}"/>
    <dgm:cxn modelId="{D62712DA-B522-4585-A4BC-B81E123604CD}" srcId="{609797F2-8B86-455F-88CC-4A1197F14F70}" destId="{1BF3A377-22BA-494C-8C29-F4A8E29B4A49}" srcOrd="5" destOrd="0" parTransId="{303C831B-A36A-4AFA-9210-731597B52AE2}" sibTransId="{ED9B90C6-8DB2-4A73-B7DE-450D505ED534}"/>
    <dgm:cxn modelId="{491586DF-E54A-4CA6-B576-BF5AE63D56C7}" srcId="{609797F2-8B86-455F-88CC-4A1197F14F70}" destId="{A22E201F-4DA8-4700-A347-3E296D1C1F07}" srcOrd="3" destOrd="0" parTransId="{D5B07D95-03EF-4DAD-B2BD-E57CF42786D4}" sibTransId="{5A7D8F6B-F269-41F2-B48F-6CC525A1B0A2}"/>
    <dgm:cxn modelId="{C6052BE3-AA85-457A-ACBD-725241B0F1BD}" type="presOf" srcId="{A22E201F-4DA8-4700-A347-3E296D1C1F07}" destId="{B806C318-EB59-4BFF-9381-4EDD29276372}" srcOrd="0" destOrd="0" presId="urn:microsoft.com/office/officeart/2018/2/layout/IconVerticalSolidList"/>
    <dgm:cxn modelId="{C6CC4BE7-D584-43F4-B94D-F1F6727C9FE6}" type="presOf" srcId="{2B829834-FFA1-4FF5-AA8F-89386D8FD97D}" destId="{25D70C8B-67AC-4E0A-9BF2-4A9E93E98A22}" srcOrd="0" destOrd="0" presId="urn:microsoft.com/office/officeart/2018/2/layout/IconVerticalSolidList"/>
    <dgm:cxn modelId="{7F4B2CF7-5686-4920-9969-B181B0827EB5}" type="presOf" srcId="{87359DFE-D445-44F7-9723-1CAFB1918BAC}" destId="{E8A4E487-333E-4722-8A65-58F477E32E57}" srcOrd="0" destOrd="0" presId="urn:microsoft.com/office/officeart/2018/2/layout/IconVerticalSolidList"/>
    <dgm:cxn modelId="{F283A4A0-82C0-47AD-8378-500D54F3F537}" type="presParOf" srcId="{0C03AE5A-389F-46A7-91BA-0BBBCBE6ED10}" destId="{F3C3D117-EAF9-4BBA-903A-E22DF5385C39}" srcOrd="0" destOrd="0" presId="urn:microsoft.com/office/officeart/2018/2/layout/IconVerticalSolidList"/>
    <dgm:cxn modelId="{451B9EFA-8489-4FBA-8B71-C4F9C7F7E4A1}" type="presParOf" srcId="{F3C3D117-EAF9-4BBA-903A-E22DF5385C39}" destId="{73FB4062-2375-457F-A01C-17469315F68F}" srcOrd="0" destOrd="0" presId="urn:microsoft.com/office/officeart/2018/2/layout/IconVerticalSolidList"/>
    <dgm:cxn modelId="{88904388-7BF8-434C-B6A2-827D1062831D}" type="presParOf" srcId="{F3C3D117-EAF9-4BBA-903A-E22DF5385C39}" destId="{B8867252-0B6F-4247-889A-E9E94A425EE7}" srcOrd="1" destOrd="0" presId="urn:microsoft.com/office/officeart/2018/2/layout/IconVerticalSolidList"/>
    <dgm:cxn modelId="{D1D56A41-56FD-4050-9385-4D17EF0A5EB9}" type="presParOf" srcId="{F3C3D117-EAF9-4BBA-903A-E22DF5385C39}" destId="{89665F32-A2F6-4ED3-B940-48BCB04FD725}" srcOrd="2" destOrd="0" presId="urn:microsoft.com/office/officeart/2018/2/layout/IconVerticalSolidList"/>
    <dgm:cxn modelId="{3148E58D-CDFB-4669-8C1C-C24FF46D9047}" type="presParOf" srcId="{F3C3D117-EAF9-4BBA-903A-E22DF5385C39}" destId="{E8A4E487-333E-4722-8A65-58F477E32E57}" srcOrd="3" destOrd="0" presId="urn:microsoft.com/office/officeart/2018/2/layout/IconVerticalSolidList"/>
    <dgm:cxn modelId="{7880B6FE-1D45-4BB6-8BD0-CF5F372D50ED}" type="presParOf" srcId="{0C03AE5A-389F-46A7-91BA-0BBBCBE6ED10}" destId="{4E1192E5-2B1A-407A-8955-4A284AD715B9}" srcOrd="1" destOrd="0" presId="urn:microsoft.com/office/officeart/2018/2/layout/IconVerticalSolidList"/>
    <dgm:cxn modelId="{2A0E5F36-8FC7-4A07-8DBB-AEBEFCCF72B3}" type="presParOf" srcId="{0C03AE5A-389F-46A7-91BA-0BBBCBE6ED10}" destId="{C8AD6006-32FA-4BEF-AFC4-8E1A369E05D9}" srcOrd="2" destOrd="0" presId="urn:microsoft.com/office/officeart/2018/2/layout/IconVerticalSolidList"/>
    <dgm:cxn modelId="{A2EB2C06-1019-4C8F-B0E9-7B8B943BDFAD}" type="presParOf" srcId="{C8AD6006-32FA-4BEF-AFC4-8E1A369E05D9}" destId="{D7EE8CD4-658A-4CEF-95FF-8498293DCFEB}" srcOrd="0" destOrd="0" presId="urn:microsoft.com/office/officeart/2018/2/layout/IconVerticalSolidList"/>
    <dgm:cxn modelId="{A804609F-210E-4540-A146-A2EE7210A3DD}" type="presParOf" srcId="{C8AD6006-32FA-4BEF-AFC4-8E1A369E05D9}" destId="{C0B601DF-2783-47EC-A877-E071E3BD211B}" srcOrd="1" destOrd="0" presId="urn:microsoft.com/office/officeart/2018/2/layout/IconVerticalSolidList"/>
    <dgm:cxn modelId="{AD2720E6-9C32-46F4-9A0E-43C3A1D64948}" type="presParOf" srcId="{C8AD6006-32FA-4BEF-AFC4-8E1A369E05D9}" destId="{A867D087-1319-4030-BCE5-4549EBC8289A}" srcOrd="2" destOrd="0" presId="urn:microsoft.com/office/officeart/2018/2/layout/IconVerticalSolidList"/>
    <dgm:cxn modelId="{E63C1685-774D-4631-9F16-421209997A67}" type="presParOf" srcId="{C8AD6006-32FA-4BEF-AFC4-8E1A369E05D9}" destId="{9DAAF9F8-1E27-480F-A56D-7009D73F8ACE}" srcOrd="3" destOrd="0" presId="urn:microsoft.com/office/officeart/2018/2/layout/IconVerticalSolidList"/>
    <dgm:cxn modelId="{03C1C50B-6C16-4489-B0F0-73394CDA15EC}" type="presParOf" srcId="{0C03AE5A-389F-46A7-91BA-0BBBCBE6ED10}" destId="{08121D4C-D457-4703-8D37-AD19B06E8C27}" srcOrd="3" destOrd="0" presId="urn:microsoft.com/office/officeart/2018/2/layout/IconVerticalSolidList"/>
    <dgm:cxn modelId="{CEB1D588-38E3-4761-9B80-622A45845F55}" type="presParOf" srcId="{0C03AE5A-389F-46A7-91BA-0BBBCBE6ED10}" destId="{5F795C83-C96C-4E2F-9CA4-D811CF18ACB9}" srcOrd="4" destOrd="0" presId="urn:microsoft.com/office/officeart/2018/2/layout/IconVerticalSolidList"/>
    <dgm:cxn modelId="{2D220407-4CB6-431D-B417-DEC2EABEE77E}" type="presParOf" srcId="{5F795C83-C96C-4E2F-9CA4-D811CF18ACB9}" destId="{CA77F140-B36D-45F3-90D4-43D217906026}" srcOrd="0" destOrd="0" presId="urn:microsoft.com/office/officeart/2018/2/layout/IconVerticalSolidList"/>
    <dgm:cxn modelId="{CF1F9155-D1A3-4B90-8595-504415B6AAFA}" type="presParOf" srcId="{5F795C83-C96C-4E2F-9CA4-D811CF18ACB9}" destId="{B35BE21A-3D57-490E-AAEC-E0937250CF92}" srcOrd="1" destOrd="0" presId="urn:microsoft.com/office/officeart/2018/2/layout/IconVerticalSolidList"/>
    <dgm:cxn modelId="{B18FB30E-F10D-4F4E-AD41-CABFE1FE39F8}" type="presParOf" srcId="{5F795C83-C96C-4E2F-9CA4-D811CF18ACB9}" destId="{44C8FC4B-482F-421C-8BEC-6F789595DC73}" srcOrd="2" destOrd="0" presId="urn:microsoft.com/office/officeart/2018/2/layout/IconVerticalSolidList"/>
    <dgm:cxn modelId="{4B2EA87F-3F6D-4FAB-97E2-CEBB878AF6CC}" type="presParOf" srcId="{5F795C83-C96C-4E2F-9CA4-D811CF18ACB9}" destId="{9E459AEA-6A2C-459B-AD5A-E984DADDB897}" srcOrd="3" destOrd="0" presId="urn:microsoft.com/office/officeart/2018/2/layout/IconVerticalSolidList"/>
    <dgm:cxn modelId="{E7F25E22-6D5D-4EA6-9D6F-09E09B8D1A51}" type="presParOf" srcId="{0C03AE5A-389F-46A7-91BA-0BBBCBE6ED10}" destId="{3046E395-DEEB-4699-8390-468B6BBE87E7}" srcOrd="5" destOrd="0" presId="urn:microsoft.com/office/officeart/2018/2/layout/IconVerticalSolidList"/>
    <dgm:cxn modelId="{D1406866-E038-4D60-B1F9-3BEEF03D3A4A}" type="presParOf" srcId="{0C03AE5A-389F-46A7-91BA-0BBBCBE6ED10}" destId="{1E08152C-3A6C-4141-AE16-65231F34BEA5}" srcOrd="6" destOrd="0" presId="urn:microsoft.com/office/officeart/2018/2/layout/IconVerticalSolidList"/>
    <dgm:cxn modelId="{960120CE-22D6-4E93-A18E-36338C5501FA}" type="presParOf" srcId="{1E08152C-3A6C-4141-AE16-65231F34BEA5}" destId="{69CF209D-6EC0-46E4-9075-8E39DA367044}" srcOrd="0" destOrd="0" presId="urn:microsoft.com/office/officeart/2018/2/layout/IconVerticalSolidList"/>
    <dgm:cxn modelId="{F3191625-8285-4DD1-AFC4-31ED63FBDEF2}" type="presParOf" srcId="{1E08152C-3A6C-4141-AE16-65231F34BEA5}" destId="{1D5407CE-3CFE-4FD8-8CEB-8986E2D336A0}" srcOrd="1" destOrd="0" presId="urn:microsoft.com/office/officeart/2018/2/layout/IconVerticalSolidList"/>
    <dgm:cxn modelId="{6DF685B4-02F0-4716-8D2A-F4E55BA0AB0A}" type="presParOf" srcId="{1E08152C-3A6C-4141-AE16-65231F34BEA5}" destId="{ADABC37B-7443-459D-8EB4-6633A4B5D566}" srcOrd="2" destOrd="0" presId="urn:microsoft.com/office/officeart/2018/2/layout/IconVerticalSolidList"/>
    <dgm:cxn modelId="{A8127F68-EB08-4BB0-BE97-87D80115A73C}" type="presParOf" srcId="{1E08152C-3A6C-4141-AE16-65231F34BEA5}" destId="{B806C318-EB59-4BFF-9381-4EDD29276372}" srcOrd="3" destOrd="0" presId="urn:microsoft.com/office/officeart/2018/2/layout/IconVerticalSolidList"/>
    <dgm:cxn modelId="{11BE28ED-342B-44F0-ADDD-E03F038A2004}" type="presParOf" srcId="{0C03AE5A-389F-46A7-91BA-0BBBCBE6ED10}" destId="{8CA5D4A4-04FF-45C5-B4C6-CE75E60D7C65}" srcOrd="7" destOrd="0" presId="urn:microsoft.com/office/officeart/2018/2/layout/IconVerticalSolidList"/>
    <dgm:cxn modelId="{7BB7DB99-414D-4F12-875A-2B2FC800AC65}" type="presParOf" srcId="{0C03AE5A-389F-46A7-91BA-0BBBCBE6ED10}" destId="{0E0AE887-D87B-4179-9005-4BF1827DE21A}" srcOrd="8" destOrd="0" presId="urn:microsoft.com/office/officeart/2018/2/layout/IconVerticalSolidList"/>
    <dgm:cxn modelId="{0239B2CC-DD56-4E04-8FE7-84DFAFC2C4D1}" type="presParOf" srcId="{0E0AE887-D87B-4179-9005-4BF1827DE21A}" destId="{8B846B42-E64D-498F-93EC-B315B5FA3DA1}" srcOrd="0" destOrd="0" presId="urn:microsoft.com/office/officeart/2018/2/layout/IconVerticalSolidList"/>
    <dgm:cxn modelId="{77FBD884-C1E5-4C7B-A126-230702F07FE8}" type="presParOf" srcId="{0E0AE887-D87B-4179-9005-4BF1827DE21A}" destId="{6A4D67B6-0741-4360-95E2-9FF2D3491776}" srcOrd="1" destOrd="0" presId="urn:microsoft.com/office/officeart/2018/2/layout/IconVerticalSolidList"/>
    <dgm:cxn modelId="{CAEB4582-D3C8-4EFC-AD8F-D0708338B2C0}" type="presParOf" srcId="{0E0AE887-D87B-4179-9005-4BF1827DE21A}" destId="{505E3FDD-F5C6-4C06-8ED6-6F924222A042}" srcOrd="2" destOrd="0" presId="urn:microsoft.com/office/officeart/2018/2/layout/IconVerticalSolidList"/>
    <dgm:cxn modelId="{C6315632-257A-42AA-BB5D-07D7FDE0E9CE}" type="presParOf" srcId="{0E0AE887-D87B-4179-9005-4BF1827DE21A}" destId="{25D70C8B-67AC-4E0A-9BF2-4A9E93E98A22}" srcOrd="3" destOrd="0" presId="urn:microsoft.com/office/officeart/2018/2/layout/IconVerticalSolidList"/>
    <dgm:cxn modelId="{F521714A-6C08-4BE1-AB91-3B78F7ED08A5}" type="presParOf" srcId="{0C03AE5A-389F-46A7-91BA-0BBBCBE6ED10}" destId="{17BB1B74-D01E-4EBC-91C7-19362FAD5D56}" srcOrd="9" destOrd="0" presId="urn:microsoft.com/office/officeart/2018/2/layout/IconVerticalSolidList"/>
    <dgm:cxn modelId="{0FD65F98-398A-4344-AE57-D4C6F70F6AE4}" type="presParOf" srcId="{0C03AE5A-389F-46A7-91BA-0BBBCBE6ED10}" destId="{F380F0E8-FE54-4A00-BB91-E8F6E7EF22C2}" srcOrd="10" destOrd="0" presId="urn:microsoft.com/office/officeart/2018/2/layout/IconVerticalSolidList"/>
    <dgm:cxn modelId="{8291392F-6C24-451D-A92F-789938B7EC47}" type="presParOf" srcId="{F380F0E8-FE54-4A00-BB91-E8F6E7EF22C2}" destId="{7B0DEF6A-D5F0-4B47-ACC0-7DB0906485EA}" srcOrd="0" destOrd="0" presId="urn:microsoft.com/office/officeart/2018/2/layout/IconVerticalSolidList"/>
    <dgm:cxn modelId="{3F8DE4D2-E72B-4F75-BE51-F7F9DA499275}" type="presParOf" srcId="{F380F0E8-FE54-4A00-BB91-E8F6E7EF22C2}" destId="{BAB0EFCA-3DA7-48C4-9730-FEEF3C745315}" srcOrd="1" destOrd="0" presId="urn:microsoft.com/office/officeart/2018/2/layout/IconVerticalSolidList"/>
    <dgm:cxn modelId="{B27594BD-F5B6-40BB-BF11-476CBBAB410E}" type="presParOf" srcId="{F380F0E8-FE54-4A00-BB91-E8F6E7EF22C2}" destId="{A0BDCBE5-EEE6-49EF-97C0-601678B93F58}" srcOrd="2" destOrd="0" presId="urn:microsoft.com/office/officeart/2018/2/layout/IconVerticalSolidList"/>
    <dgm:cxn modelId="{EB524CC1-515C-46AE-B12A-B42BC8C3F062}" type="presParOf" srcId="{F380F0E8-FE54-4A00-BB91-E8F6E7EF22C2}" destId="{84067A0D-D01C-4C37-9722-E533AAA775D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0F1EE58-33BA-481F-AAB4-BAA6D0294FEC}"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0D942017-56E2-4AAA-A80F-F28EE9DE1CBC}">
      <dgm:prSet custT="1"/>
      <dgm:spPr/>
      <dgm:t>
        <a:bodyPr/>
        <a:lstStyle/>
        <a:p>
          <a:r>
            <a:rPr lang="en-US" sz="1600">
              <a:latin typeface="Century Gothic" panose="020B0502020202020204" pitchFamily="34" charset="0"/>
            </a:rPr>
            <a:t>Alignment &amp; Scope Confirmation</a:t>
          </a:r>
        </a:p>
      </dgm:t>
    </dgm:pt>
    <dgm:pt modelId="{FD80DE28-BBD2-4757-900A-AE24DD65CAD9}" type="parTrans" cxnId="{111515AB-29FE-42F0-AD14-B6612BAD7F49}">
      <dgm:prSet/>
      <dgm:spPr/>
      <dgm:t>
        <a:bodyPr/>
        <a:lstStyle/>
        <a:p>
          <a:endParaRPr lang="en-US" sz="1600">
            <a:latin typeface="Century Gothic" panose="020B0502020202020204" pitchFamily="34" charset="0"/>
          </a:endParaRPr>
        </a:p>
      </dgm:t>
    </dgm:pt>
    <dgm:pt modelId="{AD04FF62-5CDC-416C-8F0F-A891B383123A}" type="sibTrans" cxnId="{111515AB-29FE-42F0-AD14-B6612BAD7F49}">
      <dgm:prSet custT="1"/>
      <dgm:spPr/>
      <dgm:t>
        <a:bodyPr/>
        <a:lstStyle/>
        <a:p>
          <a:endParaRPr lang="en-US" sz="400">
            <a:latin typeface="Century Gothic" panose="020B0502020202020204" pitchFamily="34" charset="0"/>
          </a:endParaRPr>
        </a:p>
      </dgm:t>
    </dgm:pt>
    <dgm:pt modelId="{AF15C368-94E3-4B82-A867-B95E00D32D14}">
      <dgm:prSet custT="1"/>
      <dgm:spPr/>
      <dgm:t>
        <a:bodyPr/>
        <a:lstStyle/>
        <a:p>
          <a:r>
            <a:rPr lang="en-US" sz="1600">
              <a:latin typeface="Century Gothic" panose="020B0502020202020204" pitchFamily="34" charset="0"/>
            </a:rPr>
            <a:t>Detailed Requirements Validation &amp; Process Mapping</a:t>
          </a:r>
        </a:p>
      </dgm:t>
    </dgm:pt>
    <dgm:pt modelId="{27876DD8-A0F0-4C14-8C54-EB029EF055D0}" type="parTrans" cxnId="{46BE1333-AA37-495B-A9B6-175E6494A7F1}">
      <dgm:prSet/>
      <dgm:spPr/>
      <dgm:t>
        <a:bodyPr/>
        <a:lstStyle/>
        <a:p>
          <a:endParaRPr lang="en-US" sz="1600">
            <a:latin typeface="Century Gothic" panose="020B0502020202020204" pitchFamily="34" charset="0"/>
          </a:endParaRPr>
        </a:p>
      </dgm:t>
    </dgm:pt>
    <dgm:pt modelId="{20BBCFB4-1C8C-4AED-8F33-26A1ABB0D610}" type="sibTrans" cxnId="{46BE1333-AA37-495B-A9B6-175E6494A7F1}">
      <dgm:prSet custT="1"/>
      <dgm:spPr/>
      <dgm:t>
        <a:bodyPr/>
        <a:lstStyle/>
        <a:p>
          <a:endParaRPr lang="en-US" sz="400">
            <a:latin typeface="Century Gothic" panose="020B0502020202020204" pitchFamily="34" charset="0"/>
          </a:endParaRPr>
        </a:p>
      </dgm:t>
    </dgm:pt>
    <dgm:pt modelId="{08F557FD-F160-4A83-9DC9-EC28E2C45C9F}">
      <dgm:prSet custT="1"/>
      <dgm:spPr/>
      <dgm:t>
        <a:bodyPr/>
        <a:lstStyle/>
        <a:p>
          <a:r>
            <a:rPr lang="en-US" sz="1600">
              <a:latin typeface="Century Gothic" panose="020B0502020202020204" pitchFamily="34" charset="0"/>
            </a:rPr>
            <a:t>Solution Architecture Review</a:t>
          </a:r>
        </a:p>
      </dgm:t>
    </dgm:pt>
    <dgm:pt modelId="{D4D4BBA0-DC17-4646-B876-A22A89A68ACE}" type="parTrans" cxnId="{B37AEB09-DA4B-4BFD-B37E-BAC7837170AB}">
      <dgm:prSet/>
      <dgm:spPr/>
      <dgm:t>
        <a:bodyPr/>
        <a:lstStyle/>
        <a:p>
          <a:endParaRPr lang="en-US" sz="1600">
            <a:latin typeface="Century Gothic" panose="020B0502020202020204" pitchFamily="34" charset="0"/>
          </a:endParaRPr>
        </a:p>
      </dgm:t>
    </dgm:pt>
    <dgm:pt modelId="{E8DCB688-216F-4B15-9151-2DD7346279B1}" type="sibTrans" cxnId="{B37AEB09-DA4B-4BFD-B37E-BAC7837170AB}">
      <dgm:prSet custT="1"/>
      <dgm:spPr/>
      <dgm:t>
        <a:bodyPr/>
        <a:lstStyle/>
        <a:p>
          <a:endParaRPr lang="en-US" sz="400">
            <a:latin typeface="Century Gothic" panose="020B0502020202020204" pitchFamily="34" charset="0"/>
          </a:endParaRPr>
        </a:p>
      </dgm:t>
    </dgm:pt>
    <dgm:pt modelId="{6221C2DE-10C8-4BAA-961C-43F0D777F79E}">
      <dgm:prSet custT="1"/>
      <dgm:spPr/>
      <dgm:t>
        <a:bodyPr/>
        <a:lstStyle/>
        <a:p>
          <a:r>
            <a:rPr lang="en-US" sz="1600">
              <a:latin typeface="Century Gothic" panose="020B0502020202020204" pitchFamily="34" charset="0"/>
            </a:rPr>
            <a:t>Commercial Proposal Development</a:t>
          </a:r>
        </a:p>
      </dgm:t>
    </dgm:pt>
    <dgm:pt modelId="{321F5E9E-7DE9-4B8E-BA0A-70463A4444D9}" type="parTrans" cxnId="{ECAFDBD4-BFB0-4A48-BBFD-6ACC7B60CD89}">
      <dgm:prSet/>
      <dgm:spPr/>
      <dgm:t>
        <a:bodyPr/>
        <a:lstStyle/>
        <a:p>
          <a:endParaRPr lang="en-US" sz="1600">
            <a:latin typeface="Century Gothic" panose="020B0502020202020204" pitchFamily="34" charset="0"/>
          </a:endParaRPr>
        </a:p>
      </dgm:t>
    </dgm:pt>
    <dgm:pt modelId="{9BDF0FF5-D085-48D8-ACD7-A011CCAA13F3}" type="sibTrans" cxnId="{ECAFDBD4-BFB0-4A48-BBFD-6ACC7B60CD89}">
      <dgm:prSet custT="1"/>
      <dgm:spPr/>
      <dgm:t>
        <a:bodyPr/>
        <a:lstStyle/>
        <a:p>
          <a:endParaRPr lang="en-US" sz="400">
            <a:latin typeface="Century Gothic" panose="020B0502020202020204" pitchFamily="34" charset="0"/>
          </a:endParaRPr>
        </a:p>
      </dgm:t>
    </dgm:pt>
    <dgm:pt modelId="{CFA374C2-021A-48A0-96DA-535EF0155DB6}">
      <dgm:prSet custT="1"/>
      <dgm:spPr/>
      <dgm:t>
        <a:bodyPr/>
        <a:lstStyle/>
        <a:p>
          <a:r>
            <a:rPr lang="en-US" sz="1600">
              <a:latin typeface="Century Gothic" panose="020B0502020202020204" pitchFamily="34" charset="0"/>
            </a:rPr>
            <a:t>Contracting</a:t>
          </a:r>
        </a:p>
      </dgm:t>
    </dgm:pt>
    <dgm:pt modelId="{3DFDAA5F-D294-40C4-A3F5-42D8DFCEAA42}" type="parTrans" cxnId="{4C6AB0BE-F250-44A3-A730-41E612E7AF03}">
      <dgm:prSet/>
      <dgm:spPr/>
      <dgm:t>
        <a:bodyPr/>
        <a:lstStyle/>
        <a:p>
          <a:endParaRPr lang="en-US" sz="1600">
            <a:latin typeface="Century Gothic" panose="020B0502020202020204" pitchFamily="34" charset="0"/>
          </a:endParaRPr>
        </a:p>
      </dgm:t>
    </dgm:pt>
    <dgm:pt modelId="{9C377CDA-AB34-4349-A402-8613D7CB144C}" type="sibTrans" cxnId="{4C6AB0BE-F250-44A3-A730-41E612E7AF03}">
      <dgm:prSet custT="1"/>
      <dgm:spPr/>
      <dgm:t>
        <a:bodyPr/>
        <a:lstStyle/>
        <a:p>
          <a:endParaRPr lang="en-US" sz="400">
            <a:latin typeface="Century Gothic" panose="020B0502020202020204" pitchFamily="34" charset="0"/>
          </a:endParaRPr>
        </a:p>
      </dgm:t>
    </dgm:pt>
    <dgm:pt modelId="{490104DE-F1F6-4B54-83A9-0780CBF1F750}">
      <dgm:prSet custT="1"/>
      <dgm:spPr/>
      <dgm:t>
        <a:bodyPr/>
        <a:lstStyle/>
        <a:p>
          <a:r>
            <a:rPr lang="en-US" sz="1600">
              <a:latin typeface="Century Gothic" panose="020B0502020202020204" pitchFamily="34" charset="0"/>
            </a:rPr>
            <a:t>Phase 1 Implementation</a:t>
          </a:r>
        </a:p>
      </dgm:t>
    </dgm:pt>
    <dgm:pt modelId="{D82DE360-2DF5-4AD2-8E8C-3F8BDADA3E26}" type="parTrans" cxnId="{E0EBF32D-416F-4BE0-AB16-941227AA2885}">
      <dgm:prSet/>
      <dgm:spPr/>
      <dgm:t>
        <a:bodyPr/>
        <a:lstStyle/>
        <a:p>
          <a:endParaRPr lang="en-US" sz="1600">
            <a:latin typeface="Century Gothic" panose="020B0502020202020204" pitchFamily="34" charset="0"/>
          </a:endParaRPr>
        </a:p>
      </dgm:t>
    </dgm:pt>
    <dgm:pt modelId="{A73AB9F8-6F7F-46DE-B4E0-688758876D58}" type="sibTrans" cxnId="{E0EBF32D-416F-4BE0-AB16-941227AA2885}">
      <dgm:prSet/>
      <dgm:spPr/>
      <dgm:t>
        <a:bodyPr/>
        <a:lstStyle/>
        <a:p>
          <a:endParaRPr lang="en-US" sz="1600">
            <a:latin typeface="Century Gothic" panose="020B0502020202020204" pitchFamily="34" charset="0"/>
          </a:endParaRPr>
        </a:p>
      </dgm:t>
    </dgm:pt>
    <dgm:pt modelId="{C3B56015-E9CA-4B75-8087-77B695844DFA}" type="pres">
      <dgm:prSet presAssocID="{F0F1EE58-33BA-481F-AAB4-BAA6D0294FEC}" presName="Name0" presStyleCnt="0">
        <dgm:presLayoutVars>
          <dgm:dir/>
          <dgm:resizeHandles val="exact"/>
        </dgm:presLayoutVars>
      </dgm:prSet>
      <dgm:spPr/>
    </dgm:pt>
    <dgm:pt modelId="{0C43E22F-AA5C-44C7-8CEF-BAA0FEA4DD43}" type="pres">
      <dgm:prSet presAssocID="{0D942017-56E2-4AAA-A80F-F28EE9DE1CBC}" presName="node" presStyleLbl="node1" presStyleIdx="0" presStyleCnt="6">
        <dgm:presLayoutVars>
          <dgm:bulletEnabled val="1"/>
        </dgm:presLayoutVars>
      </dgm:prSet>
      <dgm:spPr/>
    </dgm:pt>
    <dgm:pt modelId="{0B8473EB-B422-4CDC-95D4-996FAC894D3D}" type="pres">
      <dgm:prSet presAssocID="{AD04FF62-5CDC-416C-8F0F-A891B383123A}" presName="sibTrans" presStyleLbl="sibTrans1D1" presStyleIdx="0" presStyleCnt="5"/>
      <dgm:spPr/>
    </dgm:pt>
    <dgm:pt modelId="{D86EAB00-5124-4503-903F-B9BD8086156D}" type="pres">
      <dgm:prSet presAssocID="{AD04FF62-5CDC-416C-8F0F-A891B383123A}" presName="connectorText" presStyleLbl="sibTrans1D1" presStyleIdx="0" presStyleCnt="5"/>
      <dgm:spPr/>
    </dgm:pt>
    <dgm:pt modelId="{910F76CC-6AA7-498A-B237-A5D086501558}" type="pres">
      <dgm:prSet presAssocID="{AF15C368-94E3-4B82-A867-B95E00D32D14}" presName="node" presStyleLbl="node1" presStyleIdx="1" presStyleCnt="6">
        <dgm:presLayoutVars>
          <dgm:bulletEnabled val="1"/>
        </dgm:presLayoutVars>
      </dgm:prSet>
      <dgm:spPr/>
    </dgm:pt>
    <dgm:pt modelId="{89E0466E-6D80-468B-99C1-A7C7161012C7}" type="pres">
      <dgm:prSet presAssocID="{20BBCFB4-1C8C-4AED-8F33-26A1ABB0D610}" presName="sibTrans" presStyleLbl="sibTrans1D1" presStyleIdx="1" presStyleCnt="5"/>
      <dgm:spPr/>
    </dgm:pt>
    <dgm:pt modelId="{E4A1F1FC-1FEB-4D45-893A-80E8536A09FD}" type="pres">
      <dgm:prSet presAssocID="{20BBCFB4-1C8C-4AED-8F33-26A1ABB0D610}" presName="connectorText" presStyleLbl="sibTrans1D1" presStyleIdx="1" presStyleCnt="5"/>
      <dgm:spPr/>
    </dgm:pt>
    <dgm:pt modelId="{1C697A63-603F-4EE0-ACB3-CCE4F5C1C28F}" type="pres">
      <dgm:prSet presAssocID="{08F557FD-F160-4A83-9DC9-EC28E2C45C9F}" presName="node" presStyleLbl="node1" presStyleIdx="2" presStyleCnt="6">
        <dgm:presLayoutVars>
          <dgm:bulletEnabled val="1"/>
        </dgm:presLayoutVars>
      </dgm:prSet>
      <dgm:spPr/>
    </dgm:pt>
    <dgm:pt modelId="{1280C4AB-E1F3-4A79-B9A2-EEFAD50A8CBD}" type="pres">
      <dgm:prSet presAssocID="{E8DCB688-216F-4B15-9151-2DD7346279B1}" presName="sibTrans" presStyleLbl="sibTrans1D1" presStyleIdx="2" presStyleCnt="5"/>
      <dgm:spPr/>
    </dgm:pt>
    <dgm:pt modelId="{79EBB944-955C-43C7-823F-9C7A77EDADE8}" type="pres">
      <dgm:prSet presAssocID="{E8DCB688-216F-4B15-9151-2DD7346279B1}" presName="connectorText" presStyleLbl="sibTrans1D1" presStyleIdx="2" presStyleCnt="5"/>
      <dgm:spPr/>
    </dgm:pt>
    <dgm:pt modelId="{3F935341-1926-4F2C-8880-34ACF55F962F}" type="pres">
      <dgm:prSet presAssocID="{6221C2DE-10C8-4BAA-961C-43F0D777F79E}" presName="node" presStyleLbl="node1" presStyleIdx="3" presStyleCnt="6">
        <dgm:presLayoutVars>
          <dgm:bulletEnabled val="1"/>
        </dgm:presLayoutVars>
      </dgm:prSet>
      <dgm:spPr/>
    </dgm:pt>
    <dgm:pt modelId="{821B1E5F-D224-4C6F-A054-9D57ECAB2F96}" type="pres">
      <dgm:prSet presAssocID="{9BDF0FF5-D085-48D8-ACD7-A011CCAA13F3}" presName="sibTrans" presStyleLbl="sibTrans1D1" presStyleIdx="3" presStyleCnt="5"/>
      <dgm:spPr/>
    </dgm:pt>
    <dgm:pt modelId="{35CFD6C1-47BD-449E-966C-505CA79807AC}" type="pres">
      <dgm:prSet presAssocID="{9BDF0FF5-D085-48D8-ACD7-A011CCAA13F3}" presName="connectorText" presStyleLbl="sibTrans1D1" presStyleIdx="3" presStyleCnt="5"/>
      <dgm:spPr/>
    </dgm:pt>
    <dgm:pt modelId="{B615C98C-A091-4F00-96B6-460E43C59218}" type="pres">
      <dgm:prSet presAssocID="{CFA374C2-021A-48A0-96DA-535EF0155DB6}" presName="node" presStyleLbl="node1" presStyleIdx="4" presStyleCnt="6">
        <dgm:presLayoutVars>
          <dgm:bulletEnabled val="1"/>
        </dgm:presLayoutVars>
      </dgm:prSet>
      <dgm:spPr/>
    </dgm:pt>
    <dgm:pt modelId="{81E2118B-FA85-4313-B386-DB53A550A7C5}" type="pres">
      <dgm:prSet presAssocID="{9C377CDA-AB34-4349-A402-8613D7CB144C}" presName="sibTrans" presStyleLbl="sibTrans1D1" presStyleIdx="4" presStyleCnt="5"/>
      <dgm:spPr/>
    </dgm:pt>
    <dgm:pt modelId="{B18A3F5B-E97E-4668-8344-DFAFC48183AF}" type="pres">
      <dgm:prSet presAssocID="{9C377CDA-AB34-4349-A402-8613D7CB144C}" presName="connectorText" presStyleLbl="sibTrans1D1" presStyleIdx="4" presStyleCnt="5"/>
      <dgm:spPr/>
    </dgm:pt>
    <dgm:pt modelId="{1F60E296-5E30-44B5-91D6-1D7FD5FF33ED}" type="pres">
      <dgm:prSet presAssocID="{490104DE-F1F6-4B54-83A9-0780CBF1F750}" presName="node" presStyleLbl="node1" presStyleIdx="5" presStyleCnt="6">
        <dgm:presLayoutVars>
          <dgm:bulletEnabled val="1"/>
        </dgm:presLayoutVars>
      </dgm:prSet>
      <dgm:spPr/>
    </dgm:pt>
  </dgm:ptLst>
  <dgm:cxnLst>
    <dgm:cxn modelId="{767F8200-FF11-4F31-80D1-73190644407E}" type="presOf" srcId="{AF15C368-94E3-4B82-A867-B95E00D32D14}" destId="{910F76CC-6AA7-498A-B237-A5D086501558}" srcOrd="0" destOrd="0" presId="urn:microsoft.com/office/officeart/2016/7/layout/RepeatingBendingProcessNew"/>
    <dgm:cxn modelId="{FF171805-C597-49E8-A1E3-A77E405E4E00}" type="presOf" srcId="{9C377CDA-AB34-4349-A402-8613D7CB144C}" destId="{B18A3F5B-E97E-4668-8344-DFAFC48183AF}" srcOrd="1" destOrd="0" presId="urn:microsoft.com/office/officeart/2016/7/layout/RepeatingBendingProcessNew"/>
    <dgm:cxn modelId="{B37AEB09-DA4B-4BFD-B37E-BAC7837170AB}" srcId="{F0F1EE58-33BA-481F-AAB4-BAA6D0294FEC}" destId="{08F557FD-F160-4A83-9DC9-EC28E2C45C9F}" srcOrd="2" destOrd="0" parTransId="{D4D4BBA0-DC17-4646-B876-A22A89A68ACE}" sibTransId="{E8DCB688-216F-4B15-9151-2DD7346279B1}"/>
    <dgm:cxn modelId="{C2A6DA0B-71F2-4E56-AE5F-4A6DB48C798A}" type="presOf" srcId="{0D942017-56E2-4AAA-A80F-F28EE9DE1CBC}" destId="{0C43E22F-AA5C-44C7-8CEF-BAA0FEA4DD43}" srcOrd="0" destOrd="0" presId="urn:microsoft.com/office/officeart/2016/7/layout/RepeatingBendingProcessNew"/>
    <dgm:cxn modelId="{E0EBF32D-416F-4BE0-AB16-941227AA2885}" srcId="{F0F1EE58-33BA-481F-AAB4-BAA6D0294FEC}" destId="{490104DE-F1F6-4B54-83A9-0780CBF1F750}" srcOrd="5" destOrd="0" parTransId="{D82DE360-2DF5-4AD2-8E8C-3F8BDADA3E26}" sibTransId="{A73AB9F8-6F7F-46DE-B4E0-688758876D58}"/>
    <dgm:cxn modelId="{46BE1333-AA37-495B-A9B6-175E6494A7F1}" srcId="{F0F1EE58-33BA-481F-AAB4-BAA6D0294FEC}" destId="{AF15C368-94E3-4B82-A867-B95E00D32D14}" srcOrd="1" destOrd="0" parTransId="{27876DD8-A0F0-4C14-8C54-EB029EF055D0}" sibTransId="{20BBCFB4-1C8C-4AED-8F33-26A1ABB0D610}"/>
    <dgm:cxn modelId="{BB3EC64A-4656-4B80-BE1B-423582CAAEFC}" type="presOf" srcId="{20BBCFB4-1C8C-4AED-8F33-26A1ABB0D610}" destId="{E4A1F1FC-1FEB-4D45-893A-80E8536A09FD}" srcOrd="1" destOrd="0" presId="urn:microsoft.com/office/officeart/2016/7/layout/RepeatingBendingProcessNew"/>
    <dgm:cxn modelId="{D6048255-D809-4A9E-9CA2-75E741B653C3}" type="presOf" srcId="{AD04FF62-5CDC-416C-8F0F-A891B383123A}" destId="{0B8473EB-B422-4CDC-95D4-996FAC894D3D}" srcOrd="0" destOrd="0" presId="urn:microsoft.com/office/officeart/2016/7/layout/RepeatingBendingProcessNew"/>
    <dgm:cxn modelId="{C5BD6857-2D4B-4F5E-860C-9628BEC4C420}" type="presOf" srcId="{E8DCB688-216F-4B15-9151-2DD7346279B1}" destId="{1280C4AB-E1F3-4A79-B9A2-EEFAD50A8CBD}" srcOrd="0" destOrd="0" presId="urn:microsoft.com/office/officeart/2016/7/layout/RepeatingBendingProcessNew"/>
    <dgm:cxn modelId="{15F7137B-811E-4A52-A794-F7305143B705}" type="presOf" srcId="{E8DCB688-216F-4B15-9151-2DD7346279B1}" destId="{79EBB944-955C-43C7-823F-9C7A77EDADE8}" srcOrd="1" destOrd="0" presId="urn:microsoft.com/office/officeart/2016/7/layout/RepeatingBendingProcessNew"/>
    <dgm:cxn modelId="{8F50998A-503D-4A7C-8E6F-FD792130EE2A}" type="presOf" srcId="{9BDF0FF5-D085-48D8-ACD7-A011CCAA13F3}" destId="{35CFD6C1-47BD-449E-966C-505CA79807AC}" srcOrd="1" destOrd="0" presId="urn:microsoft.com/office/officeart/2016/7/layout/RepeatingBendingProcessNew"/>
    <dgm:cxn modelId="{4688DB8F-C51B-4D67-A12F-21FD0DBD1323}" type="presOf" srcId="{9BDF0FF5-D085-48D8-ACD7-A011CCAA13F3}" destId="{821B1E5F-D224-4C6F-A054-9D57ECAB2F96}" srcOrd="0" destOrd="0" presId="urn:microsoft.com/office/officeart/2016/7/layout/RepeatingBendingProcessNew"/>
    <dgm:cxn modelId="{E731C19E-D145-46B3-82C5-CEC8F2EF42E3}" type="presOf" srcId="{CFA374C2-021A-48A0-96DA-535EF0155DB6}" destId="{B615C98C-A091-4F00-96B6-460E43C59218}" srcOrd="0" destOrd="0" presId="urn:microsoft.com/office/officeart/2016/7/layout/RepeatingBendingProcessNew"/>
    <dgm:cxn modelId="{F88A07A3-CE88-4FE4-AF32-A0099E98FDFE}" type="presOf" srcId="{20BBCFB4-1C8C-4AED-8F33-26A1ABB0D610}" destId="{89E0466E-6D80-468B-99C1-A7C7161012C7}" srcOrd="0" destOrd="0" presId="urn:microsoft.com/office/officeart/2016/7/layout/RepeatingBendingProcessNew"/>
    <dgm:cxn modelId="{AE2B6EA4-E198-4124-B6B6-AD956DAECA52}" type="presOf" srcId="{F0F1EE58-33BA-481F-AAB4-BAA6D0294FEC}" destId="{C3B56015-E9CA-4B75-8087-77B695844DFA}" srcOrd="0" destOrd="0" presId="urn:microsoft.com/office/officeart/2016/7/layout/RepeatingBendingProcessNew"/>
    <dgm:cxn modelId="{111515AB-29FE-42F0-AD14-B6612BAD7F49}" srcId="{F0F1EE58-33BA-481F-AAB4-BAA6D0294FEC}" destId="{0D942017-56E2-4AAA-A80F-F28EE9DE1CBC}" srcOrd="0" destOrd="0" parTransId="{FD80DE28-BBD2-4757-900A-AE24DD65CAD9}" sibTransId="{AD04FF62-5CDC-416C-8F0F-A891B383123A}"/>
    <dgm:cxn modelId="{5A1A01B6-6755-4837-9137-DC9441A9F0E3}" type="presOf" srcId="{490104DE-F1F6-4B54-83A9-0780CBF1F750}" destId="{1F60E296-5E30-44B5-91D6-1D7FD5FF33ED}" srcOrd="0" destOrd="0" presId="urn:microsoft.com/office/officeart/2016/7/layout/RepeatingBendingProcessNew"/>
    <dgm:cxn modelId="{E0E074B6-3D6D-4B14-A0CD-5032E2FBF273}" type="presOf" srcId="{9C377CDA-AB34-4349-A402-8613D7CB144C}" destId="{81E2118B-FA85-4313-B386-DB53A550A7C5}" srcOrd="0" destOrd="0" presId="urn:microsoft.com/office/officeart/2016/7/layout/RepeatingBendingProcessNew"/>
    <dgm:cxn modelId="{4C6AB0BE-F250-44A3-A730-41E612E7AF03}" srcId="{F0F1EE58-33BA-481F-AAB4-BAA6D0294FEC}" destId="{CFA374C2-021A-48A0-96DA-535EF0155DB6}" srcOrd="4" destOrd="0" parTransId="{3DFDAA5F-D294-40C4-A3F5-42D8DFCEAA42}" sibTransId="{9C377CDA-AB34-4349-A402-8613D7CB144C}"/>
    <dgm:cxn modelId="{ECAFDBD4-BFB0-4A48-BBFD-6ACC7B60CD89}" srcId="{F0F1EE58-33BA-481F-AAB4-BAA6D0294FEC}" destId="{6221C2DE-10C8-4BAA-961C-43F0D777F79E}" srcOrd="3" destOrd="0" parTransId="{321F5E9E-7DE9-4B8E-BA0A-70463A4444D9}" sibTransId="{9BDF0FF5-D085-48D8-ACD7-A011CCAA13F3}"/>
    <dgm:cxn modelId="{466D82DE-F369-4FE8-BFDA-2A80707372E6}" type="presOf" srcId="{AD04FF62-5CDC-416C-8F0F-A891B383123A}" destId="{D86EAB00-5124-4503-903F-B9BD8086156D}" srcOrd="1" destOrd="0" presId="urn:microsoft.com/office/officeart/2016/7/layout/RepeatingBendingProcessNew"/>
    <dgm:cxn modelId="{51A801E9-018E-4FDD-A83F-D318A4F3ACC4}" type="presOf" srcId="{6221C2DE-10C8-4BAA-961C-43F0D777F79E}" destId="{3F935341-1926-4F2C-8880-34ACF55F962F}" srcOrd="0" destOrd="0" presId="urn:microsoft.com/office/officeart/2016/7/layout/RepeatingBendingProcessNew"/>
    <dgm:cxn modelId="{051D55EA-267D-4615-99E6-6E89F52D0EF3}" type="presOf" srcId="{08F557FD-F160-4A83-9DC9-EC28E2C45C9F}" destId="{1C697A63-603F-4EE0-ACB3-CCE4F5C1C28F}" srcOrd="0" destOrd="0" presId="urn:microsoft.com/office/officeart/2016/7/layout/RepeatingBendingProcessNew"/>
    <dgm:cxn modelId="{BBFA0B45-4084-439D-A070-9BF3A6F26CC2}" type="presParOf" srcId="{C3B56015-E9CA-4B75-8087-77B695844DFA}" destId="{0C43E22F-AA5C-44C7-8CEF-BAA0FEA4DD43}" srcOrd="0" destOrd="0" presId="urn:microsoft.com/office/officeart/2016/7/layout/RepeatingBendingProcessNew"/>
    <dgm:cxn modelId="{BF4D5DA2-9F3F-4D7D-BBB1-EB3CA5F3F669}" type="presParOf" srcId="{C3B56015-E9CA-4B75-8087-77B695844DFA}" destId="{0B8473EB-B422-4CDC-95D4-996FAC894D3D}" srcOrd="1" destOrd="0" presId="urn:microsoft.com/office/officeart/2016/7/layout/RepeatingBendingProcessNew"/>
    <dgm:cxn modelId="{50C47397-6653-4CAB-BC6A-0928C9BC3C9A}" type="presParOf" srcId="{0B8473EB-B422-4CDC-95D4-996FAC894D3D}" destId="{D86EAB00-5124-4503-903F-B9BD8086156D}" srcOrd="0" destOrd="0" presId="urn:microsoft.com/office/officeart/2016/7/layout/RepeatingBendingProcessNew"/>
    <dgm:cxn modelId="{30989233-6CA2-4CB0-8FE5-6EC8D8EC9B4E}" type="presParOf" srcId="{C3B56015-E9CA-4B75-8087-77B695844DFA}" destId="{910F76CC-6AA7-498A-B237-A5D086501558}" srcOrd="2" destOrd="0" presId="urn:microsoft.com/office/officeart/2016/7/layout/RepeatingBendingProcessNew"/>
    <dgm:cxn modelId="{9B9F1FFD-FA6E-4C85-AEE4-2BC59A96F00A}" type="presParOf" srcId="{C3B56015-E9CA-4B75-8087-77B695844DFA}" destId="{89E0466E-6D80-468B-99C1-A7C7161012C7}" srcOrd="3" destOrd="0" presId="urn:microsoft.com/office/officeart/2016/7/layout/RepeatingBendingProcessNew"/>
    <dgm:cxn modelId="{4EB2248C-72E0-4747-836C-39995372CBFB}" type="presParOf" srcId="{89E0466E-6D80-468B-99C1-A7C7161012C7}" destId="{E4A1F1FC-1FEB-4D45-893A-80E8536A09FD}" srcOrd="0" destOrd="0" presId="urn:microsoft.com/office/officeart/2016/7/layout/RepeatingBendingProcessNew"/>
    <dgm:cxn modelId="{B3C6DB31-3377-42D1-93A5-069F5FFE4665}" type="presParOf" srcId="{C3B56015-E9CA-4B75-8087-77B695844DFA}" destId="{1C697A63-603F-4EE0-ACB3-CCE4F5C1C28F}" srcOrd="4" destOrd="0" presId="urn:microsoft.com/office/officeart/2016/7/layout/RepeatingBendingProcessNew"/>
    <dgm:cxn modelId="{6D300DBD-A213-4E0A-8E7E-F5B44947ABF1}" type="presParOf" srcId="{C3B56015-E9CA-4B75-8087-77B695844DFA}" destId="{1280C4AB-E1F3-4A79-B9A2-EEFAD50A8CBD}" srcOrd="5" destOrd="0" presId="urn:microsoft.com/office/officeart/2016/7/layout/RepeatingBendingProcessNew"/>
    <dgm:cxn modelId="{7A896741-64A1-4388-B4C7-627DCEB6240A}" type="presParOf" srcId="{1280C4AB-E1F3-4A79-B9A2-EEFAD50A8CBD}" destId="{79EBB944-955C-43C7-823F-9C7A77EDADE8}" srcOrd="0" destOrd="0" presId="urn:microsoft.com/office/officeart/2016/7/layout/RepeatingBendingProcessNew"/>
    <dgm:cxn modelId="{558675F8-C31B-4142-B36C-DD28181E58B0}" type="presParOf" srcId="{C3B56015-E9CA-4B75-8087-77B695844DFA}" destId="{3F935341-1926-4F2C-8880-34ACF55F962F}" srcOrd="6" destOrd="0" presId="urn:microsoft.com/office/officeart/2016/7/layout/RepeatingBendingProcessNew"/>
    <dgm:cxn modelId="{FC228584-53EA-4752-A2F0-1F507AFA4E77}" type="presParOf" srcId="{C3B56015-E9CA-4B75-8087-77B695844DFA}" destId="{821B1E5F-D224-4C6F-A054-9D57ECAB2F96}" srcOrd="7" destOrd="0" presId="urn:microsoft.com/office/officeart/2016/7/layout/RepeatingBendingProcessNew"/>
    <dgm:cxn modelId="{6B875C38-6030-4356-A05F-A08F49AA0F21}" type="presParOf" srcId="{821B1E5F-D224-4C6F-A054-9D57ECAB2F96}" destId="{35CFD6C1-47BD-449E-966C-505CA79807AC}" srcOrd="0" destOrd="0" presId="urn:microsoft.com/office/officeart/2016/7/layout/RepeatingBendingProcessNew"/>
    <dgm:cxn modelId="{F53988C0-BFB2-44C7-B426-3774F9429AB2}" type="presParOf" srcId="{C3B56015-E9CA-4B75-8087-77B695844DFA}" destId="{B615C98C-A091-4F00-96B6-460E43C59218}" srcOrd="8" destOrd="0" presId="urn:microsoft.com/office/officeart/2016/7/layout/RepeatingBendingProcessNew"/>
    <dgm:cxn modelId="{D7516C71-FCAD-45DC-99A9-C4294FEB551F}" type="presParOf" srcId="{C3B56015-E9CA-4B75-8087-77B695844DFA}" destId="{81E2118B-FA85-4313-B386-DB53A550A7C5}" srcOrd="9" destOrd="0" presId="urn:microsoft.com/office/officeart/2016/7/layout/RepeatingBendingProcessNew"/>
    <dgm:cxn modelId="{09466A0D-F55E-42B5-98F5-FE779DACD8A9}" type="presParOf" srcId="{81E2118B-FA85-4313-B386-DB53A550A7C5}" destId="{B18A3F5B-E97E-4668-8344-DFAFC48183AF}" srcOrd="0" destOrd="0" presId="urn:microsoft.com/office/officeart/2016/7/layout/RepeatingBendingProcessNew"/>
    <dgm:cxn modelId="{FC402FC1-77A9-4503-AF22-EA90967BFF21}" type="presParOf" srcId="{C3B56015-E9CA-4B75-8087-77B695844DFA}" destId="{1F60E296-5E30-44B5-91D6-1D7FD5FF33ED}"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344A90-FE7F-40AB-A05B-75EAF28E7BE5}">
      <dsp:nvSpPr>
        <dsp:cNvPr id="0" name=""/>
        <dsp:cNvSpPr/>
      </dsp:nvSpPr>
      <dsp:spPr>
        <a:xfrm>
          <a:off x="71090" y="582595"/>
          <a:ext cx="628697" cy="628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49B29-513B-46CC-A4AF-E6B29EC3617C}">
      <dsp:nvSpPr>
        <dsp:cNvPr id="0" name=""/>
        <dsp:cNvSpPr/>
      </dsp:nvSpPr>
      <dsp:spPr>
        <a:xfrm>
          <a:off x="203116" y="714621"/>
          <a:ext cx="364644" cy="36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468EF5-4B46-4AD7-B385-E74377340280}">
      <dsp:nvSpPr>
        <dsp:cNvPr id="0" name=""/>
        <dsp:cNvSpPr/>
      </dsp:nvSpPr>
      <dsp:spPr>
        <a:xfrm>
          <a:off x="834507" y="582595"/>
          <a:ext cx="1481928" cy="628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kern="1200">
              <a:latin typeface="Century Gothic" panose="020B0502020202020204" pitchFamily="34" charset="0"/>
            </a:rPr>
            <a:t>A Tier‑1 ERP</a:t>
          </a:r>
        </a:p>
      </dsp:txBody>
      <dsp:txXfrm>
        <a:off x="834507" y="582595"/>
        <a:ext cx="1481928" cy="628697"/>
      </dsp:txXfrm>
    </dsp:sp>
    <dsp:sp modelId="{D815035A-6812-4D51-89D9-907C38990742}">
      <dsp:nvSpPr>
        <dsp:cNvPr id="0" name=""/>
        <dsp:cNvSpPr/>
      </dsp:nvSpPr>
      <dsp:spPr>
        <a:xfrm>
          <a:off x="2574651" y="582595"/>
          <a:ext cx="628697" cy="628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A2D351-752C-4448-83E2-2D5DDE0300F2}">
      <dsp:nvSpPr>
        <dsp:cNvPr id="0" name=""/>
        <dsp:cNvSpPr/>
      </dsp:nvSpPr>
      <dsp:spPr>
        <a:xfrm>
          <a:off x="2706677" y="714621"/>
          <a:ext cx="364644" cy="36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65DE5B-AAE4-4E1E-A248-9259EA31A56D}">
      <dsp:nvSpPr>
        <dsp:cNvPr id="0" name=""/>
        <dsp:cNvSpPr/>
      </dsp:nvSpPr>
      <dsp:spPr>
        <a:xfrm>
          <a:off x="3338069" y="582595"/>
          <a:ext cx="1481928" cy="628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kern="1200">
              <a:latin typeface="Century Gothic" panose="020B0502020202020204" pitchFamily="34" charset="0"/>
            </a:rPr>
            <a:t>Specialized Smart Zone &amp; Security Systems</a:t>
          </a:r>
        </a:p>
      </dsp:txBody>
      <dsp:txXfrm>
        <a:off x="3338069" y="582595"/>
        <a:ext cx="1481928" cy="628697"/>
      </dsp:txXfrm>
    </dsp:sp>
    <dsp:sp modelId="{24FD680F-00D5-43BA-A36E-9E518CC4C805}">
      <dsp:nvSpPr>
        <dsp:cNvPr id="0" name=""/>
        <dsp:cNvSpPr/>
      </dsp:nvSpPr>
      <dsp:spPr>
        <a:xfrm>
          <a:off x="71090" y="1707484"/>
          <a:ext cx="628697" cy="628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08DF1B-1176-4E65-A31B-B77FAC6D02C4}">
      <dsp:nvSpPr>
        <dsp:cNvPr id="0" name=""/>
        <dsp:cNvSpPr/>
      </dsp:nvSpPr>
      <dsp:spPr>
        <a:xfrm>
          <a:off x="203116" y="1839510"/>
          <a:ext cx="364644" cy="36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650F74-3933-4EEC-927C-4CFE5C3DBF0D}">
      <dsp:nvSpPr>
        <dsp:cNvPr id="0" name=""/>
        <dsp:cNvSpPr/>
      </dsp:nvSpPr>
      <dsp:spPr>
        <a:xfrm>
          <a:off x="834507" y="1707484"/>
          <a:ext cx="1481928" cy="628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kern="1200">
              <a:latin typeface="Century Gothic" panose="020B0502020202020204" pitchFamily="34" charset="0"/>
            </a:rPr>
            <a:t>Enterprise &amp; Investor Self‑Service Portals</a:t>
          </a:r>
        </a:p>
      </dsp:txBody>
      <dsp:txXfrm>
        <a:off x="834507" y="1707484"/>
        <a:ext cx="1481928" cy="628697"/>
      </dsp:txXfrm>
    </dsp:sp>
    <dsp:sp modelId="{00372CE9-3F04-4940-8252-B38AFABF7DDC}">
      <dsp:nvSpPr>
        <dsp:cNvPr id="0" name=""/>
        <dsp:cNvSpPr/>
      </dsp:nvSpPr>
      <dsp:spPr>
        <a:xfrm>
          <a:off x="2574651" y="1707484"/>
          <a:ext cx="628697" cy="6286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776BBB-7992-4055-BC5D-DB0E5EEAA029}">
      <dsp:nvSpPr>
        <dsp:cNvPr id="0" name=""/>
        <dsp:cNvSpPr/>
      </dsp:nvSpPr>
      <dsp:spPr>
        <a:xfrm>
          <a:off x="2706677" y="1839510"/>
          <a:ext cx="364644" cy="3646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7E0EDB-59F0-408F-9830-698DDE74C564}">
      <dsp:nvSpPr>
        <dsp:cNvPr id="0" name=""/>
        <dsp:cNvSpPr/>
      </dsp:nvSpPr>
      <dsp:spPr>
        <a:xfrm>
          <a:off x="3338069" y="1707484"/>
          <a:ext cx="1481928" cy="628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kern="1200">
              <a:latin typeface="Century Gothic" panose="020B0502020202020204" pitchFamily="34" charset="0"/>
            </a:rPr>
            <a:t>Centralized Document, Records, Analytics, and Integration Layer</a:t>
          </a:r>
        </a:p>
      </dsp:txBody>
      <dsp:txXfrm>
        <a:off x="3338069" y="1707484"/>
        <a:ext cx="1481928" cy="6286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75B0C-2DF9-4826-98FC-8CF25200020C}">
      <dsp:nvSpPr>
        <dsp:cNvPr id="0" name=""/>
        <dsp:cNvSpPr/>
      </dsp:nvSpPr>
      <dsp:spPr>
        <a:xfrm>
          <a:off x="432303"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4AD2C4-BE66-4EED-90DF-526B87B5CD8C}">
      <dsp:nvSpPr>
        <dsp:cNvPr id="0" name=""/>
        <dsp:cNvSpPr/>
      </dsp:nvSpPr>
      <dsp:spPr>
        <a:xfrm>
          <a:off x="628"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Heavy reliance on manual processes and spreadsheets</a:t>
          </a:r>
          <a:endParaRPr lang="en-US" sz="1200" kern="1200">
            <a:latin typeface="Century Gothic" panose="020B0502020202020204" pitchFamily="34" charset="0"/>
          </a:endParaRPr>
        </a:p>
      </dsp:txBody>
      <dsp:txXfrm>
        <a:off x="628" y="1764393"/>
        <a:ext cx="1569726" cy="627890"/>
      </dsp:txXfrm>
    </dsp:sp>
    <dsp:sp modelId="{FF3F8943-5DF4-4584-BACE-BC65A01D71F3}">
      <dsp:nvSpPr>
        <dsp:cNvPr id="0" name=""/>
        <dsp:cNvSpPr/>
      </dsp:nvSpPr>
      <dsp:spPr>
        <a:xfrm>
          <a:off x="2276732"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D1C526-12F7-4DB0-8FAE-998B5380FE44}">
      <dsp:nvSpPr>
        <dsp:cNvPr id="0" name=""/>
        <dsp:cNvSpPr/>
      </dsp:nvSpPr>
      <dsp:spPr>
        <a:xfrm>
          <a:off x="1845057"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Fragmented departmental systems and data silos</a:t>
          </a:r>
          <a:endParaRPr lang="en-US" sz="1200" kern="1200">
            <a:latin typeface="Century Gothic" panose="020B0502020202020204" pitchFamily="34" charset="0"/>
          </a:endParaRPr>
        </a:p>
      </dsp:txBody>
      <dsp:txXfrm>
        <a:off x="1845057" y="1764393"/>
        <a:ext cx="1569726" cy="627890"/>
      </dsp:txXfrm>
    </dsp:sp>
    <dsp:sp modelId="{AD881F7C-3D04-4689-BADE-FD0C062C8AC7}">
      <dsp:nvSpPr>
        <dsp:cNvPr id="0" name=""/>
        <dsp:cNvSpPr/>
      </dsp:nvSpPr>
      <dsp:spPr>
        <a:xfrm>
          <a:off x="4121161"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9EC8D5-F75C-49E4-8005-375B8CC7D1A7}">
      <dsp:nvSpPr>
        <dsp:cNvPr id="0" name=""/>
        <dsp:cNvSpPr/>
      </dsp:nvSpPr>
      <dsp:spPr>
        <a:xfrm>
          <a:off x="3689486"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Limited real-time visibility for management</a:t>
          </a:r>
          <a:endParaRPr lang="en-US" sz="1200" kern="1200">
            <a:latin typeface="Century Gothic" panose="020B0502020202020204" pitchFamily="34" charset="0"/>
          </a:endParaRPr>
        </a:p>
      </dsp:txBody>
      <dsp:txXfrm>
        <a:off x="3689486" y="1764393"/>
        <a:ext cx="1569726" cy="627890"/>
      </dsp:txXfrm>
    </dsp:sp>
    <dsp:sp modelId="{5D1561EB-58DF-425A-947E-D8452D38D58C}">
      <dsp:nvSpPr>
        <dsp:cNvPr id="0" name=""/>
        <dsp:cNvSpPr/>
      </dsp:nvSpPr>
      <dsp:spPr>
        <a:xfrm>
          <a:off x="5965589"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12A76B-6C17-441F-B0BE-5A882F95751D}">
      <dsp:nvSpPr>
        <dsp:cNvPr id="0" name=""/>
        <dsp:cNvSpPr/>
      </dsp:nvSpPr>
      <dsp:spPr>
        <a:xfrm>
          <a:off x="5533915"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Weak inter-departmental workflow coordination</a:t>
          </a:r>
          <a:endParaRPr lang="en-US" sz="1200" kern="1200">
            <a:latin typeface="Century Gothic" panose="020B0502020202020204" pitchFamily="34" charset="0"/>
          </a:endParaRPr>
        </a:p>
      </dsp:txBody>
      <dsp:txXfrm>
        <a:off x="5533915" y="1764393"/>
        <a:ext cx="1569726" cy="627890"/>
      </dsp:txXfrm>
    </dsp:sp>
    <dsp:sp modelId="{A513D6DE-FF36-4FD4-B7EF-EFD2BCA2A2B3}">
      <dsp:nvSpPr>
        <dsp:cNvPr id="0" name=""/>
        <dsp:cNvSpPr/>
      </dsp:nvSpPr>
      <dsp:spPr>
        <a:xfrm>
          <a:off x="7810018"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0696A6-0B79-4BA7-9BFC-B34CCC608B1B}">
      <dsp:nvSpPr>
        <dsp:cNvPr id="0" name=""/>
        <dsp:cNvSpPr/>
      </dsp:nvSpPr>
      <dsp:spPr>
        <a:xfrm>
          <a:off x="7378343"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Manual billing, compliance, and reporting processes</a:t>
          </a:r>
          <a:endParaRPr lang="en-US" sz="1200" kern="1200">
            <a:latin typeface="Century Gothic" panose="020B0502020202020204" pitchFamily="34" charset="0"/>
          </a:endParaRPr>
        </a:p>
      </dsp:txBody>
      <dsp:txXfrm>
        <a:off x="7378343" y="1764393"/>
        <a:ext cx="1569726" cy="627890"/>
      </dsp:txXfrm>
    </dsp:sp>
    <dsp:sp modelId="{99BF8DBC-FD4C-492B-8BC6-38C38BC1271E}">
      <dsp:nvSpPr>
        <dsp:cNvPr id="0" name=""/>
        <dsp:cNvSpPr/>
      </dsp:nvSpPr>
      <dsp:spPr>
        <a:xfrm>
          <a:off x="9654447" y="822554"/>
          <a:ext cx="706376" cy="7063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851F34-BC76-47A5-B3C9-ACC77E74CCF3}">
      <dsp:nvSpPr>
        <dsp:cNvPr id="0" name=""/>
        <dsp:cNvSpPr/>
      </dsp:nvSpPr>
      <dsp:spPr>
        <a:xfrm>
          <a:off x="9222772" y="1764393"/>
          <a:ext cx="1569726" cy="627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NG" sz="1200" b="0" i="0" kern="1200" baseline="0">
              <a:latin typeface="Century Gothic" panose="020B0502020202020204" pitchFamily="34" charset="0"/>
            </a:rPr>
            <a:t>Disconnected security, utilities, and enterprise data</a:t>
          </a:r>
          <a:endParaRPr lang="en-US" sz="1200" kern="1200">
            <a:latin typeface="Century Gothic" panose="020B0502020202020204" pitchFamily="34" charset="0"/>
          </a:endParaRPr>
        </a:p>
      </dsp:txBody>
      <dsp:txXfrm>
        <a:off x="9222772" y="1764393"/>
        <a:ext cx="1569726" cy="6278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ACD517-137F-4BFD-B40D-9EC05C6E9AA6}">
      <dsp:nvSpPr>
        <dsp:cNvPr id="0" name=""/>
        <dsp:cNvSpPr/>
      </dsp:nvSpPr>
      <dsp:spPr>
        <a:xfrm>
          <a:off x="0" y="711496"/>
          <a:ext cx="9970655" cy="730080"/>
        </a:xfrm>
        <a:prstGeom prst="roundRect">
          <a:avLst/>
        </a:prstGeom>
        <a:solidFill>
          <a:schemeClr val="lt1">
            <a:hueOff val="0"/>
            <a:satOff val="0"/>
            <a:lumOff val="0"/>
            <a:alphaOff val="0"/>
          </a:schemeClr>
        </a:solidFill>
        <a:ln w="190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Century Gothic" panose="020B0502020202020204" pitchFamily="34" charset="0"/>
            </a:rPr>
            <a:t>Finance:</a:t>
          </a:r>
          <a:r>
            <a:rPr lang="en-US" sz="1800" kern="1200">
              <a:latin typeface="Century Gothic" panose="020B0502020202020204" pitchFamily="34" charset="0"/>
            </a:rPr>
            <a:t> Receivables, billing, revenue recognition, budgets, SAP B1 replacement or coexistence</a:t>
          </a:r>
          <a:endParaRPr lang="en-NG" sz="1800" kern="1200">
            <a:latin typeface="Century Gothic" panose="020B0502020202020204" pitchFamily="34" charset="0"/>
          </a:endParaRPr>
        </a:p>
      </dsp:txBody>
      <dsp:txXfrm>
        <a:off x="35640" y="747136"/>
        <a:ext cx="9899375" cy="658800"/>
      </dsp:txXfrm>
    </dsp:sp>
    <dsp:sp modelId="{AE034F70-ABBB-445B-86AE-5DA52457269A}">
      <dsp:nvSpPr>
        <dsp:cNvPr id="0" name=""/>
        <dsp:cNvSpPr/>
      </dsp:nvSpPr>
      <dsp:spPr>
        <a:xfrm>
          <a:off x="0" y="1410377"/>
          <a:ext cx="9970655" cy="730080"/>
        </a:xfrm>
        <a:prstGeom prst="roundRect">
          <a:avLst/>
        </a:prstGeom>
        <a:solidFill>
          <a:schemeClr val="lt1">
            <a:hueOff val="0"/>
            <a:satOff val="0"/>
            <a:lumOff val="0"/>
            <a:alphaOff val="0"/>
          </a:schemeClr>
        </a:solidFill>
        <a:ln w="190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Century Gothic" panose="020B0502020202020204" pitchFamily="34" charset="0"/>
            </a:rPr>
            <a:t>HR:</a:t>
          </a:r>
          <a:r>
            <a:rPr lang="en-US" sz="1800" kern="1200">
              <a:latin typeface="Century Gothic" panose="020B0502020202020204" pitchFamily="34" charset="0"/>
            </a:rPr>
            <a:t> Core HR, payroll, leave, performance, ESS</a:t>
          </a:r>
          <a:endParaRPr lang="en-NG" sz="1800" kern="1200">
            <a:latin typeface="Century Gothic" panose="020B0502020202020204" pitchFamily="34" charset="0"/>
          </a:endParaRPr>
        </a:p>
      </dsp:txBody>
      <dsp:txXfrm>
        <a:off x="35640" y="1446017"/>
        <a:ext cx="9899375" cy="658800"/>
      </dsp:txXfrm>
    </dsp:sp>
    <dsp:sp modelId="{42F1BDA7-334D-4437-A6C0-6EF0268F92D9}">
      <dsp:nvSpPr>
        <dsp:cNvPr id="0" name=""/>
        <dsp:cNvSpPr/>
      </dsp:nvSpPr>
      <dsp:spPr>
        <a:xfrm>
          <a:off x="0" y="2098592"/>
          <a:ext cx="9970655" cy="730080"/>
        </a:xfrm>
        <a:prstGeom prst="roundRect">
          <a:avLst/>
        </a:prstGeom>
        <a:solidFill>
          <a:schemeClr val="lt1">
            <a:hueOff val="0"/>
            <a:satOff val="0"/>
            <a:lumOff val="0"/>
            <a:alphaOff val="0"/>
          </a:schemeClr>
        </a:solidFill>
        <a:ln w="190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Century Gothic" panose="020B0502020202020204" pitchFamily="34" charset="0"/>
            </a:rPr>
            <a:t>Admin:</a:t>
          </a:r>
          <a:r>
            <a:rPr lang="en-US" sz="1800" kern="1200">
              <a:latin typeface="Century Gothic" panose="020B0502020202020204" pitchFamily="34" charset="0"/>
            </a:rPr>
            <a:t> Procurement, vehicles, inventory, guest facilities</a:t>
          </a:r>
          <a:endParaRPr lang="en-NG" sz="1800" kern="1200">
            <a:latin typeface="Century Gothic" panose="020B0502020202020204" pitchFamily="34" charset="0"/>
          </a:endParaRPr>
        </a:p>
      </dsp:txBody>
      <dsp:txXfrm>
        <a:off x="35640" y="2134232"/>
        <a:ext cx="9899375" cy="658800"/>
      </dsp:txXfrm>
    </dsp:sp>
    <dsp:sp modelId="{7D4D5B41-9D39-4CC3-A9F6-7DD4BBE12870}">
      <dsp:nvSpPr>
        <dsp:cNvPr id="0" name=""/>
        <dsp:cNvSpPr/>
      </dsp:nvSpPr>
      <dsp:spPr>
        <a:xfrm>
          <a:off x="0" y="2824106"/>
          <a:ext cx="9970655" cy="730080"/>
        </a:xfrm>
        <a:prstGeom prst="roundRect">
          <a:avLst/>
        </a:prstGeom>
        <a:solidFill>
          <a:schemeClr val="lt1">
            <a:hueOff val="0"/>
            <a:satOff val="0"/>
            <a:lumOff val="0"/>
            <a:alphaOff val="0"/>
          </a:schemeClr>
        </a:solidFill>
        <a:ln w="190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Century Gothic" panose="020B0502020202020204" pitchFamily="34" charset="0"/>
            </a:rPr>
            <a:t>Construction:</a:t>
          </a:r>
          <a:r>
            <a:rPr lang="en-US" sz="1800" kern="1200">
              <a:latin typeface="Century Gothic" panose="020B0502020202020204" pitchFamily="34" charset="0"/>
            </a:rPr>
            <a:t> Project costing, milestones, contractor payments</a:t>
          </a:r>
          <a:endParaRPr lang="en-NG" sz="1800" kern="1200">
            <a:latin typeface="Century Gothic" panose="020B0502020202020204" pitchFamily="34" charset="0"/>
          </a:endParaRPr>
        </a:p>
      </dsp:txBody>
      <dsp:txXfrm>
        <a:off x="35640" y="2859746"/>
        <a:ext cx="9899375" cy="658800"/>
      </dsp:txXfrm>
    </dsp:sp>
    <dsp:sp modelId="{9D2F71C8-C183-4AFD-8C73-D2F07F22D434}">
      <dsp:nvSpPr>
        <dsp:cNvPr id="0" name=""/>
        <dsp:cNvSpPr/>
      </dsp:nvSpPr>
      <dsp:spPr>
        <a:xfrm>
          <a:off x="0" y="3393518"/>
          <a:ext cx="9970655" cy="730080"/>
        </a:xfrm>
        <a:prstGeom prst="roundRect">
          <a:avLst/>
        </a:prstGeom>
        <a:solidFill>
          <a:schemeClr val="lt1">
            <a:hueOff val="0"/>
            <a:satOff val="0"/>
            <a:lumOff val="0"/>
            <a:alphaOff val="0"/>
          </a:schemeClr>
        </a:solidFill>
        <a:ln w="190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latin typeface="Century Gothic" panose="020B0502020202020204" pitchFamily="34" charset="0"/>
            </a:rPr>
            <a:t>Legal:</a:t>
          </a:r>
          <a:r>
            <a:rPr lang="en-US" sz="1800" kern="1200">
              <a:latin typeface="Century Gothic" panose="020B0502020202020204" pitchFamily="34" charset="0"/>
            </a:rPr>
            <a:t> Contract lifecycle, obligations, renewals</a:t>
          </a:r>
          <a:endParaRPr lang="en-NG" sz="1800" kern="1200">
            <a:latin typeface="Century Gothic" panose="020B0502020202020204" pitchFamily="34" charset="0"/>
          </a:endParaRPr>
        </a:p>
      </dsp:txBody>
      <dsp:txXfrm>
        <a:off x="35640" y="3429158"/>
        <a:ext cx="9899375" cy="658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87F66-3F4C-4D35-93C4-D1312A039395}">
      <dsp:nvSpPr>
        <dsp:cNvPr id="0" name=""/>
        <dsp:cNvSpPr/>
      </dsp:nvSpPr>
      <dsp:spPr>
        <a:xfrm>
          <a:off x="0" y="477"/>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D71100-21B7-4A75-98C7-ED1DC8210636}">
      <dsp:nvSpPr>
        <dsp:cNvPr id="0" name=""/>
        <dsp:cNvSpPr/>
      </dsp:nvSpPr>
      <dsp:spPr>
        <a:xfrm>
          <a:off x="198881" y="148405"/>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C41D34-6FBE-46A3-9B10-788E524AF38A}">
      <dsp:nvSpPr>
        <dsp:cNvPr id="0" name=""/>
        <dsp:cNvSpPr/>
      </dsp:nvSpPr>
      <dsp:spPr>
        <a:xfrm>
          <a:off x="759363" y="477"/>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Presentation Layer: Web, Mobile, Portals</a:t>
          </a:r>
        </a:p>
      </dsp:txBody>
      <dsp:txXfrm>
        <a:off x="759363" y="477"/>
        <a:ext cx="5485901" cy="657457"/>
      </dsp:txXfrm>
    </dsp:sp>
    <dsp:sp modelId="{E8CDA2E6-05DF-4689-B725-88E5B96DC72A}">
      <dsp:nvSpPr>
        <dsp:cNvPr id="0" name=""/>
        <dsp:cNvSpPr/>
      </dsp:nvSpPr>
      <dsp:spPr>
        <a:xfrm>
          <a:off x="0" y="822299"/>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8BA363-D62D-401A-8A79-D309F567CDC3}">
      <dsp:nvSpPr>
        <dsp:cNvPr id="0" name=""/>
        <dsp:cNvSpPr/>
      </dsp:nvSpPr>
      <dsp:spPr>
        <a:xfrm>
          <a:off x="198881" y="970227"/>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CC668D-1E3A-4F86-A6FC-D0E5090D4575}">
      <dsp:nvSpPr>
        <dsp:cNvPr id="0" name=""/>
        <dsp:cNvSpPr/>
      </dsp:nvSpPr>
      <dsp:spPr>
        <a:xfrm>
          <a:off x="759363" y="82229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Application Layer: ERP, Security, Utilities, Workflows</a:t>
          </a:r>
        </a:p>
      </dsp:txBody>
      <dsp:txXfrm>
        <a:off x="759363" y="822299"/>
        <a:ext cx="5485901" cy="657457"/>
      </dsp:txXfrm>
    </dsp:sp>
    <dsp:sp modelId="{3D3A70AE-E06B-4A00-9C9D-09D5BCBD3614}">
      <dsp:nvSpPr>
        <dsp:cNvPr id="0" name=""/>
        <dsp:cNvSpPr/>
      </dsp:nvSpPr>
      <dsp:spPr>
        <a:xfrm>
          <a:off x="0" y="1644122"/>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B1FDC0-4772-4BF6-993D-A0F5E93D01F5}">
      <dsp:nvSpPr>
        <dsp:cNvPr id="0" name=""/>
        <dsp:cNvSpPr/>
      </dsp:nvSpPr>
      <dsp:spPr>
        <a:xfrm>
          <a:off x="198881" y="1792050"/>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201589-3BCC-413E-B5D6-B694F8ADC298}">
      <dsp:nvSpPr>
        <dsp:cNvPr id="0" name=""/>
        <dsp:cNvSpPr/>
      </dsp:nvSpPr>
      <dsp:spPr>
        <a:xfrm>
          <a:off x="759363" y="1644122"/>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Integration Layer: APIs &amp; Middleware</a:t>
          </a:r>
        </a:p>
      </dsp:txBody>
      <dsp:txXfrm>
        <a:off x="759363" y="1644122"/>
        <a:ext cx="5485901" cy="657457"/>
      </dsp:txXfrm>
    </dsp:sp>
    <dsp:sp modelId="{D222ED22-20DD-431B-98F8-10DE7BD78B05}">
      <dsp:nvSpPr>
        <dsp:cNvPr id="0" name=""/>
        <dsp:cNvSpPr/>
      </dsp:nvSpPr>
      <dsp:spPr>
        <a:xfrm>
          <a:off x="0" y="2465944"/>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5009A2-DEB2-4FA7-B446-D4F5C766A7B0}">
      <dsp:nvSpPr>
        <dsp:cNvPr id="0" name=""/>
        <dsp:cNvSpPr/>
      </dsp:nvSpPr>
      <dsp:spPr>
        <a:xfrm>
          <a:off x="198881" y="2613872"/>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73301E-AEF0-4F78-848E-BD36AA7E44B6}">
      <dsp:nvSpPr>
        <dsp:cNvPr id="0" name=""/>
        <dsp:cNvSpPr/>
      </dsp:nvSpPr>
      <dsp:spPr>
        <a:xfrm>
          <a:off x="759363" y="2465944"/>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Data Layer: Centralized Cloud Databases</a:t>
          </a:r>
        </a:p>
      </dsp:txBody>
      <dsp:txXfrm>
        <a:off x="759363" y="2465944"/>
        <a:ext cx="5485901" cy="657457"/>
      </dsp:txXfrm>
    </dsp:sp>
    <dsp:sp modelId="{A0FB8AB3-9DE5-4260-87ED-1F92435A4D46}">
      <dsp:nvSpPr>
        <dsp:cNvPr id="0" name=""/>
        <dsp:cNvSpPr/>
      </dsp:nvSpPr>
      <dsp:spPr>
        <a:xfrm>
          <a:off x="0" y="3287766"/>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BB371F-6157-496A-AA63-EE41AB4B7B9B}">
      <dsp:nvSpPr>
        <dsp:cNvPr id="0" name=""/>
        <dsp:cNvSpPr/>
      </dsp:nvSpPr>
      <dsp:spPr>
        <a:xfrm>
          <a:off x="198881" y="3435694"/>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68AAEF-DEF7-4E25-82AE-1C2A510CDD3D}">
      <dsp:nvSpPr>
        <dsp:cNvPr id="0" name=""/>
        <dsp:cNvSpPr/>
      </dsp:nvSpPr>
      <dsp:spPr>
        <a:xfrm>
          <a:off x="759363" y="3287766"/>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Analytics Layer: BI &amp; Reporting</a:t>
          </a:r>
        </a:p>
      </dsp:txBody>
      <dsp:txXfrm>
        <a:off x="759363" y="3287766"/>
        <a:ext cx="5485901" cy="657457"/>
      </dsp:txXfrm>
    </dsp:sp>
    <dsp:sp modelId="{AF01DDA5-9900-442C-88AF-10C437C7C897}">
      <dsp:nvSpPr>
        <dsp:cNvPr id="0" name=""/>
        <dsp:cNvSpPr/>
      </dsp:nvSpPr>
      <dsp:spPr>
        <a:xfrm>
          <a:off x="0" y="4109589"/>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439103-0E19-4E59-B515-AF2FC7435860}">
      <dsp:nvSpPr>
        <dsp:cNvPr id="0" name=""/>
        <dsp:cNvSpPr/>
      </dsp:nvSpPr>
      <dsp:spPr>
        <a:xfrm>
          <a:off x="198881" y="4257517"/>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696F55-7244-4B05-97D6-48C1DAC2D5BF}">
      <dsp:nvSpPr>
        <dsp:cNvPr id="0" name=""/>
        <dsp:cNvSpPr/>
      </dsp:nvSpPr>
      <dsp:spPr>
        <a:xfrm>
          <a:off x="759363" y="4109589"/>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Security Layer: IAM, MFA, Audit Logs</a:t>
          </a:r>
        </a:p>
      </dsp:txBody>
      <dsp:txXfrm>
        <a:off x="759363" y="4109589"/>
        <a:ext cx="5485901" cy="657457"/>
      </dsp:txXfrm>
    </dsp:sp>
    <dsp:sp modelId="{30A899F1-A975-47DE-B3E4-AA7A665F8CAC}">
      <dsp:nvSpPr>
        <dsp:cNvPr id="0" name=""/>
        <dsp:cNvSpPr/>
      </dsp:nvSpPr>
      <dsp:spPr>
        <a:xfrm>
          <a:off x="0" y="4931411"/>
          <a:ext cx="6245265" cy="65745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30C54B-21E2-45EA-A016-E11C58AB206C}">
      <dsp:nvSpPr>
        <dsp:cNvPr id="0" name=""/>
        <dsp:cNvSpPr/>
      </dsp:nvSpPr>
      <dsp:spPr>
        <a:xfrm>
          <a:off x="198881" y="5079339"/>
          <a:ext cx="361601" cy="361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08BBFE-4A45-42EE-8C75-2EE87A5BF736}">
      <dsp:nvSpPr>
        <dsp:cNvPr id="0" name=""/>
        <dsp:cNvSpPr/>
      </dsp:nvSpPr>
      <dsp:spPr>
        <a:xfrm>
          <a:off x="759363" y="4931411"/>
          <a:ext cx="5485901" cy="657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581" tIns="69581" rIns="69581" bIns="69581" numCol="1" spcCol="1270" anchor="ctr" anchorCtr="0">
          <a:noAutofit/>
        </a:bodyPr>
        <a:lstStyle/>
        <a:p>
          <a:pPr marL="0" lvl="0" indent="0" algn="l" defTabSz="622300">
            <a:lnSpc>
              <a:spcPct val="90000"/>
            </a:lnSpc>
            <a:spcBef>
              <a:spcPct val="0"/>
            </a:spcBef>
            <a:spcAft>
              <a:spcPct val="35000"/>
            </a:spcAft>
            <a:buNone/>
          </a:pPr>
          <a:r>
            <a:rPr lang="en-US" sz="1400" kern="1200">
              <a:latin typeface="Century Gothic" panose="020B0502020202020204" pitchFamily="34" charset="0"/>
            </a:rPr>
            <a:t>Cloud‑hosted, scalable, and secure.</a:t>
          </a:r>
        </a:p>
      </dsp:txBody>
      <dsp:txXfrm>
        <a:off x="759363" y="4931411"/>
        <a:ext cx="5485901" cy="6574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FB4062-2375-457F-A01C-17469315F68F}">
      <dsp:nvSpPr>
        <dsp:cNvPr id="0" name=""/>
        <dsp:cNvSpPr/>
      </dsp:nvSpPr>
      <dsp:spPr>
        <a:xfrm>
          <a:off x="0" y="1783"/>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867252-0B6F-4247-889A-E9E94A425EE7}">
      <dsp:nvSpPr>
        <dsp:cNvPr id="0" name=""/>
        <dsp:cNvSpPr/>
      </dsp:nvSpPr>
      <dsp:spPr>
        <a:xfrm>
          <a:off x="229911" y="172791"/>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A4E487-333E-4722-8A65-58F477E32E57}">
      <dsp:nvSpPr>
        <dsp:cNvPr id="0" name=""/>
        <dsp:cNvSpPr/>
      </dsp:nvSpPr>
      <dsp:spPr>
        <a:xfrm>
          <a:off x="877842" y="1783"/>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End‑to‑end digitization</a:t>
          </a:r>
          <a:endParaRPr lang="en-US" sz="1900" kern="1200">
            <a:latin typeface="Century Gothic" panose="020B0502020202020204" pitchFamily="34" charset="0"/>
          </a:endParaRPr>
        </a:p>
      </dsp:txBody>
      <dsp:txXfrm>
        <a:off x="877842" y="1783"/>
        <a:ext cx="5486381" cy="760036"/>
      </dsp:txXfrm>
    </dsp:sp>
    <dsp:sp modelId="{D7EE8CD4-658A-4CEF-95FF-8498293DCFEB}">
      <dsp:nvSpPr>
        <dsp:cNvPr id="0" name=""/>
        <dsp:cNvSpPr/>
      </dsp:nvSpPr>
      <dsp:spPr>
        <a:xfrm>
          <a:off x="0" y="951829"/>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601DF-2783-47EC-A877-E071E3BD211B}">
      <dsp:nvSpPr>
        <dsp:cNvPr id="0" name=""/>
        <dsp:cNvSpPr/>
      </dsp:nvSpPr>
      <dsp:spPr>
        <a:xfrm>
          <a:off x="229911" y="1122837"/>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AAF9F8-1E27-480F-A56D-7009D73F8ACE}">
      <dsp:nvSpPr>
        <dsp:cNvPr id="0" name=""/>
        <dsp:cNvSpPr/>
      </dsp:nvSpPr>
      <dsp:spPr>
        <a:xfrm>
          <a:off x="877842" y="951829"/>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Faster service delivery to enterprises</a:t>
          </a:r>
          <a:endParaRPr lang="en-US" sz="1900" kern="1200">
            <a:latin typeface="Century Gothic" panose="020B0502020202020204" pitchFamily="34" charset="0"/>
          </a:endParaRPr>
        </a:p>
      </dsp:txBody>
      <dsp:txXfrm>
        <a:off x="877842" y="951829"/>
        <a:ext cx="5486381" cy="760036"/>
      </dsp:txXfrm>
    </dsp:sp>
    <dsp:sp modelId="{CA77F140-B36D-45F3-90D4-43D217906026}">
      <dsp:nvSpPr>
        <dsp:cNvPr id="0" name=""/>
        <dsp:cNvSpPr/>
      </dsp:nvSpPr>
      <dsp:spPr>
        <a:xfrm>
          <a:off x="0" y="1901874"/>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5BE21A-3D57-490E-AAEC-E0937250CF92}">
      <dsp:nvSpPr>
        <dsp:cNvPr id="0" name=""/>
        <dsp:cNvSpPr/>
      </dsp:nvSpPr>
      <dsp:spPr>
        <a:xfrm>
          <a:off x="229911" y="2072883"/>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459AEA-6A2C-459B-AD5A-E984DADDB897}">
      <dsp:nvSpPr>
        <dsp:cNvPr id="0" name=""/>
        <dsp:cNvSpPr/>
      </dsp:nvSpPr>
      <dsp:spPr>
        <a:xfrm>
          <a:off x="877842" y="1901874"/>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Improved revenue assurance</a:t>
          </a:r>
          <a:endParaRPr lang="en-US" sz="1900" kern="1200">
            <a:latin typeface="Century Gothic" panose="020B0502020202020204" pitchFamily="34" charset="0"/>
          </a:endParaRPr>
        </a:p>
      </dsp:txBody>
      <dsp:txXfrm>
        <a:off x="877842" y="1901874"/>
        <a:ext cx="5486381" cy="760036"/>
      </dsp:txXfrm>
    </dsp:sp>
    <dsp:sp modelId="{69CF209D-6EC0-46E4-9075-8E39DA367044}">
      <dsp:nvSpPr>
        <dsp:cNvPr id="0" name=""/>
        <dsp:cNvSpPr/>
      </dsp:nvSpPr>
      <dsp:spPr>
        <a:xfrm>
          <a:off x="0" y="2851920"/>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5407CE-3CFE-4FD8-8CEB-8986E2D336A0}">
      <dsp:nvSpPr>
        <dsp:cNvPr id="0" name=""/>
        <dsp:cNvSpPr/>
      </dsp:nvSpPr>
      <dsp:spPr>
        <a:xfrm>
          <a:off x="229911" y="3022928"/>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6C318-EB59-4BFF-9381-4EDD29276372}">
      <dsp:nvSpPr>
        <dsp:cNvPr id="0" name=""/>
        <dsp:cNvSpPr/>
      </dsp:nvSpPr>
      <dsp:spPr>
        <a:xfrm>
          <a:off x="877842" y="2851920"/>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Real‑time management visibility</a:t>
          </a:r>
          <a:endParaRPr lang="en-US" sz="1900" kern="1200">
            <a:latin typeface="Century Gothic" panose="020B0502020202020204" pitchFamily="34" charset="0"/>
          </a:endParaRPr>
        </a:p>
      </dsp:txBody>
      <dsp:txXfrm>
        <a:off x="877842" y="2851920"/>
        <a:ext cx="5486381" cy="760036"/>
      </dsp:txXfrm>
    </dsp:sp>
    <dsp:sp modelId="{8B846B42-E64D-498F-93EC-B315B5FA3DA1}">
      <dsp:nvSpPr>
        <dsp:cNvPr id="0" name=""/>
        <dsp:cNvSpPr/>
      </dsp:nvSpPr>
      <dsp:spPr>
        <a:xfrm>
          <a:off x="0" y="3801966"/>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4D67B6-0741-4360-95E2-9FF2D3491776}">
      <dsp:nvSpPr>
        <dsp:cNvPr id="0" name=""/>
        <dsp:cNvSpPr/>
      </dsp:nvSpPr>
      <dsp:spPr>
        <a:xfrm>
          <a:off x="229911" y="3972974"/>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D70C8B-67AC-4E0A-9BF2-4A9E93E98A22}">
      <dsp:nvSpPr>
        <dsp:cNvPr id="0" name=""/>
        <dsp:cNvSpPr/>
      </dsp:nvSpPr>
      <dsp:spPr>
        <a:xfrm>
          <a:off x="877842" y="3801966"/>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Enhanced investor confidence</a:t>
          </a:r>
          <a:endParaRPr lang="en-US" sz="1900" kern="1200">
            <a:latin typeface="Century Gothic" panose="020B0502020202020204" pitchFamily="34" charset="0"/>
          </a:endParaRPr>
        </a:p>
      </dsp:txBody>
      <dsp:txXfrm>
        <a:off x="877842" y="3801966"/>
        <a:ext cx="5486381" cy="760036"/>
      </dsp:txXfrm>
    </dsp:sp>
    <dsp:sp modelId="{7B0DEF6A-D5F0-4B47-ACC0-7DB0906485EA}">
      <dsp:nvSpPr>
        <dsp:cNvPr id="0" name=""/>
        <dsp:cNvSpPr/>
      </dsp:nvSpPr>
      <dsp:spPr>
        <a:xfrm>
          <a:off x="0" y="4752011"/>
          <a:ext cx="6364224" cy="7600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B0EFCA-3DA7-48C4-9730-FEEF3C745315}">
      <dsp:nvSpPr>
        <dsp:cNvPr id="0" name=""/>
        <dsp:cNvSpPr/>
      </dsp:nvSpPr>
      <dsp:spPr>
        <a:xfrm>
          <a:off x="229911" y="4923020"/>
          <a:ext cx="418020" cy="4180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67A0D-D01C-4C37-9722-E533AAA775D7}">
      <dsp:nvSpPr>
        <dsp:cNvPr id="0" name=""/>
        <dsp:cNvSpPr/>
      </dsp:nvSpPr>
      <dsp:spPr>
        <a:xfrm>
          <a:off x="877842" y="4752011"/>
          <a:ext cx="5486381" cy="760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437" tIns="80437" rIns="80437" bIns="80437" numCol="1" spcCol="1270" anchor="ctr" anchorCtr="0">
          <a:noAutofit/>
        </a:bodyPr>
        <a:lstStyle/>
        <a:p>
          <a:pPr marL="0" lvl="0" indent="0" algn="l" defTabSz="844550">
            <a:lnSpc>
              <a:spcPct val="90000"/>
            </a:lnSpc>
            <a:spcBef>
              <a:spcPct val="0"/>
            </a:spcBef>
            <a:spcAft>
              <a:spcPct val="35000"/>
            </a:spcAft>
            <a:buNone/>
          </a:pPr>
          <a:r>
            <a:rPr lang="en-NG" sz="1900" b="0" i="0" kern="1200" baseline="0">
              <a:latin typeface="Century Gothic" panose="020B0502020202020204" pitchFamily="34" charset="0"/>
            </a:rPr>
            <a:t>Scalable Smart Zone foundation</a:t>
          </a:r>
          <a:endParaRPr lang="en-US" sz="1900" kern="1200">
            <a:latin typeface="Century Gothic" panose="020B0502020202020204" pitchFamily="34" charset="0"/>
          </a:endParaRPr>
        </a:p>
      </dsp:txBody>
      <dsp:txXfrm>
        <a:off x="877842" y="4752011"/>
        <a:ext cx="5486381" cy="7600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8473EB-B422-4CDC-95D4-996FAC894D3D}">
      <dsp:nvSpPr>
        <dsp:cNvPr id="0" name=""/>
        <dsp:cNvSpPr/>
      </dsp:nvSpPr>
      <dsp:spPr>
        <a:xfrm>
          <a:off x="2304317" y="612089"/>
          <a:ext cx="472656" cy="91440"/>
        </a:xfrm>
        <a:custGeom>
          <a:avLst/>
          <a:gdLst/>
          <a:ahLst/>
          <a:cxnLst/>
          <a:rect l="0" t="0" r="0" b="0"/>
          <a:pathLst>
            <a:path>
              <a:moveTo>
                <a:pt x="0" y="45720"/>
              </a:moveTo>
              <a:lnTo>
                <a:pt x="472656"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latin typeface="Century Gothic" panose="020B0502020202020204" pitchFamily="34" charset="0"/>
          </a:endParaRPr>
        </a:p>
      </dsp:txBody>
      <dsp:txXfrm>
        <a:off x="2528064" y="655293"/>
        <a:ext cx="25162" cy="5032"/>
      </dsp:txXfrm>
    </dsp:sp>
    <dsp:sp modelId="{0C43E22F-AA5C-44C7-8CEF-BAA0FEA4DD43}">
      <dsp:nvSpPr>
        <dsp:cNvPr id="0" name=""/>
        <dsp:cNvSpPr/>
      </dsp:nvSpPr>
      <dsp:spPr>
        <a:xfrm>
          <a:off x="118045" y="1388"/>
          <a:ext cx="2188071" cy="131284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Alignment &amp; Scope Confirmation</a:t>
          </a:r>
        </a:p>
      </dsp:txBody>
      <dsp:txXfrm>
        <a:off x="118045" y="1388"/>
        <a:ext cx="2188071" cy="1312842"/>
      </dsp:txXfrm>
    </dsp:sp>
    <dsp:sp modelId="{89E0466E-6D80-468B-99C1-A7C7161012C7}">
      <dsp:nvSpPr>
        <dsp:cNvPr id="0" name=""/>
        <dsp:cNvSpPr/>
      </dsp:nvSpPr>
      <dsp:spPr>
        <a:xfrm>
          <a:off x="1212081" y="1312431"/>
          <a:ext cx="2691327" cy="472656"/>
        </a:xfrm>
        <a:custGeom>
          <a:avLst/>
          <a:gdLst/>
          <a:ahLst/>
          <a:cxnLst/>
          <a:rect l="0" t="0" r="0" b="0"/>
          <a:pathLst>
            <a:path>
              <a:moveTo>
                <a:pt x="2691327" y="0"/>
              </a:moveTo>
              <a:lnTo>
                <a:pt x="2691327" y="253428"/>
              </a:lnTo>
              <a:lnTo>
                <a:pt x="0" y="253428"/>
              </a:lnTo>
              <a:lnTo>
                <a:pt x="0" y="472656"/>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latin typeface="Century Gothic" panose="020B0502020202020204" pitchFamily="34" charset="0"/>
          </a:endParaRPr>
        </a:p>
      </dsp:txBody>
      <dsp:txXfrm>
        <a:off x="2489296" y="1546243"/>
        <a:ext cx="136898" cy="5032"/>
      </dsp:txXfrm>
    </dsp:sp>
    <dsp:sp modelId="{910F76CC-6AA7-498A-B237-A5D086501558}">
      <dsp:nvSpPr>
        <dsp:cNvPr id="0" name=""/>
        <dsp:cNvSpPr/>
      </dsp:nvSpPr>
      <dsp:spPr>
        <a:xfrm>
          <a:off x="2809373" y="1388"/>
          <a:ext cx="2188071" cy="131284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Detailed Requirements Validation &amp; Process Mapping</a:t>
          </a:r>
        </a:p>
      </dsp:txBody>
      <dsp:txXfrm>
        <a:off x="2809373" y="1388"/>
        <a:ext cx="2188071" cy="1312842"/>
      </dsp:txXfrm>
    </dsp:sp>
    <dsp:sp modelId="{1280C4AB-E1F3-4A79-B9A2-EEFAD50A8CBD}">
      <dsp:nvSpPr>
        <dsp:cNvPr id="0" name=""/>
        <dsp:cNvSpPr/>
      </dsp:nvSpPr>
      <dsp:spPr>
        <a:xfrm>
          <a:off x="2304317" y="2428189"/>
          <a:ext cx="472656" cy="91440"/>
        </a:xfrm>
        <a:custGeom>
          <a:avLst/>
          <a:gdLst/>
          <a:ahLst/>
          <a:cxnLst/>
          <a:rect l="0" t="0" r="0" b="0"/>
          <a:pathLst>
            <a:path>
              <a:moveTo>
                <a:pt x="0" y="45720"/>
              </a:moveTo>
              <a:lnTo>
                <a:pt x="472656"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latin typeface="Century Gothic" panose="020B0502020202020204" pitchFamily="34" charset="0"/>
          </a:endParaRPr>
        </a:p>
      </dsp:txBody>
      <dsp:txXfrm>
        <a:off x="2528064" y="2471392"/>
        <a:ext cx="25162" cy="5032"/>
      </dsp:txXfrm>
    </dsp:sp>
    <dsp:sp modelId="{1C697A63-603F-4EE0-ACB3-CCE4F5C1C28F}">
      <dsp:nvSpPr>
        <dsp:cNvPr id="0" name=""/>
        <dsp:cNvSpPr/>
      </dsp:nvSpPr>
      <dsp:spPr>
        <a:xfrm>
          <a:off x="118045" y="1817487"/>
          <a:ext cx="2188071" cy="1312842"/>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Solution Architecture Review</a:t>
          </a:r>
        </a:p>
      </dsp:txBody>
      <dsp:txXfrm>
        <a:off x="118045" y="1817487"/>
        <a:ext cx="2188071" cy="1312842"/>
      </dsp:txXfrm>
    </dsp:sp>
    <dsp:sp modelId="{821B1E5F-D224-4C6F-A054-9D57ECAB2F96}">
      <dsp:nvSpPr>
        <dsp:cNvPr id="0" name=""/>
        <dsp:cNvSpPr/>
      </dsp:nvSpPr>
      <dsp:spPr>
        <a:xfrm>
          <a:off x="1212081" y="3128530"/>
          <a:ext cx="2691327" cy="472656"/>
        </a:xfrm>
        <a:custGeom>
          <a:avLst/>
          <a:gdLst/>
          <a:ahLst/>
          <a:cxnLst/>
          <a:rect l="0" t="0" r="0" b="0"/>
          <a:pathLst>
            <a:path>
              <a:moveTo>
                <a:pt x="2691327" y="0"/>
              </a:moveTo>
              <a:lnTo>
                <a:pt x="2691327" y="253428"/>
              </a:lnTo>
              <a:lnTo>
                <a:pt x="0" y="253428"/>
              </a:lnTo>
              <a:lnTo>
                <a:pt x="0" y="472656"/>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latin typeface="Century Gothic" panose="020B0502020202020204" pitchFamily="34" charset="0"/>
          </a:endParaRPr>
        </a:p>
      </dsp:txBody>
      <dsp:txXfrm>
        <a:off x="2489296" y="3362342"/>
        <a:ext cx="136898" cy="5032"/>
      </dsp:txXfrm>
    </dsp:sp>
    <dsp:sp modelId="{3F935341-1926-4F2C-8880-34ACF55F962F}">
      <dsp:nvSpPr>
        <dsp:cNvPr id="0" name=""/>
        <dsp:cNvSpPr/>
      </dsp:nvSpPr>
      <dsp:spPr>
        <a:xfrm>
          <a:off x="2809373" y="1817487"/>
          <a:ext cx="2188071" cy="131284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Commercial Proposal Development</a:t>
          </a:r>
        </a:p>
      </dsp:txBody>
      <dsp:txXfrm>
        <a:off x="2809373" y="1817487"/>
        <a:ext cx="2188071" cy="1312842"/>
      </dsp:txXfrm>
    </dsp:sp>
    <dsp:sp modelId="{81E2118B-FA85-4313-B386-DB53A550A7C5}">
      <dsp:nvSpPr>
        <dsp:cNvPr id="0" name=""/>
        <dsp:cNvSpPr/>
      </dsp:nvSpPr>
      <dsp:spPr>
        <a:xfrm>
          <a:off x="2304317" y="4244288"/>
          <a:ext cx="472656" cy="91440"/>
        </a:xfrm>
        <a:custGeom>
          <a:avLst/>
          <a:gdLst/>
          <a:ahLst/>
          <a:cxnLst/>
          <a:rect l="0" t="0" r="0" b="0"/>
          <a:pathLst>
            <a:path>
              <a:moveTo>
                <a:pt x="0" y="45720"/>
              </a:moveTo>
              <a:lnTo>
                <a:pt x="472656"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77800">
            <a:lnSpc>
              <a:spcPct val="90000"/>
            </a:lnSpc>
            <a:spcBef>
              <a:spcPct val="0"/>
            </a:spcBef>
            <a:spcAft>
              <a:spcPct val="35000"/>
            </a:spcAft>
            <a:buNone/>
          </a:pPr>
          <a:endParaRPr lang="en-US" sz="400" kern="1200">
            <a:latin typeface="Century Gothic" panose="020B0502020202020204" pitchFamily="34" charset="0"/>
          </a:endParaRPr>
        </a:p>
      </dsp:txBody>
      <dsp:txXfrm>
        <a:off x="2528064" y="4287491"/>
        <a:ext cx="25162" cy="5032"/>
      </dsp:txXfrm>
    </dsp:sp>
    <dsp:sp modelId="{B615C98C-A091-4F00-96B6-460E43C59218}">
      <dsp:nvSpPr>
        <dsp:cNvPr id="0" name=""/>
        <dsp:cNvSpPr/>
      </dsp:nvSpPr>
      <dsp:spPr>
        <a:xfrm>
          <a:off x="118045" y="3633586"/>
          <a:ext cx="2188071" cy="1312842"/>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Contracting</a:t>
          </a:r>
        </a:p>
      </dsp:txBody>
      <dsp:txXfrm>
        <a:off x="118045" y="3633586"/>
        <a:ext cx="2188071" cy="1312842"/>
      </dsp:txXfrm>
    </dsp:sp>
    <dsp:sp modelId="{1F60E296-5E30-44B5-91D6-1D7FD5FF33ED}">
      <dsp:nvSpPr>
        <dsp:cNvPr id="0" name=""/>
        <dsp:cNvSpPr/>
      </dsp:nvSpPr>
      <dsp:spPr>
        <a:xfrm>
          <a:off x="2809373" y="3633586"/>
          <a:ext cx="2188071" cy="131284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217" tIns="112543" rIns="107217" bIns="112543" numCol="1" spcCol="1270" anchor="ctr" anchorCtr="0">
          <a:noAutofit/>
        </a:bodyPr>
        <a:lstStyle/>
        <a:p>
          <a:pPr marL="0" lvl="0" indent="0" algn="ctr" defTabSz="711200">
            <a:lnSpc>
              <a:spcPct val="90000"/>
            </a:lnSpc>
            <a:spcBef>
              <a:spcPct val="0"/>
            </a:spcBef>
            <a:spcAft>
              <a:spcPct val="35000"/>
            </a:spcAft>
            <a:buNone/>
          </a:pPr>
          <a:r>
            <a:rPr lang="en-US" sz="1600" kern="1200">
              <a:latin typeface="Century Gothic" panose="020B0502020202020204" pitchFamily="34" charset="0"/>
            </a:rPr>
            <a:t>Phase 1 Implementation</a:t>
          </a:r>
        </a:p>
      </dsp:txBody>
      <dsp:txXfrm>
        <a:off x="2809373" y="3633586"/>
        <a:ext cx="2188071" cy="131284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ED460-F55D-4CB1-BDA5-973753F8BE32}" type="datetimeFigureOut">
              <a:rPr lang="en-NG" smtClean="0"/>
              <a:t>03/15/2026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83CBC-DC92-441C-8A38-48465FCE04E0}" type="slidenum">
              <a:rPr lang="en-NG" smtClean="0"/>
              <a:t>‹#›</a:t>
            </a:fld>
            <a:endParaRPr lang="en-NG"/>
          </a:p>
        </p:txBody>
      </p:sp>
    </p:spTree>
    <p:extLst>
      <p:ext uri="{BB962C8B-B14F-4D97-AF65-F5344CB8AC3E}">
        <p14:creationId xmlns:p14="http://schemas.microsoft.com/office/powerpoint/2010/main" val="145934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770A-D65C-A1A2-E252-B67F18D17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C81DB-CA64-FD8F-54E9-C52A697AB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78B97-23ED-789F-2E2B-AB0F7E28EB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002EE3-32CB-3722-901E-02BDDFB43C6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39063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4F15-798B-63BD-46FC-BE50CCEFD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43B2C-7EDC-C254-AD25-90BBE6262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C4245-2217-BC4E-497D-DC0F91E7B6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D76EB5-642D-157B-AFC5-972A20ACBDD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4412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0B28-0800-3A88-400E-4AB4C58AD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88BD8-EA82-2357-4E7F-9553C1790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9F041-6915-EB9A-AE1E-9345B090C8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F4F919-9256-9E5F-895C-0293B61F9E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42955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64FC1-1C45-4584-58BB-70DA8D885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97082-A40C-0FD6-DD47-C619E8768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9B9D9-4D59-16E5-88FB-35196B0C96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67F1FA-3EE0-E92B-230D-182BC98DFBEA}"/>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64421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8FFE-D8B8-BD98-16C8-C300178C1F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DA7AA450-2377-E9B3-6E0C-2BA8DCC823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AC3165D8-F33E-64F5-490D-1C06F77D58E7}"/>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33EDD306-4EE9-031D-0538-748A75E3A41A}"/>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6C64118-5D93-5573-44C2-59A31D4C1924}"/>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2191260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5947D-8F7D-8D5D-0D27-31CC7E69D4C2}"/>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2B6E2D80-44F4-66E0-6848-06BAB73598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768C7598-DD7B-D626-72AF-AAB789FA04FB}"/>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96E4479C-1FC2-BB55-BFEF-525754059EA4}"/>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2F8F802C-D200-7EFB-249E-9646E520E506}"/>
              </a:ext>
            </a:extLst>
          </p:cNvPr>
          <p:cNvSpPr>
            <a:spLocks noGrp="1"/>
          </p:cNvSpPr>
          <p:nvPr>
            <p:ph type="sldNum" sz="quarter" idx="12"/>
          </p:nvPr>
        </p:nvSpPr>
        <p:spPr/>
        <p:txBody>
          <a:bodyPr/>
          <a:lstStyle/>
          <a:p>
            <a:fld id="{FF0D6A11-511A-4C5B-96A9-7242F6202D88}" type="slidenum">
              <a:rPr lang="en-NG" smtClean="0"/>
              <a:t>‹#›</a:t>
            </a:fld>
            <a:endParaRPr lang="en-NG"/>
          </a:p>
        </p:txBody>
      </p:sp>
      <p:pic>
        <p:nvPicPr>
          <p:cNvPr id="7" name="Picture 6">
            <a:extLst>
              <a:ext uri="{FF2B5EF4-FFF2-40B4-BE49-F238E27FC236}">
                <a16:creationId xmlns:a16="http://schemas.microsoft.com/office/drawing/2014/main" id="{D53C4060-5BB3-C230-24D9-328771FC82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816358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DC32-2322-228A-F4DD-78D6756915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DF36C1F3-66F1-ABD4-B4F8-3B3B53A215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AC7651-FE7B-544C-BECF-899451C52591}"/>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454FADD8-3196-D407-9347-5A45F7CAB5F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7A0C9216-C712-BF7D-6AD8-31FCDC4AA737}"/>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118861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6444-F111-F472-A4AF-297EF7265F82}"/>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4A19D10A-A318-D319-C32E-C0070B26C2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F66C7566-A7CA-15A8-1D03-36EA4C39E1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46CBD4BB-D689-7434-6C77-7797A62C71B6}"/>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6" name="Footer Placeholder 5">
            <a:extLst>
              <a:ext uri="{FF2B5EF4-FFF2-40B4-BE49-F238E27FC236}">
                <a16:creationId xmlns:a16="http://schemas.microsoft.com/office/drawing/2014/main" id="{7C362EFE-357E-43DE-3617-C951AC4600F7}"/>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F02AFAE8-4F17-EAE4-1CE1-C1800B01DAF8}"/>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312817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B028-D188-A3E3-DE5E-538A45EBDA46}"/>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F01A1C8D-6D78-BFB7-2B52-FE53A7033D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B08C94-FF6F-6D83-0F20-24B157C0FF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EC622585-937D-E941-15EE-7AEAF97446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D4518C-1E9B-EBF1-6371-2D2C134288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54247BD5-2780-C723-94C8-D8AAA847EEE8}"/>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8" name="Footer Placeholder 7">
            <a:extLst>
              <a:ext uri="{FF2B5EF4-FFF2-40B4-BE49-F238E27FC236}">
                <a16:creationId xmlns:a16="http://schemas.microsoft.com/office/drawing/2014/main" id="{57C0558F-DB59-6235-1CEA-8C005E57D85D}"/>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FD8FED8D-068A-9C49-7BF6-B72928E7750C}"/>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3307504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2D4C-3AF7-8A12-657A-90D71F632A71}"/>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E69D23F2-954D-75BC-1765-5248493883CA}"/>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4" name="Footer Placeholder 3">
            <a:extLst>
              <a:ext uri="{FF2B5EF4-FFF2-40B4-BE49-F238E27FC236}">
                <a16:creationId xmlns:a16="http://schemas.microsoft.com/office/drawing/2014/main" id="{607EC80C-24C4-C4A0-3E91-941A37E4ABB7}"/>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FDCA0068-0FD2-E612-3945-53F186699119}"/>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615234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357AED-32BF-282E-EED4-9B1017303EFE}"/>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3" name="Footer Placeholder 2">
            <a:extLst>
              <a:ext uri="{FF2B5EF4-FFF2-40B4-BE49-F238E27FC236}">
                <a16:creationId xmlns:a16="http://schemas.microsoft.com/office/drawing/2014/main" id="{D1E2DD0F-520F-05F2-6D0B-AD575D3CEE7B}"/>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F2E8C8CD-F999-1E33-33D3-EDA853237DF5}"/>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40651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4A030-7167-C0D6-150A-EACD6A1203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AD942ECA-FA49-5D05-D45B-67E2371ED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AB511385-8109-E158-B871-90C2250EED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8143CF-2BA7-1316-3688-82004F62E3D4}"/>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6" name="Footer Placeholder 5">
            <a:extLst>
              <a:ext uri="{FF2B5EF4-FFF2-40B4-BE49-F238E27FC236}">
                <a16:creationId xmlns:a16="http://schemas.microsoft.com/office/drawing/2014/main" id="{1C8183D4-0D91-A069-4D67-FA29218E955C}"/>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94C6C754-C67F-0936-9048-FA994420F0CE}"/>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1289244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14D4-0DC7-7D7A-DFE0-DE164C009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6CE1CA78-3BF2-CF8E-69A0-6F42134E02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931529EA-D77D-B6FD-C407-B038F9EB8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EF027-EFAF-0A37-270D-DC7FA5834740}"/>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6" name="Footer Placeholder 5">
            <a:extLst>
              <a:ext uri="{FF2B5EF4-FFF2-40B4-BE49-F238E27FC236}">
                <a16:creationId xmlns:a16="http://schemas.microsoft.com/office/drawing/2014/main" id="{8DA5C109-2BAA-F979-8B2F-A1A12E92B318}"/>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E739ECB7-ADA6-8FF4-150F-6EFB52657C09}"/>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2576511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BE355-FBB0-1DD9-743C-B9CD7229955C}"/>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1376D28F-07CE-5DB8-ABAE-8B4D0C808D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634FBDE-F72F-2894-365E-6B76E770E267}"/>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929BECED-C16F-F6A7-C08C-B3F40F219399}"/>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044237F-5C6D-2ABE-7E4B-6FEF735FCC29}"/>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1653742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47FC8A-6AFC-618C-5A10-D3166F4F6A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76156543-B29B-1666-D179-A2C4FC181E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C76B839E-452C-5980-070A-DBB59D2AA3A6}"/>
              </a:ext>
            </a:extLst>
          </p:cNvPr>
          <p:cNvSpPr>
            <a:spLocks noGrp="1"/>
          </p:cNvSpPr>
          <p:nvPr>
            <p:ph type="dt" sz="half" idx="10"/>
          </p:nvPr>
        </p:nvSpPr>
        <p:spPr/>
        <p:txBody>
          <a:body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13FAAE63-46E6-F8F5-79BC-55A701C99FE4}"/>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388EAF0B-A6EE-7B94-B142-FFC47501B387}"/>
              </a:ext>
            </a:extLst>
          </p:cNvPr>
          <p:cNvSpPr>
            <a:spLocks noGrp="1"/>
          </p:cNvSpPr>
          <p:nvPr>
            <p:ph type="sldNum" sz="quarter" idx="12"/>
          </p:nvPr>
        </p:nvSpPr>
        <p:spPr/>
        <p:txBody>
          <a:bodyPr/>
          <a:lstStyle/>
          <a:p>
            <a:fld id="{FF0D6A11-511A-4C5B-96A9-7242F6202D88}" type="slidenum">
              <a:rPr lang="en-NG" smtClean="0"/>
              <a:t>‹#›</a:t>
            </a:fld>
            <a:endParaRPr lang="en-NG"/>
          </a:p>
        </p:txBody>
      </p:sp>
    </p:spTree>
    <p:extLst>
      <p:ext uri="{BB962C8B-B14F-4D97-AF65-F5344CB8AC3E}">
        <p14:creationId xmlns:p14="http://schemas.microsoft.com/office/powerpoint/2010/main" val="3790812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pic>
        <p:nvPicPr>
          <p:cNvPr id="4" name="Picture 3">
            <a:extLst>
              <a:ext uri="{FF2B5EF4-FFF2-40B4-BE49-F238E27FC236}">
                <a16:creationId xmlns:a16="http://schemas.microsoft.com/office/drawing/2014/main" id="{9D79409D-06F6-F16B-EF81-23EE4B96E1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3784954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2598569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7717441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742898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2755488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2785836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NG"/>
          </a:p>
        </p:txBody>
      </p:sp>
    </p:spTree>
    <p:extLst>
      <p:ext uri="{BB962C8B-B14F-4D97-AF65-F5344CB8AC3E}">
        <p14:creationId xmlns:p14="http://schemas.microsoft.com/office/powerpoint/2010/main" val="1530581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sz="half" idx="2"/>
          </p:nvPr>
        </p:nvSpPr>
        <p:spPr>
          <a:xfrm>
            <a:off x="546303" y="1359153"/>
            <a:ext cx="4630420" cy="4455795"/>
          </a:xfrm>
          <a:prstGeom prst="rect">
            <a:avLst/>
          </a:prstGeom>
        </p:spPr>
        <p:txBody>
          <a:bodyPr wrap="square" lIns="0" tIns="0" rIns="0" bIns="0">
            <a:spAutoFit/>
          </a:bodyPr>
          <a:lstStyle>
            <a:lvl1pPr>
              <a:defRPr sz="3200" b="0" i="0">
                <a:solidFill>
                  <a:srgbClr val="54535A"/>
                </a:solidFill>
                <a:latin typeface="Tahoma"/>
                <a:cs typeface="Tahoma"/>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7" name="Holder 7"/>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pic>
        <p:nvPicPr>
          <p:cNvPr id="8" name="Picture 7">
            <a:extLst>
              <a:ext uri="{FF2B5EF4-FFF2-40B4-BE49-F238E27FC236}">
                <a16:creationId xmlns:a16="http://schemas.microsoft.com/office/drawing/2014/main" id="{22F3CBAD-618A-0002-1024-385D3845F7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38340838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rgbClr val="FF0000"/>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161105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a:xfrm>
            <a:off x="342595" y="6473628"/>
            <a:ext cx="591683" cy="247212"/>
          </a:xfrm>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9881349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sz="half" idx="2"/>
          </p:nvPr>
        </p:nvSpPr>
        <p:spPr>
          <a:xfrm>
            <a:off x="546303" y="1359153"/>
            <a:ext cx="4630420" cy="4455795"/>
          </a:xfrm>
          <a:prstGeom prst="rect">
            <a:avLst/>
          </a:prstGeom>
        </p:spPr>
        <p:txBody>
          <a:bodyPr wrap="square" lIns="0" tIns="0" rIns="0" bIns="0">
            <a:spAutoFit/>
          </a:bodyPr>
          <a:lstStyle>
            <a:lvl1pPr>
              <a:defRPr sz="3200" b="0" i="0">
                <a:solidFill>
                  <a:srgbClr val="54535A"/>
                </a:solidFill>
                <a:latin typeface="Tahoma"/>
                <a:cs typeface="Tahoma"/>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7" name="Holder 7"/>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24134820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37121" y="181951"/>
            <a:ext cx="2668067" cy="372226"/>
          </a:xfrm>
          <a:prstGeom prst="rect">
            <a:avLst/>
          </a:prstGeom>
        </p:spPr>
      </p:pic>
      <p:pic>
        <p:nvPicPr>
          <p:cNvPr id="17" name="bg object 17"/>
          <p:cNvPicPr/>
          <p:nvPr/>
        </p:nvPicPr>
        <p:blipFill>
          <a:blip r:embed="rId3" cstate="print"/>
          <a:stretch>
            <a:fillRect/>
          </a:stretch>
        </p:blipFill>
        <p:spPr>
          <a:xfrm>
            <a:off x="6929288" y="3357948"/>
            <a:ext cx="148074" cy="144700"/>
          </a:xfrm>
          <a:prstGeom prst="rect">
            <a:avLst/>
          </a:prstGeom>
        </p:spPr>
      </p:pic>
      <p:pic>
        <p:nvPicPr>
          <p:cNvPr id="18" name="bg object 18"/>
          <p:cNvPicPr/>
          <p:nvPr/>
        </p:nvPicPr>
        <p:blipFill>
          <a:blip r:embed="rId4" cstate="print"/>
          <a:stretch>
            <a:fillRect/>
          </a:stretch>
        </p:blipFill>
        <p:spPr>
          <a:xfrm>
            <a:off x="6752805" y="3582716"/>
            <a:ext cx="148074" cy="144700"/>
          </a:xfrm>
          <a:prstGeom prst="rect">
            <a:avLst/>
          </a:prstGeom>
        </p:spPr>
      </p:pic>
      <p:pic>
        <p:nvPicPr>
          <p:cNvPr id="19" name="bg object 19"/>
          <p:cNvPicPr/>
          <p:nvPr/>
        </p:nvPicPr>
        <p:blipFill>
          <a:blip r:embed="rId5" cstate="print"/>
          <a:stretch>
            <a:fillRect/>
          </a:stretch>
        </p:blipFill>
        <p:spPr>
          <a:xfrm>
            <a:off x="6641859" y="3844464"/>
            <a:ext cx="148074" cy="144700"/>
          </a:xfrm>
          <a:prstGeom prst="rect">
            <a:avLst/>
          </a:prstGeom>
        </p:spPr>
      </p:pic>
      <p:pic>
        <p:nvPicPr>
          <p:cNvPr id="20" name="bg object 20"/>
          <p:cNvPicPr/>
          <p:nvPr/>
        </p:nvPicPr>
        <p:blipFill>
          <a:blip r:embed="rId6" cstate="print"/>
          <a:stretch>
            <a:fillRect/>
          </a:stretch>
        </p:blipFill>
        <p:spPr>
          <a:xfrm>
            <a:off x="6974204" y="773868"/>
            <a:ext cx="4449642" cy="4632882"/>
          </a:xfrm>
          <a:prstGeom prst="rect">
            <a:avLst/>
          </a:prstGeom>
        </p:spPr>
      </p:pic>
      <p:pic>
        <p:nvPicPr>
          <p:cNvPr id="21" name="bg object 21"/>
          <p:cNvPicPr/>
          <p:nvPr/>
        </p:nvPicPr>
        <p:blipFill>
          <a:blip r:embed="rId4" cstate="print"/>
          <a:stretch>
            <a:fillRect/>
          </a:stretch>
        </p:blipFill>
        <p:spPr>
          <a:xfrm>
            <a:off x="6604017" y="4125345"/>
            <a:ext cx="148074" cy="144700"/>
          </a:xfrm>
          <a:prstGeom prst="rect">
            <a:avLst/>
          </a:prstGeom>
        </p:spPr>
      </p:pic>
      <p:pic>
        <p:nvPicPr>
          <p:cNvPr id="22" name="bg object 22"/>
          <p:cNvPicPr/>
          <p:nvPr/>
        </p:nvPicPr>
        <p:blipFill>
          <a:blip r:embed="rId7" cstate="print"/>
          <a:stretch>
            <a:fillRect/>
          </a:stretch>
        </p:blipFill>
        <p:spPr>
          <a:xfrm>
            <a:off x="6641859" y="4406225"/>
            <a:ext cx="148074" cy="144700"/>
          </a:xfrm>
          <a:prstGeom prst="rect">
            <a:avLst/>
          </a:prstGeom>
        </p:spPr>
      </p:pic>
      <p:pic>
        <p:nvPicPr>
          <p:cNvPr id="23" name="bg object 23"/>
          <p:cNvPicPr/>
          <p:nvPr/>
        </p:nvPicPr>
        <p:blipFill>
          <a:blip r:embed="rId4" cstate="print"/>
          <a:stretch>
            <a:fillRect/>
          </a:stretch>
        </p:blipFill>
        <p:spPr>
          <a:xfrm>
            <a:off x="6752805" y="4667973"/>
            <a:ext cx="148074" cy="144700"/>
          </a:xfrm>
          <a:prstGeom prst="rect">
            <a:avLst/>
          </a:prstGeom>
        </p:spPr>
      </p:pic>
      <p:pic>
        <p:nvPicPr>
          <p:cNvPr id="24" name="bg object 24"/>
          <p:cNvPicPr/>
          <p:nvPr/>
        </p:nvPicPr>
        <p:blipFill>
          <a:blip r:embed="rId8" cstate="print"/>
          <a:stretch>
            <a:fillRect/>
          </a:stretch>
        </p:blipFill>
        <p:spPr>
          <a:xfrm>
            <a:off x="6929288" y="4892742"/>
            <a:ext cx="148074" cy="144700"/>
          </a:xfrm>
          <a:prstGeom prst="rect">
            <a:avLst/>
          </a:prstGeom>
        </p:spPr>
      </p:pic>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5" name="Holder 5"/>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7645602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4" name="Holder 4"/>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300374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F241-7062-3228-D230-D9E3326196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B43261-F873-7169-726A-9A4CB5CA2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2FA493-7EE1-B3AE-2346-161B98888624}"/>
              </a:ext>
            </a:extLst>
          </p:cNvPr>
          <p:cNvSpPr>
            <a:spLocks noGrp="1"/>
          </p:cNvSpPr>
          <p:nvPr>
            <p:ph type="dt" sz="half" idx="10"/>
          </p:nvPr>
        </p:nvSpPr>
        <p:spPr/>
        <p:txBody>
          <a:bodyPr/>
          <a:lstStyle/>
          <a:p>
            <a:fld id="{B191C8C2-F403-4797-BC77-2ED98D3E6972}" type="datetimeFigureOut">
              <a:rPr lang="en-IN" smtClean="0"/>
              <a:t>15-03-2026</a:t>
            </a:fld>
            <a:endParaRPr lang="en-IN"/>
          </a:p>
        </p:txBody>
      </p:sp>
      <p:sp>
        <p:nvSpPr>
          <p:cNvPr id="5" name="Footer Placeholder 4">
            <a:extLst>
              <a:ext uri="{FF2B5EF4-FFF2-40B4-BE49-F238E27FC236}">
                <a16:creationId xmlns:a16="http://schemas.microsoft.com/office/drawing/2014/main" id="{FC6CB417-ED87-9AB7-CD16-B6D7C42D00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4941F9-3EEF-EA1E-0F95-75612850F0E8}"/>
              </a:ext>
            </a:extLst>
          </p:cNvPr>
          <p:cNvSpPr>
            <a:spLocks noGrp="1"/>
          </p:cNvSpPr>
          <p:nvPr>
            <p:ph type="sldNum" sz="quarter" idx="12"/>
          </p:nvPr>
        </p:nvSpPr>
        <p:spPr/>
        <p:txBody>
          <a:bodyPr/>
          <a:lstStyle/>
          <a:p>
            <a:fld id="{25DAECE0-8E5B-4881-9F2D-17E58B6E9943}" type="slidenum">
              <a:rPr lang="en-IN" smtClean="0"/>
              <a:t>‹#›</a:t>
            </a:fld>
            <a:endParaRPr lang="en-IN"/>
          </a:p>
        </p:txBody>
      </p:sp>
    </p:spTree>
    <p:extLst>
      <p:ext uri="{BB962C8B-B14F-4D97-AF65-F5344CB8AC3E}">
        <p14:creationId xmlns:p14="http://schemas.microsoft.com/office/powerpoint/2010/main" val="1027188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with background_title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608009" y="457200"/>
            <a:ext cx="10974391" cy="410369"/>
          </a:xfrm>
          <a:prstGeom prst="rect">
            <a:avLst/>
          </a:prstGeom>
        </p:spPr>
        <p:txBody>
          <a:bodyPr wrap="square">
            <a:spAutoFit/>
          </a:bodyPr>
          <a:lstStyle>
            <a:lvl1pPr>
              <a:lnSpc>
                <a:spcPts val="3200"/>
              </a:lnSpc>
              <a:defRPr sz="2800" b="0" i="0" spc="0" baseline="0">
                <a:latin typeface="Calibri" panose="020F0502020204030204" pitchFamily="34" charset="0"/>
                <a:ea typeface="Open Sans" panose="020B0606030504020204" pitchFamily="34" charset="0"/>
                <a:cs typeface="Calibri" panose="020F0502020204030204" pitchFamily="34" charset="0"/>
              </a:defRPr>
            </a:lvl1pPr>
          </a:lstStyle>
          <a:p>
            <a:r>
              <a:rPr lang="en-US" noProof="0"/>
              <a:t>Click to edit Master title style</a:t>
            </a:r>
          </a:p>
        </p:txBody>
      </p:sp>
    </p:spTree>
    <p:extLst>
      <p:ext uri="{BB962C8B-B14F-4D97-AF65-F5344CB8AC3E}">
        <p14:creationId xmlns:p14="http://schemas.microsoft.com/office/powerpoint/2010/main" val="398645606"/>
      </p:ext>
    </p:extLst>
  </p:cSld>
  <p:clrMapOvr>
    <a:masterClrMapping/>
  </p:clrMapOvr>
  <p:transition>
    <p:fade/>
  </p:transition>
  <p:extLst>
    <p:ext uri="{DCECCB84-F9BA-43D5-87BE-67443E8EF086}">
      <p15:sldGuideLst xmlns:p15="http://schemas.microsoft.com/office/powerpoint/2012/main">
        <p15:guide id="1" orient="horz" pos="576">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rgbClr val="FF0000"/>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86456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1641335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sz="half" idx="2"/>
          </p:nvPr>
        </p:nvSpPr>
        <p:spPr>
          <a:xfrm>
            <a:off x="546303" y="1359153"/>
            <a:ext cx="4630420" cy="4455795"/>
          </a:xfrm>
          <a:prstGeom prst="rect">
            <a:avLst/>
          </a:prstGeom>
        </p:spPr>
        <p:txBody>
          <a:bodyPr wrap="square" lIns="0" tIns="0" rIns="0" bIns="0">
            <a:spAutoFit/>
          </a:bodyPr>
          <a:lstStyle>
            <a:lvl1pPr>
              <a:defRPr sz="3200" b="0" i="0">
                <a:solidFill>
                  <a:srgbClr val="54535A"/>
                </a:solidFill>
                <a:latin typeface="Tahoma"/>
                <a:cs typeface="Tahoma"/>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7" name="Holder 7"/>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210411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37121" y="181951"/>
            <a:ext cx="2668067" cy="372226"/>
          </a:xfrm>
          <a:prstGeom prst="rect">
            <a:avLst/>
          </a:prstGeom>
        </p:spPr>
      </p:pic>
      <p:pic>
        <p:nvPicPr>
          <p:cNvPr id="17" name="bg object 17"/>
          <p:cNvPicPr/>
          <p:nvPr/>
        </p:nvPicPr>
        <p:blipFill>
          <a:blip r:embed="rId3" cstate="print"/>
          <a:stretch>
            <a:fillRect/>
          </a:stretch>
        </p:blipFill>
        <p:spPr>
          <a:xfrm>
            <a:off x="6929288" y="3357948"/>
            <a:ext cx="148074" cy="144700"/>
          </a:xfrm>
          <a:prstGeom prst="rect">
            <a:avLst/>
          </a:prstGeom>
        </p:spPr>
      </p:pic>
      <p:pic>
        <p:nvPicPr>
          <p:cNvPr id="18" name="bg object 18"/>
          <p:cNvPicPr/>
          <p:nvPr/>
        </p:nvPicPr>
        <p:blipFill>
          <a:blip r:embed="rId4" cstate="print"/>
          <a:stretch>
            <a:fillRect/>
          </a:stretch>
        </p:blipFill>
        <p:spPr>
          <a:xfrm>
            <a:off x="6752805" y="3582716"/>
            <a:ext cx="148074" cy="144700"/>
          </a:xfrm>
          <a:prstGeom prst="rect">
            <a:avLst/>
          </a:prstGeom>
        </p:spPr>
      </p:pic>
      <p:pic>
        <p:nvPicPr>
          <p:cNvPr id="19" name="bg object 19"/>
          <p:cNvPicPr/>
          <p:nvPr/>
        </p:nvPicPr>
        <p:blipFill>
          <a:blip r:embed="rId5" cstate="print"/>
          <a:stretch>
            <a:fillRect/>
          </a:stretch>
        </p:blipFill>
        <p:spPr>
          <a:xfrm>
            <a:off x="6641859" y="3844464"/>
            <a:ext cx="148074" cy="144700"/>
          </a:xfrm>
          <a:prstGeom prst="rect">
            <a:avLst/>
          </a:prstGeom>
        </p:spPr>
      </p:pic>
      <p:pic>
        <p:nvPicPr>
          <p:cNvPr id="20" name="bg object 20"/>
          <p:cNvPicPr/>
          <p:nvPr/>
        </p:nvPicPr>
        <p:blipFill>
          <a:blip r:embed="rId6" cstate="print"/>
          <a:stretch>
            <a:fillRect/>
          </a:stretch>
        </p:blipFill>
        <p:spPr>
          <a:xfrm>
            <a:off x="6974204" y="773868"/>
            <a:ext cx="4449642" cy="4632882"/>
          </a:xfrm>
          <a:prstGeom prst="rect">
            <a:avLst/>
          </a:prstGeom>
        </p:spPr>
      </p:pic>
      <p:pic>
        <p:nvPicPr>
          <p:cNvPr id="21" name="bg object 21"/>
          <p:cNvPicPr/>
          <p:nvPr/>
        </p:nvPicPr>
        <p:blipFill>
          <a:blip r:embed="rId4" cstate="print"/>
          <a:stretch>
            <a:fillRect/>
          </a:stretch>
        </p:blipFill>
        <p:spPr>
          <a:xfrm>
            <a:off x="6604017" y="4125345"/>
            <a:ext cx="148074" cy="144700"/>
          </a:xfrm>
          <a:prstGeom prst="rect">
            <a:avLst/>
          </a:prstGeom>
        </p:spPr>
      </p:pic>
      <p:pic>
        <p:nvPicPr>
          <p:cNvPr id="22" name="bg object 22"/>
          <p:cNvPicPr/>
          <p:nvPr/>
        </p:nvPicPr>
        <p:blipFill>
          <a:blip r:embed="rId7" cstate="print"/>
          <a:stretch>
            <a:fillRect/>
          </a:stretch>
        </p:blipFill>
        <p:spPr>
          <a:xfrm>
            <a:off x="6641859" y="4406225"/>
            <a:ext cx="148074" cy="144700"/>
          </a:xfrm>
          <a:prstGeom prst="rect">
            <a:avLst/>
          </a:prstGeom>
        </p:spPr>
      </p:pic>
      <p:pic>
        <p:nvPicPr>
          <p:cNvPr id="23" name="bg object 23"/>
          <p:cNvPicPr/>
          <p:nvPr/>
        </p:nvPicPr>
        <p:blipFill>
          <a:blip r:embed="rId4" cstate="print"/>
          <a:stretch>
            <a:fillRect/>
          </a:stretch>
        </p:blipFill>
        <p:spPr>
          <a:xfrm>
            <a:off x="6752805" y="4667973"/>
            <a:ext cx="148074" cy="144700"/>
          </a:xfrm>
          <a:prstGeom prst="rect">
            <a:avLst/>
          </a:prstGeom>
        </p:spPr>
      </p:pic>
      <p:pic>
        <p:nvPicPr>
          <p:cNvPr id="24" name="bg object 24"/>
          <p:cNvPicPr/>
          <p:nvPr/>
        </p:nvPicPr>
        <p:blipFill>
          <a:blip r:embed="rId8" cstate="print"/>
          <a:stretch>
            <a:fillRect/>
          </a:stretch>
        </p:blipFill>
        <p:spPr>
          <a:xfrm>
            <a:off x="6929288" y="4892742"/>
            <a:ext cx="148074" cy="144700"/>
          </a:xfrm>
          <a:prstGeom prst="rect">
            <a:avLst/>
          </a:prstGeom>
        </p:spPr>
      </p:pic>
      <p:sp>
        <p:nvSpPr>
          <p:cNvPr id="2" name="Holder 2"/>
          <p:cNvSpPr>
            <a:spLocks noGrp="1"/>
          </p:cNvSpPr>
          <p:nvPr>
            <p:ph type="title"/>
          </p:nvPr>
        </p:nvSpPr>
        <p:spPr/>
        <p:txBody>
          <a:bodyPr lIns="0" tIns="0" rIns="0" bIns="0"/>
          <a:lstStyle>
            <a:lvl1pPr>
              <a:defRPr sz="2400" b="1" i="0">
                <a:solidFill>
                  <a:srgbClr val="FF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5" name="Holder 5"/>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1524362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4" name="Holder 4"/>
          <p:cNvSpPr>
            <a:spLocks noGrp="1"/>
          </p:cNvSpPr>
          <p:nvPr>
            <p:ph type="sldNum" sz="quarter" idx="7"/>
          </p:nvPr>
        </p:nvSpPr>
        <p:spPr/>
        <p:txBody>
          <a:bodyPr lIns="0" tIns="0" rIns="0" bIns="0"/>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14141667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F241-7062-3228-D230-D9E3326196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B43261-F873-7169-726A-9A4CB5CA2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2FA493-7EE1-B3AE-2346-161B98888624}"/>
              </a:ext>
            </a:extLst>
          </p:cNvPr>
          <p:cNvSpPr>
            <a:spLocks noGrp="1"/>
          </p:cNvSpPr>
          <p:nvPr>
            <p:ph type="dt" sz="half" idx="10"/>
          </p:nvPr>
        </p:nvSpPr>
        <p:spPr/>
        <p:txBody>
          <a:bodyPr/>
          <a:lstStyle/>
          <a:p>
            <a:fld id="{B191C8C2-F403-4797-BC77-2ED98D3E6972}" type="datetimeFigureOut">
              <a:rPr lang="en-IN" smtClean="0"/>
              <a:t>15-03-2026</a:t>
            </a:fld>
            <a:endParaRPr lang="en-IN"/>
          </a:p>
        </p:txBody>
      </p:sp>
      <p:sp>
        <p:nvSpPr>
          <p:cNvPr id="5" name="Footer Placeholder 4">
            <a:extLst>
              <a:ext uri="{FF2B5EF4-FFF2-40B4-BE49-F238E27FC236}">
                <a16:creationId xmlns:a16="http://schemas.microsoft.com/office/drawing/2014/main" id="{FC6CB417-ED87-9AB7-CD16-B6D7C42D00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4941F9-3EEF-EA1E-0F95-75612850F0E8}"/>
              </a:ext>
            </a:extLst>
          </p:cNvPr>
          <p:cNvSpPr>
            <a:spLocks noGrp="1"/>
          </p:cNvSpPr>
          <p:nvPr>
            <p:ph type="sldNum" sz="quarter" idx="12"/>
          </p:nvPr>
        </p:nvSpPr>
        <p:spPr/>
        <p:txBody>
          <a:bodyPr/>
          <a:lstStyle/>
          <a:p>
            <a:fld id="{25DAECE0-8E5B-4881-9F2D-17E58B6E9943}" type="slidenum">
              <a:rPr lang="en-IN" smtClean="0"/>
              <a:t>‹#›</a:t>
            </a:fld>
            <a:endParaRPr lang="en-IN"/>
          </a:p>
        </p:txBody>
      </p:sp>
    </p:spTree>
    <p:extLst>
      <p:ext uri="{BB962C8B-B14F-4D97-AF65-F5344CB8AC3E}">
        <p14:creationId xmlns:p14="http://schemas.microsoft.com/office/powerpoint/2010/main" val="299776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9.xml"/><Relationship Id="rId7"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38E697-403B-CAF3-A63D-3F0416F216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C192FF00-741A-454A-6376-3BFEF7CF73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5608F181-9442-D18B-2192-5360AD808F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3189AE-3E61-474D-954F-DC18219CAB73}" type="datetimeFigureOut">
              <a:rPr lang="en-NG" smtClean="0"/>
              <a:t>03/15/2026</a:t>
            </a:fld>
            <a:endParaRPr lang="en-NG"/>
          </a:p>
        </p:txBody>
      </p:sp>
      <p:sp>
        <p:nvSpPr>
          <p:cNvPr id="5" name="Footer Placeholder 4">
            <a:extLst>
              <a:ext uri="{FF2B5EF4-FFF2-40B4-BE49-F238E27FC236}">
                <a16:creationId xmlns:a16="http://schemas.microsoft.com/office/drawing/2014/main" id="{0AB832E4-10B9-97C1-E5DD-0B9DFC4BF3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875AFC8D-E32C-33A5-F554-0D9A1E03D6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0D6A11-511A-4C5B-96A9-7242F6202D88}" type="slidenum">
              <a:rPr lang="en-NG" smtClean="0"/>
              <a:t>‹#›</a:t>
            </a:fld>
            <a:endParaRPr lang="en-NG"/>
          </a:p>
        </p:txBody>
      </p:sp>
    </p:spTree>
    <p:extLst>
      <p:ext uri="{BB962C8B-B14F-4D97-AF65-F5344CB8AC3E}">
        <p14:creationId xmlns:p14="http://schemas.microsoft.com/office/powerpoint/2010/main" val="2243022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237121" y="181951"/>
            <a:ext cx="2668067" cy="372226"/>
          </a:xfrm>
          <a:prstGeom prst="rect">
            <a:avLst/>
          </a:prstGeom>
        </p:spPr>
      </p:pic>
      <p:sp>
        <p:nvSpPr>
          <p:cNvPr id="2" name="Holder 2"/>
          <p:cNvSpPr>
            <a:spLocks noGrp="1"/>
          </p:cNvSpPr>
          <p:nvPr>
            <p:ph type="title"/>
          </p:nvPr>
        </p:nvSpPr>
        <p:spPr>
          <a:xfrm>
            <a:off x="372872" y="586232"/>
            <a:ext cx="11446255" cy="391159"/>
          </a:xfrm>
          <a:prstGeom prst="rect">
            <a:avLst/>
          </a:prstGeom>
        </p:spPr>
        <p:txBody>
          <a:bodyPr wrap="square" lIns="0" tIns="0" rIns="0" bIns="0">
            <a:spAutoFit/>
          </a:bodyPr>
          <a:lstStyle>
            <a:lvl1pPr>
              <a:defRPr sz="2400" b="1" i="0">
                <a:solidFill>
                  <a:srgbClr val="FF0000"/>
                </a:solidFill>
                <a:latin typeface="Tahoma"/>
                <a:cs typeface="Tahoma"/>
              </a:defRPr>
            </a:lvl1pPr>
          </a:lstStyle>
          <a:p>
            <a:endParaRPr/>
          </a:p>
        </p:txBody>
      </p:sp>
      <p:sp>
        <p:nvSpPr>
          <p:cNvPr id="3" name="Holder 3"/>
          <p:cNvSpPr>
            <a:spLocks noGrp="1"/>
          </p:cNvSpPr>
          <p:nvPr>
            <p:ph type="body" idx="1"/>
          </p:nvPr>
        </p:nvSpPr>
        <p:spPr>
          <a:xfrm>
            <a:off x="4326763" y="2612898"/>
            <a:ext cx="6762750" cy="3870325"/>
          </a:xfrm>
          <a:prstGeom prst="rect">
            <a:avLst/>
          </a:prstGeom>
        </p:spPr>
        <p:txBody>
          <a:bodyPr wrap="square" lIns="0" tIns="0" rIns="0" bIns="0">
            <a:spAutoFit/>
          </a:bodyPr>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a:xfrm>
            <a:off x="342595" y="6473628"/>
            <a:ext cx="342265" cy="306070"/>
          </a:xfrm>
          <a:prstGeom prst="rect">
            <a:avLst/>
          </a:prstGeom>
        </p:spPr>
        <p:txBody>
          <a:bodyPr wrap="square" lIns="0" tIns="0" rIns="0" bIns="0">
            <a:spAutoFit/>
          </a:bodyPr>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88725385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37121" y="181951"/>
            <a:ext cx="2668067" cy="372226"/>
          </a:xfrm>
          <a:prstGeom prst="rect">
            <a:avLst/>
          </a:prstGeom>
        </p:spPr>
      </p:pic>
      <p:sp>
        <p:nvSpPr>
          <p:cNvPr id="2" name="Holder 2"/>
          <p:cNvSpPr>
            <a:spLocks noGrp="1"/>
          </p:cNvSpPr>
          <p:nvPr>
            <p:ph type="title"/>
          </p:nvPr>
        </p:nvSpPr>
        <p:spPr>
          <a:xfrm>
            <a:off x="372872" y="586232"/>
            <a:ext cx="11446255" cy="391159"/>
          </a:xfrm>
          <a:prstGeom prst="rect">
            <a:avLst/>
          </a:prstGeom>
        </p:spPr>
        <p:txBody>
          <a:bodyPr wrap="square" lIns="0" tIns="0" rIns="0" bIns="0">
            <a:spAutoFit/>
          </a:bodyPr>
          <a:lstStyle>
            <a:lvl1pPr>
              <a:defRPr sz="2400" b="1" i="0">
                <a:solidFill>
                  <a:srgbClr val="FF0000"/>
                </a:solidFill>
                <a:latin typeface="Tahoma"/>
                <a:cs typeface="Tahoma"/>
              </a:defRPr>
            </a:lvl1pPr>
          </a:lstStyle>
          <a:p>
            <a:endParaRPr/>
          </a:p>
        </p:txBody>
      </p:sp>
      <p:sp>
        <p:nvSpPr>
          <p:cNvPr id="3" name="Holder 3"/>
          <p:cNvSpPr>
            <a:spLocks noGrp="1"/>
          </p:cNvSpPr>
          <p:nvPr>
            <p:ph type="body" idx="1"/>
          </p:nvPr>
        </p:nvSpPr>
        <p:spPr>
          <a:xfrm>
            <a:off x="4326763" y="2612898"/>
            <a:ext cx="6762750" cy="3870325"/>
          </a:xfrm>
          <a:prstGeom prst="rect">
            <a:avLst/>
          </a:prstGeom>
        </p:spPr>
        <p:txBody>
          <a:bodyPr wrap="square" lIns="0" tIns="0" rIns="0" bIns="0">
            <a:spAutoFit/>
          </a:bodyPr>
          <a:lstStyle>
            <a:lvl1pPr>
              <a:defRPr sz="900" b="0" i="0">
                <a:solidFill>
                  <a:schemeClr val="bg1"/>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3/15/2026</a:t>
            </a:fld>
            <a:endParaRPr lang="en-US"/>
          </a:p>
        </p:txBody>
      </p:sp>
      <p:sp>
        <p:nvSpPr>
          <p:cNvPr id="6" name="Holder 6"/>
          <p:cNvSpPr>
            <a:spLocks noGrp="1"/>
          </p:cNvSpPr>
          <p:nvPr>
            <p:ph type="sldNum" sz="quarter" idx="7"/>
          </p:nvPr>
        </p:nvSpPr>
        <p:spPr>
          <a:xfrm>
            <a:off x="342595" y="6473628"/>
            <a:ext cx="342265" cy="306070"/>
          </a:xfrm>
          <a:prstGeom prst="rect">
            <a:avLst/>
          </a:prstGeom>
        </p:spPr>
        <p:txBody>
          <a:bodyPr wrap="square" lIns="0" tIns="0" rIns="0" bIns="0">
            <a:spAutoFit/>
          </a:bodyPr>
          <a:lstStyle>
            <a:lvl1pPr>
              <a:defRPr sz="1800" b="0" i="0">
                <a:solidFill>
                  <a:srgbClr val="54535A"/>
                </a:solidFill>
                <a:latin typeface="Tahoma"/>
                <a:cs typeface="Tahoma"/>
              </a:defRPr>
            </a:lvl1pPr>
          </a:lstStyle>
          <a:p>
            <a:pPr marL="38100">
              <a:lnSpc>
                <a:spcPct val="100000"/>
              </a:lnSpc>
              <a:spcBef>
                <a:spcPts val="110"/>
              </a:spcBef>
            </a:pPr>
            <a:fld id="{81D60167-4931-47E6-BA6A-407CBD079E47}" type="slidenum">
              <a:rPr spc="-25" dirty="0"/>
              <a:t>‹#›</a:t>
            </a:fld>
            <a:endParaRPr spc="-25"/>
          </a:p>
        </p:txBody>
      </p:sp>
    </p:spTree>
    <p:extLst>
      <p:ext uri="{BB962C8B-B14F-4D97-AF65-F5344CB8AC3E}">
        <p14:creationId xmlns:p14="http://schemas.microsoft.com/office/powerpoint/2010/main" val="248640805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1_C4B2FFFE.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microsoft.com/office/2018/10/relationships/comments" Target="../comments/modernComment_7FFFDFD7_67F4CC96.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6.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07_B4D203D.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microsoft.com/office/2018/10/relationships/comments" Target="../comments/modernComment_143A_36696F03.xml"/><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microsoft.com/office/2018/10/relationships/comments" Target="../comments/modernComment_143B_C4395BDA.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08_D2B3D29F.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slideLayout" Target="../slideLayouts/slideLayout2.xml"/><Relationship Id="rId5" Type="http://schemas.openxmlformats.org/officeDocument/2006/relationships/image" Target="../media/image52.svg"/><Relationship Id="rId4" Type="http://schemas.openxmlformats.org/officeDocument/2006/relationships/image" Target="../media/image51.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svg"/><Relationship Id="rId7" Type="http://schemas.openxmlformats.org/officeDocument/2006/relationships/image" Target="../media/image67.svg"/><Relationship Id="rId2" Type="http://schemas.openxmlformats.org/officeDocument/2006/relationships/image" Target="../media/image62.svg"/><Relationship Id="rId1" Type="http://schemas.openxmlformats.org/officeDocument/2006/relationships/slideLayout" Target="../slideLayouts/slideLayout2.xml"/><Relationship Id="rId6" Type="http://schemas.openxmlformats.org/officeDocument/2006/relationships/image" Target="../media/image66.svg"/><Relationship Id="rId11" Type="http://schemas.openxmlformats.org/officeDocument/2006/relationships/image" Target="../media/image71.svg"/><Relationship Id="rId5" Type="http://schemas.openxmlformats.org/officeDocument/2006/relationships/image" Target="../media/image65.svg"/><Relationship Id="rId10" Type="http://schemas.openxmlformats.org/officeDocument/2006/relationships/image" Target="../media/image70.svg"/><Relationship Id="rId4" Type="http://schemas.openxmlformats.org/officeDocument/2006/relationships/image" Target="../media/image64.svg"/><Relationship Id="rId9" Type="http://schemas.openxmlformats.org/officeDocument/2006/relationships/image" Target="../media/image69.svg"/></Relationships>
</file>

<file path=ppt/slides/_rels/slide40.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svg"/><Relationship Id="rId1" Type="http://schemas.openxmlformats.org/officeDocument/2006/relationships/slideLayout" Target="../slideLayouts/slideLayout2.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 Id="rId9" Type="http://schemas.openxmlformats.org/officeDocument/2006/relationships/image" Target="../media/image79.svg"/></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9.xml"/><Relationship Id="rId5" Type="http://schemas.openxmlformats.org/officeDocument/2006/relationships/image" Target="../media/image83.png"/><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18" Type="http://schemas.openxmlformats.org/officeDocument/2006/relationships/image" Target="../media/image101.png"/><Relationship Id="rId3" Type="http://schemas.openxmlformats.org/officeDocument/2006/relationships/image" Target="../media/image86.png"/><Relationship Id="rId21" Type="http://schemas.openxmlformats.org/officeDocument/2006/relationships/image" Target="../media/image104.png"/><Relationship Id="rId7" Type="http://schemas.openxmlformats.org/officeDocument/2006/relationships/image" Target="../media/image90.png"/><Relationship Id="rId12" Type="http://schemas.openxmlformats.org/officeDocument/2006/relationships/image" Target="../media/image95.png"/><Relationship Id="rId17" Type="http://schemas.openxmlformats.org/officeDocument/2006/relationships/image" Target="../media/image100.png"/><Relationship Id="rId2" Type="http://schemas.openxmlformats.org/officeDocument/2006/relationships/image" Target="../media/image85.png"/><Relationship Id="rId16" Type="http://schemas.openxmlformats.org/officeDocument/2006/relationships/image" Target="../media/image99.png"/><Relationship Id="rId20" Type="http://schemas.openxmlformats.org/officeDocument/2006/relationships/image" Target="../media/image103.png"/><Relationship Id="rId1" Type="http://schemas.openxmlformats.org/officeDocument/2006/relationships/slideLayout" Target="../slideLayouts/slideLayout21.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5" Type="http://schemas.openxmlformats.org/officeDocument/2006/relationships/image" Target="../media/image98.png"/><Relationship Id="rId23" Type="http://schemas.openxmlformats.org/officeDocument/2006/relationships/image" Target="../media/image106.png"/><Relationship Id="rId10" Type="http://schemas.openxmlformats.org/officeDocument/2006/relationships/image" Target="../media/image93.png"/><Relationship Id="rId19" Type="http://schemas.openxmlformats.org/officeDocument/2006/relationships/image" Target="../media/image102.png"/><Relationship Id="rId4" Type="http://schemas.openxmlformats.org/officeDocument/2006/relationships/image" Target="../media/image87.png"/><Relationship Id="rId9" Type="http://schemas.openxmlformats.org/officeDocument/2006/relationships/image" Target="../media/image92.png"/><Relationship Id="rId14" Type="http://schemas.openxmlformats.org/officeDocument/2006/relationships/image" Target="../media/image97.png"/><Relationship Id="rId22" Type="http://schemas.openxmlformats.org/officeDocument/2006/relationships/image" Target="../media/image105.png"/></Relationships>
</file>

<file path=ppt/slides/_rels/slide45.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image" Target="../media/image107.png"/><Relationship Id="rId16" Type="http://schemas.openxmlformats.org/officeDocument/2006/relationships/image" Target="../media/image121.png"/><Relationship Id="rId1" Type="http://schemas.openxmlformats.org/officeDocument/2006/relationships/slideLayout" Target="../slideLayouts/slideLayout28.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4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5.xml"/><Relationship Id="rId7" Type="http://schemas.microsoft.com/office/2007/relationships/diagramDrawing" Target="../diagrams/drawing5.xml"/><Relationship Id="rId2" Type="http://schemas.microsoft.com/office/2018/10/relationships/comments" Target="../comments/modernComment_143E_1D84744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29.jpg"/><Relationship Id="rId2" Type="http://schemas.openxmlformats.org/officeDocument/2006/relationships/image" Target="../media/image128.png"/><Relationship Id="rId1" Type="http://schemas.openxmlformats.org/officeDocument/2006/relationships/slideLayout" Target="../slideLayouts/slideLayout23.xml"/><Relationship Id="rId4" Type="http://schemas.openxmlformats.org/officeDocument/2006/relationships/image" Target="../media/image130.png"/></Relationships>
</file>

<file path=ppt/slides/_rels/slide48.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image" Target="../media/image131.png"/><Relationship Id="rId1" Type="http://schemas.openxmlformats.org/officeDocument/2006/relationships/slideLayout" Target="../slideLayouts/slideLayout21.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28.png"/><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144.jpg"/><Relationship Id="rId2" Type="http://schemas.openxmlformats.org/officeDocument/2006/relationships/image" Target="../media/image128.png"/><Relationship Id="rId1" Type="http://schemas.openxmlformats.org/officeDocument/2006/relationships/slideLayout" Target="../slideLayouts/slideLayout21.xml"/><Relationship Id="rId5" Type="http://schemas.openxmlformats.org/officeDocument/2006/relationships/image" Target="../media/image146.png"/><Relationship Id="rId4" Type="http://schemas.openxmlformats.org/officeDocument/2006/relationships/image" Target="../media/image145.png"/></Relationships>
</file>

<file path=ppt/slides/_rels/slide54.xml.rels><?xml version="1.0" encoding="UTF-8" standalone="yes"?>
<Relationships xmlns="http://schemas.openxmlformats.org/package/2006/relationships"><Relationship Id="rId3" Type="http://schemas.openxmlformats.org/officeDocument/2006/relationships/image" Target="../media/image147.jpg"/><Relationship Id="rId2" Type="http://schemas.openxmlformats.org/officeDocument/2006/relationships/image" Target="../media/image128.png"/><Relationship Id="rId1" Type="http://schemas.openxmlformats.org/officeDocument/2006/relationships/slideLayout" Target="../slideLayouts/slideLayout21.xml"/><Relationship Id="rId5" Type="http://schemas.openxmlformats.org/officeDocument/2006/relationships/image" Target="../media/image149.jpg"/><Relationship Id="rId4" Type="http://schemas.openxmlformats.org/officeDocument/2006/relationships/image" Target="../media/image148.png"/></Relationships>
</file>

<file path=ppt/slides/_rels/slide55.xml.rels><?xml version="1.0" encoding="UTF-8" standalone="yes"?>
<Relationships xmlns="http://schemas.openxmlformats.org/package/2006/relationships"><Relationship Id="rId3" Type="http://schemas.openxmlformats.org/officeDocument/2006/relationships/image" Target="../media/image151.jpg"/><Relationship Id="rId2" Type="http://schemas.openxmlformats.org/officeDocument/2006/relationships/image" Target="../media/image150.png"/><Relationship Id="rId1" Type="http://schemas.openxmlformats.org/officeDocument/2006/relationships/slideLayout" Target="../slideLayouts/slideLayout24.xml"/><Relationship Id="rId4" Type="http://schemas.openxmlformats.org/officeDocument/2006/relationships/image" Target="../media/image152.png"/></Relationships>
</file>

<file path=ppt/slides/_rels/slide56.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18" Type="http://schemas.openxmlformats.org/officeDocument/2006/relationships/image" Target="../media/image169.png"/><Relationship Id="rId3" Type="http://schemas.openxmlformats.org/officeDocument/2006/relationships/image" Target="../media/image154.jpg"/><Relationship Id="rId21" Type="http://schemas.openxmlformats.org/officeDocument/2006/relationships/image" Target="../media/image172.jpg"/><Relationship Id="rId7" Type="http://schemas.openxmlformats.org/officeDocument/2006/relationships/image" Target="../media/image158.png"/><Relationship Id="rId12" Type="http://schemas.openxmlformats.org/officeDocument/2006/relationships/image" Target="../media/image163.png"/><Relationship Id="rId17" Type="http://schemas.openxmlformats.org/officeDocument/2006/relationships/image" Target="../media/image168.png"/><Relationship Id="rId2" Type="http://schemas.openxmlformats.org/officeDocument/2006/relationships/image" Target="../media/image153.png"/><Relationship Id="rId16" Type="http://schemas.openxmlformats.org/officeDocument/2006/relationships/image" Target="../media/image167.png"/><Relationship Id="rId20" Type="http://schemas.openxmlformats.org/officeDocument/2006/relationships/image" Target="../media/image171.png"/><Relationship Id="rId1" Type="http://schemas.openxmlformats.org/officeDocument/2006/relationships/slideLayout" Target="../slideLayouts/slideLayout21.xml"/><Relationship Id="rId6" Type="http://schemas.openxmlformats.org/officeDocument/2006/relationships/image" Target="../media/image157.png"/><Relationship Id="rId11" Type="http://schemas.openxmlformats.org/officeDocument/2006/relationships/image" Target="../media/image162.jpg"/><Relationship Id="rId5" Type="http://schemas.openxmlformats.org/officeDocument/2006/relationships/image" Target="../media/image156.png"/><Relationship Id="rId15" Type="http://schemas.openxmlformats.org/officeDocument/2006/relationships/image" Target="../media/image166.jpg"/><Relationship Id="rId10" Type="http://schemas.openxmlformats.org/officeDocument/2006/relationships/image" Target="../media/image161.jpg"/><Relationship Id="rId19" Type="http://schemas.openxmlformats.org/officeDocument/2006/relationships/image" Target="../media/image170.jpg"/><Relationship Id="rId4" Type="http://schemas.openxmlformats.org/officeDocument/2006/relationships/image" Target="../media/image155.jpg"/><Relationship Id="rId9" Type="http://schemas.openxmlformats.org/officeDocument/2006/relationships/image" Target="../media/image160.jpg"/><Relationship Id="rId14" Type="http://schemas.openxmlformats.org/officeDocument/2006/relationships/image" Target="../media/image165.jpg"/><Relationship Id="rId22" Type="http://schemas.openxmlformats.org/officeDocument/2006/relationships/image" Target="../media/image173.jpg"/></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Shape 90">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3" name="Title 1">
            <a:extLst>
              <a:ext uri="{FF2B5EF4-FFF2-40B4-BE49-F238E27FC236}">
                <a16:creationId xmlns:a16="http://schemas.microsoft.com/office/drawing/2014/main" id="{B76D656F-2F72-5B2A-EEBD-D993A8F08DFF}"/>
              </a:ext>
            </a:extLst>
          </p:cNvPr>
          <p:cNvSpPr txBox="1">
            <a:spLocks/>
          </p:cNvSpPr>
          <p:nvPr/>
        </p:nvSpPr>
        <p:spPr>
          <a:xfrm>
            <a:off x="1295401" y="4287729"/>
            <a:ext cx="4213860" cy="1592158"/>
          </a:xfrm>
          <a:prstGeom prst="roundRect">
            <a:avLst>
              <a:gd name="adj" fmla="val 0"/>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kern="1200">
                <a:solidFill>
                  <a:schemeClr val="tx1"/>
                </a:solidFill>
                <a:latin typeface="Century Gothic" panose="020B0502020202020204" pitchFamily="34" charset="0"/>
              </a:rPr>
              <a:t>LFZDC Enterprise Digitization Platform</a:t>
            </a:r>
          </a:p>
          <a:p>
            <a:pPr>
              <a:spcAft>
                <a:spcPts val="600"/>
              </a:spcAft>
            </a:pPr>
            <a:r>
              <a:rPr lang="en-US" sz="1800" kern="1200">
                <a:solidFill>
                  <a:schemeClr val="tx1"/>
                </a:solidFill>
                <a:latin typeface="Century Gothic" panose="020B0502020202020204" pitchFamily="34" charset="0"/>
              </a:rPr>
              <a:t>Integrated ERP, Smart Operations &amp; Enterprise Services Solution</a:t>
            </a:r>
          </a:p>
        </p:txBody>
      </p:sp>
      <p:pic>
        <p:nvPicPr>
          <p:cNvPr id="2" name="object 4">
            <a:extLst>
              <a:ext uri="{FF2B5EF4-FFF2-40B4-BE49-F238E27FC236}">
                <a16:creationId xmlns:a16="http://schemas.microsoft.com/office/drawing/2014/main" id="{1D30C2B1-BEC1-312A-8FB2-4AF4C49CBA6F}"/>
              </a:ext>
            </a:extLst>
          </p:cNvPr>
          <p:cNvPicPr/>
          <p:nvPr/>
        </p:nvPicPr>
        <p:blipFill>
          <a:blip r:embed="rId3" cstate="print"/>
          <a:stretch>
            <a:fillRect/>
          </a:stretch>
        </p:blipFill>
        <p:spPr>
          <a:xfrm>
            <a:off x="2720048" y="854321"/>
            <a:ext cx="6751904" cy="976146"/>
          </a:xfrm>
          <a:prstGeom prst="rect">
            <a:avLst/>
          </a:prstGeom>
        </p:spPr>
      </p:pic>
      <p:sp>
        <p:nvSpPr>
          <p:cNvPr id="84" name="TextBox 83">
            <a:extLst>
              <a:ext uri="{FF2B5EF4-FFF2-40B4-BE49-F238E27FC236}">
                <a16:creationId xmlns:a16="http://schemas.microsoft.com/office/drawing/2014/main" id="{804CE429-0E2F-244F-52D3-70D7392E8E28}"/>
              </a:ext>
            </a:extLst>
          </p:cNvPr>
          <p:cNvSpPr txBox="1"/>
          <p:nvPr/>
        </p:nvSpPr>
        <p:spPr>
          <a:xfrm>
            <a:off x="6298331" y="4652010"/>
            <a:ext cx="5273093" cy="863596"/>
          </a:xfrm>
          <a:prstGeom prst="rect">
            <a:avLst/>
          </a:prstGeom>
        </p:spPr>
        <p:txBody>
          <a:bodyPr vert="horz" lIns="91440" tIns="45720" rIns="91440" bIns="45720" rtlCol="0" anchor="ctr">
            <a:normAutofit/>
          </a:bodyPr>
          <a:lstStyle/>
          <a:p>
            <a:pPr>
              <a:lnSpc>
                <a:spcPct val="90000"/>
              </a:lnSpc>
              <a:spcAft>
                <a:spcPts val="600"/>
              </a:spcAft>
            </a:pPr>
            <a:r>
              <a:rPr lang="en-US" b="1">
                <a:latin typeface="Century Gothic" panose="020B0502020202020204" pitchFamily="34" charset="0"/>
              </a:rPr>
              <a:t>Prepared for: </a:t>
            </a:r>
          </a:p>
          <a:p>
            <a:pPr indent="-228600">
              <a:lnSpc>
                <a:spcPct val="90000"/>
              </a:lnSpc>
              <a:spcAft>
                <a:spcPts val="600"/>
              </a:spcAft>
              <a:buFont typeface="Arial" panose="020B0604020202020204" pitchFamily="34" charset="0"/>
              <a:buChar char="•"/>
            </a:pPr>
            <a:r>
              <a:rPr lang="en-US" sz="1600">
                <a:latin typeface="Century Gothic" panose="020B0502020202020204" pitchFamily="34" charset="0"/>
              </a:rPr>
              <a:t>Lekki Free Zone Development Company (LFZDC)</a:t>
            </a:r>
          </a:p>
        </p:txBody>
      </p:sp>
    </p:spTree>
    <p:extLst>
      <p:ext uri="{BB962C8B-B14F-4D97-AF65-F5344CB8AC3E}">
        <p14:creationId xmlns:p14="http://schemas.microsoft.com/office/powerpoint/2010/main" val="330006527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89CBE-3015-2E63-0C0B-8C14F5682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B38F4-13F7-FAE6-2A01-AC51E6AE50A7}"/>
              </a:ext>
            </a:extLst>
          </p:cNvPr>
          <p:cNvSpPr>
            <a:spLocks noGrp="1"/>
          </p:cNvSpPr>
          <p:nvPr>
            <p:ph type="title"/>
          </p:nvPr>
        </p:nvSpPr>
        <p:spPr>
          <a:xfrm>
            <a:off x="838201" y="677699"/>
            <a:ext cx="4892749" cy="395394"/>
          </a:xfrm>
        </p:spPr>
        <p:txBody>
          <a:bodyPr>
            <a:normAutofit fontScale="90000"/>
          </a:bodyPr>
          <a:lstStyle/>
          <a:p>
            <a:r>
              <a:rPr lang="en-US" sz="2800" b="1">
                <a:latin typeface="Century Gothic" panose="020B0502020202020204" pitchFamily="34" charset="0"/>
              </a:rPr>
              <a:t>Table of Contents</a:t>
            </a:r>
            <a:endParaRPr lang="en-NG" sz="2800" b="1">
              <a:latin typeface="Century Gothic" panose="020B0502020202020204" pitchFamily="34" charset="0"/>
            </a:endParaRPr>
          </a:p>
        </p:txBody>
      </p:sp>
      <p:grpSp>
        <p:nvGrpSpPr>
          <p:cNvPr id="80" name="Group 79">
            <a:extLst>
              <a:ext uri="{FF2B5EF4-FFF2-40B4-BE49-F238E27FC236}">
                <a16:creationId xmlns:a16="http://schemas.microsoft.com/office/drawing/2014/main" id="{EAD7A5AD-3CBC-D272-8347-39E2D048647D}"/>
              </a:ext>
            </a:extLst>
          </p:cNvPr>
          <p:cNvGrpSpPr/>
          <p:nvPr/>
        </p:nvGrpSpPr>
        <p:grpSpPr>
          <a:xfrm>
            <a:off x="838201" y="1202797"/>
            <a:ext cx="10105724" cy="4922154"/>
            <a:chOff x="838200" y="1202797"/>
            <a:chExt cx="10192351" cy="5014670"/>
          </a:xfrm>
        </p:grpSpPr>
        <p:grpSp>
          <p:nvGrpSpPr>
            <p:cNvPr id="76" name="Group 75">
              <a:extLst>
                <a:ext uri="{FF2B5EF4-FFF2-40B4-BE49-F238E27FC236}">
                  <a16:creationId xmlns:a16="http://schemas.microsoft.com/office/drawing/2014/main" id="{3F8FA97F-9179-F262-6FE9-B612D6725897}"/>
                </a:ext>
              </a:extLst>
            </p:cNvPr>
            <p:cNvGrpSpPr/>
            <p:nvPr/>
          </p:nvGrpSpPr>
          <p:grpSpPr>
            <a:xfrm>
              <a:off x="923556" y="1202797"/>
              <a:ext cx="10106995" cy="5014670"/>
              <a:chOff x="784165" y="1559766"/>
              <a:chExt cx="9252940" cy="4775460"/>
            </a:xfrm>
          </p:grpSpPr>
          <p:grpSp>
            <p:nvGrpSpPr>
              <p:cNvPr id="4" name="Group 3">
                <a:extLst>
                  <a:ext uri="{FF2B5EF4-FFF2-40B4-BE49-F238E27FC236}">
                    <a16:creationId xmlns:a16="http://schemas.microsoft.com/office/drawing/2014/main" id="{8C27CED7-BCA3-453E-5CD4-568F40E09FEA}"/>
                  </a:ext>
                </a:extLst>
              </p:cNvPr>
              <p:cNvGrpSpPr/>
              <p:nvPr/>
            </p:nvGrpSpPr>
            <p:grpSpPr>
              <a:xfrm>
                <a:off x="838200" y="2256724"/>
                <a:ext cx="2561427" cy="576522"/>
                <a:chOff x="6335607" y="1839096"/>
                <a:chExt cx="2561427" cy="576522"/>
              </a:xfrm>
            </p:grpSpPr>
            <p:sp>
              <p:nvSpPr>
                <p:cNvPr id="5" name="TextBox 4">
                  <a:extLst>
                    <a:ext uri="{FF2B5EF4-FFF2-40B4-BE49-F238E27FC236}">
                      <a16:creationId xmlns:a16="http://schemas.microsoft.com/office/drawing/2014/main" id="{87D17DBD-DFAF-0536-FF94-8E07E9400C30}"/>
                    </a:ext>
                  </a:extLst>
                </p:cNvPr>
                <p:cNvSpPr txBox="1"/>
                <p:nvPr/>
              </p:nvSpPr>
              <p:spPr>
                <a:xfrm>
                  <a:off x="6335607" y="1889691"/>
                  <a:ext cx="529294"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3D3D3">
                          <a:lumMod val="75000"/>
                        </a:srgbClr>
                      </a:solidFill>
                      <a:effectLst/>
                      <a:uLnTx/>
                      <a:uFillTx/>
                      <a:latin typeface="Calibri" panose="020F0502020204030204"/>
                      <a:ea typeface="+mn-ea"/>
                      <a:cs typeface="+mn-cs"/>
                    </a:rPr>
                    <a:t>Slide 3</a:t>
                  </a:r>
                </a:p>
              </p:txBody>
            </p:sp>
            <p:sp>
              <p:nvSpPr>
                <p:cNvPr id="6" name="TextBox 5">
                  <a:extLst>
                    <a:ext uri="{FF2B5EF4-FFF2-40B4-BE49-F238E27FC236}">
                      <a16:creationId xmlns:a16="http://schemas.microsoft.com/office/drawing/2014/main" id="{6C7BD0DD-FF2E-7D6A-EE1B-329B591D6CDD}"/>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Executive Summary</a:t>
                  </a:r>
                </a:p>
              </p:txBody>
            </p:sp>
            <p:cxnSp>
              <p:nvCxnSpPr>
                <p:cNvPr id="7" name="Straight Connector 6">
                  <a:extLst>
                    <a:ext uri="{FF2B5EF4-FFF2-40B4-BE49-F238E27FC236}">
                      <a16:creationId xmlns:a16="http://schemas.microsoft.com/office/drawing/2014/main" id="{214B95AA-7329-B38A-A860-2D80BB436564}"/>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CF2406F6-7B7A-C192-49AA-5F7D6BFD8B1C}"/>
                  </a:ext>
                </a:extLst>
              </p:cNvPr>
              <p:cNvGrpSpPr/>
              <p:nvPr/>
            </p:nvGrpSpPr>
            <p:grpSpPr>
              <a:xfrm>
                <a:off x="4156939" y="2256853"/>
                <a:ext cx="2561427" cy="576522"/>
                <a:chOff x="6335607" y="1839096"/>
                <a:chExt cx="2561427" cy="576522"/>
              </a:xfrm>
            </p:grpSpPr>
            <p:sp>
              <p:nvSpPr>
                <p:cNvPr id="9" name="TextBox 8">
                  <a:extLst>
                    <a:ext uri="{FF2B5EF4-FFF2-40B4-BE49-F238E27FC236}">
                      <a16:creationId xmlns:a16="http://schemas.microsoft.com/office/drawing/2014/main" id="{BB5C4DEF-1D19-C422-9C77-04F4DC8A8185}"/>
                    </a:ext>
                  </a:extLst>
                </p:cNvPr>
                <p:cNvSpPr txBox="1"/>
                <p:nvPr/>
              </p:nvSpPr>
              <p:spPr>
                <a:xfrm>
                  <a:off x="6335607" y="1889691"/>
                  <a:ext cx="529294"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3D3D3">
                          <a:lumMod val="75000"/>
                        </a:srgbClr>
                      </a:solidFill>
                      <a:effectLst/>
                      <a:uLnTx/>
                      <a:uFillTx/>
                      <a:latin typeface="Calibri" panose="020F0502020204030204"/>
                      <a:ea typeface="+mn-ea"/>
                      <a:cs typeface="+mn-cs"/>
                    </a:rPr>
                    <a:t>Slide </a:t>
                  </a:r>
                  <a:r>
                    <a:rPr lang="en-US" sz="1400">
                      <a:solidFill>
                        <a:srgbClr val="D3D3D3">
                          <a:lumMod val="75000"/>
                        </a:srgbClr>
                      </a:solidFill>
                      <a:latin typeface="Calibri" panose="020F0502020204030204"/>
                    </a:rPr>
                    <a:t>4</a:t>
                  </a:r>
                  <a:endParaRPr kumimoji="0" lang="en-US" sz="1400" b="0" i="0" u="none" strike="noStrike" kern="1200" cap="none" spc="0" normalizeH="0" baseline="0" noProof="0">
                    <a:ln>
                      <a:noFill/>
                    </a:ln>
                    <a:solidFill>
                      <a:srgbClr val="D3D3D3">
                        <a:lumMod val="75000"/>
                      </a:srgb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1F01607-852E-D720-4F8D-224368DF9A61}"/>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Our Understanding of the Problem</a:t>
                  </a:r>
                </a:p>
              </p:txBody>
            </p:sp>
            <p:cxnSp>
              <p:nvCxnSpPr>
                <p:cNvPr id="11" name="Straight Connector 10">
                  <a:extLst>
                    <a:ext uri="{FF2B5EF4-FFF2-40B4-BE49-F238E27FC236}">
                      <a16:creationId xmlns:a16="http://schemas.microsoft.com/office/drawing/2014/main" id="{DB761AEB-E574-1882-731C-EBA822E9237D}"/>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4EB63B0D-E505-1FC3-E594-12B412FC8134}"/>
                  </a:ext>
                </a:extLst>
              </p:cNvPr>
              <p:cNvGrpSpPr/>
              <p:nvPr/>
            </p:nvGrpSpPr>
            <p:grpSpPr>
              <a:xfrm>
                <a:off x="838200" y="4007650"/>
                <a:ext cx="2561427" cy="576522"/>
                <a:chOff x="6335607" y="1839096"/>
                <a:chExt cx="2561427" cy="576522"/>
              </a:xfrm>
            </p:grpSpPr>
            <p:sp>
              <p:nvSpPr>
                <p:cNvPr id="13" name="TextBox 12">
                  <a:extLst>
                    <a:ext uri="{FF2B5EF4-FFF2-40B4-BE49-F238E27FC236}">
                      <a16:creationId xmlns:a16="http://schemas.microsoft.com/office/drawing/2014/main" id="{31C0DB67-6CB0-3130-3D5C-50E4CA59B7BA}"/>
                    </a:ext>
                  </a:extLst>
                </p:cNvPr>
                <p:cNvSpPr txBox="1"/>
                <p:nvPr/>
              </p:nvSpPr>
              <p:spPr>
                <a:xfrm>
                  <a:off x="6335607" y="1889691"/>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35</a:t>
                  </a:r>
                </a:p>
              </p:txBody>
            </p:sp>
            <p:sp>
              <p:nvSpPr>
                <p:cNvPr id="14" name="TextBox 13">
                  <a:extLst>
                    <a:ext uri="{FF2B5EF4-FFF2-40B4-BE49-F238E27FC236}">
                      <a16:creationId xmlns:a16="http://schemas.microsoft.com/office/drawing/2014/main" id="{A966CF82-9737-B88C-D656-C9717BB4B219}"/>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noProof="1">
                      <a:solidFill>
                        <a:prstClr val="black"/>
                      </a:solidFill>
                      <a:latin typeface="Calibri" panose="020F0502020204030204"/>
                    </a:rPr>
                    <a:t>Proposed Implementation Plan</a:t>
                  </a:r>
                  <a:endParaRPr kumimoji="0" lang="en-US" sz="1200" b="0" i="0" u="none" strike="noStrike" kern="1200" cap="none" spc="0" normalizeH="0" baseline="0" noProof="1">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9156BC3E-F77F-DEDF-648A-6D2327C213DC}"/>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10CDABA3-9845-8F97-C434-01BF20E8F31E}"/>
                  </a:ext>
                </a:extLst>
              </p:cNvPr>
              <p:cNvGrpSpPr/>
              <p:nvPr/>
            </p:nvGrpSpPr>
            <p:grpSpPr>
              <a:xfrm>
                <a:off x="4156939" y="4007779"/>
                <a:ext cx="2561427" cy="576522"/>
                <a:chOff x="6335607" y="1839096"/>
                <a:chExt cx="2561427" cy="576522"/>
              </a:xfrm>
            </p:grpSpPr>
            <p:sp>
              <p:nvSpPr>
                <p:cNvPr id="17" name="TextBox 16">
                  <a:extLst>
                    <a:ext uri="{FF2B5EF4-FFF2-40B4-BE49-F238E27FC236}">
                      <a16:creationId xmlns:a16="http://schemas.microsoft.com/office/drawing/2014/main" id="{5A3C584B-506E-9A9F-77DB-F5B92F79D71C}"/>
                    </a:ext>
                  </a:extLst>
                </p:cNvPr>
                <p:cNvSpPr txBox="1"/>
                <p:nvPr/>
              </p:nvSpPr>
              <p:spPr>
                <a:xfrm>
                  <a:off x="6335607" y="1889691"/>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36</a:t>
                  </a:r>
                </a:p>
              </p:txBody>
            </p:sp>
            <p:sp>
              <p:nvSpPr>
                <p:cNvPr id="18" name="TextBox 17">
                  <a:extLst>
                    <a:ext uri="{FF2B5EF4-FFF2-40B4-BE49-F238E27FC236}">
                      <a16:creationId xmlns:a16="http://schemas.microsoft.com/office/drawing/2014/main" id="{E1862D01-7FF0-2C3A-08F9-5C86F392279C}"/>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Solution Architecture</a:t>
                  </a:r>
                </a:p>
              </p:txBody>
            </p:sp>
            <p:cxnSp>
              <p:nvCxnSpPr>
                <p:cNvPr id="19" name="Straight Connector 18">
                  <a:extLst>
                    <a:ext uri="{FF2B5EF4-FFF2-40B4-BE49-F238E27FC236}">
                      <a16:creationId xmlns:a16="http://schemas.microsoft.com/office/drawing/2014/main" id="{29006F86-16B5-0729-04E0-F291DCDC1C89}"/>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E578ACF8-C744-71E9-56AF-7E7DCBEC5A30}"/>
                  </a:ext>
                </a:extLst>
              </p:cNvPr>
              <p:cNvGrpSpPr/>
              <p:nvPr/>
            </p:nvGrpSpPr>
            <p:grpSpPr>
              <a:xfrm>
                <a:off x="838200" y="5758575"/>
                <a:ext cx="2561427" cy="576522"/>
                <a:chOff x="6335607" y="1839096"/>
                <a:chExt cx="2561427" cy="576522"/>
              </a:xfrm>
            </p:grpSpPr>
            <p:sp>
              <p:nvSpPr>
                <p:cNvPr id="21" name="TextBox 20">
                  <a:extLst>
                    <a:ext uri="{FF2B5EF4-FFF2-40B4-BE49-F238E27FC236}">
                      <a16:creationId xmlns:a16="http://schemas.microsoft.com/office/drawing/2014/main" id="{A2E0E563-E5AA-9C1F-C1A4-6772488EC525}"/>
                    </a:ext>
                  </a:extLst>
                </p:cNvPr>
                <p:cNvSpPr txBox="1"/>
                <p:nvPr/>
              </p:nvSpPr>
              <p:spPr>
                <a:xfrm>
                  <a:off x="6335607" y="1889691"/>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46</a:t>
                  </a:r>
                </a:p>
              </p:txBody>
            </p:sp>
            <p:sp>
              <p:nvSpPr>
                <p:cNvPr id="22" name="TextBox 21">
                  <a:extLst>
                    <a:ext uri="{FF2B5EF4-FFF2-40B4-BE49-F238E27FC236}">
                      <a16:creationId xmlns:a16="http://schemas.microsoft.com/office/drawing/2014/main" id="{3DADE73D-8672-63D9-D2BC-68BDF23DF831}"/>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Our Support Centre Overview</a:t>
                  </a:r>
                </a:p>
              </p:txBody>
            </p:sp>
            <p:cxnSp>
              <p:nvCxnSpPr>
                <p:cNvPr id="23" name="Straight Connector 22">
                  <a:extLst>
                    <a:ext uri="{FF2B5EF4-FFF2-40B4-BE49-F238E27FC236}">
                      <a16:creationId xmlns:a16="http://schemas.microsoft.com/office/drawing/2014/main" id="{B7F6E951-8A59-657C-22F7-ABDCD2FF2366}"/>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95B4FF77-B268-9059-C3CD-D042D18D3D46}"/>
                  </a:ext>
                </a:extLst>
              </p:cNvPr>
              <p:cNvGrpSpPr/>
              <p:nvPr/>
            </p:nvGrpSpPr>
            <p:grpSpPr>
              <a:xfrm>
                <a:off x="4156939" y="5758704"/>
                <a:ext cx="2561427" cy="576522"/>
                <a:chOff x="6335607" y="1839096"/>
                <a:chExt cx="2561427" cy="576522"/>
              </a:xfrm>
            </p:grpSpPr>
            <p:sp>
              <p:nvSpPr>
                <p:cNvPr id="25" name="TextBox 24">
                  <a:extLst>
                    <a:ext uri="{FF2B5EF4-FFF2-40B4-BE49-F238E27FC236}">
                      <a16:creationId xmlns:a16="http://schemas.microsoft.com/office/drawing/2014/main" id="{4EC7FF11-0ED6-C538-D5B8-77171321A453}"/>
                    </a:ext>
                  </a:extLst>
                </p:cNvPr>
                <p:cNvSpPr txBox="1"/>
                <p:nvPr/>
              </p:nvSpPr>
              <p:spPr>
                <a:xfrm>
                  <a:off x="6335607" y="1889691"/>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48</a:t>
                  </a:r>
                </a:p>
              </p:txBody>
            </p:sp>
            <p:sp>
              <p:nvSpPr>
                <p:cNvPr id="26" name="TextBox 25">
                  <a:extLst>
                    <a:ext uri="{FF2B5EF4-FFF2-40B4-BE49-F238E27FC236}">
                      <a16:creationId xmlns:a16="http://schemas.microsoft.com/office/drawing/2014/main" id="{B6241519-1717-8E82-291A-5BE9FE5CE188}"/>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noProof="1">
                      <a:solidFill>
                        <a:prstClr val="black"/>
                      </a:solidFill>
                      <a:latin typeface="Calibri" panose="020F0502020204030204"/>
                    </a:rPr>
                    <a:t>Next Steps</a:t>
                  </a:r>
                  <a:endParaRPr kumimoji="0" lang="en-US" sz="1200" b="0" i="0" u="none" strike="noStrike" kern="1200" cap="none" spc="0" normalizeH="0" baseline="0" noProof="1">
                    <a:ln>
                      <a:noFill/>
                    </a:ln>
                    <a:solidFill>
                      <a:prstClr val="black"/>
                    </a:solidFill>
                    <a:effectLst/>
                    <a:uLnTx/>
                    <a:uFillTx/>
                    <a:latin typeface="Calibri" panose="020F0502020204030204"/>
                    <a:ea typeface="+mn-ea"/>
                    <a:cs typeface="+mn-cs"/>
                  </a:endParaRPr>
                </a:p>
              </p:txBody>
            </p:sp>
            <p:cxnSp>
              <p:nvCxnSpPr>
                <p:cNvPr id="27" name="Straight Connector 26">
                  <a:extLst>
                    <a:ext uri="{FF2B5EF4-FFF2-40B4-BE49-F238E27FC236}">
                      <a16:creationId xmlns:a16="http://schemas.microsoft.com/office/drawing/2014/main" id="{7FB500FA-62A9-6DEC-9A64-5960E3461F32}"/>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AA63F4B0-AF44-DDF5-560C-CECC7D40F1CF}"/>
                  </a:ext>
                </a:extLst>
              </p:cNvPr>
              <p:cNvSpPr txBox="1"/>
              <p:nvPr/>
            </p:nvSpPr>
            <p:spPr>
              <a:xfrm>
                <a:off x="784165" y="3310692"/>
                <a:ext cx="991276" cy="552740"/>
              </a:xfrm>
              <a:custGeom>
                <a:avLst/>
                <a:gdLst>
                  <a:gd name="connsiteX0" fmla="*/ 880019 w 1178792"/>
                  <a:gd name="connsiteY0" fmla="*/ 167805 h 657300"/>
                  <a:gd name="connsiteX1" fmla="*/ 880019 w 1178792"/>
                  <a:gd name="connsiteY1" fmla="*/ 174353 h 657300"/>
                  <a:gd name="connsiteX2" fmla="*/ 819856 w 1178792"/>
                  <a:gd name="connsiteY2" fmla="*/ 273808 h 657300"/>
                  <a:gd name="connsiteX3" fmla="*/ 758055 w 1178792"/>
                  <a:gd name="connsiteY3" fmla="*/ 377355 h 657300"/>
                  <a:gd name="connsiteX4" fmla="*/ 758055 w 1178792"/>
                  <a:gd name="connsiteY4" fmla="*/ 387996 h 657300"/>
                  <a:gd name="connsiteX5" fmla="*/ 762761 w 1178792"/>
                  <a:gd name="connsiteY5" fmla="*/ 394135 h 657300"/>
                  <a:gd name="connsiteX6" fmla="*/ 767877 w 1178792"/>
                  <a:gd name="connsiteY6" fmla="*/ 398637 h 657300"/>
                  <a:gd name="connsiteX7" fmla="*/ 826199 w 1178792"/>
                  <a:gd name="connsiteY7" fmla="*/ 397410 h 657300"/>
                  <a:gd name="connsiteX8" fmla="*/ 884112 w 1178792"/>
                  <a:gd name="connsiteY8" fmla="*/ 396182 h 657300"/>
                  <a:gd name="connsiteX9" fmla="*/ 896391 w 1178792"/>
                  <a:gd name="connsiteY9" fmla="*/ 381448 h 657300"/>
                  <a:gd name="connsiteX10" fmla="*/ 896391 w 1178792"/>
                  <a:gd name="connsiteY10" fmla="*/ 365895 h 657300"/>
                  <a:gd name="connsiteX11" fmla="*/ 895572 w 1178792"/>
                  <a:gd name="connsiteY11" fmla="*/ 351161 h 657300"/>
                  <a:gd name="connsiteX12" fmla="*/ 895572 w 1178792"/>
                  <a:gd name="connsiteY12" fmla="*/ 341339 h 657300"/>
                  <a:gd name="connsiteX13" fmla="*/ 896186 w 1178792"/>
                  <a:gd name="connsiteY13" fmla="*/ 315963 h 657300"/>
                  <a:gd name="connsiteX14" fmla="*/ 896391 w 1178792"/>
                  <a:gd name="connsiteY14" fmla="*/ 284858 h 657300"/>
                  <a:gd name="connsiteX15" fmla="*/ 880019 w 1178792"/>
                  <a:gd name="connsiteY15" fmla="*/ 167805 h 657300"/>
                  <a:gd name="connsiteX16" fmla="*/ 291405 w 1178792"/>
                  <a:gd name="connsiteY16" fmla="*/ 148159 h 657300"/>
                  <a:gd name="connsiteX17" fmla="*/ 271760 w 1178792"/>
                  <a:gd name="connsiteY17" fmla="*/ 151024 h 657300"/>
                  <a:gd name="connsiteX18" fmla="*/ 256003 w 1178792"/>
                  <a:gd name="connsiteY18" fmla="*/ 160642 h 657300"/>
                  <a:gd name="connsiteX19" fmla="*/ 243929 w 1178792"/>
                  <a:gd name="connsiteY19" fmla="*/ 174352 h 657300"/>
                  <a:gd name="connsiteX20" fmla="*/ 234925 w 1178792"/>
                  <a:gd name="connsiteY20" fmla="*/ 193179 h 657300"/>
                  <a:gd name="connsiteX21" fmla="*/ 228377 w 1178792"/>
                  <a:gd name="connsiteY21" fmla="*/ 214257 h 657300"/>
                  <a:gd name="connsiteX22" fmla="*/ 223875 w 1178792"/>
                  <a:gd name="connsiteY22" fmla="*/ 238814 h 657300"/>
                  <a:gd name="connsiteX23" fmla="*/ 221214 w 1178792"/>
                  <a:gd name="connsiteY23" fmla="*/ 263779 h 657300"/>
                  <a:gd name="connsiteX24" fmla="*/ 219782 w 1178792"/>
                  <a:gd name="connsiteY24" fmla="*/ 290792 h 657300"/>
                  <a:gd name="connsiteX25" fmla="*/ 219372 w 1178792"/>
                  <a:gd name="connsiteY25" fmla="*/ 316372 h 657300"/>
                  <a:gd name="connsiteX26" fmla="*/ 219372 w 1178792"/>
                  <a:gd name="connsiteY26" fmla="*/ 341747 h 657300"/>
                  <a:gd name="connsiteX27" fmla="*/ 219372 w 1178792"/>
                  <a:gd name="connsiteY27" fmla="*/ 349523 h 657300"/>
                  <a:gd name="connsiteX28" fmla="*/ 219782 w 1178792"/>
                  <a:gd name="connsiteY28" fmla="*/ 377763 h 657300"/>
                  <a:gd name="connsiteX29" fmla="*/ 221623 w 1178792"/>
                  <a:gd name="connsiteY29" fmla="*/ 407845 h 657300"/>
                  <a:gd name="connsiteX30" fmla="*/ 225512 w 1178792"/>
                  <a:gd name="connsiteY30" fmla="*/ 438950 h 657300"/>
                  <a:gd name="connsiteX31" fmla="*/ 232674 w 1178792"/>
                  <a:gd name="connsiteY31" fmla="*/ 466576 h 657300"/>
                  <a:gd name="connsiteX32" fmla="*/ 243929 w 1178792"/>
                  <a:gd name="connsiteY32" fmla="*/ 490315 h 657300"/>
                  <a:gd name="connsiteX33" fmla="*/ 260505 w 1178792"/>
                  <a:gd name="connsiteY33" fmla="*/ 505662 h 657300"/>
                  <a:gd name="connsiteX34" fmla="*/ 283220 w 1178792"/>
                  <a:gd name="connsiteY34" fmla="*/ 511597 h 657300"/>
                  <a:gd name="connsiteX35" fmla="*/ 308800 w 1178792"/>
                  <a:gd name="connsiteY35" fmla="*/ 505458 h 657300"/>
                  <a:gd name="connsiteX36" fmla="*/ 327217 w 1178792"/>
                  <a:gd name="connsiteY36" fmla="*/ 490724 h 657300"/>
                  <a:gd name="connsiteX37" fmla="*/ 339291 w 1178792"/>
                  <a:gd name="connsiteY37" fmla="*/ 466986 h 657300"/>
                  <a:gd name="connsiteX38" fmla="*/ 346658 w 1178792"/>
                  <a:gd name="connsiteY38" fmla="*/ 440178 h 657300"/>
                  <a:gd name="connsiteX39" fmla="*/ 350341 w 1178792"/>
                  <a:gd name="connsiteY39" fmla="*/ 409482 h 657300"/>
                  <a:gd name="connsiteX40" fmla="*/ 351774 w 1178792"/>
                  <a:gd name="connsiteY40" fmla="*/ 380628 h 657300"/>
                  <a:gd name="connsiteX41" fmla="*/ 351978 w 1178792"/>
                  <a:gd name="connsiteY41" fmla="*/ 353207 h 657300"/>
                  <a:gd name="connsiteX42" fmla="*/ 351978 w 1178792"/>
                  <a:gd name="connsiteY42" fmla="*/ 347886 h 657300"/>
                  <a:gd name="connsiteX43" fmla="*/ 353615 w 1178792"/>
                  <a:gd name="connsiteY43" fmla="*/ 304503 h 657300"/>
                  <a:gd name="connsiteX44" fmla="*/ 353820 w 1178792"/>
                  <a:gd name="connsiteY44" fmla="*/ 288132 h 657300"/>
                  <a:gd name="connsiteX45" fmla="*/ 354025 w 1178792"/>
                  <a:gd name="connsiteY45" fmla="*/ 265007 h 657300"/>
                  <a:gd name="connsiteX46" fmla="*/ 352797 w 1178792"/>
                  <a:gd name="connsiteY46" fmla="*/ 239837 h 657300"/>
                  <a:gd name="connsiteX47" fmla="*/ 349523 w 1178792"/>
                  <a:gd name="connsiteY47" fmla="*/ 212824 h 657300"/>
                  <a:gd name="connsiteX48" fmla="*/ 342770 w 1178792"/>
                  <a:gd name="connsiteY48" fmla="*/ 188677 h 657300"/>
                  <a:gd name="connsiteX49" fmla="*/ 331514 w 1178792"/>
                  <a:gd name="connsiteY49" fmla="*/ 167190 h 657300"/>
                  <a:gd name="connsiteX50" fmla="*/ 314734 w 1178792"/>
                  <a:gd name="connsiteY50" fmla="*/ 153684 h 657300"/>
                  <a:gd name="connsiteX51" fmla="*/ 291405 w 1178792"/>
                  <a:gd name="connsiteY51" fmla="*/ 148159 h 657300"/>
                  <a:gd name="connsiteX52" fmla="*/ 799801 w 1178792"/>
                  <a:gd name="connsiteY52" fmla="*/ 22102 h 657300"/>
                  <a:gd name="connsiteX53" fmla="*/ 1107578 w 1178792"/>
                  <a:gd name="connsiteY53" fmla="*/ 22102 h 657300"/>
                  <a:gd name="connsiteX54" fmla="*/ 1107578 w 1178792"/>
                  <a:gd name="connsiteY54" fmla="*/ 48296 h 657300"/>
                  <a:gd name="connsiteX55" fmla="*/ 1105941 w 1178792"/>
                  <a:gd name="connsiteY55" fmla="*/ 161666 h 657300"/>
                  <a:gd name="connsiteX56" fmla="*/ 1104303 w 1178792"/>
                  <a:gd name="connsiteY56" fmla="*/ 275036 h 657300"/>
                  <a:gd name="connsiteX57" fmla="*/ 1104303 w 1178792"/>
                  <a:gd name="connsiteY57" fmla="*/ 293862 h 657300"/>
                  <a:gd name="connsiteX58" fmla="*/ 1105122 w 1178792"/>
                  <a:gd name="connsiteY58" fmla="*/ 313508 h 657300"/>
                  <a:gd name="connsiteX59" fmla="*/ 1105122 w 1178792"/>
                  <a:gd name="connsiteY59" fmla="*/ 316782 h 657300"/>
                  <a:gd name="connsiteX60" fmla="*/ 1104303 w 1178792"/>
                  <a:gd name="connsiteY60" fmla="*/ 329879 h 657300"/>
                  <a:gd name="connsiteX61" fmla="*/ 1104303 w 1178792"/>
                  <a:gd name="connsiteY61" fmla="*/ 344613 h 657300"/>
                  <a:gd name="connsiteX62" fmla="*/ 1122312 w 1178792"/>
                  <a:gd name="connsiteY62" fmla="*/ 374899 h 657300"/>
                  <a:gd name="connsiteX63" fmla="*/ 1139501 w 1178792"/>
                  <a:gd name="connsiteY63" fmla="*/ 374490 h 657300"/>
                  <a:gd name="connsiteX64" fmla="*/ 1156691 w 1178792"/>
                  <a:gd name="connsiteY64" fmla="*/ 374081 h 657300"/>
                  <a:gd name="connsiteX65" fmla="*/ 1174085 w 1178792"/>
                  <a:gd name="connsiteY65" fmla="*/ 378378 h 657300"/>
                  <a:gd name="connsiteX66" fmla="*/ 1177973 w 1178792"/>
                  <a:gd name="connsiteY66" fmla="*/ 398637 h 657300"/>
                  <a:gd name="connsiteX67" fmla="*/ 1176336 w 1178792"/>
                  <a:gd name="connsiteY67" fmla="*/ 400275 h 657300"/>
                  <a:gd name="connsiteX68" fmla="*/ 1176950 w 1178792"/>
                  <a:gd name="connsiteY68" fmla="*/ 417669 h 657300"/>
                  <a:gd name="connsiteX69" fmla="*/ 1178178 w 1178792"/>
                  <a:gd name="connsiteY69" fmla="*/ 455322 h 657300"/>
                  <a:gd name="connsiteX70" fmla="*/ 1178792 w 1178792"/>
                  <a:gd name="connsiteY70" fmla="*/ 496864 h 657300"/>
                  <a:gd name="connsiteX71" fmla="*/ 1176132 w 1178792"/>
                  <a:gd name="connsiteY71" fmla="*/ 536769 h 657300"/>
                  <a:gd name="connsiteX72" fmla="*/ 1164877 w 1178792"/>
                  <a:gd name="connsiteY72" fmla="*/ 547614 h 657300"/>
                  <a:gd name="connsiteX73" fmla="*/ 1107578 w 1178792"/>
                  <a:gd name="connsiteY73" fmla="*/ 547614 h 657300"/>
                  <a:gd name="connsiteX74" fmla="*/ 1109215 w 1178792"/>
                  <a:gd name="connsiteY74" fmla="*/ 621284 h 657300"/>
                  <a:gd name="connsiteX75" fmla="*/ 1108601 w 1178792"/>
                  <a:gd name="connsiteY75" fmla="*/ 634177 h 657300"/>
                  <a:gd name="connsiteX76" fmla="*/ 1104303 w 1178792"/>
                  <a:gd name="connsiteY76" fmla="*/ 641544 h 657300"/>
                  <a:gd name="connsiteX77" fmla="*/ 1092844 w 1178792"/>
                  <a:gd name="connsiteY77" fmla="*/ 645841 h 657300"/>
                  <a:gd name="connsiteX78" fmla="*/ 1013444 w 1178792"/>
                  <a:gd name="connsiteY78" fmla="*/ 645841 h 657300"/>
                  <a:gd name="connsiteX79" fmla="*/ 880838 w 1178792"/>
                  <a:gd name="connsiteY79" fmla="*/ 648297 h 657300"/>
                  <a:gd name="connsiteX80" fmla="*/ 866923 w 1178792"/>
                  <a:gd name="connsiteY80" fmla="*/ 631107 h 657300"/>
                  <a:gd name="connsiteX81" fmla="*/ 866923 w 1178792"/>
                  <a:gd name="connsiteY81" fmla="*/ 541885 h 657300"/>
                  <a:gd name="connsiteX82" fmla="*/ 614808 w 1178792"/>
                  <a:gd name="connsiteY82" fmla="*/ 541885 h 657300"/>
                  <a:gd name="connsiteX83" fmla="*/ 608464 w 1178792"/>
                  <a:gd name="connsiteY83" fmla="*/ 542294 h 657300"/>
                  <a:gd name="connsiteX84" fmla="*/ 602529 w 1178792"/>
                  <a:gd name="connsiteY84" fmla="*/ 542498 h 657300"/>
                  <a:gd name="connsiteX85" fmla="*/ 597618 w 1178792"/>
                  <a:gd name="connsiteY85" fmla="*/ 541680 h 657300"/>
                  <a:gd name="connsiteX86" fmla="*/ 592707 w 1178792"/>
                  <a:gd name="connsiteY86" fmla="*/ 538815 h 657300"/>
                  <a:gd name="connsiteX87" fmla="*/ 588614 w 1178792"/>
                  <a:gd name="connsiteY87" fmla="*/ 532880 h 657300"/>
                  <a:gd name="connsiteX88" fmla="*/ 588614 w 1178792"/>
                  <a:gd name="connsiteY88" fmla="*/ 410097 h 657300"/>
                  <a:gd name="connsiteX89" fmla="*/ 591684 w 1178792"/>
                  <a:gd name="connsiteY89" fmla="*/ 386359 h 657300"/>
                  <a:gd name="connsiteX90" fmla="*/ 598027 w 1178792"/>
                  <a:gd name="connsiteY90" fmla="*/ 363849 h 657300"/>
                  <a:gd name="connsiteX91" fmla="*/ 609078 w 1178792"/>
                  <a:gd name="connsiteY91" fmla="*/ 339088 h 657300"/>
                  <a:gd name="connsiteX92" fmla="*/ 620333 w 1178792"/>
                  <a:gd name="connsiteY92" fmla="*/ 317600 h 657300"/>
                  <a:gd name="connsiteX93" fmla="*/ 633634 w 1178792"/>
                  <a:gd name="connsiteY93" fmla="*/ 294886 h 657300"/>
                  <a:gd name="connsiteX94" fmla="*/ 644276 w 1178792"/>
                  <a:gd name="connsiteY94" fmla="*/ 276673 h 657300"/>
                  <a:gd name="connsiteX95" fmla="*/ 719787 w 1178792"/>
                  <a:gd name="connsiteY95" fmla="*/ 152662 h 657300"/>
                  <a:gd name="connsiteX96" fmla="*/ 799801 w 1178792"/>
                  <a:gd name="connsiteY96" fmla="*/ 22102 h 657300"/>
                  <a:gd name="connsiteX97" fmla="*/ 286494 w 1178792"/>
                  <a:gd name="connsiteY97" fmla="*/ 0 h 657300"/>
                  <a:gd name="connsiteX98" fmla="*/ 377149 w 1178792"/>
                  <a:gd name="connsiteY98" fmla="*/ 11255 h 657300"/>
                  <a:gd name="connsiteX99" fmla="*/ 447340 w 1178792"/>
                  <a:gd name="connsiteY99" fmla="*/ 41337 h 657300"/>
                  <a:gd name="connsiteX100" fmla="*/ 498909 w 1178792"/>
                  <a:gd name="connsiteY100" fmla="*/ 87381 h 657300"/>
                  <a:gd name="connsiteX101" fmla="*/ 534925 w 1178792"/>
                  <a:gd name="connsiteY101" fmla="*/ 144066 h 657300"/>
                  <a:gd name="connsiteX102" fmla="*/ 557026 w 1178792"/>
                  <a:gd name="connsiteY102" fmla="*/ 208118 h 657300"/>
                  <a:gd name="connsiteX103" fmla="*/ 568895 w 1178792"/>
                  <a:gd name="connsiteY103" fmla="*/ 274216 h 657300"/>
                  <a:gd name="connsiteX104" fmla="*/ 572169 w 1178792"/>
                  <a:gd name="connsiteY104" fmla="*/ 339700 h 657300"/>
                  <a:gd name="connsiteX105" fmla="*/ 549864 w 1178792"/>
                  <a:gd name="connsiteY105" fmla="*/ 478446 h 657300"/>
                  <a:gd name="connsiteX106" fmla="*/ 488063 w 1178792"/>
                  <a:gd name="connsiteY106" fmla="*/ 578309 h 657300"/>
                  <a:gd name="connsiteX107" fmla="*/ 396180 w 1178792"/>
                  <a:gd name="connsiteY107" fmla="*/ 637245 h 657300"/>
                  <a:gd name="connsiteX108" fmla="*/ 281583 w 1178792"/>
                  <a:gd name="connsiteY108" fmla="*/ 657300 h 657300"/>
                  <a:gd name="connsiteX109" fmla="*/ 197476 w 1178792"/>
                  <a:gd name="connsiteY109" fmla="*/ 648500 h 657300"/>
                  <a:gd name="connsiteX110" fmla="*/ 131787 w 1178792"/>
                  <a:gd name="connsiteY110" fmla="*/ 624558 h 657300"/>
                  <a:gd name="connsiteX111" fmla="*/ 82469 w 1178792"/>
                  <a:gd name="connsiteY111" fmla="*/ 586085 h 657300"/>
                  <a:gd name="connsiteX112" fmla="*/ 46862 w 1178792"/>
                  <a:gd name="connsiteY112" fmla="*/ 536358 h 657300"/>
                  <a:gd name="connsiteX113" fmla="*/ 22919 w 1178792"/>
                  <a:gd name="connsiteY113" fmla="*/ 475785 h 657300"/>
                  <a:gd name="connsiteX114" fmla="*/ 7981 w 1178792"/>
                  <a:gd name="connsiteY114" fmla="*/ 408050 h 657300"/>
                  <a:gd name="connsiteX115" fmla="*/ 0 w 1178792"/>
                  <a:gd name="connsiteY115" fmla="*/ 333152 h 657300"/>
                  <a:gd name="connsiteX116" fmla="*/ 286494 w 1178792"/>
                  <a:gd name="connsiteY116" fmla="*/ 0 h 6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178792" h="657300">
                    <a:moveTo>
                      <a:pt x="880019" y="167805"/>
                    </a:moveTo>
                    <a:lnTo>
                      <a:pt x="880019" y="174353"/>
                    </a:lnTo>
                    <a:cubicBezTo>
                      <a:pt x="868014" y="195363"/>
                      <a:pt x="847959" y="228514"/>
                      <a:pt x="819856" y="273808"/>
                    </a:cubicBezTo>
                    <a:cubicBezTo>
                      <a:pt x="791752" y="319101"/>
                      <a:pt x="771152" y="353617"/>
                      <a:pt x="758055" y="377355"/>
                    </a:cubicBezTo>
                    <a:lnTo>
                      <a:pt x="758055" y="387996"/>
                    </a:lnTo>
                    <a:cubicBezTo>
                      <a:pt x="758328" y="389633"/>
                      <a:pt x="759897" y="391680"/>
                      <a:pt x="762761" y="394135"/>
                    </a:cubicBezTo>
                    <a:cubicBezTo>
                      <a:pt x="765626" y="396591"/>
                      <a:pt x="767332" y="398092"/>
                      <a:pt x="767877" y="398637"/>
                    </a:cubicBezTo>
                    <a:cubicBezTo>
                      <a:pt x="780156" y="398637"/>
                      <a:pt x="799596" y="398228"/>
                      <a:pt x="826199" y="397410"/>
                    </a:cubicBezTo>
                    <a:cubicBezTo>
                      <a:pt x="852803" y="396591"/>
                      <a:pt x="872107" y="396182"/>
                      <a:pt x="884112" y="396182"/>
                    </a:cubicBezTo>
                    <a:cubicBezTo>
                      <a:pt x="889842" y="393726"/>
                      <a:pt x="893935" y="388815"/>
                      <a:pt x="896391" y="381448"/>
                    </a:cubicBezTo>
                    <a:lnTo>
                      <a:pt x="896391" y="365895"/>
                    </a:lnTo>
                    <a:cubicBezTo>
                      <a:pt x="895845" y="363167"/>
                      <a:pt x="895572" y="358255"/>
                      <a:pt x="895572" y="351161"/>
                    </a:cubicBezTo>
                    <a:lnTo>
                      <a:pt x="895572" y="341339"/>
                    </a:lnTo>
                    <a:cubicBezTo>
                      <a:pt x="895845" y="335063"/>
                      <a:pt x="896049" y="326605"/>
                      <a:pt x="896186" y="315963"/>
                    </a:cubicBezTo>
                    <a:cubicBezTo>
                      <a:pt x="896322" y="305322"/>
                      <a:pt x="896391" y="294954"/>
                      <a:pt x="896391" y="284858"/>
                    </a:cubicBezTo>
                    <a:cubicBezTo>
                      <a:pt x="896391" y="206823"/>
                      <a:pt x="890933" y="167805"/>
                      <a:pt x="880019" y="167805"/>
                    </a:cubicBezTo>
                    <a:close/>
                    <a:moveTo>
                      <a:pt x="291405" y="148159"/>
                    </a:moveTo>
                    <a:cubicBezTo>
                      <a:pt x="284311" y="148159"/>
                      <a:pt x="277763" y="149114"/>
                      <a:pt x="271760" y="151024"/>
                    </a:cubicBezTo>
                    <a:cubicBezTo>
                      <a:pt x="265757" y="152934"/>
                      <a:pt x="260505" y="156140"/>
                      <a:pt x="256003" y="160642"/>
                    </a:cubicBezTo>
                    <a:cubicBezTo>
                      <a:pt x="251501" y="165144"/>
                      <a:pt x="247476" y="169714"/>
                      <a:pt x="243929" y="174352"/>
                    </a:cubicBezTo>
                    <a:cubicBezTo>
                      <a:pt x="240382" y="178991"/>
                      <a:pt x="237381" y="185266"/>
                      <a:pt x="234925" y="193179"/>
                    </a:cubicBezTo>
                    <a:cubicBezTo>
                      <a:pt x="232469" y="201092"/>
                      <a:pt x="230287" y="208118"/>
                      <a:pt x="228377" y="214257"/>
                    </a:cubicBezTo>
                    <a:cubicBezTo>
                      <a:pt x="226467" y="220396"/>
                      <a:pt x="224966" y="228582"/>
                      <a:pt x="223875" y="238814"/>
                    </a:cubicBezTo>
                    <a:cubicBezTo>
                      <a:pt x="222783" y="249046"/>
                      <a:pt x="221896" y="257367"/>
                      <a:pt x="221214" y="263779"/>
                    </a:cubicBezTo>
                    <a:cubicBezTo>
                      <a:pt x="220532" y="270192"/>
                      <a:pt x="220055" y="279196"/>
                      <a:pt x="219782" y="290792"/>
                    </a:cubicBezTo>
                    <a:cubicBezTo>
                      <a:pt x="219509" y="302388"/>
                      <a:pt x="219372" y="310915"/>
                      <a:pt x="219372" y="316372"/>
                    </a:cubicBezTo>
                    <a:cubicBezTo>
                      <a:pt x="219372" y="321829"/>
                      <a:pt x="219372" y="330287"/>
                      <a:pt x="219372" y="341747"/>
                    </a:cubicBezTo>
                    <a:cubicBezTo>
                      <a:pt x="219372" y="345294"/>
                      <a:pt x="219372" y="347886"/>
                      <a:pt x="219372" y="349523"/>
                    </a:cubicBezTo>
                    <a:cubicBezTo>
                      <a:pt x="219372" y="360164"/>
                      <a:pt x="219509" y="369578"/>
                      <a:pt x="219782" y="377763"/>
                    </a:cubicBezTo>
                    <a:cubicBezTo>
                      <a:pt x="220055" y="385949"/>
                      <a:pt x="220668" y="395976"/>
                      <a:pt x="221623" y="407845"/>
                    </a:cubicBezTo>
                    <a:cubicBezTo>
                      <a:pt x="222578" y="419714"/>
                      <a:pt x="223875" y="430083"/>
                      <a:pt x="225512" y="438950"/>
                    </a:cubicBezTo>
                    <a:cubicBezTo>
                      <a:pt x="227149" y="447818"/>
                      <a:pt x="229536" y="457027"/>
                      <a:pt x="232674" y="466576"/>
                    </a:cubicBezTo>
                    <a:cubicBezTo>
                      <a:pt x="235812" y="476126"/>
                      <a:pt x="239563" y="484039"/>
                      <a:pt x="243929" y="490315"/>
                    </a:cubicBezTo>
                    <a:cubicBezTo>
                      <a:pt x="248295" y="496590"/>
                      <a:pt x="253820" y="501706"/>
                      <a:pt x="260505" y="505662"/>
                    </a:cubicBezTo>
                    <a:cubicBezTo>
                      <a:pt x="267190" y="509619"/>
                      <a:pt x="274761" y="511597"/>
                      <a:pt x="283220" y="511597"/>
                    </a:cubicBezTo>
                    <a:cubicBezTo>
                      <a:pt x="292770" y="511597"/>
                      <a:pt x="301296" y="509551"/>
                      <a:pt x="308800" y="505458"/>
                    </a:cubicBezTo>
                    <a:cubicBezTo>
                      <a:pt x="316303" y="501365"/>
                      <a:pt x="322442" y="496454"/>
                      <a:pt x="327217" y="490724"/>
                    </a:cubicBezTo>
                    <a:cubicBezTo>
                      <a:pt x="331992" y="484994"/>
                      <a:pt x="336016" y="477081"/>
                      <a:pt x="339291" y="466986"/>
                    </a:cubicBezTo>
                    <a:cubicBezTo>
                      <a:pt x="342565" y="456890"/>
                      <a:pt x="345021" y="447954"/>
                      <a:pt x="346658" y="440178"/>
                    </a:cubicBezTo>
                    <a:cubicBezTo>
                      <a:pt x="348295" y="432402"/>
                      <a:pt x="349523" y="422170"/>
                      <a:pt x="350341" y="409482"/>
                    </a:cubicBezTo>
                    <a:cubicBezTo>
                      <a:pt x="351160" y="396795"/>
                      <a:pt x="351637" y="387177"/>
                      <a:pt x="351774" y="380628"/>
                    </a:cubicBezTo>
                    <a:cubicBezTo>
                      <a:pt x="351910" y="374080"/>
                      <a:pt x="351978" y="364939"/>
                      <a:pt x="351978" y="353207"/>
                    </a:cubicBezTo>
                    <a:cubicBezTo>
                      <a:pt x="351978" y="350751"/>
                      <a:pt x="351978" y="348977"/>
                      <a:pt x="351978" y="347886"/>
                    </a:cubicBezTo>
                    <a:cubicBezTo>
                      <a:pt x="353070" y="338609"/>
                      <a:pt x="353615" y="324148"/>
                      <a:pt x="353615" y="304503"/>
                    </a:cubicBezTo>
                    <a:cubicBezTo>
                      <a:pt x="353615" y="303138"/>
                      <a:pt x="353684" y="297681"/>
                      <a:pt x="353820" y="288132"/>
                    </a:cubicBezTo>
                    <a:cubicBezTo>
                      <a:pt x="353956" y="278582"/>
                      <a:pt x="354025" y="270874"/>
                      <a:pt x="354025" y="265007"/>
                    </a:cubicBezTo>
                    <a:cubicBezTo>
                      <a:pt x="354025" y="259141"/>
                      <a:pt x="353615" y="250751"/>
                      <a:pt x="352797" y="239837"/>
                    </a:cubicBezTo>
                    <a:cubicBezTo>
                      <a:pt x="351978" y="228923"/>
                      <a:pt x="350887" y="219919"/>
                      <a:pt x="349523" y="212824"/>
                    </a:cubicBezTo>
                    <a:cubicBezTo>
                      <a:pt x="348158" y="205730"/>
                      <a:pt x="345907" y="197681"/>
                      <a:pt x="342770" y="188677"/>
                    </a:cubicBezTo>
                    <a:cubicBezTo>
                      <a:pt x="339632" y="179673"/>
                      <a:pt x="335880" y="172511"/>
                      <a:pt x="331514" y="167190"/>
                    </a:cubicBezTo>
                    <a:cubicBezTo>
                      <a:pt x="327149" y="161869"/>
                      <a:pt x="321555" y="157367"/>
                      <a:pt x="314734" y="153684"/>
                    </a:cubicBezTo>
                    <a:cubicBezTo>
                      <a:pt x="307913" y="150000"/>
                      <a:pt x="300136" y="148159"/>
                      <a:pt x="291405" y="148159"/>
                    </a:cubicBezTo>
                    <a:close/>
                    <a:moveTo>
                      <a:pt x="799801" y="22102"/>
                    </a:moveTo>
                    <a:lnTo>
                      <a:pt x="1107578" y="22102"/>
                    </a:lnTo>
                    <a:lnTo>
                      <a:pt x="1107578" y="48296"/>
                    </a:lnTo>
                    <a:cubicBezTo>
                      <a:pt x="1107578" y="73671"/>
                      <a:pt x="1107032" y="111461"/>
                      <a:pt x="1105941" y="161666"/>
                    </a:cubicBezTo>
                    <a:cubicBezTo>
                      <a:pt x="1104849" y="211870"/>
                      <a:pt x="1104303" y="249660"/>
                      <a:pt x="1104303" y="275036"/>
                    </a:cubicBezTo>
                    <a:lnTo>
                      <a:pt x="1104303" y="293862"/>
                    </a:lnTo>
                    <a:cubicBezTo>
                      <a:pt x="1104303" y="302594"/>
                      <a:pt x="1104576" y="309142"/>
                      <a:pt x="1105122" y="313508"/>
                    </a:cubicBezTo>
                    <a:lnTo>
                      <a:pt x="1105122" y="316782"/>
                    </a:lnTo>
                    <a:cubicBezTo>
                      <a:pt x="1105122" y="322785"/>
                      <a:pt x="1104849" y="327150"/>
                      <a:pt x="1104303" y="329879"/>
                    </a:cubicBezTo>
                    <a:lnTo>
                      <a:pt x="1104303" y="344613"/>
                    </a:lnTo>
                    <a:cubicBezTo>
                      <a:pt x="1104303" y="364804"/>
                      <a:pt x="1110306" y="374899"/>
                      <a:pt x="1122312" y="374899"/>
                    </a:cubicBezTo>
                    <a:cubicBezTo>
                      <a:pt x="1125859" y="374899"/>
                      <a:pt x="1131589" y="374763"/>
                      <a:pt x="1139501" y="374490"/>
                    </a:cubicBezTo>
                    <a:cubicBezTo>
                      <a:pt x="1147414" y="374217"/>
                      <a:pt x="1153144" y="374081"/>
                      <a:pt x="1156691" y="374081"/>
                    </a:cubicBezTo>
                    <a:cubicBezTo>
                      <a:pt x="1165695" y="374081"/>
                      <a:pt x="1171493" y="375513"/>
                      <a:pt x="1174085" y="378378"/>
                    </a:cubicBezTo>
                    <a:cubicBezTo>
                      <a:pt x="1176677" y="381243"/>
                      <a:pt x="1177973" y="387996"/>
                      <a:pt x="1177973" y="398637"/>
                    </a:cubicBezTo>
                    <a:cubicBezTo>
                      <a:pt x="1177973" y="399729"/>
                      <a:pt x="1177428" y="400275"/>
                      <a:pt x="1176336" y="400275"/>
                    </a:cubicBezTo>
                    <a:cubicBezTo>
                      <a:pt x="1176336" y="401639"/>
                      <a:pt x="1176541" y="407437"/>
                      <a:pt x="1176950" y="417669"/>
                    </a:cubicBezTo>
                    <a:cubicBezTo>
                      <a:pt x="1177359" y="427901"/>
                      <a:pt x="1177769" y="440452"/>
                      <a:pt x="1178178" y="455322"/>
                    </a:cubicBezTo>
                    <a:cubicBezTo>
                      <a:pt x="1178587" y="470193"/>
                      <a:pt x="1178792" y="484040"/>
                      <a:pt x="1178792" y="496864"/>
                    </a:cubicBezTo>
                    <a:cubicBezTo>
                      <a:pt x="1178792" y="516236"/>
                      <a:pt x="1177905" y="529538"/>
                      <a:pt x="1176132" y="536769"/>
                    </a:cubicBezTo>
                    <a:cubicBezTo>
                      <a:pt x="1174358" y="543999"/>
                      <a:pt x="1170606" y="547614"/>
                      <a:pt x="1164877" y="547614"/>
                    </a:cubicBezTo>
                    <a:lnTo>
                      <a:pt x="1107578" y="547614"/>
                    </a:lnTo>
                    <a:cubicBezTo>
                      <a:pt x="1108669" y="581448"/>
                      <a:pt x="1109215" y="606005"/>
                      <a:pt x="1109215" y="621284"/>
                    </a:cubicBezTo>
                    <a:cubicBezTo>
                      <a:pt x="1109215" y="627287"/>
                      <a:pt x="1109010" y="631584"/>
                      <a:pt x="1108601" y="634177"/>
                    </a:cubicBezTo>
                    <a:cubicBezTo>
                      <a:pt x="1108192" y="636769"/>
                      <a:pt x="1106759" y="639224"/>
                      <a:pt x="1104303" y="641544"/>
                    </a:cubicBezTo>
                    <a:cubicBezTo>
                      <a:pt x="1101848" y="643863"/>
                      <a:pt x="1098028" y="645295"/>
                      <a:pt x="1092844" y="645841"/>
                    </a:cubicBezTo>
                    <a:lnTo>
                      <a:pt x="1013444" y="645841"/>
                    </a:lnTo>
                    <a:cubicBezTo>
                      <a:pt x="947959" y="645841"/>
                      <a:pt x="903758" y="646660"/>
                      <a:pt x="880838" y="648297"/>
                    </a:cubicBezTo>
                    <a:lnTo>
                      <a:pt x="866923" y="631107"/>
                    </a:lnTo>
                    <a:lnTo>
                      <a:pt x="866923" y="541885"/>
                    </a:lnTo>
                    <a:lnTo>
                      <a:pt x="614808" y="541885"/>
                    </a:lnTo>
                    <a:cubicBezTo>
                      <a:pt x="613171" y="541885"/>
                      <a:pt x="611056" y="542021"/>
                      <a:pt x="608464" y="542294"/>
                    </a:cubicBezTo>
                    <a:cubicBezTo>
                      <a:pt x="605872" y="542567"/>
                      <a:pt x="603894" y="542635"/>
                      <a:pt x="602529" y="542498"/>
                    </a:cubicBezTo>
                    <a:cubicBezTo>
                      <a:pt x="601165" y="542362"/>
                      <a:pt x="599528" y="542089"/>
                      <a:pt x="597618" y="541680"/>
                    </a:cubicBezTo>
                    <a:cubicBezTo>
                      <a:pt x="595708" y="541271"/>
                      <a:pt x="594071" y="540316"/>
                      <a:pt x="592707" y="538815"/>
                    </a:cubicBezTo>
                    <a:cubicBezTo>
                      <a:pt x="591343" y="537314"/>
                      <a:pt x="589978" y="535336"/>
                      <a:pt x="588614" y="532880"/>
                    </a:cubicBezTo>
                    <a:lnTo>
                      <a:pt x="588614" y="410097"/>
                    </a:lnTo>
                    <a:cubicBezTo>
                      <a:pt x="588614" y="403003"/>
                      <a:pt x="589637" y="395090"/>
                      <a:pt x="591684" y="386359"/>
                    </a:cubicBezTo>
                    <a:cubicBezTo>
                      <a:pt x="593730" y="377628"/>
                      <a:pt x="595845" y="370124"/>
                      <a:pt x="598027" y="363849"/>
                    </a:cubicBezTo>
                    <a:cubicBezTo>
                      <a:pt x="600210" y="357573"/>
                      <a:pt x="603894" y="349319"/>
                      <a:pt x="609078" y="339088"/>
                    </a:cubicBezTo>
                    <a:cubicBezTo>
                      <a:pt x="614262" y="328856"/>
                      <a:pt x="618014" y="321693"/>
                      <a:pt x="620333" y="317600"/>
                    </a:cubicBezTo>
                    <a:cubicBezTo>
                      <a:pt x="622652" y="313508"/>
                      <a:pt x="627086" y="305936"/>
                      <a:pt x="633634" y="294886"/>
                    </a:cubicBezTo>
                    <a:cubicBezTo>
                      <a:pt x="640183" y="283835"/>
                      <a:pt x="643730" y="277764"/>
                      <a:pt x="644276" y="276673"/>
                    </a:cubicBezTo>
                    <a:cubicBezTo>
                      <a:pt x="659828" y="251843"/>
                      <a:pt x="684999" y="210506"/>
                      <a:pt x="719787" y="152662"/>
                    </a:cubicBezTo>
                    <a:cubicBezTo>
                      <a:pt x="754576" y="94817"/>
                      <a:pt x="781247" y="51297"/>
                      <a:pt x="799801" y="22102"/>
                    </a:cubicBezTo>
                    <a:close/>
                    <a:moveTo>
                      <a:pt x="286494" y="0"/>
                    </a:moveTo>
                    <a:cubicBezTo>
                      <a:pt x="319509" y="0"/>
                      <a:pt x="349727" y="3752"/>
                      <a:pt x="377149" y="11255"/>
                    </a:cubicBezTo>
                    <a:cubicBezTo>
                      <a:pt x="404570" y="18759"/>
                      <a:pt x="427967" y="28786"/>
                      <a:pt x="447340" y="41337"/>
                    </a:cubicBezTo>
                    <a:cubicBezTo>
                      <a:pt x="466712" y="53888"/>
                      <a:pt x="483902" y="69236"/>
                      <a:pt x="498909" y="87381"/>
                    </a:cubicBezTo>
                    <a:cubicBezTo>
                      <a:pt x="513916" y="105526"/>
                      <a:pt x="525921" y="124421"/>
                      <a:pt x="534925" y="144066"/>
                    </a:cubicBezTo>
                    <a:cubicBezTo>
                      <a:pt x="543929" y="163711"/>
                      <a:pt x="551296" y="185062"/>
                      <a:pt x="557026" y="208118"/>
                    </a:cubicBezTo>
                    <a:cubicBezTo>
                      <a:pt x="562756" y="231174"/>
                      <a:pt x="566712" y="253207"/>
                      <a:pt x="568895" y="274216"/>
                    </a:cubicBezTo>
                    <a:cubicBezTo>
                      <a:pt x="571078" y="295226"/>
                      <a:pt x="572169" y="317054"/>
                      <a:pt x="572169" y="339700"/>
                    </a:cubicBezTo>
                    <a:cubicBezTo>
                      <a:pt x="572169" y="391542"/>
                      <a:pt x="564734" y="437791"/>
                      <a:pt x="549864" y="478446"/>
                    </a:cubicBezTo>
                    <a:cubicBezTo>
                      <a:pt x="534993" y="519100"/>
                      <a:pt x="514393" y="552388"/>
                      <a:pt x="488063" y="578309"/>
                    </a:cubicBezTo>
                    <a:cubicBezTo>
                      <a:pt x="461733" y="604230"/>
                      <a:pt x="431105" y="623875"/>
                      <a:pt x="396180" y="637245"/>
                    </a:cubicBezTo>
                    <a:cubicBezTo>
                      <a:pt x="361255" y="650615"/>
                      <a:pt x="323056" y="657300"/>
                      <a:pt x="281583" y="657300"/>
                    </a:cubicBezTo>
                    <a:cubicBezTo>
                      <a:pt x="250750" y="657300"/>
                      <a:pt x="222715" y="654367"/>
                      <a:pt x="197476" y="648500"/>
                    </a:cubicBezTo>
                    <a:cubicBezTo>
                      <a:pt x="172237" y="642634"/>
                      <a:pt x="150341" y="634653"/>
                      <a:pt x="131787" y="624558"/>
                    </a:cubicBezTo>
                    <a:cubicBezTo>
                      <a:pt x="113233" y="614462"/>
                      <a:pt x="96794" y="601638"/>
                      <a:pt x="82469" y="586085"/>
                    </a:cubicBezTo>
                    <a:cubicBezTo>
                      <a:pt x="68144" y="570533"/>
                      <a:pt x="56275" y="553957"/>
                      <a:pt x="46862" y="536358"/>
                    </a:cubicBezTo>
                    <a:cubicBezTo>
                      <a:pt x="37449" y="518759"/>
                      <a:pt x="29468" y="498568"/>
                      <a:pt x="22919" y="475785"/>
                    </a:cubicBezTo>
                    <a:cubicBezTo>
                      <a:pt x="16371" y="453002"/>
                      <a:pt x="11391" y="430424"/>
                      <a:pt x="7981" y="408050"/>
                    </a:cubicBezTo>
                    <a:cubicBezTo>
                      <a:pt x="4570" y="385676"/>
                      <a:pt x="1910" y="360710"/>
                      <a:pt x="0" y="333152"/>
                    </a:cubicBezTo>
                    <a:cubicBezTo>
                      <a:pt x="0" y="126058"/>
                      <a:pt x="95498" y="15007"/>
                      <a:pt x="286494" y="0"/>
                    </a:cubicBezTo>
                    <a:close/>
                  </a:path>
                </a:pathLst>
              </a:custGeom>
              <a:solidFill>
                <a:schemeClr val="accent4"/>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9" name="TextBox 28">
                <a:extLst>
                  <a:ext uri="{FF2B5EF4-FFF2-40B4-BE49-F238E27FC236}">
                    <a16:creationId xmlns:a16="http://schemas.microsoft.com/office/drawing/2014/main" id="{A84DF50B-BB15-3692-CF4B-8F5A99B2FF99}"/>
                  </a:ext>
                </a:extLst>
              </p:cNvPr>
              <p:cNvSpPr txBox="1"/>
              <p:nvPr/>
            </p:nvSpPr>
            <p:spPr>
              <a:xfrm>
                <a:off x="7427207" y="3318522"/>
                <a:ext cx="983704" cy="554804"/>
              </a:xfrm>
              <a:custGeom>
                <a:avLst/>
                <a:gdLst>
                  <a:gd name="connsiteX0" fmla="*/ 904576 w 1169788"/>
                  <a:gd name="connsiteY0" fmla="*/ 353615 h 659755"/>
                  <a:gd name="connsiteX1" fmla="*/ 869788 w 1169788"/>
                  <a:gd name="connsiteY1" fmla="*/ 360982 h 659755"/>
                  <a:gd name="connsiteX2" fmla="*/ 848505 w 1169788"/>
                  <a:gd name="connsiteY2" fmla="*/ 382060 h 659755"/>
                  <a:gd name="connsiteX3" fmla="*/ 838682 w 1169788"/>
                  <a:gd name="connsiteY3" fmla="*/ 410914 h 659755"/>
                  <a:gd name="connsiteX4" fmla="*/ 835818 w 1169788"/>
                  <a:gd name="connsiteY4" fmla="*/ 446112 h 659755"/>
                  <a:gd name="connsiteX5" fmla="*/ 852803 w 1169788"/>
                  <a:gd name="connsiteY5" fmla="*/ 504229 h 659755"/>
                  <a:gd name="connsiteX6" fmla="*/ 901302 w 1169788"/>
                  <a:gd name="connsiteY6" fmla="*/ 528786 h 659755"/>
                  <a:gd name="connsiteX7" fmla="*/ 936295 w 1169788"/>
                  <a:gd name="connsiteY7" fmla="*/ 520396 h 659755"/>
                  <a:gd name="connsiteX8" fmla="*/ 958191 w 1169788"/>
                  <a:gd name="connsiteY8" fmla="*/ 497681 h 659755"/>
                  <a:gd name="connsiteX9" fmla="*/ 968628 w 1169788"/>
                  <a:gd name="connsiteY9" fmla="*/ 468418 h 659755"/>
                  <a:gd name="connsiteX10" fmla="*/ 971698 w 1169788"/>
                  <a:gd name="connsiteY10" fmla="*/ 436289 h 659755"/>
                  <a:gd name="connsiteX11" fmla="*/ 954713 w 1169788"/>
                  <a:gd name="connsiteY11" fmla="*/ 374898 h 659755"/>
                  <a:gd name="connsiteX12" fmla="*/ 904576 w 1169788"/>
                  <a:gd name="connsiteY12" fmla="*/ 353615 h 659755"/>
                  <a:gd name="connsiteX13" fmla="*/ 291405 w 1169788"/>
                  <a:gd name="connsiteY13" fmla="*/ 150614 h 659755"/>
                  <a:gd name="connsiteX14" fmla="*/ 271760 w 1169788"/>
                  <a:gd name="connsiteY14" fmla="*/ 153479 h 659755"/>
                  <a:gd name="connsiteX15" fmla="*/ 256003 w 1169788"/>
                  <a:gd name="connsiteY15" fmla="*/ 163097 h 659755"/>
                  <a:gd name="connsiteX16" fmla="*/ 243929 w 1169788"/>
                  <a:gd name="connsiteY16" fmla="*/ 176807 h 659755"/>
                  <a:gd name="connsiteX17" fmla="*/ 234925 w 1169788"/>
                  <a:gd name="connsiteY17" fmla="*/ 195634 h 659755"/>
                  <a:gd name="connsiteX18" fmla="*/ 228377 w 1169788"/>
                  <a:gd name="connsiteY18" fmla="*/ 216712 h 659755"/>
                  <a:gd name="connsiteX19" fmla="*/ 223875 w 1169788"/>
                  <a:gd name="connsiteY19" fmla="*/ 241269 h 659755"/>
                  <a:gd name="connsiteX20" fmla="*/ 221214 w 1169788"/>
                  <a:gd name="connsiteY20" fmla="*/ 266235 h 659755"/>
                  <a:gd name="connsiteX21" fmla="*/ 219782 w 1169788"/>
                  <a:gd name="connsiteY21" fmla="*/ 293247 h 659755"/>
                  <a:gd name="connsiteX22" fmla="*/ 219372 w 1169788"/>
                  <a:gd name="connsiteY22" fmla="*/ 318827 h 659755"/>
                  <a:gd name="connsiteX23" fmla="*/ 219372 w 1169788"/>
                  <a:gd name="connsiteY23" fmla="*/ 344202 h 659755"/>
                  <a:gd name="connsiteX24" fmla="*/ 219372 w 1169788"/>
                  <a:gd name="connsiteY24" fmla="*/ 351978 h 659755"/>
                  <a:gd name="connsiteX25" fmla="*/ 219782 w 1169788"/>
                  <a:gd name="connsiteY25" fmla="*/ 380218 h 659755"/>
                  <a:gd name="connsiteX26" fmla="*/ 221623 w 1169788"/>
                  <a:gd name="connsiteY26" fmla="*/ 410300 h 659755"/>
                  <a:gd name="connsiteX27" fmla="*/ 225512 w 1169788"/>
                  <a:gd name="connsiteY27" fmla="*/ 441405 h 659755"/>
                  <a:gd name="connsiteX28" fmla="*/ 232674 w 1169788"/>
                  <a:gd name="connsiteY28" fmla="*/ 469032 h 659755"/>
                  <a:gd name="connsiteX29" fmla="*/ 243929 w 1169788"/>
                  <a:gd name="connsiteY29" fmla="*/ 492770 h 659755"/>
                  <a:gd name="connsiteX30" fmla="*/ 260505 w 1169788"/>
                  <a:gd name="connsiteY30" fmla="*/ 508118 h 659755"/>
                  <a:gd name="connsiteX31" fmla="*/ 283220 w 1169788"/>
                  <a:gd name="connsiteY31" fmla="*/ 514052 h 659755"/>
                  <a:gd name="connsiteX32" fmla="*/ 308800 w 1169788"/>
                  <a:gd name="connsiteY32" fmla="*/ 507913 h 659755"/>
                  <a:gd name="connsiteX33" fmla="*/ 327217 w 1169788"/>
                  <a:gd name="connsiteY33" fmla="*/ 493179 h 659755"/>
                  <a:gd name="connsiteX34" fmla="*/ 339291 w 1169788"/>
                  <a:gd name="connsiteY34" fmla="*/ 469441 h 659755"/>
                  <a:gd name="connsiteX35" fmla="*/ 346658 w 1169788"/>
                  <a:gd name="connsiteY35" fmla="*/ 442633 h 659755"/>
                  <a:gd name="connsiteX36" fmla="*/ 350341 w 1169788"/>
                  <a:gd name="connsiteY36" fmla="*/ 411937 h 659755"/>
                  <a:gd name="connsiteX37" fmla="*/ 351774 w 1169788"/>
                  <a:gd name="connsiteY37" fmla="*/ 383083 h 659755"/>
                  <a:gd name="connsiteX38" fmla="*/ 351978 w 1169788"/>
                  <a:gd name="connsiteY38" fmla="*/ 355662 h 659755"/>
                  <a:gd name="connsiteX39" fmla="*/ 351978 w 1169788"/>
                  <a:gd name="connsiteY39" fmla="*/ 350341 h 659755"/>
                  <a:gd name="connsiteX40" fmla="*/ 353615 w 1169788"/>
                  <a:gd name="connsiteY40" fmla="*/ 306958 h 659755"/>
                  <a:gd name="connsiteX41" fmla="*/ 353820 w 1169788"/>
                  <a:gd name="connsiteY41" fmla="*/ 290587 h 659755"/>
                  <a:gd name="connsiteX42" fmla="*/ 354025 w 1169788"/>
                  <a:gd name="connsiteY42" fmla="*/ 267462 h 659755"/>
                  <a:gd name="connsiteX43" fmla="*/ 352797 w 1169788"/>
                  <a:gd name="connsiteY43" fmla="*/ 242292 h 659755"/>
                  <a:gd name="connsiteX44" fmla="*/ 349523 w 1169788"/>
                  <a:gd name="connsiteY44" fmla="*/ 215280 h 659755"/>
                  <a:gd name="connsiteX45" fmla="*/ 342770 w 1169788"/>
                  <a:gd name="connsiteY45" fmla="*/ 191132 h 659755"/>
                  <a:gd name="connsiteX46" fmla="*/ 331514 w 1169788"/>
                  <a:gd name="connsiteY46" fmla="*/ 169645 h 659755"/>
                  <a:gd name="connsiteX47" fmla="*/ 314734 w 1169788"/>
                  <a:gd name="connsiteY47" fmla="*/ 156139 h 659755"/>
                  <a:gd name="connsiteX48" fmla="*/ 291405 w 1169788"/>
                  <a:gd name="connsiteY48" fmla="*/ 150614 h 659755"/>
                  <a:gd name="connsiteX49" fmla="*/ 286494 w 1169788"/>
                  <a:gd name="connsiteY49" fmla="*/ 2455 h 659755"/>
                  <a:gd name="connsiteX50" fmla="*/ 377149 w 1169788"/>
                  <a:gd name="connsiteY50" fmla="*/ 13710 h 659755"/>
                  <a:gd name="connsiteX51" fmla="*/ 447340 w 1169788"/>
                  <a:gd name="connsiteY51" fmla="*/ 43792 h 659755"/>
                  <a:gd name="connsiteX52" fmla="*/ 498909 w 1169788"/>
                  <a:gd name="connsiteY52" fmla="*/ 89836 h 659755"/>
                  <a:gd name="connsiteX53" fmla="*/ 534925 w 1169788"/>
                  <a:gd name="connsiteY53" fmla="*/ 146521 h 659755"/>
                  <a:gd name="connsiteX54" fmla="*/ 557026 w 1169788"/>
                  <a:gd name="connsiteY54" fmla="*/ 210573 h 659755"/>
                  <a:gd name="connsiteX55" fmla="*/ 568895 w 1169788"/>
                  <a:gd name="connsiteY55" fmla="*/ 276671 h 659755"/>
                  <a:gd name="connsiteX56" fmla="*/ 572169 w 1169788"/>
                  <a:gd name="connsiteY56" fmla="*/ 342156 h 659755"/>
                  <a:gd name="connsiteX57" fmla="*/ 549864 w 1169788"/>
                  <a:gd name="connsiteY57" fmla="*/ 480901 h 659755"/>
                  <a:gd name="connsiteX58" fmla="*/ 488063 w 1169788"/>
                  <a:gd name="connsiteY58" fmla="*/ 580764 h 659755"/>
                  <a:gd name="connsiteX59" fmla="*/ 396180 w 1169788"/>
                  <a:gd name="connsiteY59" fmla="*/ 639700 h 659755"/>
                  <a:gd name="connsiteX60" fmla="*/ 281583 w 1169788"/>
                  <a:gd name="connsiteY60" fmla="*/ 659755 h 659755"/>
                  <a:gd name="connsiteX61" fmla="*/ 197476 w 1169788"/>
                  <a:gd name="connsiteY61" fmla="*/ 650955 h 659755"/>
                  <a:gd name="connsiteX62" fmla="*/ 131787 w 1169788"/>
                  <a:gd name="connsiteY62" fmla="*/ 627013 h 659755"/>
                  <a:gd name="connsiteX63" fmla="*/ 82469 w 1169788"/>
                  <a:gd name="connsiteY63" fmla="*/ 588541 h 659755"/>
                  <a:gd name="connsiteX64" fmla="*/ 46862 w 1169788"/>
                  <a:gd name="connsiteY64" fmla="*/ 538813 h 659755"/>
                  <a:gd name="connsiteX65" fmla="*/ 22919 w 1169788"/>
                  <a:gd name="connsiteY65" fmla="*/ 478240 h 659755"/>
                  <a:gd name="connsiteX66" fmla="*/ 7981 w 1169788"/>
                  <a:gd name="connsiteY66" fmla="*/ 410505 h 659755"/>
                  <a:gd name="connsiteX67" fmla="*/ 0 w 1169788"/>
                  <a:gd name="connsiteY67" fmla="*/ 335607 h 659755"/>
                  <a:gd name="connsiteX68" fmla="*/ 286494 w 1169788"/>
                  <a:gd name="connsiteY68" fmla="*/ 2455 h 659755"/>
                  <a:gd name="connsiteX69" fmla="*/ 907850 w 1169788"/>
                  <a:gd name="connsiteY69" fmla="*/ 0 h 659755"/>
                  <a:gd name="connsiteX70" fmla="*/ 1005258 w 1169788"/>
                  <a:gd name="connsiteY70" fmla="*/ 10436 h 659755"/>
                  <a:gd name="connsiteX71" fmla="*/ 1071970 w 1169788"/>
                  <a:gd name="connsiteY71" fmla="*/ 37039 h 659755"/>
                  <a:gd name="connsiteX72" fmla="*/ 1112898 w 1169788"/>
                  <a:gd name="connsiteY72" fmla="*/ 77762 h 659755"/>
                  <a:gd name="connsiteX73" fmla="*/ 1135204 w 1169788"/>
                  <a:gd name="connsiteY73" fmla="*/ 126057 h 659755"/>
                  <a:gd name="connsiteX74" fmla="*/ 1143594 w 1169788"/>
                  <a:gd name="connsiteY74" fmla="*/ 179263 h 659755"/>
                  <a:gd name="connsiteX75" fmla="*/ 1115354 w 1169788"/>
                  <a:gd name="connsiteY75" fmla="*/ 190928 h 659755"/>
                  <a:gd name="connsiteX76" fmla="*/ 1043935 w 1169788"/>
                  <a:gd name="connsiteY76" fmla="*/ 196044 h 659755"/>
                  <a:gd name="connsiteX77" fmla="*/ 979883 w 1169788"/>
                  <a:gd name="connsiteY77" fmla="*/ 196862 h 659755"/>
                  <a:gd name="connsiteX78" fmla="*/ 944685 w 1169788"/>
                  <a:gd name="connsiteY78" fmla="*/ 196453 h 659755"/>
                  <a:gd name="connsiteX79" fmla="*/ 928314 w 1169788"/>
                  <a:gd name="connsiteY79" fmla="*/ 189904 h 659755"/>
                  <a:gd name="connsiteX80" fmla="*/ 928314 w 1169788"/>
                  <a:gd name="connsiteY80" fmla="*/ 168622 h 659755"/>
                  <a:gd name="connsiteX81" fmla="*/ 908669 w 1169788"/>
                  <a:gd name="connsiteY81" fmla="*/ 161255 h 659755"/>
                  <a:gd name="connsiteX82" fmla="*/ 842366 w 1169788"/>
                  <a:gd name="connsiteY82" fmla="*/ 268486 h 659755"/>
                  <a:gd name="connsiteX83" fmla="*/ 842366 w 1169788"/>
                  <a:gd name="connsiteY83" fmla="*/ 275034 h 659755"/>
                  <a:gd name="connsiteX84" fmla="*/ 960238 w 1169788"/>
                  <a:gd name="connsiteY84" fmla="*/ 231651 h 659755"/>
                  <a:gd name="connsiteX85" fmla="*/ 1110238 w 1169788"/>
                  <a:gd name="connsiteY85" fmla="*/ 286903 h 659755"/>
                  <a:gd name="connsiteX86" fmla="*/ 1169788 w 1169788"/>
                  <a:gd name="connsiteY86" fmla="*/ 427285 h 659755"/>
                  <a:gd name="connsiteX87" fmla="*/ 1154440 w 1169788"/>
                  <a:gd name="connsiteY87" fmla="*/ 514666 h 659755"/>
                  <a:gd name="connsiteX88" fmla="*/ 1114126 w 1169788"/>
                  <a:gd name="connsiteY88" fmla="*/ 579332 h 659755"/>
                  <a:gd name="connsiteX89" fmla="*/ 1055395 w 1169788"/>
                  <a:gd name="connsiteY89" fmla="*/ 622715 h 659755"/>
                  <a:gd name="connsiteX90" fmla="*/ 986636 w 1169788"/>
                  <a:gd name="connsiteY90" fmla="*/ 648500 h 659755"/>
                  <a:gd name="connsiteX91" fmla="*/ 914399 w 1169788"/>
                  <a:gd name="connsiteY91" fmla="*/ 658118 h 659755"/>
                  <a:gd name="connsiteX92" fmla="*/ 685817 w 1169788"/>
                  <a:gd name="connsiteY92" fmla="*/ 573193 h 659755"/>
                  <a:gd name="connsiteX93" fmla="*/ 609896 w 1169788"/>
                  <a:gd name="connsiteY93" fmla="*/ 329059 h 659755"/>
                  <a:gd name="connsiteX94" fmla="*/ 645299 w 1169788"/>
                  <a:gd name="connsiteY94" fmla="*/ 158390 h 659755"/>
                  <a:gd name="connsiteX95" fmla="*/ 748437 w 1169788"/>
                  <a:gd name="connsiteY95" fmla="*/ 42974 h 659755"/>
                  <a:gd name="connsiteX96" fmla="*/ 907850 w 1169788"/>
                  <a:gd name="connsiteY96" fmla="*/ 0 h 659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69788" h="659755">
                    <a:moveTo>
                      <a:pt x="904576" y="353615"/>
                    </a:moveTo>
                    <a:cubicBezTo>
                      <a:pt x="890933" y="353615"/>
                      <a:pt x="879337" y="356071"/>
                      <a:pt x="869788" y="360982"/>
                    </a:cubicBezTo>
                    <a:cubicBezTo>
                      <a:pt x="860238" y="365894"/>
                      <a:pt x="853144" y="372920"/>
                      <a:pt x="848505" y="382060"/>
                    </a:cubicBezTo>
                    <a:cubicBezTo>
                      <a:pt x="843867" y="391201"/>
                      <a:pt x="840592" y="400819"/>
                      <a:pt x="838682" y="410914"/>
                    </a:cubicBezTo>
                    <a:cubicBezTo>
                      <a:pt x="836772" y="421010"/>
                      <a:pt x="835818" y="432742"/>
                      <a:pt x="835818" y="446112"/>
                    </a:cubicBezTo>
                    <a:cubicBezTo>
                      <a:pt x="835818" y="468486"/>
                      <a:pt x="841479" y="487858"/>
                      <a:pt x="852803" y="504229"/>
                    </a:cubicBezTo>
                    <a:cubicBezTo>
                      <a:pt x="864126" y="520600"/>
                      <a:pt x="880292" y="528786"/>
                      <a:pt x="901302" y="528786"/>
                    </a:cubicBezTo>
                    <a:cubicBezTo>
                      <a:pt x="914944" y="528786"/>
                      <a:pt x="926609" y="525989"/>
                      <a:pt x="936295" y="520396"/>
                    </a:cubicBezTo>
                    <a:cubicBezTo>
                      <a:pt x="945981" y="514802"/>
                      <a:pt x="953280" y="507231"/>
                      <a:pt x="958191" y="497681"/>
                    </a:cubicBezTo>
                    <a:cubicBezTo>
                      <a:pt x="963103" y="488131"/>
                      <a:pt x="966582" y="478377"/>
                      <a:pt x="968628" y="468418"/>
                    </a:cubicBezTo>
                    <a:cubicBezTo>
                      <a:pt x="970674" y="458458"/>
                      <a:pt x="971698" y="447749"/>
                      <a:pt x="971698" y="436289"/>
                    </a:cubicBezTo>
                    <a:cubicBezTo>
                      <a:pt x="970333" y="409550"/>
                      <a:pt x="964672" y="389086"/>
                      <a:pt x="954713" y="374898"/>
                    </a:cubicBezTo>
                    <a:cubicBezTo>
                      <a:pt x="944753" y="360709"/>
                      <a:pt x="928041" y="353615"/>
                      <a:pt x="904576" y="353615"/>
                    </a:cubicBezTo>
                    <a:close/>
                    <a:moveTo>
                      <a:pt x="291405" y="150614"/>
                    </a:moveTo>
                    <a:cubicBezTo>
                      <a:pt x="284311" y="150614"/>
                      <a:pt x="277763" y="151569"/>
                      <a:pt x="271760" y="153479"/>
                    </a:cubicBezTo>
                    <a:cubicBezTo>
                      <a:pt x="265757" y="155389"/>
                      <a:pt x="260505" y="158595"/>
                      <a:pt x="256003" y="163097"/>
                    </a:cubicBezTo>
                    <a:cubicBezTo>
                      <a:pt x="251501" y="167599"/>
                      <a:pt x="247476" y="172169"/>
                      <a:pt x="243929" y="176807"/>
                    </a:cubicBezTo>
                    <a:cubicBezTo>
                      <a:pt x="240382" y="181446"/>
                      <a:pt x="237381" y="187722"/>
                      <a:pt x="234925" y="195634"/>
                    </a:cubicBezTo>
                    <a:cubicBezTo>
                      <a:pt x="232469" y="203547"/>
                      <a:pt x="230287" y="210573"/>
                      <a:pt x="228377" y="216712"/>
                    </a:cubicBezTo>
                    <a:cubicBezTo>
                      <a:pt x="226467" y="222851"/>
                      <a:pt x="224966" y="231037"/>
                      <a:pt x="223875" y="241269"/>
                    </a:cubicBezTo>
                    <a:cubicBezTo>
                      <a:pt x="222783" y="251501"/>
                      <a:pt x="221896" y="259823"/>
                      <a:pt x="221214" y="266235"/>
                    </a:cubicBezTo>
                    <a:cubicBezTo>
                      <a:pt x="220532" y="272647"/>
                      <a:pt x="220055" y="281651"/>
                      <a:pt x="219782" y="293247"/>
                    </a:cubicBezTo>
                    <a:cubicBezTo>
                      <a:pt x="219509" y="304843"/>
                      <a:pt x="219372" y="313370"/>
                      <a:pt x="219372" y="318827"/>
                    </a:cubicBezTo>
                    <a:cubicBezTo>
                      <a:pt x="219372" y="324284"/>
                      <a:pt x="219372" y="332742"/>
                      <a:pt x="219372" y="344202"/>
                    </a:cubicBezTo>
                    <a:cubicBezTo>
                      <a:pt x="219372" y="347749"/>
                      <a:pt x="219372" y="350341"/>
                      <a:pt x="219372" y="351978"/>
                    </a:cubicBezTo>
                    <a:cubicBezTo>
                      <a:pt x="219372" y="362619"/>
                      <a:pt x="219509" y="372033"/>
                      <a:pt x="219782" y="380218"/>
                    </a:cubicBezTo>
                    <a:cubicBezTo>
                      <a:pt x="220055" y="388404"/>
                      <a:pt x="220668" y="398431"/>
                      <a:pt x="221623" y="410300"/>
                    </a:cubicBezTo>
                    <a:cubicBezTo>
                      <a:pt x="222578" y="422169"/>
                      <a:pt x="223875" y="432538"/>
                      <a:pt x="225512" y="441405"/>
                    </a:cubicBezTo>
                    <a:cubicBezTo>
                      <a:pt x="227149" y="450273"/>
                      <a:pt x="229536" y="459482"/>
                      <a:pt x="232674" y="469032"/>
                    </a:cubicBezTo>
                    <a:cubicBezTo>
                      <a:pt x="235812" y="478581"/>
                      <a:pt x="239563" y="486494"/>
                      <a:pt x="243929" y="492770"/>
                    </a:cubicBezTo>
                    <a:cubicBezTo>
                      <a:pt x="248295" y="499045"/>
                      <a:pt x="253820" y="504161"/>
                      <a:pt x="260505" y="508118"/>
                    </a:cubicBezTo>
                    <a:cubicBezTo>
                      <a:pt x="267190" y="512074"/>
                      <a:pt x="274761" y="514052"/>
                      <a:pt x="283220" y="514052"/>
                    </a:cubicBezTo>
                    <a:cubicBezTo>
                      <a:pt x="292770" y="514052"/>
                      <a:pt x="301296" y="512006"/>
                      <a:pt x="308800" y="507913"/>
                    </a:cubicBezTo>
                    <a:cubicBezTo>
                      <a:pt x="316303" y="503820"/>
                      <a:pt x="322442" y="498909"/>
                      <a:pt x="327217" y="493179"/>
                    </a:cubicBezTo>
                    <a:cubicBezTo>
                      <a:pt x="331992" y="487449"/>
                      <a:pt x="336017" y="479536"/>
                      <a:pt x="339291" y="469441"/>
                    </a:cubicBezTo>
                    <a:cubicBezTo>
                      <a:pt x="342565" y="459345"/>
                      <a:pt x="345021" y="450409"/>
                      <a:pt x="346658" y="442633"/>
                    </a:cubicBezTo>
                    <a:cubicBezTo>
                      <a:pt x="348295" y="434857"/>
                      <a:pt x="349523" y="424625"/>
                      <a:pt x="350341" y="411937"/>
                    </a:cubicBezTo>
                    <a:cubicBezTo>
                      <a:pt x="351160" y="399250"/>
                      <a:pt x="351637" y="389632"/>
                      <a:pt x="351774" y="383083"/>
                    </a:cubicBezTo>
                    <a:cubicBezTo>
                      <a:pt x="351910" y="376535"/>
                      <a:pt x="351978" y="367394"/>
                      <a:pt x="351978" y="355662"/>
                    </a:cubicBezTo>
                    <a:cubicBezTo>
                      <a:pt x="351978" y="353206"/>
                      <a:pt x="351978" y="351433"/>
                      <a:pt x="351978" y="350341"/>
                    </a:cubicBezTo>
                    <a:cubicBezTo>
                      <a:pt x="353070" y="341064"/>
                      <a:pt x="353615" y="326603"/>
                      <a:pt x="353615" y="306958"/>
                    </a:cubicBezTo>
                    <a:cubicBezTo>
                      <a:pt x="353615" y="305593"/>
                      <a:pt x="353684" y="300136"/>
                      <a:pt x="353820" y="290587"/>
                    </a:cubicBezTo>
                    <a:cubicBezTo>
                      <a:pt x="353956" y="281037"/>
                      <a:pt x="354025" y="273329"/>
                      <a:pt x="354025" y="267462"/>
                    </a:cubicBezTo>
                    <a:cubicBezTo>
                      <a:pt x="354025" y="261596"/>
                      <a:pt x="353615" y="253206"/>
                      <a:pt x="352797" y="242292"/>
                    </a:cubicBezTo>
                    <a:cubicBezTo>
                      <a:pt x="351978" y="231378"/>
                      <a:pt x="350887" y="222374"/>
                      <a:pt x="349523" y="215280"/>
                    </a:cubicBezTo>
                    <a:cubicBezTo>
                      <a:pt x="348158" y="208185"/>
                      <a:pt x="345907" y="200136"/>
                      <a:pt x="342770" y="191132"/>
                    </a:cubicBezTo>
                    <a:cubicBezTo>
                      <a:pt x="339632" y="182128"/>
                      <a:pt x="335880" y="174966"/>
                      <a:pt x="331514" y="169645"/>
                    </a:cubicBezTo>
                    <a:cubicBezTo>
                      <a:pt x="327149" y="164325"/>
                      <a:pt x="321555" y="159822"/>
                      <a:pt x="314734" y="156139"/>
                    </a:cubicBezTo>
                    <a:cubicBezTo>
                      <a:pt x="307913" y="152455"/>
                      <a:pt x="300136" y="150614"/>
                      <a:pt x="291405" y="150614"/>
                    </a:cubicBezTo>
                    <a:close/>
                    <a:moveTo>
                      <a:pt x="286494" y="2455"/>
                    </a:moveTo>
                    <a:cubicBezTo>
                      <a:pt x="319509" y="2455"/>
                      <a:pt x="349727" y="6207"/>
                      <a:pt x="377149" y="13710"/>
                    </a:cubicBezTo>
                    <a:cubicBezTo>
                      <a:pt x="404570" y="21214"/>
                      <a:pt x="427967" y="31241"/>
                      <a:pt x="447340" y="43792"/>
                    </a:cubicBezTo>
                    <a:cubicBezTo>
                      <a:pt x="466712" y="56344"/>
                      <a:pt x="483902" y="71691"/>
                      <a:pt x="498909" y="89836"/>
                    </a:cubicBezTo>
                    <a:cubicBezTo>
                      <a:pt x="513916" y="107981"/>
                      <a:pt x="525921" y="126876"/>
                      <a:pt x="534925" y="146521"/>
                    </a:cubicBezTo>
                    <a:cubicBezTo>
                      <a:pt x="543929" y="166166"/>
                      <a:pt x="551296" y="187517"/>
                      <a:pt x="557026" y="210573"/>
                    </a:cubicBezTo>
                    <a:cubicBezTo>
                      <a:pt x="562756" y="233629"/>
                      <a:pt x="566712" y="255662"/>
                      <a:pt x="568895" y="276671"/>
                    </a:cubicBezTo>
                    <a:cubicBezTo>
                      <a:pt x="571078" y="297681"/>
                      <a:pt x="572169" y="319509"/>
                      <a:pt x="572169" y="342156"/>
                    </a:cubicBezTo>
                    <a:cubicBezTo>
                      <a:pt x="572169" y="393997"/>
                      <a:pt x="564734" y="440246"/>
                      <a:pt x="549864" y="480901"/>
                    </a:cubicBezTo>
                    <a:cubicBezTo>
                      <a:pt x="534993" y="521555"/>
                      <a:pt x="514393" y="554843"/>
                      <a:pt x="488063" y="580764"/>
                    </a:cubicBezTo>
                    <a:cubicBezTo>
                      <a:pt x="461733" y="606685"/>
                      <a:pt x="431105" y="626330"/>
                      <a:pt x="396180" y="639700"/>
                    </a:cubicBezTo>
                    <a:cubicBezTo>
                      <a:pt x="361255" y="653070"/>
                      <a:pt x="323056" y="659755"/>
                      <a:pt x="281583" y="659755"/>
                    </a:cubicBezTo>
                    <a:cubicBezTo>
                      <a:pt x="250750" y="659755"/>
                      <a:pt x="222715" y="656822"/>
                      <a:pt x="197476" y="650955"/>
                    </a:cubicBezTo>
                    <a:cubicBezTo>
                      <a:pt x="172237" y="645089"/>
                      <a:pt x="150341" y="637108"/>
                      <a:pt x="131787" y="627013"/>
                    </a:cubicBezTo>
                    <a:cubicBezTo>
                      <a:pt x="113233" y="616917"/>
                      <a:pt x="96794" y="604093"/>
                      <a:pt x="82469" y="588541"/>
                    </a:cubicBezTo>
                    <a:cubicBezTo>
                      <a:pt x="68144" y="572988"/>
                      <a:pt x="56275" y="556412"/>
                      <a:pt x="46862" y="538813"/>
                    </a:cubicBezTo>
                    <a:cubicBezTo>
                      <a:pt x="37449" y="521214"/>
                      <a:pt x="29468" y="501023"/>
                      <a:pt x="22919" y="478240"/>
                    </a:cubicBezTo>
                    <a:cubicBezTo>
                      <a:pt x="16371" y="455457"/>
                      <a:pt x="11391" y="432879"/>
                      <a:pt x="7981" y="410505"/>
                    </a:cubicBezTo>
                    <a:cubicBezTo>
                      <a:pt x="4570" y="388131"/>
                      <a:pt x="1910" y="363165"/>
                      <a:pt x="0" y="335607"/>
                    </a:cubicBezTo>
                    <a:cubicBezTo>
                      <a:pt x="0" y="128513"/>
                      <a:pt x="95498" y="17462"/>
                      <a:pt x="286494" y="2455"/>
                    </a:cubicBezTo>
                    <a:close/>
                    <a:moveTo>
                      <a:pt x="907850" y="0"/>
                    </a:moveTo>
                    <a:cubicBezTo>
                      <a:pt x="944958" y="0"/>
                      <a:pt x="977427" y="3479"/>
                      <a:pt x="1005258" y="10436"/>
                    </a:cubicBezTo>
                    <a:cubicBezTo>
                      <a:pt x="1033089" y="17394"/>
                      <a:pt x="1055327" y="26262"/>
                      <a:pt x="1071970" y="37039"/>
                    </a:cubicBezTo>
                    <a:cubicBezTo>
                      <a:pt x="1088614" y="47817"/>
                      <a:pt x="1102257" y="61391"/>
                      <a:pt x="1112898" y="77762"/>
                    </a:cubicBezTo>
                    <a:cubicBezTo>
                      <a:pt x="1123540" y="94133"/>
                      <a:pt x="1130975" y="110232"/>
                      <a:pt x="1135204" y="126057"/>
                    </a:cubicBezTo>
                    <a:cubicBezTo>
                      <a:pt x="1139433" y="141882"/>
                      <a:pt x="1142230" y="159618"/>
                      <a:pt x="1143594" y="179263"/>
                    </a:cubicBezTo>
                    <a:cubicBezTo>
                      <a:pt x="1143594" y="184174"/>
                      <a:pt x="1134181" y="188063"/>
                      <a:pt x="1115354" y="190928"/>
                    </a:cubicBezTo>
                    <a:cubicBezTo>
                      <a:pt x="1096527" y="193793"/>
                      <a:pt x="1072721" y="195498"/>
                      <a:pt x="1043935" y="196044"/>
                    </a:cubicBezTo>
                    <a:cubicBezTo>
                      <a:pt x="1015149" y="196589"/>
                      <a:pt x="993799" y="196862"/>
                      <a:pt x="979883" y="196862"/>
                    </a:cubicBezTo>
                    <a:cubicBezTo>
                      <a:pt x="965968" y="196862"/>
                      <a:pt x="954235" y="196726"/>
                      <a:pt x="944685" y="196453"/>
                    </a:cubicBezTo>
                    <a:cubicBezTo>
                      <a:pt x="933771" y="196453"/>
                      <a:pt x="928314" y="194270"/>
                      <a:pt x="928314" y="189904"/>
                    </a:cubicBezTo>
                    <a:lnTo>
                      <a:pt x="928314" y="168622"/>
                    </a:lnTo>
                    <a:cubicBezTo>
                      <a:pt x="925859" y="163711"/>
                      <a:pt x="919310" y="161255"/>
                      <a:pt x="908669" y="161255"/>
                    </a:cubicBezTo>
                    <a:cubicBezTo>
                      <a:pt x="864467" y="161255"/>
                      <a:pt x="842366" y="196999"/>
                      <a:pt x="842366" y="268486"/>
                    </a:cubicBezTo>
                    <a:lnTo>
                      <a:pt x="842366" y="275034"/>
                    </a:lnTo>
                    <a:cubicBezTo>
                      <a:pt x="866923" y="246112"/>
                      <a:pt x="906213" y="231651"/>
                      <a:pt x="960238" y="231651"/>
                    </a:cubicBezTo>
                    <a:cubicBezTo>
                      <a:pt x="1020538" y="231651"/>
                      <a:pt x="1070538" y="250068"/>
                      <a:pt x="1110238" y="286903"/>
                    </a:cubicBezTo>
                    <a:cubicBezTo>
                      <a:pt x="1149938" y="323738"/>
                      <a:pt x="1169788" y="370532"/>
                      <a:pt x="1169788" y="427285"/>
                    </a:cubicBezTo>
                    <a:cubicBezTo>
                      <a:pt x="1169788" y="459482"/>
                      <a:pt x="1164672" y="488609"/>
                      <a:pt x="1154440" y="514666"/>
                    </a:cubicBezTo>
                    <a:cubicBezTo>
                      <a:pt x="1144208" y="540723"/>
                      <a:pt x="1130770" y="562279"/>
                      <a:pt x="1114126" y="579332"/>
                    </a:cubicBezTo>
                    <a:cubicBezTo>
                      <a:pt x="1097482" y="596385"/>
                      <a:pt x="1077905" y="610846"/>
                      <a:pt x="1055395" y="622715"/>
                    </a:cubicBezTo>
                    <a:cubicBezTo>
                      <a:pt x="1032885" y="634584"/>
                      <a:pt x="1009965" y="643179"/>
                      <a:pt x="986636" y="648500"/>
                    </a:cubicBezTo>
                    <a:cubicBezTo>
                      <a:pt x="963307" y="653820"/>
                      <a:pt x="939228" y="657026"/>
                      <a:pt x="914399" y="658118"/>
                    </a:cubicBezTo>
                    <a:cubicBezTo>
                      <a:pt x="812625" y="658118"/>
                      <a:pt x="736431" y="629809"/>
                      <a:pt x="685817" y="573193"/>
                    </a:cubicBezTo>
                    <a:cubicBezTo>
                      <a:pt x="635203" y="516576"/>
                      <a:pt x="609896" y="435198"/>
                      <a:pt x="609896" y="329059"/>
                    </a:cubicBezTo>
                    <a:cubicBezTo>
                      <a:pt x="609896" y="264393"/>
                      <a:pt x="621697" y="207503"/>
                      <a:pt x="645299" y="158390"/>
                    </a:cubicBezTo>
                    <a:cubicBezTo>
                      <a:pt x="668901" y="109277"/>
                      <a:pt x="703280" y="70805"/>
                      <a:pt x="748437" y="42974"/>
                    </a:cubicBezTo>
                    <a:cubicBezTo>
                      <a:pt x="793594" y="15143"/>
                      <a:pt x="846732" y="818"/>
                      <a:pt x="907850" y="0"/>
                    </a:cubicBezTo>
                    <a:close/>
                  </a:path>
                </a:pathLst>
              </a:custGeom>
              <a:solidFill>
                <a:schemeClr val="accent3"/>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 name="TextBox 29">
                <a:extLst>
                  <a:ext uri="{FF2B5EF4-FFF2-40B4-BE49-F238E27FC236}">
                    <a16:creationId xmlns:a16="http://schemas.microsoft.com/office/drawing/2014/main" id="{922F4624-4F40-1A13-E913-6120452EC461}"/>
                  </a:ext>
                </a:extLst>
              </p:cNvPr>
              <p:cNvSpPr txBox="1"/>
              <p:nvPr/>
            </p:nvSpPr>
            <p:spPr>
              <a:xfrm>
                <a:off x="4156939" y="1560110"/>
                <a:ext cx="984393" cy="552740"/>
              </a:xfrm>
              <a:custGeom>
                <a:avLst/>
                <a:gdLst>
                  <a:gd name="connsiteX0" fmla="*/ 291405 w 1170607"/>
                  <a:gd name="connsiteY0" fmla="*/ 148159 h 657300"/>
                  <a:gd name="connsiteX1" fmla="*/ 271760 w 1170607"/>
                  <a:gd name="connsiteY1" fmla="*/ 151024 h 657300"/>
                  <a:gd name="connsiteX2" fmla="*/ 256003 w 1170607"/>
                  <a:gd name="connsiteY2" fmla="*/ 160642 h 657300"/>
                  <a:gd name="connsiteX3" fmla="*/ 243929 w 1170607"/>
                  <a:gd name="connsiteY3" fmla="*/ 174352 h 657300"/>
                  <a:gd name="connsiteX4" fmla="*/ 234925 w 1170607"/>
                  <a:gd name="connsiteY4" fmla="*/ 193179 h 657300"/>
                  <a:gd name="connsiteX5" fmla="*/ 228377 w 1170607"/>
                  <a:gd name="connsiteY5" fmla="*/ 214257 h 657300"/>
                  <a:gd name="connsiteX6" fmla="*/ 223875 w 1170607"/>
                  <a:gd name="connsiteY6" fmla="*/ 238814 h 657300"/>
                  <a:gd name="connsiteX7" fmla="*/ 221214 w 1170607"/>
                  <a:gd name="connsiteY7" fmla="*/ 263779 h 657300"/>
                  <a:gd name="connsiteX8" fmla="*/ 219782 w 1170607"/>
                  <a:gd name="connsiteY8" fmla="*/ 290792 h 657300"/>
                  <a:gd name="connsiteX9" fmla="*/ 219372 w 1170607"/>
                  <a:gd name="connsiteY9" fmla="*/ 316372 h 657300"/>
                  <a:gd name="connsiteX10" fmla="*/ 219372 w 1170607"/>
                  <a:gd name="connsiteY10" fmla="*/ 341747 h 657300"/>
                  <a:gd name="connsiteX11" fmla="*/ 219372 w 1170607"/>
                  <a:gd name="connsiteY11" fmla="*/ 349523 h 657300"/>
                  <a:gd name="connsiteX12" fmla="*/ 219782 w 1170607"/>
                  <a:gd name="connsiteY12" fmla="*/ 377763 h 657300"/>
                  <a:gd name="connsiteX13" fmla="*/ 221623 w 1170607"/>
                  <a:gd name="connsiteY13" fmla="*/ 407845 h 657300"/>
                  <a:gd name="connsiteX14" fmla="*/ 225512 w 1170607"/>
                  <a:gd name="connsiteY14" fmla="*/ 438950 h 657300"/>
                  <a:gd name="connsiteX15" fmla="*/ 232674 w 1170607"/>
                  <a:gd name="connsiteY15" fmla="*/ 466576 h 657300"/>
                  <a:gd name="connsiteX16" fmla="*/ 243929 w 1170607"/>
                  <a:gd name="connsiteY16" fmla="*/ 490314 h 657300"/>
                  <a:gd name="connsiteX17" fmla="*/ 260505 w 1170607"/>
                  <a:gd name="connsiteY17" fmla="*/ 505662 h 657300"/>
                  <a:gd name="connsiteX18" fmla="*/ 283220 w 1170607"/>
                  <a:gd name="connsiteY18" fmla="*/ 511597 h 657300"/>
                  <a:gd name="connsiteX19" fmla="*/ 308800 w 1170607"/>
                  <a:gd name="connsiteY19" fmla="*/ 505458 h 657300"/>
                  <a:gd name="connsiteX20" fmla="*/ 327217 w 1170607"/>
                  <a:gd name="connsiteY20" fmla="*/ 490724 h 657300"/>
                  <a:gd name="connsiteX21" fmla="*/ 339291 w 1170607"/>
                  <a:gd name="connsiteY21" fmla="*/ 466986 h 657300"/>
                  <a:gd name="connsiteX22" fmla="*/ 346658 w 1170607"/>
                  <a:gd name="connsiteY22" fmla="*/ 440178 h 657300"/>
                  <a:gd name="connsiteX23" fmla="*/ 350341 w 1170607"/>
                  <a:gd name="connsiteY23" fmla="*/ 409482 h 657300"/>
                  <a:gd name="connsiteX24" fmla="*/ 351774 w 1170607"/>
                  <a:gd name="connsiteY24" fmla="*/ 380628 h 657300"/>
                  <a:gd name="connsiteX25" fmla="*/ 351978 w 1170607"/>
                  <a:gd name="connsiteY25" fmla="*/ 353207 h 657300"/>
                  <a:gd name="connsiteX26" fmla="*/ 351978 w 1170607"/>
                  <a:gd name="connsiteY26" fmla="*/ 347886 h 657300"/>
                  <a:gd name="connsiteX27" fmla="*/ 353615 w 1170607"/>
                  <a:gd name="connsiteY27" fmla="*/ 304503 h 657300"/>
                  <a:gd name="connsiteX28" fmla="*/ 353820 w 1170607"/>
                  <a:gd name="connsiteY28" fmla="*/ 288131 h 657300"/>
                  <a:gd name="connsiteX29" fmla="*/ 354025 w 1170607"/>
                  <a:gd name="connsiteY29" fmla="*/ 265007 h 657300"/>
                  <a:gd name="connsiteX30" fmla="*/ 352797 w 1170607"/>
                  <a:gd name="connsiteY30" fmla="*/ 239837 h 657300"/>
                  <a:gd name="connsiteX31" fmla="*/ 349523 w 1170607"/>
                  <a:gd name="connsiteY31" fmla="*/ 212824 h 657300"/>
                  <a:gd name="connsiteX32" fmla="*/ 342770 w 1170607"/>
                  <a:gd name="connsiteY32" fmla="*/ 188677 h 657300"/>
                  <a:gd name="connsiteX33" fmla="*/ 331514 w 1170607"/>
                  <a:gd name="connsiteY33" fmla="*/ 167190 h 657300"/>
                  <a:gd name="connsiteX34" fmla="*/ 314734 w 1170607"/>
                  <a:gd name="connsiteY34" fmla="*/ 153684 h 657300"/>
                  <a:gd name="connsiteX35" fmla="*/ 291405 w 1170607"/>
                  <a:gd name="connsiteY35" fmla="*/ 148159 h 657300"/>
                  <a:gd name="connsiteX36" fmla="*/ 892299 w 1170607"/>
                  <a:gd name="connsiteY36" fmla="*/ 2457 h 657300"/>
                  <a:gd name="connsiteX37" fmla="*/ 974154 w 1170607"/>
                  <a:gd name="connsiteY37" fmla="*/ 9210 h 657300"/>
                  <a:gd name="connsiteX38" fmla="*/ 1048233 w 1170607"/>
                  <a:gd name="connsiteY38" fmla="*/ 30902 h 657300"/>
                  <a:gd name="connsiteX39" fmla="*/ 1109011 w 1170607"/>
                  <a:gd name="connsiteY39" fmla="*/ 67737 h 657300"/>
                  <a:gd name="connsiteX40" fmla="*/ 1149734 w 1170607"/>
                  <a:gd name="connsiteY40" fmla="*/ 121966 h 657300"/>
                  <a:gd name="connsiteX41" fmla="*/ 1164878 w 1170607"/>
                  <a:gd name="connsiteY41" fmla="*/ 193999 h 657300"/>
                  <a:gd name="connsiteX42" fmla="*/ 1154850 w 1170607"/>
                  <a:gd name="connsiteY42" fmla="*/ 258664 h 657300"/>
                  <a:gd name="connsiteX43" fmla="*/ 1129475 w 1170607"/>
                  <a:gd name="connsiteY43" fmla="*/ 309415 h 657300"/>
                  <a:gd name="connsiteX44" fmla="*/ 1091003 w 1170607"/>
                  <a:gd name="connsiteY44" fmla="*/ 351980 h 657300"/>
                  <a:gd name="connsiteX45" fmla="*/ 1046187 w 1170607"/>
                  <a:gd name="connsiteY45" fmla="*/ 389429 h 657300"/>
                  <a:gd name="connsiteX46" fmla="*/ 996869 w 1170607"/>
                  <a:gd name="connsiteY46" fmla="*/ 427287 h 657300"/>
                  <a:gd name="connsiteX47" fmla="*/ 949598 w 1170607"/>
                  <a:gd name="connsiteY47" fmla="*/ 469033 h 657300"/>
                  <a:gd name="connsiteX48" fmla="*/ 1034932 w 1170607"/>
                  <a:gd name="connsiteY48" fmla="*/ 467396 h 657300"/>
                  <a:gd name="connsiteX49" fmla="*/ 1122313 w 1170607"/>
                  <a:gd name="connsiteY49" fmla="*/ 465759 h 657300"/>
                  <a:gd name="connsiteX50" fmla="*/ 1160580 w 1170607"/>
                  <a:gd name="connsiteY50" fmla="*/ 484790 h 657300"/>
                  <a:gd name="connsiteX51" fmla="*/ 1170607 w 1170607"/>
                  <a:gd name="connsiteY51" fmla="*/ 539429 h 657300"/>
                  <a:gd name="connsiteX52" fmla="*/ 1169380 w 1170607"/>
                  <a:gd name="connsiteY52" fmla="*/ 576878 h 657300"/>
                  <a:gd name="connsiteX53" fmla="*/ 1168152 w 1170607"/>
                  <a:gd name="connsiteY53" fmla="*/ 617191 h 657300"/>
                  <a:gd name="connsiteX54" fmla="*/ 1168152 w 1170607"/>
                  <a:gd name="connsiteY54" fmla="*/ 624558 h 657300"/>
                  <a:gd name="connsiteX55" fmla="*/ 1167333 w 1170607"/>
                  <a:gd name="connsiteY55" fmla="*/ 633972 h 657300"/>
                  <a:gd name="connsiteX56" fmla="*/ 1162831 w 1170607"/>
                  <a:gd name="connsiteY56" fmla="*/ 640111 h 657300"/>
                  <a:gd name="connsiteX57" fmla="*/ 1151781 w 1170607"/>
                  <a:gd name="connsiteY57" fmla="*/ 644204 h 657300"/>
                  <a:gd name="connsiteX58" fmla="*/ 1122313 w 1170607"/>
                  <a:gd name="connsiteY58" fmla="*/ 644204 h 657300"/>
                  <a:gd name="connsiteX59" fmla="*/ 989707 w 1170607"/>
                  <a:gd name="connsiteY59" fmla="*/ 640930 h 657300"/>
                  <a:gd name="connsiteX60" fmla="*/ 631998 w 1170607"/>
                  <a:gd name="connsiteY60" fmla="*/ 647478 h 657300"/>
                  <a:gd name="connsiteX61" fmla="*/ 631998 w 1170607"/>
                  <a:gd name="connsiteY61" fmla="*/ 639292 h 657300"/>
                  <a:gd name="connsiteX62" fmla="*/ 621971 w 1170607"/>
                  <a:gd name="connsiteY62" fmla="*/ 624558 h 657300"/>
                  <a:gd name="connsiteX63" fmla="*/ 618083 w 1170607"/>
                  <a:gd name="connsiteY63" fmla="*/ 600002 h 657300"/>
                  <a:gd name="connsiteX64" fmla="*/ 618083 w 1170607"/>
                  <a:gd name="connsiteY64" fmla="*/ 480493 h 657300"/>
                  <a:gd name="connsiteX65" fmla="*/ 645914 w 1170607"/>
                  <a:gd name="connsiteY65" fmla="*/ 452662 h 657300"/>
                  <a:gd name="connsiteX66" fmla="*/ 807169 w 1170607"/>
                  <a:gd name="connsiteY66" fmla="*/ 342157 h 657300"/>
                  <a:gd name="connsiteX67" fmla="*/ 832544 w 1170607"/>
                  <a:gd name="connsiteY67" fmla="*/ 322512 h 657300"/>
                  <a:gd name="connsiteX68" fmla="*/ 920948 w 1170607"/>
                  <a:gd name="connsiteY68" fmla="*/ 199729 h 657300"/>
                  <a:gd name="connsiteX69" fmla="*/ 910921 w 1170607"/>
                  <a:gd name="connsiteY69" fmla="*/ 172716 h 657300"/>
                  <a:gd name="connsiteX70" fmla="*/ 884113 w 1170607"/>
                  <a:gd name="connsiteY70" fmla="*/ 162894 h 657300"/>
                  <a:gd name="connsiteX71" fmla="*/ 861398 w 1170607"/>
                  <a:gd name="connsiteY71" fmla="*/ 169237 h 657300"/>
                  <a:gd name="connsiteX72" fmla="*/ 849939 w 1170607"/>
                  <a:gd name="connsiteY72" fmla="*/ 184790 h 657300"/>
                  <a:gd name="connsiteX73" fmla="*/ 845027 w 1170607"/>
                  <a:gd name="connsiteY73" fmla="*/ 203412 h 657300"/>
                  <a:gd name="connsiteX74" fmla="*/ 839707 w 1170607"/>
                  <a:gd name="connsiteY74" fmla="*/ 220602 h 657300"/>
                  <a:gd name="connsiteX75" fmla="*/ 829270 w 1170607"/>
                  <a:gd name="connsiteY75" fmla="*/ 230015 h 657300"/>
                  <a:gd name="connsiteX76" fmla="*/ 639365 w 1170607"/>
                  <a:gd name="connsiteY76" fmla="*/ 230015 h 657300"/>
                  <a:gd name="connsiteX77" fmla="*/ 616446 w 1170607"/>
                  <a:gd name="connsiteY77" fmla="*/ 217737 h 657300"/>
                  <a:gd name="connsiteX78" fmla="*/ 644686 w 1170607"/>
                  <a:gd name="connsiteY78" fmla="*/ 116441 h 657300"/>
                  <a:gd name="connsiteX79" fmla="*/ 703622 w 1170607"/>
                  <a:gd name="connsiteY79" fmla="*/ 49524 h 657300"/>
                  <a:gd name="connsiteX80" fmla="*/ 786705 w 1170607"/>
                  <a:gd name="connsiteY80" fmla="*/ 13712 h 657300"/>
                  <a:gd name="connsiteX81" fmla="*/ 892299 w 1170607"/>
                  <a:gd name="connsiteY81" fmla="*/ 2457 h 657300"/>
                  <a:gd name="connsiteX82" fmla="*/ 286494 w 1170607"/>
                  <a:gd name="connsiteY82" fmla="*/ 0 h 657300"/>
                  <a:gd name="connsiteX83" fmla="*/ 377149 w 1170607"/>
                  <a:gd name="connsiteY83" fmla="*/ 11255 h 657300"/>
                  <a:gd name="connsiteX84" fmla="*/ 447340 w 1170607"/>
                  <a:gd name="connsiteY84" fmla="*/ 41337 h 657300"/>
                  <a:gd name="connsiteX85" fmla="*/ 498909 w 1170607"/>
                  <a:gd name="connsiteY85" fmla="*/ 87381 h 657300"/>
                  <a:gd name="connsiteX86" fmla="*/ 534925 w 1170607"/>
                  <a:gd name="connsiteY86" fmla="*/ 144066 h 657300"/>
                  <a:gd name="connsiteX87" fmla="*/ 557026 w 1170607"/>
                  <a:gd name="connsiteY87" fmla="*/ 208118 h 657300"/>
                  <a:gd name="connsiteX88" fmla="*/ 568895 w 1170607"/>
                  <a:gd name="connsiteY88" fmla="*/ 274216 h 657300"/>
                  <a:gd name="connsiteX89" fmla="*/ 572169 w 1170607"/>
                  <a:gd name="connsiteY89" fmla="*/ 339700 h 657300"/>
                  <a:gd name="connsiteX90" fmla="*/ 549864 w 1170607"/>
                  <a:gd name="connsiteY90" fmla="*/ 478445 h 657300"/>
                  <a:gd name="connsiteX91" fmla="*/ 488063 w 1170607"/>
                  <a:gd name="connsiteY91" fmla="*/ 578309 h 657300"/>
                  <a:gd name="connsiteX92" fmla="*/ 396180 w 1170607"/>
                  <a:gd name="connsiteY92" fmla="*/ 637245 h 657300"/>
                  <a:gd name="connsiteX93" fmla="*/ 281583 w 1170607"/>
                  <a:gd name="connsiteY93" fmla="*/ 657300 h 657300"/>
                  <a:gd name="connsiteX94" fmla="*/ 197476 w 1170607"/>
                  <a:gd name="connsiteY94" fmla="*/ 648500 h 657300"/>
                  <a:gd name="connsiteX95" fmla="*/ 131787 w 1170607"/>
                  <a:gd name="connsiteY95" fmla="*/ 624557 h 657300"/>
                  <a:gd name="connsiteX96" fmla="*/ 82469 w 1170607"/>
                  <a:gd name="connsiteY96" fmla="*/ 586085 h 657300"/>
                  <a:gd name="connsiteX97" fmla="*/ 46862 w 1170607"/>
                  <a:gd name="connsiteY97" fmla="*/ 536358 h 657300"/>
                  <a:gd name="connsiteX98" fmla="*/ 22919 w 1170607"/>
                  <a:gd name="connsiteY98" fmla="*/ 475785 h 657300"/>
                  <a:gd name="connsiteX99" fmla="*/ 7981 w 1170607"/>
                  <a:gd name="connsiteY99" fmla="*/ 408050 h 657300"/>
                  <a:gd name="connsiteX100" fmla="*/ 0 w 1170607"/>
                  <a:gd name="connsiteY100" fmla="*/ 333152 h 657300"/>
                  <a:gd name="connsiteX101" fmla="*/ 286494 w 1170607"/>
                  <a:gd name="connsiteY101" fmla="*/ 0 h 6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170607" h="657300">
                    <a:moveTo>
                      <a:pt x="291405" y="148159"/>
                    </a:moveTo>
                    <a:cubicBezTo>
                      <a:pt x="284311" y="148159"/>
                      <a:pt x="277763" y="149114"/>
                      <a:pt x="271760" y="151024"/>
                    </a:cubicBezTo>
                    <a:cubicBezTo>
                      <a:pt x="265757" y="152933"/>
                      <a:pt x="260505" y="156139"/>
                      <a:pt x="256003" y="160642"/>
                    </a:cubicBezTo>
                    <a:cubicBezTo>
                      <a:pt x="251501" y="165144"/>
                      <a:pt x="247476" y="169714"/>
                      <a:pt x="243929" y="174352"/>
                    </a:cubicBezTo>
                    <a:cubicBezTo>
                      <a:pt x="240382" y="178991"/>
                      <a:pt x="237381" y="185266"/>
                      <a:pt x="234925" y="193179"/>
                    </a:cubicBezTo>
                    <a:cubicBezTo>
                      <a:pt x="232469" y="201092"/>
                      <a:pt x="230287" y="208118"/>
                      <a:pt x="228377" y="214257"/>
                    </a:cubicBezTo>
                    <a:cubicBezTo>
                      <a:pt x="226467" y="220396"/>
                      <a:pt x="224966" y="228582"/>
                      <a:pt x="223875" y="238814"/>
                    </a:cubicBezTo>
                    <a:cubicBezTo>
                      <a:pt x="222783" y="249045"/>
                      <a:pt x="221896" y="257367"/>
                      <a:pt x="221214" y="263779"/>
                    </a:cubicBezTo>
                    <a:cubicBezTo>
                      <a:pt x="220532" y="270191"/>
                      <a:pt x="220055" y="279196"/>
                      <a:pt x="219782" y="290792"/>
                    </a:cubicBezTo>
                    <a:cubicBezTo>
                      <a:pt x="219509" y="302388"/>
                      <a:pt x="219372" y="310915"/>
                      <a:pt x="219372" y="316372"/>
                    </a:cubicBezTo>
                    <a:cubicBezTo>
                      <a:pt x="219372" y="321829"/>
                      <a:pt x="219372" y="330287"/>
                      <a:pt x="219372" y="341747"/>
                    </a:cubicBezTo>
                    <a:cubicBezTo>
                      <a:pt x="219372" y="345294"/>
                      <a:pt x="219372" y="347886"/>
                      <a:pt x="219372" y="349523"/>
                    </a:cubicBezTo>
                    <a:cubicBezTo>
                      <a:pt x="219372" y="360164"/>
                      <a:pt x="219509" y="369578"/>
                      <a:pt x="219782" y="377763"/>
                    </a:cubicBezTo>
                    <a:cubicBezTo>
                      <a:pt x="220055" y="385949"/>
                      <a:pt x="220668" y="395976"/>
                      <a:pt x="221623" y="407845"/>
                    </a:cubicBezTo>
                    <a:cubicBezTo>
                      <a:pt x="222578" y="419714"/>
                      <a:pt x="223875" y="430082"/>
                      <a:pt x="225512" y="438950"/>
                    </a:cubicBezTo>
                    <a:cubicBezTo>
                      <a:pt x="227149" y="447818"/>
                      <a:pt x="229536" y="457027"/>
                      <a:pt x="232674" y="466576"/>
                    </a:cubicBezTo>
                    <a:cubicBezTo>
                      <a:pt x="235812" y="476126"/>
                      <a:pt x="239563" y="484039"/>
                      <a:pt x="243929" y="490314"/>
                    </a:cubicBezTo>
                    <a:cubicBezTo>
                      <a:pt x="248295" y="496590"/>
                      <a:pt x="253820" y="501706"/>
                      <a:pt x="260505" y="505662"/>
                    </a:cubicBezTo>
                    <a:cubicBezTo>
                      <a:pt x="267190" y="509619"/>
                      <a:pt x="274761" y="511597"/>
                      <a:pt x="283220" y="511597"/>
                    </a:cubicBezTo>
                    <a:cubicBezTo>
                      <a:pt x="292770" y="511597"/>
                      <a:pt x="301296" y="509551"/>
                      <a:pt x="308800" y="505458"/>
                    </a:cubicBezTo>
                    <a:cubicBezTo>
                      <a:pt x="316303" y="501365"/>
                      <a:pt x="322442" y="496454"/>
                      <a:pt x="327217" y="490724"/>
                    </a:cubicBezTo>
                    <a:cubicBezTo>
                      <a:pt x="331992" y="484994"/>
                      <a:pt x="336017" y="477081"/>
                      <a:pt x="339291" y="466986"/>
                    </a:cubicBezTo>
                    <a:cubicBezTo>
                      <a:pt x="342565" y="456890"/>
                      <a:pt x="345021" y="447954"/>
                      <a:pt x="346658" y="440178"/>
                    </a:cubicBezTo>
                    <a:cubicBezTo>
                      <a:pt x="348295" y="432402"/>
                      <a:pt x="349523" y="422170"/>
                      <a:pt x="350341" y="409482"/>
                    </a:cubicBezTo>
                    <a:cubicBezTo>
                      <a:pt x="351160" y="396795"/>
                      <a:pt x="351637" y="387177"/>
                      <a:pt x="351774" y="380628"/>
                    </a:cubicBezTo>
                    <a:cubicBezTo>
                      <a:pt x="351910" y="374080"/>
                      <a:pt x="351978" y="364939"/>
                      <a:pt x="351978" y="353207"/>
                    </a:cubicBezTo>
                    <a:cubicBezTo>
                      <a:pt x="351978" y="350751"/>
                      <a:pt x="351978" y="348977"/>
                      <a:pt x="351978" y="347886"/>
                    </a:cubicBezTo>
                    <a:cubicBezTo>
                      <a:pt x="353070" y="338609"/>
                      <a:pt x="353615" y="324148"/>
                      <a:pt x="353615" y="304503"/>
                    </a:cubicBezTo>
                    <a:cubicBezTo>
                      <a:pt x="353615" y="303138"/>
                      <a:pt x="353684" y="297681"/>
                      <a:pt x="353820" y="288131"/>
                    </a:cubicBezTo>
                    <a:cubicBezTo>
                      <a:pt x="353956" y="278582"/>
                      <a:pt x="354025" y="270874"/>
                      <a:pt x="354025" y="265007"/>
                    </a:cubicBezTo>
                    <a:cubicBezTo>
                      <a:pt x="354025" y="259141"/>
                      <a:pt x="353615" y="250751"/>
                      <a:pt x="352797" y="239837"/>
                    </a:cubicBezTo>
                    <a:cubicBezTo>
                      <a:pt x="351978" y="228923"/>
                      <a:pt x="350887" y="219919"/>
                      <a:pt x="349523" y="212824"/>
                    </a:cubicBezTo>
                    <a:cubicBezTo>
                      <a:pt x="348158" y="205730"/>
                      <a:pt x="345907" y="197681"/>
                      <a:pt x="342770" y="188677"/>
                    </a:cubicBezTo>
                    <a:cubicBezTo>
                      <a:pt x="339632" y="179673"/>
                      <a:pt x="335880" y="172511"/>
                      <a:pt x="331514" y="167190"/>
                    </a:cubicBezTo>
                    <a:cubicBezTo>
                      <a:pt x="327149" y="161869"/>
                      <a:pt x="321555" y="157367"/>
                      <a:pt x="314734" y="153684"/>
                    </a:cubicBezTo>
                    <a:cubicBezTo>
                      <a:pt x="307913" y="150000"/>
                      <a:pt x="300136" y="148159"/>
                      <a:pt x="291405" y="148159"/>
                    </a:cubicBezTo>
                    <a:close/>
                    <a:moveTo>
                      <a:pt x="892299" y="2457"/>
                    </a:moveTo>
                    <a:cubicBezTo>
                      <a:pt x="920948" y="2457"/>
                      <a:pt x="948233" y="4708"/>
                      <a:pt x="974154" y="9210"/>
                    </a:cubicBezTo>
                    <a:cubicBezTo>
                      <a:pt x="1000075" y="13712"/>
                      <a:pt x="1024768" y="20942"/>
                      <a:pt x="1048233" y="30902"/>
                    </a:cubicBezTo>
                    <a:cubicBezTo>
                      <a:pt x="1071699" y="40861"/>
                      <a:pt x="1091958" y="53139"/>
                      <a:pt x="1109011" y="67737"/>
                    </a:cubicBezTo>
                    <a:cubicBezTo>
                      <a:pt x="1126064" y="82334"/>
                      <a:pt x="1139639" y="100411"/>
                      <a:pt x="1149734" y="121966"/>
                    </a:cubicBezTo>
                    <a:cubicBezTo>
                      <a:pt x="1159830" y="143521"/>
                      <a:pt x="1164878" y="167532"/>
                      <a:pt x="1164878" y="193999"/>
                    </a:cubicBezTo>
                    <a:cubicBezTo>
                      <a:pt x="1164878" y="217191"/>
                      <a:pt x="1161535" y="238746"/>
                      <a:pt x="1154850" y="258664"/>
                    </a:cubicBezTo>
                    <a:cubicBezTo>
                      <a:pt x="1148165" y="278583"/>
                      <a:pt x="1139707" y="295499"/>
                      <a:pt x="1129475" y="309415"/>
                    </a:cubicBezTo>
                    <a:cubicBezTo>
                      <a:pt x="1119243" y="323330"/>
                      <a:pt x="1106419" y="337519"/>
                      <a:pt x="1091003" y="351980"/>
                    </a:cubicBezTo>
                    <a:cubicBezTo>
                      <a:pt x="1075587" y="366441"/>
                      <a:pt x="1060648" y="378924"/>
                      <a:pt x="1046187" y="389429"/>
                    </a:cubicBezTo>
                    <a:cubicBezTo>
                      <a:pt x="1031726" y="399933"/>
                      <a:pt x="1015287" y="412553"/>
                      <a:pt x="996869" y="427287"/>
                    </a:cubicBezTo>
                    <a:cubicBezTo>
                      <a:pt x="978452" y="442021"/>
                      <a:pt x="962694" y="455936"/>
                      <a:pt x="949598" y="469033"/>
                    </a:cubicBezTo>
                    <a:cubicBezTo>
                      <a:pt x="968151" y="469033"/>
                      <a:pt x="996596" y="468487"/>
                      <a:pt x="1034932" y="467396"/>
                    </a:cubicBezTo>
                    <a:cubicBezTo>
                      <a:pt x="1073267" y="466305"/>
                      <a:pt x="1102394" y="465759"/>
                      <a:pt x="1122313" y="465759"/>
                    </a:cubicBezTo>
                    <a:cubicBezTo>
                      <a:pt x="1141139" y="465759"/>
                      <a:pt x="1153895" y="472103"/>
                      <a:pt x="1160580" y="484790"/>
                    </a:cubicBezTo>
                    <a:cubicBezTo>
                      <a:pt x="1167265" y="497478"/>
                      <a:pt x="1170607" y="515691"/>
                      <a:pt x="1170607" y="539429"/>
                    </a:cubicBezTo>
                    <a:cubicBezTo>
                      <a:pt x="1170607" y="546796"/>
                      <a:pt x="1170198" y="559279"/>
                      <a:pt x="1169380" y="576878"/>
                    </a:cubicBezTo>
                    <a:cubicBezTo>
                      <a:pt x="1168561" y="594477"/>
                      <a:pt x="1168152" y="607914"/>
                      <a:pt x="1168152" y="617191"/>
                    </a:cubicBezTo>
                    <a:lnTo>
                      <a:pt x="1168152" y="624558"/>
                    </a:lnTo>
                    <a:cubicBezTo>
                      <a:pt x="1168152" y="628651"/>
                      <a:pt x="1167879" y="631789"/>
                      <a:pt x="1167333" y="633972"/>
                    </a:cubicBezTo>
                    <a:cubicBezTo>
                      <a:pt x="1166787" y="636155"/>
                      <a:pt x="1165287" y="638201"/>
                      <a:pt x="1162831" y="640111"/>
                    </a:cubicBezTo>
                    <a:cubicBezTo>
                      <a:pt x="1160375" y="642021"/>
                      <a:pt x="1156692" y="643385"/>
                      <a:pt x="1151781" y="644204"/>
                    </a:cubicBezTo>
                    <a:lnTo>
                      <a:pt x="1122313" y="644204"/>
                    </a:lnTo>
                    <a:cubicBezTo>
                      <a:pt x="1101576" y="643658"/>
                      <a:pt x="1057374" y="642567"/>
                      <a:pt x="989707" y="640930"/>
                    </a:cubicBezTo>
                    <a:cubicBezTo>
                      <a:pt x="880566" y="640930"/>
                      <a:pt x="761330" y="643112"/>
                      <a:pt x="631998" y="647478"/>
                    </a:cubicBezTo>
                    <a:lnTo>
                      <a:pt x="631998" y="639292"/>
                    </a:lnTo>
                    <a:cubicBezTo>
                      <a:pt x="627906" y="636837"/>
                      <a:pt x="624563" y="631925"/>
                      <a:pt x="621971" y="624558"/>
                    </a:cubicBezTo>
                    <a:cubicBezTo>
                      <a:pt x="619379" y="617191"/>
                      <a:pt x="618083" y="609006"/>
                      <a:pt x="618083" y="600002"/>
                    </a:cubicBezTo>
                    <a:lnTo>
                      <a:pt x="618083" y="480493"/>
                    </a:lnTo>
                    <a:cubicBezTo>
                      <a:pt x="618083" y="474217"/>
                      <a:pt x="627360" y="464940"/>
                      <a:pt x="645914" y="452662"/>
                    </a:cubicBezTo>
                    <a:cubicBezTo>
                      <a:pt x="720948" y="401912"/>
                      <a:pt x="774700" y="365077"/>
                      <a:pt x="807169" y="342157"/>
                    </a:cubicBezTo>
                    <a:lnTo>
                      <a:pt x="832544" y="322512"/>
                    </a:lnTo>
                    <a:cubicBezTo>
                      <a:pt x="891480" y="276673"/>
                      <a:pt x="920948" y="235745"/>
                      <a:pt x="920948" y="199729"/>
                    </a:cubicBezTo>
                    <a:cubicBezTo>
                      <a:pt x="920948" y="188269"/>
                      <a:pt x="917606" y="179265"/>
                      <a:pt x="910921" y="172716"/>
                    </a:cubicBezTo>
                    <a:cubicBezTo>
                      <a:pt x="904236" y="166168"/>
                      <a:pt x="895300" y="162894"/>
                      <a:pt x="884113" y="162894"/>
                    </a:cubicBezTo>
                    <a:cubicBezTo>
                      <a:pt x="874563" y="162894"/>
                      <a:pt x="866992" y="165008"/>
                      <a:pt x="861398" y="169237"/>
                    </a:cubicBezTo>
                    <a:cubicBezTo>
                      <a:pt x="855805" y="173467"/>
                      <a:pt x="851985" y="178651"/>
                      <a:pt x="849939" y="184790"/>
                    </a:cubicBezTo>
                    <a:cubicBezTo>
                      <a:pt x="847892" y="190929"/>
                      <a:pt x="846255" y="197136"/>
                      <a:pt x="845027" y="203412"/>
                    </a:cubicBezTo>
                    <a:cubicBezTo>
                      <a:pt x="843799" y="209688"/>
                      <a:pt x="842026" y="215417"/>
                      <a:pt x="839707" y="220602"/>
                    </a:cubicBezTo>
                    <a:cubicBezTo>
                      <a:pt x="837387" y="225786"/>
                      <a:pt x="833909" y="228924"/>
                      <a:pt x="829270" y="230015"/>
                    </a:cubicBezTo>
                    <a:lnTo>
                      <a:pt x="639365" y="230015"/>
                    </a:lnTo>
                    <a:cubicBezTo>
                      <a:pt x="624086" y="230015"/>
                      <a:pt x="616446" y="225922"/>
                      <a:pt x="616446" y="217737"/>
                    </a:cubicBezTo>
                    <a:cubicBezTo>
                      <a:pt x="620539" y="178446"/>
                      <a:pt x="629952" y="144681"/>
                      <a:pt x="644686" y="116441"/>
                    </a:cubicBezTo>
                    <a:cubicBezTo>
                      <a:pt x="659420" y="88200"/>
                      <a:pt x="679065" y="65895"/>
                      <a:pt x="703622" y="49524"/>
                    </a:cubicBezTo>
                    <a:cubicBezTo>
                      <a:pt x="728179" y="33153"/>
                      <a:pt x="755873" y="21215"/>
                      <a:pt x="786705" y="13712"/>
                    </a:cubicBezTo>
                    <a:cubicBezTo>
                      <a:pt x="817537" y="6209"/>
                      <a:pt x="852735" y="2457"/>
                      <a:pt x="892299" y="2457"/>
                    </a:cubicBezTo>
                    <a:close/>
                    <a:moveTo>
                      <a:pt x="286494" y="0"/>
                    </a:moveTo>
                    <a:cubicBezTo>
                      <a:pt x="319509" y="0"/>
                      <a:pt x="349727" y="3752"/>
                      <a:pt x="377149" y="11255"/>
                    </a:cubicBezTo>
                    <a:cubicBezTo>
                      <a:pt x="404570" y="18759"/>
                      <a:pt x="427967" y="28786"/>
                      <a:pt x="447340" y="41337"/>
                    </a:cubicBezTo>
                    <a:cubicBezTo>
                      <a:pt x="466712" y="53888"/>
                      <a:pt x="483902" y="69236"/>
                      <a:pt x="498909" y="87381"/>
                    </a:cubicBezTo>
                    <a:cubicBezTo>
                      <a:pt x="513916" y="105526"/>
                      <a:pt x="525921" y="124420"/>
                      <a:pt x="534925" y="144066"/>
                    </a:cubicBezTo>
                    <a:cubicBezTo>
                      <a:pt x="543929" y="163711"/>
                      <a:pt x="551296" y="185062"/>
                      <a:pt x="557026" y="208118"/>
                    </a:cubicBezTo>
                    <a:cubicBezTo>
                      <a:pt x="562756" y="231174"/>
                      <a:pt x="566712" y="253206"/>
                      <a:pt x="568895" y="274216"/>
                    </a:cubicBezTo>
                    <a:cubicBezTo>
                      <a:pt x="571078" y="295226"/>
                      <a:pt x="572169" y="317054"/>
                      <a:pt x="572169" y="339700"/>
                    </a:cubicBezTo>
                    <a:cubicBezTo>
                      <a:pt x="572169" y="391542"/>
                      <a:pt x="564734" y="437791"/>
                      <a:pt x="549864" y="478445"/>
                    </a:cubicBezTo>
                    <a:cubicBezTo>
                      <a:pt x="534993" y="519100"/>
                      <a:pt x="514393" y="552388"/>
                      <a:pt x="488063" y="578309"/>
                    </a:cubicBezTo>
                    <a:cubicBezTo>
                      <a:pt x="461733" y="604230"/>
                      <a:pt x="431105" y="623875"/>
                      <a:pt x="396180" y="637245"/>
                    </a:cubicBezTo>
                    <a:cubicBezTo>
                      <a:pt x="361255" y="650615"/>
                      <a:pt x="323056" y="657300"/>
                      <a:pt x="281583" y="657300"/>
                    </a:cubicBezTo>
                    <a:cubicBezTo>
                      <a:pt x="250750" y="657300"/>
                      <a:pt x="222715" y="654366"/>
                      <a:pt x="197476" y="648500"/>
                    </a:cubicBezTo>
                    <a:cubicBezTo>
                      <a:pt x="172237" y="642634"/>
                      <a:pt x="150341" y="634653"/>
                      <a:pt x="131787" y="624557"/>
                    </a:cubicBezTo>
                    <a:cubicBezTo>
                      <a:pt x="113233" y="614462"/>
                      <a:pt x="96794" y="601638"/>
                      <a:pt x="82469" y="586085"/>
                    </a:cubicBezTo>
                    <a:cubicBezTo>
                      <a:pt x="68144" y="570533"/>
                      <a:pt x="56275" y="553957"/>
                      <a:pt x="46862" y="536358"/>
                    </a:cubicBezTo>
                    <a:cubicBezTo>
                      <a:pt x="37449" y="518759"/>
                      <a:pt x="29468" y="498568"/>
                      <a:pt x="22919" y="475785"/>
                    </a:cubicBezTo>
                    <a:cubicBezTo>
                      <a:pt x="16371" y="453002"/>
                      <a:pt x="11391" y="430424"/>
                      <a:pt x="7981" y="408050"/>
                    </a:cubicBezTo>
                    <a:cubicBezTo>
                      <a:pt x="4570" y="385676"/>
                      <a:pt x="1910" y="360710"/>
                      <a:pt x="0" y="333152"/>
                    </a:cubicBezTo>
                    <a:cubicBezTo>
                      <a:pt x="0" y="126058"/>
                      <a:pt x="95498" y="15007"/>
                      <a:pt x="286494" y="0"/>
                    </a:cubicBezTo>
                    <a:close/>
                  </a:path>
                </a:pathLst>
              </a:custGeom>
              <a:solidFill>
                <a:schemeClr val="accent1"/>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1" name="TextBox 30">
                <a:extLst>
                  <a:ext uri="{FF2B5EF4-FFF2-40B4-BE49-F238E27FC236}">
                    <a16:creationId xmlns:a16="http://schemas.microsoft.com/office/drawing/2014/main" id="{A4AC0EC8-ED79-49F8-B8F5-E9AEC0D63753}"/>
                  </a:ext>
                </a:extLst>
              </p:cNvPr>
              <p:cNvSpPr txBox="1"/>
              <p:nvPr/>
            </p:nvSpPr>
            <p:spPr>
              <a:xfrm>
                <a:off x="838200" y="1560110"/>
                <a:ext cx="883206" cy="552740"/>
              </a:xfrm>
              <a:custGeom>
                <a:avLst/>
                <a:gdLst>
                  <a:gd name="connsiteX0" fmla="*/ 291405 w 1050279"/>
                  <a:gd name="connsiteY0" fmla="*/ 148159 h 657300"/>
                  <a:gd name="connsiteX1" fmla="*/ 271760 w 1050279"/>
                  <a:gd name="connsiteY1" fmla="*/ 151024 h 657300"/>
                  <a:gd name="connsiteX2" fmla="*/ 256003 w 1050279"/>
                  <a:gd name="connsiteY2" fmla="*/ 160642 h 657300"/>
                  <a:gd name="connsiteX3" fmla="*/ 243929 w 1050279"/>
                  <a:gd name="connsiteY3" fmla="*/ 174352 h 657300"/>
                  <a:gd name="connsiteX4" fmla="*/ 234925 w 1050279"/>
                  <a:gd name="connsiteY4" fmla="*/ 193179 h 657300"/>
                  <a:gd name="connsiteX5" fmla="*/ 228376 w 1050279"/>
                  <a:gd name="connsiteY5" fmla="*/ 214257 h 657300"/>
                  <a:gd name="connsiteX6" fmla="*/ 223874 w 1050279"/>
                  <a:gd name="connsiteY6" fmla="*/ 238814 h 657300"/>
                  <a:gd name="connsiteX7" fmla="*/ 221214 w 1050279"/>
                  <a:gd name="connsiteY7" fmla="*/ 263779 h 657300"/>
                  <a:gd name="connsiteX8" fmla="*/ 219782 w 1050279"/>
                  <a:gd name="connsiteY8" fmla="*/ 290792 h 657300"/>
                  <a:gd name="connsiteX9" fmla="*/ 219372 w 1050279"/>
                  <a:gd name="connsiteY9" fmla="*/ 316372 h 657300"/>
                  <a:gd name="connsiteX10" fmla="*/ 219372 w 1050279"/>
                  <a:gd name="connsiteY10" fmla="*/ 341747 h 657300"/>
                  <a:gd name="connsiteX11" fmla="*/ 219372 w 1050279"/>
                  <a:gd name="connsiteY11" fmla="*/ 349523 h 657300"/>
                  <a:gd name="connsiteX12" fmla="*/ 219782 w 1050279"/>
                  <a:gd name="connsiteY12" fmla="*/ 377763 h 657300"/>
                  <a:gd name="connsiteX13" fmla="*/ 221623 w 1050279"/>
                  <a:gd name="connsiteY13" fmla="*/ 407845 h 657300"/>
                  <a:gd name="connsiteX14" fmla="*/ 225512 w 1050279"/>
                  <a:gd name="connsiteY14" fmla="*/ 438950 h 657300"/>
                  <a:gd name="connsiteX15" fmla="*/ 232674 w 1050279"/>
                  <a:gd name="connsiteY15" fmla="*/ 466576 h 657300"/>
                  <a:gd name="connsiteX16" fmla="*/ 243929 w 1050279"/>
                  <a:gd name="connsiteY16" fmla="*/ 490314 h 657300"/>
                  <a:gd name="connsiteX17" fmla="*/ 260505 w 1050279"/>
                  <a:gd name="connsiteY17" fmla="*/ 505662 h 657300"/>
                  <a:gd name="connsiteX18" fmla="*/ 283220 w 1050279"/>
                  <a:gd name="connsiteY18" fmla="*/ 511597 h 657300"/>
                  <a:gd name="connsiteX19" fmla="*/ 308799 w 1050279"/>
                  <a:gd name="connsiteY19" fmla="*/ 505458 h 657300"/>
                  <a:gd name="connsiteX20" fmla="*/ 327217 w 1050279"/>
                  <a:gd name="connsiteY20" fmla="*/ 490724 h 657300"/>
                  <a:gd name="connsiteX21" fmla="*/ 339291 w 1050279"/>
                  <a:gd name="connsiteY21" fmla="*/ 466986 h 657300"/>
                  <a:gd name="connsiteX22" fmla="*/ 346658 w 1050279"/>
                  <a:gd name="connsiteY22" fmla="*/ 440178 h 657300"/>
                  <a:gd name="connsiteX23" fmla="*/ 350341 w 1050279"/>
                  <a:gd name="connsiteY23" fmla="*/ 409482 h 657300"/>
                  <a:gd name="connsiteX24" fmla="*/ 351774 w 1050279"/>
                  <a:gd name="connsiteY24" fmla="*/ 380628 h 657300"/>
                  <a:gd name="connsiteX25" fmla="*/ 351978 w 1050279"/>
                  <a:gd name="connsiteY25" fmla="*/ 353207 h 657300"/>
                  <a:gd name="connsiteX26" fmla="*/ 351978 w 1050279"/>
                  <a:gd name="connsiteY26" fmla="*/ 347886 h 657300"/>
                  <a:gd name="connsiteX27" fmla="*/ 353615 w 1050279"/>
                  <a:gd name="connsiteY27" fmla="*/ 304503 h 657300"/>
                  <a:gd name="connsiteX28" fmla="*/ 353820 w 1050279"/>
                  <a:gd name="connsiteY28" fmla="*/ 288131 h 657300"/>
                  <a:gd name="connsiteX29" fmla="*/ 354025 w 1050279"/>
                  <a:gd name="connsiteY29" fmla="*/ 265007 h 657300"/>
                  <a:gd name="connsiteX30" fmla="*/ 352797 w 1050279"/>
                  <a:gd name="connsiteY30" fmla="*/ 239837 h 657300"/>
                  <a:gd name="connsiteX31" fmla="*/ 349523 w 1050279"/>
                  <a:gd name="connsiteY31" fmla="*/ 212824 h 657300"/>
                  <a:gd name="connsiteX32" fmla="*/ 342769 w 1050279"/>
                  <a:gd name="connsiteY32" fmla="*/ 188677 h 657300"/>
                  <a:gd name="connsiteX33" fmla="*/ 331514 w 1050279"/>
                  <a:gd name="connsiteY33" fmla="*/ 167190 h 657300"/>
                  <a:gd name="connsiteX34" fmla="*/ 314734 w 1050279"/>
                  <a:gd name="connsiteY34" fmla="*/ 153684 h 657300"/>
                  <a:gd name="connsiteX35" fmla="*/ 291405 w 1050279"/>
                  <a:gd name="connsiteY35" fmla="*/ 148159 h 657300"/>
                  <a:gd name="connsiteX36" fmla="*/ 857100 w 1050279"/>
                  <a:gd name="connsiteY36" fmla="*/ 18827 h 657300"/>
                  <a:gd name="connsiteX37" fmla="*/ 1004440 w 1050279"/>
                  <a:gd name="connsiteY37" fmla="*/ 20464 h 657300"/>
                  <a:gd name="connsiteX38" fmla="*/ 1036363 w 1050279"/>
                  <a:gd name="connsiteY38" fmla="*/ 18827 h 657300"/>
                  <a:gd name="connsiteX39" fmla="*/ 1041479 w 1050279"/>
                  <a:gd name="connsiteY39" fmla="*/ 20873 h 657300"/>
                  <a:gd name="connsiteX40" fmla="*/ 1044140 w 1050279"/>
                  <a:gd name="connsiteY40" fmla="*/ 27012 h 657300"/>
                  <a:gd name="connsiteX41" fmla="*/ 1045163 w 1050279"/>
                  <a:gd name="connsiteY41" fmla="*/ 35607 h 657300"/>
                  <a:gd name="connsiteX42" fmla="*/ 1045367 w 1050279"/>
                  <a:gd name="connsiteY42" fmla="*/ 49113 h 657300"/>
                  <a:gd name="connsiteX43" fmla="*/ 1045367 w 1050279"/>
                  <a:gd name="connsiteY43" fmla="*/ 267668 h 657300"/>
                  <a:gd name="connsiteX44" fmla="*/ 1047823 w 1050279"/>
                  <a:gd name="connsiteY44" fmla="*/ 450001 h 657300"/>
                  <a:gd name="connsiteX45" fmla="*/ 1050279 w 1050279"/>
                  <a:gd name="connsiteY45" fmla="*/ 632743 h 657300"/>
                  <a:gd name="connsiteX46" fmla="*/ 991343 w 1050279"/>
                  <a:gd name="connsiteY46" fmla="*/ 647477 h 657300"/>
                  <a:gd name="connsiteX47" fmla="*/ 969242 w 1050279"/>
                  <a:gd name="connsiteY47" fmla="*/ 647068 h 657300"/>
                  <a:gd name="connsiteX48" fmla="*/ 950415 w 1050279"/>
                  <a:gd name="connsiteY48" fmla="*/ 646658 h 657300"/>
                  <a:gd name="connsiteX49" fmla="*/ 918082 w 1050279"/>
                  <a:gd name="connsiteY49" fmla="*/ 647068 h 657300"/>
                  <a:gd name="connsiteX50" fmla="*/ 887386 w 1050279"/>
                  <a:gd name="connsiteY50" fmla="*/ 647477 h 657300"/>
                  <a:gd name="connsiteX51" fmla="*/ 811261 w 1050279"/>
                  <a:gd name="connsiteY51" fmla="*/ 645840 h 657300"/>
                  <a:gd name="connsiteX52" fmla="*/ 800620 w 1050279"/>
                  <a:gd name="connsiteY52" fmla="*/ 631924 h 657300"/>
                  <a:gd name="connsiteX53" fmla="*/ 796527 w 1050279"/>
                  <a:gd name="connsiteY53" fmla="*/ 614735 h 657300"/>
                  <a:gd name="connsiteX54" fmla="*/ 798164 w 1050279"/>
                  <a:gd name="connsiteY54" fmla="*/ 434653 h 657300"/>
                  <a:gd name="connsiteX55" fmla="*/ 798164 w 1050279"/>
                  <a:gd name="connsiteY55" fmla="*/ 256208 h 657300"/>
                  <a:gd name="connsiteX56" fmla="*/ 686022 w 1050279"/>
                  <a:gd name="connsiteY56" fmla="*/ 311870 h 657300"/>
                  <a:gd name="connsiteX57" fmla="*/ 675790 w 1050279"/>
                  <a:gd name="connsiteY57" fmla="*/ 309414 h 657300"/>
                  <a:gd name="connsiteX58" fmla="*/ 672107 w 1050279"/>
                  <a:gd name="connsiteY58" fmla="*/ 300410 h 657300"/>
                  <a:gd name="connsiteX59" fmla="*/ 672107 w 1050279"/>
                  <a:gd name="connsiteY59" fmla="*/ 241474 h 657300"/>
                  <a:gd name="connsiteX60" fmla="*/ 672107 w 1050279"/>
                  <a:gd name="connsiteY60" fmla="*/ 227968 h 657300"/>
                  <a:gd name="connsiteX61" fmla="*/ 675790 w 1050279"/>
                  <a:gd name="connsiteY61" fmla="*/ 146931 h 657300"/>
                  <a:gd name="connsiteX62" fmla="*/ 693389 w 1050279"/>
                  <a:gd name="connsiteY62" fmla="*/ 124011 h 657300"/>
                  <a:gd name="connsiteX63" fmla="*/ 708532 w 1050279"/>
                  <a:gd name="connsiteY63" fmla="*/ 116235 h 657300"/>
                  <a:gd name="connsiteX64" fmla="*/ 729405 w 1050279"/>
                  <a:gd name="connsiteY64" fmla="*/ 104775 h 657300"/>
                  <a:gd name="connsiteX65" fmla="*/ 766445 w 1050279"/>
                  <a:gd name="connsiteY65" fmla="*/ 87995 h 657300"/>
                  <a:gd name="connsiteX66" fmla="*/ 815558 w 1050279"/>
                  <a:gd name="connsiteY66" fmla="*/ 58118 h 657300"/>
                  <a:gd name="connsiteX67" fmla="*/ 857100 w 1050279"/>
                  <a:gd name="connsiteY67" fmla="*/ 18827 h 657300"/>
                  <a:gd name="connsiteX68" fmla="*/ 286494 w 1050279"/>
                  <a:gd name="connsiteY68" fmla="*/ 0 h 657300"/>
                  <a:gd name="connsiteX69" fmla="*/ 377149 w 1050279"/>
                  <a:gd name="connsiteY69" fmla="*/ 11255 h 657300"/>
                  <a:gd name="connsiteX70" fmla="*/ 447340 w 1050279"/>
                  <a:gd name="connsiteY70" fmla="*/ 41337 h 657300"/>
                  <a:gd name="connsiteX71" fmla="*/ 498909 w 1050279"/>
                  <a:gd name="connsiteY71" fmla="*/ 87381 h 657300"/>
                  <a:gd name="connsiteX72" fmla="*/ 534925 w 1050279"/>
                  <a:gd name="connsiteY72" fmla="*/ 144066 h 657300"/>
                  <a:gd name="connsiteX73" fmla="*/ 557026 w 1050279"/>
                  <a:gd name="connsiteY73" fmla="*/ 208118 h 657300"/>
                  <a:gd name="connsiteX74" fmla="*/ 568895 w 1050279"/>
                  <a:gd name="connsiteY74" fmla="*/ 274216 h 657300"/>
                  <a:gd name="connsiteX75" fmla="*/ 572169 w 1050279"/>
                  <a:gd name="connsiteY75" fmla="*/ 339700 h 657300"/>
                  <a:gd name="connsiteX76" fmla="*/ 549864 w 1050279"/>
                  <a:gd name="connsiteY76" fmla="*/ 478445 h 657300"/>
                  <a:gd name="connsiteX77" fmla="*/ 488063 w 1050279"/>
                  <a:gd name="connsiteY77" fmla="*/ 578309 h 657300"/>
                  <a:gd name="connsiteX78" fmla="*/ 396180 w 1050279"/>
                  <a:gd name="connsiteY78" fmla="*/ 637245 h 657300"/>
                  <a:gd name="connsiteX79" fmla="*/ 281582 w 1050279"/>
                  <a:gd name="connsiteY79" fmla="*/ 657300 h 657300"/>
                  <a:gd name="connsiteX80" fmla="*/ 197476 w 1050279"/>
                  <a:gd name="connsiteY80" fmla="*/ 648500 h 657300"/>
                  <a:gd name="connsiteX81" fmla="*/ 131787 w 1050279"/>
                  <a:gd name="connsiteY81" fmla="*/ 624557 h 657300"/>
                  <a:gd name="connsiteX82" fmla="*/ 82469 w 1050279"/>
                  <a:gd name="connsiteY82" fmla="*/ 586085 h 657300"/>
                  <a:gd name="connsiteX83" fmla="*/ 46862 w 1050279"/>
                  <a:gd name="connsiteY83" fmla="*/ 536358 h 657300"/>
                  <a:gd name="connsiteX84" fmla="*/ 22919 w 1050279"/>
                  <a:gd name="connsiteY84" fmla="*/ 475785 h 657300"/>
                  <a:gd name="connsiteX85" fmla="*/ 7981 w 1050279"/>
                  <a:gd name="connsiteY85" fmla="*/ 408050 h 657300"/>
                  <a:gd name="connsiteX86" fmla="*/ 0 w 1050279"/>
                  <a:gd name="connsiteY86" fmla="*/ 333152 h 657300"/>
                  <a:gd name="connsiteX87" fmla="*/ 286494 w 1050279"/>
                  <a:gd name="connsiteY87" fmla="*/ 0 h 6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050279" h="657300">
                    <a:moveTo>
                      <a:pt x="291405" y="148159"/>
                    </a:moveTo>
                    <a:cubicBezTo>
                      <a:pt x="284311" y="148159"/>
                      <a:pt x="277763" y="149114"/>
                      <a:pt x="271760" y="151024"/>
                    </a:cubicBezTo>
                    <a:cubicBezTo>
                      <a:pt x="265757" y="152933"/>
                      <a:pt x="260505" y="156139"/>
                      <a:pt x="256003" y="160642"/>
                    </a:cubicBezTo>
                    <a:cubicBezTo>
                      <a:pt x="251501" y="165144"/>
                      <a:pt x="247476" y="169714"/>
                      <a:pt x="243929" y="174352"/>
                    </a:cubicBezTo>
                    <a:cubicBezTo>
                      <a:pt x="240382" y="178991"/>
                      <a:pt x="237381" y="185266"/>
                      <a:pt x="234925" y="193179"/>
                    </a:cubicBezTo>
                    <a:cubicBezTo>
                      <a:pt x="232469" y="201092"/>
                      <a:pt x="230286" y="208118"/>
                      <a:pt x="228376" y="214257"/>
                    </a:cubicBezTo>
                    <a:cubicBezTo>
                      <a:pt x="226466" y="220396"/>
                      <a:pt x="224966" y="228582"/>
                      <a:pt x="223874" y="238814"/>
                    </a:cubicBezTo>
                    <a:cubicBezTo>
                      <a:pt x="222783" y="249045"/>
                      <a:pt x="221896" y="257367"/>
                      <a:pt x="221214" y="263779"/>
                    </a:cubicBezTo>
                    <a:cubicBezTo>
                      <a:pt x="220532" y="270191"/>
                      <a:pt x="220054" y="279196"/>
                      <a:pt x="219782" y="290792"/>
                    </a:cubicBezTo>
                    <a:cubicBezTo>
                      <a:pt x="219509" y="302388"/>
                      <a:pt x="219372" y="310915"/>
                      <a:pt x="219372" y="316372"/>
                    </a:cubicBezTo>
                    <a:cubicBezTo>
                      <a:pt x="219372" y="321829"/>
                      <a:pt x="219372" y="330287"/>
                      <a:pt x="219372" y="341747"/>
                    </a:cubicBezTo>
                    <a:cubicBezTo>
                      <a:pt x="219372" y="345294"/>
                      <a:pt x="219372" y="347886"/>
                      <a:pt x="219372" y="349523"/>
                    </a:cubicBezTo>
                    <a:cubicBezTo>
                      <a:pt x="219372" y="360164"/>
                      <a:pt x="219509" y="369578"/>
                      <a:pt x="219782" y="377763"/>
                    </a:cubicBezTo>
                    <a:cubicBezTo>
                      <a:pt x="220054" y="385949"/>
                      <a:pt x="220668" y="395976"/>
                      <a:pt x="221623" y="407845"/>
                    </a:cubicBezTo>
                    <a:cubicBezTo>
                      <a:pt x="222578" y="419714"/>
                      <a:pt x="223874" y="430082"/>
                      <a:pt x="225512" y="438950"/>
                    </a:cubicBezTo>
                    <a:cubicBezTo>
                      <a:pt x="227149" y="447818"/>
                      <a:pt x="229536" y="457027"/>
                      <a:pt x="232674" y="466576"/>
                    </a:cubicBezTo>
                    <a:cubicBezTo>
                      <a:pt x="235812" y="476126"/>
                      <a:pt x="239563" y="484039"/>
                      <a:pt x="243929" y="490314"/>
                    </a:cubicBezTo>
                    <a:cubicBezTo>
                      <a:pt x="248295" y="496590"/>
                      <a:pt x="253820" y="501706"/>
                      <a:pt x="260505" y="505662"/>
                    </a:cubicBezTo>
                    <a:cubicBezTo>
                      <a:pt x="267190" y="509619"/>
                      <a:pt x="274761" y="511597"/>
                      <a:pt x="283220" y="511597"/>
                    </a:cubicBezTo>
                    <a:cubicBezTo>
                      <a:pt x="292769" y="511597"/>
                      <a:pt x="301296" y="509551"/>
                      <a:pt x="308799" y="505458"/>
                    </a:cubicBezTo>
                    <a:cubicBezTo>
                      <a:pt x="316303" y="501365"/>
                      <a:pt x="322442" y="496454"/>
                      <a:pt x="327217" y="490724"/>
                    </a:cubicBezTo>
                    <a:cubicBezTo>
                      <a:pt x="331992" y="484994"/>
                      <a:pt x="336016" y="477081"/>
                      <a:pt x="339291" y="466986"/>
                    </a:cubicBezTo>
                    <a:cubicBezTo>
                      <a:pt x="342565" y="456890"/>
                      <a:pt x="345020" y="447954"/>
                      <a:pt x="346658" y="440178"/>
                    </a:cubicBezTo>
                    <a:cubicBezTo>
                      <a:pt x="348295" y="432402"/>
                      <a:pt x="349523" y="422170"/>
                      <a:pt x="350341" y="409482"/>
                    </a:cubicBezTo>
                    <a:cubicBezTo>
                      <a:pt x="351160" y="396795"/>
                      <a:pt x="351637" y="387177"/>
                      <a:pt x="351774" y="380628"/>
                    </a:cubicBezTo>
                    <a:cubicBezTo>
                      <a:pt x="351910" y="374080"/>
                      <a:pt x="351978" y="364939"/>
                      <a:pt x="351978" y="353207"/>
                    </a:cubicBezTo>
                    <a:cubicBezTo>
                      <a:pt x="351978" y="350751"/>
                      <a:pt x="351978" y="348977"/>
                      <a:pt x="351978" y="347886"/>
                    </a:cubicBezTo>
                    <a:cubicBezTo>
                      <a:pt x="353070" y="338609"/>
                      <a:pt x="353615" y="324148"/>
                      <a:pt x="353615" y="304503"/>
                    </a:cubicBezTo>
                    <a:cubicBezTo>
                      <a:pt x="353615" y="303138"/>
                      <a:pt x="353684" y="297681"/>
                      <a:pt x="353820" y="288131"/>
                    </a:cubicBezTo>
                    <a:cubicBezTo>
                      <a:pt x="353956" y="278582"/>
                      <a:pt x="354025" y="270874"/>
                      <a:pt x="354025" y="265007"/>
                    </a:cubicBezTo>
                    <a:cubicBezTo>
                      <a:pt x="354025" y="259141"/>
                      <a:pt x="353615" y="250751"/>
                      <a:pt x="352797" y="239837"/>
                    </a:cubicBezTo>
                    <a:cubicBezTo>
                      <a:pt x="351978" y="228923"/>
                      <a:pt x="350887" y="219919"/>
                      <a:pt x="349523" y="212824"/>
                    </a:cubicBezTo>
                    <a:cubicBezTo>
                      <a:pt x="348158" y="205730"/>
                      <a:pt x="345907" y="197681"/>
                      <a:pt x="342769" y="188677"/>
                    </a:cubicBezTo>
                    <a:cubicBezTo>
                      <a:pt x="339632" y="179673"/>
                      <a:pt x="335880" y="172511"/>
                      <a:pt x="331514" y="167190"/>
                    </a:cubicBezTo>
                    <a:cubicBezTo>
                      <a:pt x="327149" y="161869"/>
                      <a:pt x="321555" y="157367"/>
                      <a:pt x="314734" y="153684"/>
                    </a:cubicBezTo>
                    <a:cubicBezTo>
                      <a:pt x="307913" y="150000"/>
                      <a:pt x="300136" y="148159"/>
                      <a:pt x="291405" y="148159"/>
                    </a:cubicBezTo>
                    <a:close/>
                    <a:moveTo>
                      <a:pt x="857100" y="18827"/>
                    </a:moveTo>
                    <a:cubicBezTo>
                      <a:pt x="922584" y="19918"/>
                      <a:pt x="971698" y="20464"/>
                      <a:pt x="1004440" y="20464"/>
                    </a:cubicBezTo>
                    <a:cubicBezTo>
                      <a:pt x="1018628" y="20464"/>
                      <a:pt x="1029269" y="19918"/>
                      <a:pt x="1036363" y="18827"/>
                    </a:cubicBezTo>
                    <a:cubicBezTo>
                      <a:pt x="1038546" y="19100"/>
                      <a:pt x="1040252" y="19782"/>
                      <a:pt x="1041479" y="20873"/>
                    </a:cubicBezTo>
                    <a:cubicBezTo>
                      <a:pt x="1042707" y="21965"/>
                      <a:pt x="1043594" y="24011"/>
                      <a:pt x="1044140" y="27012"/>
                    </a:cubicBezTo>
                    <a:cubicBezTo>
                      <a:pt x="1044685" y="30014"/>
                      <a:pt x="1045026" y="32879"/>
                      <a:pt x="1045163" y="35607"/>
                    </a:cubicBezTo>
                    <a:cubicBezTo>
                      <a:pt x="1045299" y="38336"/>
                      <a:pt x="1045367" y="42838"/>
                      <a:pt x="1045367" y="49113"/>
                    </a:cubicBezTo>
                    <a:lnTo>
                      <a:pt x="1045367" y="267668"/>
                    </a:lnTo>
                    <a:cubicBezTo>
                      <a:pt x="1045367" y="308322"/>
                      <a:pt x="1046186" y="369100"/>
                      <a:pt x="1047823" y="450001"/>
                    </a:cubicBezTo>
                    <a:cubicBezTo>
                      <a:pt x="1049460" y="530901"/>
                      <a:pt x="1050279" y="591815"/>
                      <a:pt x="1050279" y="632743"/>
                    </a:cubicBezTo>
                    <a:cubicBezTo>
                      <a:pt x="1048914" y="642566"/>
                      <a:pt x="1029269" y="647477"/>
                      <a:pt x="991343" y="647477"/>
                    </a:cubicBezTo>
                    <a:cubicBezTo>
                      <a:pt x="985886" y="647477"/>
                      <a:pt x="978519" y="647341"/>
                      <a:pt x="969242" y="647068"/>
                    </a:cubicBezTo>
                    <a:cubicBezTo>
                      <a:pt x="959965" y="646795"/>
                      <a:pt x="953689" y="646658"/>
                      <a:pt x="950415" y="646658"/>
                    </a:cubicBezTo>
                    <a:cubicBezTo>
                      <a:pt x="942775" y="646658"/>
                      <a:pt x="931998" y="646795"/>
                      <a:pt x="918082" y="647068"/>
                    </a:cubicBezTo>
                    <a:cubicBezTo>
                      <a:pt x="904167" y="647341"/>
                      <a:pt x="893935" y="647477"/>
                      <a:pt x="887386" y="647477"/>
                    </a:cubicBezTo>
                    <a:cubicBezTo>
                      <a:pt x="870470" y="647477"/>
                      <a:pt x="845094" y="646931"/>
                      <a:pt x="811261" y="645840"/>
                    </a:cubicBezTo>
                    <a:lnTo>
                      <a:pt x="800620" y="631924"/>
                    </a:lnTo>
                    <a:cubicBezTo>
                      <a:pt x="797891" y="629196"/>
                      <a:pt x="796527" y="623466"/>
                      <a:pt x="796527" y="614735"/>
                    </a:cubicBezTo>
                    <a:cubicBezTo>
                      <a:pt x="796527" y="573261"/>
                      <a:pt x="797072" y="513234"/>
                      <a:pt x="798164" y="434653"/>
                    </a:cubicBezTo>
                    <a:lnTo>
                      <a:pt x="798164" y="256208"/>
                    </a:lnTo>
                    <a:cubicBezTo>
                      <a:pt x="758055" y="282674"/>
                      <a:pt x="720674" y="301228"/>
                      <a:pt x="686022" y="311870"/>
                    </a:cubicBezTo>
                    <a:cubicBezTo>
                      <a:pt x="681383" y="311870"/>
                      <a:pt x="677973" y="311051"/>
                      <a:pt x="675790" y="309414"/>
                    </a:cubicBezTo>
                    <a:cubicBezTo>
                      <a:pt x="673607" y="307777"/>
                      <a:pt x="672379" y="304775"/>
                      <a:pt x="672107" y="300410"/>
                    </a:cubicBezTo>
                    <a:lnTo>
                      <a:pt x="672107" y="241474"/>
                    </a:lnTo>
                    <a:cubicBezTo>
                      <a:pt x="672107" y="238472"/>
                      <a:pt x="672107" y="233970"/>
                      <a:pt x="672107" y="227968"/>
                    </a:cubicBezTo>
                    <a:cubicBezTo>
                      <a:pt x="672107" y="183493"/>
                      <a:pt x="673334" y="156481"/>
                      <a:pt x="675790" y="146931"/>
                    </a:cubicBezTo>
                    <a:cubicBezTo>
                      <a:pt x="678246" y="137654"/>
                      <a:pt x="684112" y="130014"/>
                      <a:pt x="693389" y="124011"/>
                    </a:cubicBezTo>
                    <a:cubicBezTo>
                      <a:pt x="696117" y="122374"/>
                      <a:pt x="701165" y="119782"/>
                      <a:pt x="708532" y="116235"/>
                    </a:cubicBezTo>
                    <a:lnTo>
                      <a:pt x="729405" y="104775"/>
                    </a:lnTo>
                    <a:cubicBezTo>
                      <a:pt x="741138" y="99864"/>
                      <a:pt x="753484" y="94270"/>
                      <a:pt x="766445" y="87995"/>
                    </a:cubicBezTo>
                    <a:cubicBezTo>
                      <a:pt x="779405" y="81719"/>
                      <a:pt x="795776" y="71760"/>
                      <a:pt x="815558" y="58118"/>
                    </a:cubicBezTo>
                    <a:cubicBezTo>
                      <a:pt x="835340" y="44475"/>
                      <a:pt x="849187" y="31378"/>
                      <a:pt x="857100" y="18827"/>
                    </a:cubicBezTo>
                    <a:close/>
                    <a:moveTo>
                      <a:pt x="286494" y="0"/>
                    </a:moveTo>
                    <a:cubicBezTo>
                      <a:pt x="319509" y="0"/>
                      <a:pt x="349727" y="3752"/>
                      <a:pt x="377149" y="11255"/>
                    </a:cubicBezTo>
                    <a:cubicBezTo>
                      <a:pt x="404570" y="18759"/>
                      <a:pt x="427967" y="28786"/>
                      <a:pt x="447340" y="41337"/>
                    </a:cubicBezTo>
                    <a:cubicBezTo>
                      <a:pt x="466712" y="53888"/>
                      <a:pt x="483902" y="69236"/>
                      <a:pt x="498909" y="87381"/>
                    </a:cubicBezTo>
                    <a:cubicBezTo>
                      <a:pt x="513916" y="105526"/>
                      <a:pt x="525921" y="124420"/>
                      <a:pt x="534925" y="144066"/>
                    </a:cubicBezTo>
                    <a:cubicBezTo>
                      <a:pt x="543929" y="163711"/>
                      <a:pt x="551296" y="185062"/>
                      <a:pt x="557026" y="208118"/>
                    </a:cubicBezTo>
                    <a:cubicBezTo>
                      <a:pt x="562756" y="231174"/>
                      <a:pt x="566712" y="253206"/>
                      <a:pt x="568895" y="274216"/>
                    </a:cubicBezTo>
                    <a:cubicBezTo>
                      <a:pt x="571078" y="295226"/>
                      <a:pt x="572169" y="317054"/>
                      <a:pt x="572169" y="339700"/>
                    </a:cubicBezTo>
                    <a:cubicBezTo>
                      <a:pt x="572169" y="391542"/>
                      <a:pt x="564734" y="437791"/>
                      <a:pt x="549864" y="478445"/>
                    </a:cubicBezTo>
                    <a:cubicBezTo>
                      <a:pt x="534993" y="519100"/>
                      <a:pt x="514393" y="552388"/>
                      <a:pt x="488063" y="578309"/>
                    </a:cubicBezTo>
                    <a:cubicBezTo>
                      <a:pt x="461733" y="604230"/>
                      <a:pt x="431105" y="623875"/>
                      <a:pt x="396180" y="637245"/>
                    </a:cubicBezTo>
                    <a:cubicBezTo>
                      <a:pt x="361255" y="650615"/>
                      <a:pt x="323056" y="657300"/>
                      <a:pt x="281582" y="657300"/>
                    </a:cubicBezTo>
                    <a:cubicBezTo>
                      <a:pt x="250750" y="657300"/>
                      <a:pt x="222715" y="654366"/>
                      <a:pt x="197476" y="648500"/>
                    </a:cubicBezTo>
                    <a:cubicBezTo>
                      <a:pt x="172237" y="642634"/>
                      <a:pt x="150341" y="634653"/>
                      <a:pt x="131787" y="624557"/>
                    </a:cubicBezTo>
                    <a:cubicBezTo>
                      <a:pt x="113233" y="614462"/>
                      <a:pt x="96794" y="601638"/>
                      <a:pt x="82469" y="586085"/>
                    </a:cubicBezTo>
                    <a:cubicBezTo>
                      <a:pt x="68144" y="570533"/>
                      <a:pt x="56275" y="553957"/>
                      <a:pt x="46862" y="536358"/>
                    </a:cubicBezTo>
                    <a:cubicBezTo>
                      <a:pt x="37449" y="518759"/>
                      <a:pt x="29468" y="498568"/>
                      <a:pt x="22919" y="475785"/>
                    </a:cubicBezTo>
                    <a:cubicBezTo>
                      <a:pt x="16371" y="453002"/>
                      <a:pt x="11391" y="430424"/>
                      <a:pt x="7981" y="408050"/>
                    </a:cubicBezTo>
                    <a:cubicBezTo>
                      <a:pt x="4570" y="385676"/>
                      <a:pt x="1910" y="360710"/>
                      <a:pt x="0" y="333152"/>
                    </a:cubicBezTo>
                    <a:cubicBezTo>
                      <a:pt x="0" y="126058"/>
                      <a:pt x="95498" y="15007"/>
                      <a:pt x="286494" y="0"/>
                    </a:cubicBezTo>
                    <a:close/>
                  </a:path>
                </a:pathLst>
              </a:custGeom>
              <a:solidFill>
                <a:schemeClr val="accent2"/>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pic>
            <p:nvPicPr>
              <p:cNvPr id="34" name="Graphic 33" descr="Link">
                <a:extLst>
                  <a:ext uri="{FF2B5EF4-FFF2-40B4-BE49-F238E27FC236}">
                    <a16:creationId xmlns:a16="http://schemas.microsoft.com/office/drawing/2014/main" id="{07B5B7EC-F98D-A869-9654-91B836609F4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8817" y="2318647"/>
                <a:ext cx="266356" cy="266356"/>
              </a:xfrm>
              <a:prstGeom prst="rect">
                <a:avLst/>
              </a:prstGeom>
            </p:spPr>
          </p:pic>
          <p:pic>
            <p:nvPicPr>
              <p:cNvPr id="35" name="Graphic 34" descr="Link">
                <a:extLst>
                  <a:ext uri="{FF2B5EF4-FFF2-40B4-BE49-F238E27FC236}">
                    <a16:creationId xmlns:a16="http://schemas.microsoft.com/office/drawing/2014/main" id="{5E65A167-88E0-06D1-DD85-D34A94FACE6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1717" y="2326081"/>
                <a:ext cx="266356" cy="266356"/>
              </a:xfrm>
              <a:prstGeom prst="rect">
                <a:avLst/>
              </a:prstGeom>
            </p:spPr>
          </p:pic>
          <p:pic>
            <p:nvPicPr>
              <p:cNvPr id="36" name="Graphic 35" descr="Link">
                <a:extLst>
                  <a:ext uri="{FF2B5EF4-FFF2-40B4-BE49-F238E27FC236}">
                    <a16:creationId xmlns:a16="http://schemas.microsoft.com/office/drawing/2014/main" id="{A96B22C4-CFB2-58A7-6003-08D352D9863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1717" y="4050705"/>
                <a:ext cx="266356" cy="266356"/>
              </a:xfrm>
              <a:prstGeom prst="rect">
                <a:avLst/>
              </a:prstGeom>
            </p:spPr>
          </p:pic>
          <p:pic>
            <p:nvPicPr>
              <p:cNvPr id="37" name="Graphic 36" descr="Link">
                <a:extLst>
                  <a:ext uri="{FF2B5EF4-FFF2-40B4-BE49-F238E27FC236}">
                    <a16:creationId xmlns:a16="http://schemas.microsoft.com/office/drawing/2014/main" id="{7D738BA2-FBF4-7DCD-A5A5-35F1F7895B6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8817" y="4046483"/>
                <a:ext cx="266356" cy="266356"/>
              </a:xfrm>
              <a:prstGeom prst="rect">
                <a:avLst/>
              </a:prstGeom>
            </p:spPr>
          </p:pic>
          <p:pic>
            <p:nvPicPr>
              <p:cNvPr id="38" name="Graphic 37" descr="Link">
                <a:extLst>
                  <a:ext uri="{FF2B5EF4-FFF2-40B4-BE49-F238E27FC236}">
                    <a16:creationId xmlns:a16="http://schemas.microsoft.com/office/drawing/2014/main" id="{B7454E4F-37DE-61F5-5377-8237DB7F521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8817" y="5799997"/>
                <a:ext cx="266356" cy="266356"/>
              </a:xfrm>
              <a:prstGeom prst="rect">
                <a:avLst/>
              </a:prstGeom>
            </p:spPr>
          </p:pic>
          <p:pic>
            <p:nvPicPr>
              <p:cNvPr id="39" name="Graphic 38" descr="Link">
                <a:extLst>
                  <a:ext uri="{FF2B5EF4-FFF2-40B4-BE49-F238E27FC236}">
                    <a16:creationId xmlns:a16="http://schemas.microsoft.com/office/drawing/2014/main" id="{B521CE6D-8B52-3CF2-CD7E-2450BB16C03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1717" y="5800603"/>
                <a:ext cx="266356" cy="266356"/>
              </a:xfrm>
              <a:prstGeom prst="rect">
                <a:avLst/>
              </a:prstGeom>
            </p:spPr>
          </p:pic>
          <p:grpSp>
            <p:nvGrpSpPr>
              <p:cNvPr id="40" name="Group 39">
                <a:extLst>
                  <a:ext uri="{FF2B5EF4-FFF2-40B4-BE49-F238E27FC236}">
                    <a16:creationId xmlns:a16="http://schemas.microsoft.com/office/drawing/2014/main" id="{E7C6D9E7-71B6-A148-A5E3-6AB232B63636}"/>
                  </a:ext>
                </a:extLst>
              </p:cNvPr>
              <p:cNvGrpSpPr/>
              <p:nvPr/>
            </p:nvGrpSpPr>
            <p:grpSpPr>
              <a:xfrm>
                <a:off x="7475678" y="2256724"/>
                <a:ext cx="2561427" cy="576522"/>
                <a:chOff x="6335607" y="1839096"/>
                <a:chExt cx="2561427" cy="576522"/>
              </a:xfrm>
            </p:grpSpPr>
            <p:sp>
              <p:nvSpPr>
                <p:cNvPr id="41" name="TextBox 40">
                  <a:extLst>
                    <a:ext uri="{FF2B5EF4-FFF2-40B4-BE49-F238E27FC236}">
                      <a16:creationId xmlns:a16="http://schemas.microsoft.com/office/drawing/2014/main" id="{E3299CF9-7D6F-11D4-484D-E87BB8C2B927}"/>
                    </a:ext>
                  </a:extLst>
                </p:cNvPr>
                <p:cNvSpPr txBox="1"/>
                <p:nvPr/>
              </p:nvSpPr>
              <p:spPr>
                <a:xfrm>
                  <a:off x="6335607" y="1889690"/>
                  <a:ext cx="529294"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3D3D3">
                          <a:lumMod val="75000"/>
                        </a:srgbClr>
                      </a:solidFill>
                      <a:effectLst/>
                      <a:uLnTx/>
                      <a:uFillTx/>
                      <a:latin typeface="Calibri" panose="020F0502020204030204"/>
                      <a:ea typeface="+mn-ea"/>
                      <a:cs typeface="+mn-cs"/>
                    </a:rPr>
                    <a:t>Slide 5</a:t>
                  </a:r>
                </a:p>
              </p:txBody>
            </p:sp>
            <p:sp>
              <p:nvSpPr>
                <p:cNvPr id="42" name="TextBox 41">
                  <a:extLst>
                    <a:ext uri="{FF2B5EF4-FFF2-40B4-BE49-F238E27FC236}">
                      <a16:creationId xmlns:a16="http://schemas.microsoft.com/office/drawing/2014/main" id="{C4D938A9-D7D3-2175-B189-B05CC789C4F2}"/>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Our Proposed Solution</a:t>
                  </a:r>
                </a:p>
              </p:txBody>
            </p:sp>
            <p:cxnSp>
              <p:nvCxnSpPr>
                <p:cNvPr id="43" name="Straight Connector 42">
                  <a:extLst>
                    <a:ext uri="{FF2B5EF4-FFF2-40B4-BE49-F238E27FC236}">
                      <a16:creationId xmlns:a16="http://schemas.microsoft.com/office/drawing/2014/main" id="{47D8BFF8-3F01-4213-71A4-95A433F3440C}"/>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2307D896-E2EC-E6A6-CC9E-F151D0CF3319}"/>
                  </a:ext>
                </a:extLst>
              </p:cNvPr>
              <p:cNvGrpSpPr/>
              <p:nvPr/>
            </p:nvGrpSpPr>
            <p:grpSpPr>
              <a:xfrm>
                <a:off x="7475678" y="4007650"/>
                <a:ext cx="2561427" cy="576522"/>
                <a:chOff x="6335607" y="1839096"/>
                <a:chExt cx="2561427" cy="576522"/>
              </a:xfrm>
            </p:grpSpPr>
            <p:sp>
              <p:nvSpPr>
                <p:cNvPr id="49" name="TextBox 48">
                  <a:extLst>
                    <a:ext uri="{FF2B5EF4-FFF2-40B4-BE49-F238E27FC236}">
                      <a16:creationId xmlns:a16="http://schemas.microsoft.com/office/drawing/2014/main" id="{20DBF59C-C6DA-06AB-A715-DE45C9497DC6}"/>
                    </a:ext>
                  </a:extLst>
                </p:cNvPr>
                <p:cNvSpPr txBox="1"/>
                <p:nvPr/>
              </p:nvSpPr>
              <p:spPr>
                <a:xfrm>
                  <a:off x="6335607" y="1889691"/>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45</a:t>
                  </a:r>
                </a:p>
              </p:txBody>
            </p:sp>
            <p:sp>
              <p:nvSpPr>
                <p:cNvPr id="50" name="TextBox 49">
                  <a:extLst>
                    <a:ext uri="{FF2B5EF4-FFF2-40B4-BE49-F238E27FC236}">
                      <a16:creationId xmlns:a16="http://schemas.microsoft.com/office/drawing/2014/main" id="{E995787C-244A-A579-FC7E-B0DCD0AC380F}"/>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Benefit to LFTZC</a:t>
                  </a:r>
                </a:p>
              </p:txBody>
            </p:sp>
            <p:cxnSp>
              <p:nvCxnSpPr>
                <p:cNvPr id="51" name="Straight Connector 50">
                  <a:extLst>
                    <a:ext uri="{FF2B5EF4-FFF2-40B4-BE49-F238E27FC236}">
                      <a16:creationId xmlns:a16="http://schemas.microsoft.com/office/drawing/2014/main" id="{2515CEBE-33B6-C5FC-BA07-CA505CAADAD9}"/>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2D75C091-C351-A417-E65D-DF5273ABFAB3}"/>
                  </a:ext>
                </a:extLst>
              </p:cNvPr>
              <p:cNvGrpSpPr/>
              <p:nvPr/>
            </p:nvGrpSpPr>
            <p:grpSpPr>
              <a:xfrm>
                <a:off x="7475678" y="5758575"/>
                <a:ext cx="2561427" cy="576522"/>
                <a:chOff x="6335607" y="1839096"/>
                <a:chExt cx="2561427" cy="576522"/>
              </a:xfrm>
            </p:grpSpPr>
            <p:sp>
              <p:nvSpPr>
                <p:cNvPr id="57" name="TextBox 56">
                  <a:extLst>
                    <a:ext uri="{FF2B5EF4-FFF2-40B4-BE49-F238E27FC236}">
                      <a16:creationId xmlns:a16="http://schemas.microsoft.com/office/drawing/2014/main" id="{A97F8289-769C-4394-2451-C0206EC8B7BD}"/>
                    </a:ext>
                  </a:extLst>
                </p:cNvPr>
                <p:cNvSpPr txBox="1"/>
                <p:nvPr/>
              </p:nvSpPr>
              <p:spPr>
                <a:xfrm>
                  <a:off x="6335607" y="1889690"/>
                  <a:ext cx="613662" cy="298604"/>
                </a:xfrm>
                <a:prstGeom prst="rect">
                  <a:avLst/>
                </a:prstGeom>
                <a:noFill/>
              </p:spPr>
              <p:txBody>
                <a:bodyPr wrap="none" l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3D3D3">
                          <a:lumMod val="75000"/>
                        </a:srgbClr>
                      </a:solidFill>
                      <a:effectLst/>
                      <a:uLnTx/>
                      <a:uFillTx/>
                      <a:latin typeface="Calibri" panose="020F0502020204030204"/>
                      <a:ea typeface="+mn-ea"/>
                      <a:cs typeface="+mn-cs"/>
                    </a:rPr>
                    <a:t>Slide 50</a:t>
                  </a:r>
                </a:p>
              </p:txBody>
            </p:sp>
            <p:sp>
              <p:nvSpPr>
                <p:cNvPr id="58" name="TextBox 57">
                  <a:extLst>
                    <a:ext uri="{FF2B5EF4-FFF2-40B4-BE49-F238E27FC236}">
                      <a16:creationId xmlns:a16="http://schemas.microsoft.com/office/drawing/2014/main" id="{9789399C-7E91-6E95-5A4F-7F4A487CD702}"/>
                    </a:ext>
                  </a:extLst>
                </p:cNvPr>
                <p:cNvSpPr txBox="1"/>
                <p:nvPr/>
              </p:nvSpPr>
              <p:spPr>
                <a:xfrm>
                  <a:off x="6336714" y="2146874"/>
                  <a:ext cx="2560320" cy="268744"/>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prstClr val="black"/>
                      </a:solidFill>
                      <a:effectLst/>
                      <a:uLnTx/>
                      <a:uFillTx/>
                      <a:latin typeface="Calibri" panose="020F0502020204030204"/>
                      <a:ea typeface="+mn-ea"/>
                      <a:cs typeface="+mn-cs"/>
                    </a:rPr>
                    <a:t>Corporate Profile</a:t>
                  </a:r>
                </a:p>
              </p:txBody>
            </p:sp>
            <p:cxnSp>
              <p:nvCxnSpPr>
                <p:cNvPr id="59" name="Straight Connector 58">
                  <a:extLst>
                    <a:ext uri="{FF2B5EF4-FFF2-40B4-BE49-F238E27FC236}">
                      <a16:creationId xmlns:a16="http://schemas.microsoft.com/office/drawing/2014/main" id="{4C23CC61-2D3F-6D4A-3BB3-AC8B1188B8A8}"/>
                    </a:ext>
                  </a:extLst>
                </p:cNvPr>
                <p:cNvCxnSpPr>
                  <a:cxnSpLocks/>
                </p:cNvCxnSpPr>
                <p:nvPr/>
              </p:nvCxnSpPr>
              <p:spPr>
                <a:xfrm flipV="1">
                  <a:off x="6336714" y="1839096"/>
                  <a:ext cx="2560320"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8" name="TextBox 67">
                <a:extLst>
                  <a:ext uri="{FF2B5EF4-FFF2-40B4-BE49-F238E27FC236}">
                    <a16:creationId xmlns:a16="http://schemas.microsoft.com/office/drawing/2014/main" id="{9BC67522-AECE-7B4C-9B40-810DB24671A0}"/>
                  </a:ext>
                </a:extLst>
              </p:cNvPr>
              <p:cNvSpPr txBox="1"/>
              <p:nvPr/>
            </p:nvSpPr>
            <p:spPr>
              <a:xfrm>
                <a:off x="7427207" y="1559766"/>
                <a:ext cx="975444" cy="553428"/>
              </a:xfrm>
              <a:custGeom>
                <a:avLst/>
                <a:gdLst>
                  <a:gd name="connsiteX0" fmla="*/ 291405 w 1159965"/>
                  <a:gd name="connsiteY0" fmla="*/ 148159 h 658118"/>
                  <a:gd name="connsiteX1" fmla="*/ 271760 w 1159965"/>
                  <a:gd name="connsiteY1" fmla="*/ 151024 h 658118"/>
                  <a:gd name="connsiteX2" fmla="*/ 256003 w 1159965"/>
                  <a:gd name="connsiteY2" fmla="*/ 160642 h 658118"/>
                  <a:gd name="connsiteX3" fmla="*/ 243929 w 1159965"/>
                  <a:gd name="connsiteY3" fmla="*/ 174352 h 658118"/>
                  <a:gd name="connsiteX4" fmla="*/ 234925 w 1159965"/>
                  <a:gd name="connsiteY4" fmla="*/ 193179 h 658118"/>
                  <a:gd name="connsiteX5" fmla="*/ 228376 w 1159965"/>
                  <a:gd name="connsiteY5" fmla="*/ 214257 h 658118"/>
                  <a:gd name="connsiteX6" fmla="*/ 223874 w 1159965"/>
                  <a:gd name="connsiteY6" fmla="*/ 238814 h 658118"/>
                  <a:gd name="connsiteX7" fmla="*/ 221214 w 1159965"/>
                  <a:gd name="connsiteY7" fmla="*/ 263779 h 658118"/>
                  <a:gd name="connsiteX8" fmla="*/ 219782 w 1159965"/>
                  <a:gd name="connsiteY8" fmla="*/ 290792 h 658118"/>
                  <a:gd name="connsiteX9" fmla="*/ 219372 w 1159965"/>
                  <a:gd name="connsiteY9" fmla="*/ 316372 h 658118"/>
                  <a:gd name="connsiteX10" fmla="*/ 219372 w 1159965"/>
                  <a:gd name="connsiteY10" fmla="*/ 341747 h 658118"/>
                  <a:gd name="connsiteX11" fmla="*/ 219372 w 1159965"/>
                  <a:gd name="connsiteY11" fmla="*/ 349523 h 658118"/>
                  <a:gd name="connsiteX12" fmla="*/ 219782 w 1159965"/>
                  <a:gd name="connsiteY12" fmla="*/ 377763 h 658118"/>
                  <a:gd name="connsiteX13" fmla="*/ 221623 w 1159965"/>
                  <a:gd name="connsiteY13" fmla="*/ 407845 h 658118"/>
                  <a:gd name="connsiteX14" fmla="*/ 225512 w 1159965"/>
                  <a:gd name="connsiteY14" fmla="*/ 438950 h 658118"/>
                  <a:gd name="connsiteX15" fmla="*/ 232674 w 1159965"/>
                  <a:gd name="connsiteY15" fmla="*/ 466576 h 658118"/>
                  <a:gd name="connsiteX16" fmla="*/ 243929 w 1159965"/>
                  <a:gd name="connsiteY16" fmla="*/ 490315 h 658118"/>
                  <a:gd name="connsiteX17" fmla="*/ 260505 w 1159965"/>
                  <a:gd name="connsiteY17" fmla="*/ 505662 h 658118"/>
                  <a:gd name="connsiteX18" fmla="*/ 283220 w 1159965"/>
                  <a:gd name="connsiteY18" fmla="*/ 511597 h 658118"/>
                  <a:gd name="connsiteX19" fmla="*/ 308799 w 1159965"/>
                  <a:gd name="connsiteY19" fmla="*/ 505458 h 658118"/>
                  <a:gd name="connsiteX20" fmla="*/ 327217 w 1159965"/>
                  <a:gd name="connsiteY20" fmla="*/ 490724 h 658118"/>
                  <a:gd name="connsiteX21" fmla="*/ 339291 w 1159965"/>
                  <a:gd name="connsiteY21" fmla="*/ 466986 h 658118"/>
                  <a:gd name="connsiteX22" fmla="*/ 346658 w 1159965"/>
                  <a:gd name="connsiteY22" fmla="*/ 440178 h 658118"/>
                  <a:gd name="connsiteX23" fmla="*/ 350341 w 1159965"/>
                  <a:gd name="connsiteY23" fmla="*/ 409482 h 658118"/>
                  <a:gd name="connsiteX24" fmla="*/ 351774 w 1159965"/>
                  <a:gd name="connsiteY24" fmla="*/ 380628 h 658118"/>
                  <a:gd name="connsiteX25" fmla="*/ 351978 w 1159965"/>
                  <a:gd name="connsiteY25" fmla="*/ 353207 h 658118"/>
                  <a:gd name="connsiteX26" fmla="*/ 351978 w 1159965"/>
                  <a:gd name="connsiteY26" fmla="*/ 347886 h 658118"/>
                  <a:gd name="connsiteX27" fmla="*/ 353615 w 1159965"/>
                  <a:gd name="connsiteY27" fmla="*/ 304503 h 658118"/>
                  <a:gd name="connsiteX28" fmla="*/ 353820 w 1159965"/>
                  <a:gd name="connsiteY28" fmla="*/ 288132 h 658118"/>
                  <a:gd name="connsiteX29" fmla="*/ 354025 w 1159965"/>
                  <a:gd name="connsiteY29" fmla="*/ 265007 h 658118"/>
                  <a:gd name="connsiteX30" fmla="*/ 352797 w 1159965"/>
                  <a:gd name="connsiteY30" fmla="*/ 239837 h 658118"/>
                  <a:gd name="connsiteX31" fmla="*/ 349523 w 1159965"/>
                  <a:gd name="connsiteY31" fmla="*/ 212824 h 658118"/>
                  <a:gd name="connsiteX32" fmla="*/ 342769 w 1159965"/>
                  <a:gd name="connsiteY32" fmla="*/ 188677 h 658118"/>
                  <a:gd name="connsiteX33" fmla="*/ 331514 w 1159965"/>
                  <a:gd name="connsiteY33" fmla="*/ 167190 h 658118"/>
                  <a:gd name="connsiteX34" fmla="*/ 314734 w 1159965"/>
                  <a:gd name="connsiteY34" fmla="*/ 153684 h 658118"/>
                  <a:gd name="connsiteX35" fmla="*/ 291405 w 1159965"/>
                  <a:gd name="connsiteY35" fmla="*/ 148159 h 658118"/>
                  <a:gd name="connsiteX36" fmla="*/ 909487 w 1159965"/>
                  <a:gd name="connsiteY36" fmla="*/ 2456 h 658118"/>
                  <a:gd name="connsiteX37" fmla="*/ 972107 w 1159965"/>
                  <a:gd name="connsiteY37" fmla="*/ 9004 h 658118"/>
                  <a:gd name="connsiteX38" fmla="*/ 1035545 w 1159965"/>
                  <a:gd name="connsiteY38" fmla="*/ 29877 h 658118"/>
                  <a:gd name="connsiteX39" fmla="*/ 1091411 w 1159965"/>
                  <a:gd name="connsiteY39" fmla="*/ 64257 h 658118"/>
                  <a:gd name="connsiteX40" fmla="*/ 1130907 w 1159965"/>
                  <a:gd name="connsiteY40" fmla="*/ 114189 h 658118"/>
                  <a:gd name="connsiteX41" fmla="*/ 1146050 w 1159965"/>
                  <a:gd name="connsiteY41" fmla="*/ 179264 h 658118"/>
                  <a:gd name="connsiteX42" fmla="*/ 1137660 w 1159965"/>
                  <a:gd name="connsiteY42" fmla="*/ 234312 h 658118"/>
                  <a:gd name="connsiteX43" fmla="*/ 1113308 w 1159965"/>
                  <a:gd name="connsiteY43" fmla="*/ 272579 h 658118"/>
                  <a:gd name="connsiteX44" fmla="*/ 1080975 w 1159965"/>
                  <a:gd name="connsiteY44" fmla="*/ 296112 h 658118"/>
                  <a:gd name="connsiteX45" fmla="*/ 1042093 w 1159965"/>
                  <a:gd name="connsiteY45" fmla="*/ 311870 h 658118"/>
                  <a:gd name="connsiteX46" fmla="*/ 1132748 w 1159965"/>
                  <a:gd name="connsiteY46" fmla="*/ 366303 h 658118"/>
                  <a:gd name="connsiteX47" fmla="*/ 1159965 w 1159965"/>
                  <a:gd name="connsiteY47" fmla="*/ 454298 h 658118"/>
                  <a:gd name="connsiteX48" fmla="*/ 1148915 w 1159965"/>
                  <a:gd name="connsiteY48" fmla="*/ 522852 h 658118"/>
                  <a:gd name="connsiteX49" fmla="*/ 1120470 w 1159965"/>
                  <a:gd name="connsiteY49" fmla="*/ 574626 h 658118"/>
                  <a:gd name="connsiteX50" fmla="*/ 1077905 w 1159965"/>
                  <a:gd name="connsiteY50" fmla="*/ 611051 h 658118"/>
                  <a:gd name="connsiteX51" fmla="*/ 1027769 w 1159965"/>
                  <a:gd name="connsiteY51" fmla="*/ 635403 h 658118"/>
                  <a:gd name="connsiteX52" fmla="*/ 973335 w 1159965"/>
                  <a:gd name="connsiteY52" fmla="*/ 649523 h 658118"/>
                  <a:gd name="connsiteX53" fmla="*/ 921356 w 1159965"/>
                  <a:gd name="connsiteY53" fmla="*/ 656481 h 658118"/>
                  <a:gd name="connsiteX54" fmla="*/ 875108 w 1159965"/>
                  <a:gd name="connsiteY54" fmla="*/ 658118 h 658118"/>
                  <a:gd name="connsiteX55" fmla="*/ 767877 w 1159965"/>
                  <a:gd name="connsiteY55" fmla="*/ 647682 h 658118"/>
                  <a:gd name="connsiteX56" fmla="*/ 682748 w 1159965"/>
                  <a:gd name="connsiteY56" fmla="*/ 614121 h 658118"/>
                  <a:gd name="connsiteX57" fmla="*/ 622993 w 1159965"/>
                  <a:gd name="connsiteY57" fmla="*/ 549864 h 658118"/>
                  <a:gd name="connsiteX58" fmla="*/ 598437 w 1159965"/>
                  <a:gd name="connsiteY58" fmla="*/ 451024 h 658118"/>
                  <a:gd name="connsiteX59" fmla="*/ 611533 w 1159965"/>
                  <a:gd name="connsiteY59" fmla="*/ 437927 h 658118"/>
                  <a:gd name="connsiteX60" fmla="*/ 806349 w 1159965"/>
                  <a:gd name="connsiteY60" fmla="*/ 437927 h 658118"/>
                  <a:gd name="connsiteX61" fmla="*/ 817195 w 1159965"/>
                  <a:gd name="connsiteY61" fmla="*/ 439564 h 658118"/>
                  <a:gd name="connsiteX62" fmla="*/ 821083 w 1159965"/>
                  <a:gd name="connsiteY62" fmla="*/ 446931 h 658118"/>
                  <a:gd name="connsiteX63" fmla="*/ 821083 w 1159965"/>
                  <a:gd name="connsiteY63" fmla="*/ 447750 h 658118"/>
                  <a:gd name="connsiteX64" fmla="*/ 835613 w 1159965"/>
                  <a:gd name="connsiteY64" fmla="*/ 487859 h 658118"/>
                  <a:gd name="connsiteX65" fmla="*/ 871015 w 1159965"/>
                  <a:gd name="connsiteY65" fmla="*/ 501774 h 658118"/>
                  <a:gd name="connsiteX66" fmla="*/ 905190 w 1159965"/>
                  <a:gd name="connsiteY66" fmla="*/ 488882 h 658118"/>
                  <a:gd name="connsiteX67" fmla="*/ 917673 w 1159965"/>
                  <a:gd name="connsiteY67" fmla="*/ 455935 h 658118"/>
                  <a:gd name="connsiteX68" fmla="*/ 912148 w 1159965"/>
                  <a:gd name="connsiteY68" fmla="*/ 427900 h 658118"/>
                  <a:gd name="connsiteX69" fmla="*/ 898846 w 1159965"/>
                  <a:gd name="connsiteY69" fmla="*/ 410096 h 658118"/>
                  <a:gd name="connsiteX70" fmla="*/ 878792 w 1159965"/>
                  <a:gd name="connsiteY70" fmla="*/ 400478 h 658118"/>
                  <a:gd name="connsiteX71" fmla="*/ 856691 w 1159965"/>
                  <a:gd name="connsiteY71" fmla="*/ 396181 h 658118"/>
                  <a:gd name="connsiteX72" fmla="*/ 833362 w 1159965"/>
                  <a:gd name="connsiteY72" fmla="*/ 395362 h 658118"/>
                  <a:gd name="connsiteX73" fmla="*/ 815354 w 1159965"/>
                  <a:gd name="connsiteY73" fmla="*/ 395362 h 658118"/>
                  <a:gd name="connsiteX74" fmla="*/ 793457 w 1159965"/>
                  <a:gd name="connsiteY74" fmla="*/ 385949 h 658118"/>
                  <a:gd name="connsiteX75" fmla="*/ 787523 w 1159965"/>
                  <a:gd name="connsiteY75" fmla="*/ 356890 h 658118"/>
                  <a:gd name="connsiteX76" fmla="*/ 787523 w 1159965"/>
                  <a:gd name="connsiteY76" fmla="*/ 330696 h 658118"/>
                  <a:gd name="connsiteX77" fmla="*/ 792025 w 1159965"/>
                  <a:gd name="connsiteY77" fmla="*/ 280560 h 658118"/>
                  <a:gd name="connsiteX78" fmla="*/ 809624 w 1159965"/>
                  <a:gd name="connsiteY78" fmla="*/ 264393 h 658118"/>
                  <a:gd name="connsiteX79" fmla="*/ 842366 w 1159965"/>
                  <a:gd name="connsiteY79" fmla="*/ 264393 h 658118"/>
                  <a:gd name="connsiteX80" fmla="*/ 893116 w 1159965"/>
                  <a:gd name="connsiteY80" fmla="*/ 251092 h 658118"/>
                  <a:gd name="connsiteX81" fmla="*/ 911124 w 1159965"/>
                  <a:gd name="connsiteY81" fmla="*/ 200546 h 658118"/>
                  <a:gd name="connsiteX82" fmla="*/ 900893 w 1159965"/>
                  <a:gd name="connsiteY82" fmla="*/ 170669 h 658118"/>
                  <a:gd name="connsiteX83" fmla="*/ 873471 w 1159965"/>
                  <a:gd name="connsiteY83" fmla="*/ 158800 h 658118"/>
                  <a:gd name="connsiteX84" fmla="*/ 834180 w 1159965"/>
                  <a:gd name="connsiteY84" fmla="*/ 189086 h 658118"/>
                  <a:gd name="connsiteX85" fmla="*/ 834180 w 1159965"/>
                  <a:gd name="connsiteY85" fmla="*/ 205457 h 658118"/>
                  <a:gd name="connsiteX86" fmla="*/ 816172 w 1159965"/>
                  <a:gd name="connsiteY86" fmla="*/ 228377 h 658118"/>
                  <a:gd name="connsiteX87" fmla="*/ 661465 w 1159965"/>
                  <a:gd name="connsiteY87" fmla="*/ 225103 h 658118"/>
                  <a:gd name="connsiteX88" fmla="*/ 651029 w 1159965"/>
                  <a:gd name="connsiteY88" fmla="*/ 225512 h 658118"/>
                  <a:gd name="connsiteX89" fmla="*/ 640183 w 1159965"/>
                  <a:gd name="connsiteY89" fmla="*/ 225921 h 658118"/>
                  <a:gd name="connsiteX90" fmla="*/ 608259 w 1159965"/>
                  <a:gd name="connsiteY90" fmla="*/ 210369 h 658118"/>
                  <a:gd name="connsiteX91" fmla="*/ 618082 w 1159965"/>
                  <a:gd name="connsiteY91" fmla="*/ 137108 h 658118"/>
                  <a:gd name="connsiteX92" fmla="*/ 667604 w 1159965"/>
                  <a:gd name="connsiteY92" fmla="*/ 59345 h 658118"/>
                  <a:gd name="connsiteX93" fmla="*/ 693389 w 1159965"/>
                  <a:gd name="connsiteY93" fmla="*/ 41747 h 658118"/>
                  <a:gd name="connsiteX94" fmla="*/ 787727 w 1159965"/>
                  <a:gd name="connsiteY94" fmla="*/ 9823 h 658118"/>
                  <a:gd name="connsiteX95" fmla="*/ 909487 w 1159965"/>
                  <a:gd name="connsiteY95" fmla="*/ 2456 h 658118"/>
                  <a:gd name="connsiteX96" fmla="*/ 286494 w 1159965"/>
                  <a:gd name="connsiteY96" fmla="*/ 0 h 658118"/>
                  <a:gd name="connsiteX97" fmla="*/ 377149 w 1159965"/>
                  <a:gd name="connsiteY97" fmla="*/ 11255 h 658118"/>
                  <a:gd name="connsiteX98" fmla="*/ 447340 w 1159965"/>
                  <a:gd name="connsiteY98" fmla="*/ 41337 h 658118"/>
                  <a:gd name="connsiteX99" fmla="*/ 498909 w 1159965"/>
                  <a:gd name="connsiteY99" fmla="*/ 87381 h 658118"/>
                  <a:gd name="connsiteX100" fmla="*/ 534925 w 1159965"/>
                  <a:gd name="connsiteY100" fmla="*/ 144066 h 658118"/>
                  <a:gd name="connsiteX101" fmla="*/ 557026 w 1159965"/>
                  <a:gd name="connsiteY101" fmla="*/ 208118 h 658118"/>
                  <a:gd name="connsiteX102" fmla="*/ 568895 w 1159965"/>
                  <a:gd name="connsiteY102" fmla="*/ 274216 h 658118"/>
                  <a:gd name="connsiteX103" fmla="*/ 572169 w 1159965"/>
                  <a:gd name="connsiteY103" fmla="*/ 339700 h 658118"/>
                  <a:gd name="connsiteX104" fmla="*/ 549864 w 1159965"/>
                  <a:gd name="connsiteY104" fmla="*/ 478446 h 658118"/>
                  <a:gd name="connsiteX105" fmla="*/ 488063 w 1159965"/>
                  <a:gd name="connsiteY105" fmla="*/ 578309 h 658118"/>
                  <a:gd name="connsiteX106" fmla="*/ 396180 w 1159965"/>
                  <a:gd name="connsiteY106" fmla="*/ 637245 h 658118"/>
                  <a:gd name="connsiteX107" fmla="*/ 281583 w 1159965"/>
                  <a:gd name="connsiteY107" fmla="*/ 657300 h 658118"/>
                  <a:gd name="connsiteX108" fmla="*/ 197476 w 1159965"/>
                  <a:gd name="connsiteY108" fmla="*/ 648500 h 658118"/>
                  <a:gd name="connsiteX109" fmla="*/ 131787 w 1159965"/>
                  <a:gd name="connsiteY109" fmla="*/ 624558 h 658118"/>
                  <a:gd name="connsiteX110" fmla="*/ 82469 w 1159965"/>
                  <a:gd name="connsiteY110" fmla="*/ 586085 h 658118"/>
                  <a:gd name="connsiteX111" fmla="*/ 46862 w 1159965"/>
                  <a:gd name="connsiteY111" fmla="*/ 536358 h 658118"/>
                  <a:gd name="connsiteX112" fmla="*/ 22919 w 1159965"/>
                  <a:gd name="connsiteY112" fmla="*/ 475785 h 658118"/>
                  <a:gd name="connsiteX113" fmla="*/ 7981 w 1159965"/>
                  <a:gd name="connsiteY113" fmla="*/ 408050 h 658118"/>
                  <a:gd name="connsiteX114" fmla="*/ 0 w 1159965"/>
                  <a:gd name="connsiteY114" fmla="*/ 333152 h 658118"/>
                  <a:gd name="connsiteX115" fmla="*/ 286494 w 1159965"/>
                  <a:gd name="connsiteY115" fmla="*/ 0 h 65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159965" h="658118">
                    <a:moveTo>
                      <a:pt x="291405" y="148159"/>
                    </a:moveTo>
                    <a:cubicBezTo>
                      <a:pt x="284311" y="148159"/>
                      <a:pt x="277763" y="149114"/>
                      <a:pt x="271760" y="151024"/>
                    </a:cubicBezTo>
                    <a:cubicBezTo>
                      <a:pt x="265757" y="152934"/>
                      <a:pt x="260505" y="156140"/>
                      <a:pt x="256003" y="160642"/>
                    </a:cubicBezTo>
                    <a:cubicBezTo>
                      <a:pt x="251501" y="165144"/>
                      <a:pt x="247476" y="169714"/>
                      <a:pt x="243929" y="174352"/>
                    </a:cubicBezTo>
                    <a:cubicBezTo>
                      <a:pt x="240382" y="178991"/>
                      <a:pt x="237381" y="185266"/>
                      <a:pt x="234925" y="193179"/>
                    </a:cubicBezTo>
                    <a:cubicBezTo>
                      <a:pt x="232469" y="201092"/>
                      <a:pt x="230286" y="208118"/>
                      <a:pt x="228376" y="214257"/>
                    </a:cubicBezTo>
                    <a:cubicBezTo>
                      <a:pt x="226466" y="220396"/>
                      <a:pt x="224966" y="228582"/>
                      <a:pt x="223874" y="238814"/>
                    </a:cubicBezTo>
                    <a:cubicBezTo>
                      <a:pt x="222783" y="249046"/>
                      <a:pt x="221896" y="257367"/>
                      <a:pt x="221214" y="263779"/>
                    </a:cubicBezTo>
                    <a:cubicBezTo>
                      <a:pt x="220532" y="270192"/>
                      <a:pt x="220054" y="279196"/>
                      <a:pt x="219782" y="290792"/>
                    </a:cubicBezTo>
                    <a:cubicBezTo>
                      <a:pt x="219509" y="302388"/>
                      <a:pt x="219372" y="310915"/>
                      <a:pt x="219372" y="316372"/>
                    </a:cubicBezTo>
                    <a:cubicBezTo>
                      <a:pt x="219372" y="321829"/>
                      <a:pt x="219372" y="330287"/>
                      <a:pt x="219372" y="341747"/>
                    </a:cubicBezTo>
                    <a:cubicBezTo>
                      <a:pt x="219372" y="345294"/>
                      <a:pt x="219372" y="347886"/>
                      <a:pt x="219372" y="349523"/>
                    </a:cubicBezTo>
                    <a:cubicBezTo>
                      <a:pt x="219372" y="360164"/>
                      <a:pt x="219509" y="369578"/>
                      <a:pt x="219782" y="377763"/>
                    </a:cubicBezTo>
                    <a:cubicBezTo>
                      <a:pt x="220054" y="385949"/>
                      <a:pt x="220668" y="395976"/>
                      <a:pt x="221623" y="407845"/>
                    </a:cubicBezTo>
                    <a:cubicBezTo>
                      <a:pt x="222578" y="419714"/>
                      <a:pt x="223874" y="430083"/>
                      <a:pt x="225512" y="438950"/>
                    </a:cubicBezTo>
                    <a:cubicBezTo>
                      <a:pt x="227149" y="447818"/>
                      <a:pt x="229536" y="457027"/>
                      <a:pt x="232674" y="466576"/>
                    </a:cubicBezTo>
                    <a:cubicBezTo>
                      <a:pt x="235812" y="476126"/>
                      <a:pt x="239563" y="484039"/>
                      <a:pt x="243929" y="490315"/>
                    </a:cubicBezTo>
                    <a:cubicBezTo>
                      <a:pt x="248295" y="496590"/>
                      <a:pt x="253820" y="501706"/>
                      <a:pt x="260505" y="505662"/>
                    </a:cubicBezTo>
                    <a:cubicBezTo>
                      <a:pt x="267190" y="509619"/>
                      <a:pt x="274761" y="511597"/>
                      <a:pt x="283220" y="511597"/>
                    </a:cubicBezTo>
                    <a:cubicBezTo>
                      <a:pt x="292769" y="511597"/>
                      <a:pt x="301296" y="509551"/>
                      <a:pt x="308799" y="505458"/>
                    </a:cubicBezTo>
                    <a:cubicBezTo>
                      <a:pt x="316303" y="501365"/>
                      <a:pt x="322442" y="496454"/>
                      <a:pt x="327217" y="490724"/>
                    </a:cubicBezTo>
                    <a:cubicBezTo>
                      <a:pt x="331992" y="484994"/>
                      <a:pt x="336016" y="477081"/>
                      <a:pt x="339291" y="466986"/>
                    </a:cubicBezTo>
                    <a:cubicBezTo>
                      <a:pt x="342565" y="456890"/>
                      <a:pt x="345020" y="447954"/>
                      <a:pt x="346658" y="440178"/>
                    </a:cubicBezTo>
                    <a:cubicBezTo>
                      <a:pt x="348295" y="432402"/>
                      <a:pt x="349523" y="422170"/>
                      <a:pt x="350341" y="409482"/>
                    </a:cubicBezTo>
                    <a:cubicBezTo>
                      <a:pt x="351160" y="396795"/>
                      <a:pt x="351637" y="387177"/>
                      <a:pt x="351774" y="380628"/>
                    </a:cubicBezTo>
                    <a:cubicBezTo>
                      <a:pt x="351910" y="374080"/>
                      <a:pt x="351978" y="364939"/>
                      <a:pt x="351978" y="353207"/>
                    </a:cubicBezTo>
                    <a:cubicBezTo>
                      <a:pt x="351978" y="350751"/>
                      <a:pt x="351978" y="348977"/>
                      <a:pt x="351978" y="347886"/>
                    </a:cubicBezTo>
                    <a:cubicBezTo>
                      <a:pt x="353070" y="338609"/>
                      <a:pt x="353615" y="324148"/>
                      <a:pt x="353615" y="304503"/>
                    </a:cubicBezTo>
                    <a:cubicBezTo>
                      <a:pt x="353615" y="303138"/>
                      <a:pt x="353684" y="297681"/>
                      <a:pt x="353820" y="288132"/>
                    </a:cubicBezTo>
                    <a:cubicBezTo>
                      <a:pt x="353956" y="278582"/>
                      <a:pt x="354025" y="270874"/>
                      <a:pt x="354025" y="265007"/>
                    </a:cubicBezTo>
                    <a:cubicBezTo>
                      <a:pt x="354025" y="259141"/>
                      <a:pt x="353615" y="250751"/>
                      <a:pt x="352797" y="239837"/>
                    </a:cubicBezTo>
                    <a:cubicBezTo>
                      <a:pt x="351978" y="228923"/>
                      <a:pt x="350887" y="219919"/>
                      <a:pt x="349523" y="212824"/>
                    </a:cubicBezTo>
                    <a:cubicBezTo>
                      <a:pt x="348158" y="205730"/>
                      <a:pt x="345907" y="197681"/>
                      <a:pt x="342769" y="188677"/>
                    </a:cubicBezTo>
                    <a:cubicBezTo>
                      <a:pt x="339632" y="179673"/>
                      <a:pt x="335880" y="172511"/>
                      <a:pt x="331514" y="167190"/>
                    </a:cubicBezTo>
                    <a:cubicBezTo>
                      <a:pt x="327149" y="161869"/>
                      <a:pt x="321555" y="157367"/>
                      <a:pt x="314734" y="153684"/>
                    </a:cubicBezTo>
                    <a:cubicBezTo>
                      <a:pt x="307913" y="150000"/>
                      <a:pt x="300136" y="148159"/>
                      <a:pt x="291405" y="148159"/>
                    </a:cubicBezTo>
                    <a:close/>
                    <a:moveTo>
                      <a:pt x="909487" y="2456"/>
                    </a:moveTo>
                    <a:cubicBezTo>
                      <a:pt x="929951" y="2456"/>
                      <a:pt x="950824" y="4639"/>
                      <a:pt x="972107" y="9004"/>
                    </a:cubicBezTo>
                    <a:cubicBezTo>
                      <a:pt x="993389" y="13370"/>
                      <a:pt x="1014535" y="20328"/>
                      <a:pt x="1035545" y="29877"/>
                    </a:cubicBezTo>
                    <a:cubicBezTo>
                      <a:pt x="1056554" y="39427"/>
                      <a:pt x="1075176" y="50887"/>
                      <a:pt x="1091411" y="64257"/>
                    </a:cubicBezTo>
                    <a:cubicBezTo>
                      <a:pt x="1107646" y="77627"/>
                      <a:pt x="1120811" y="94270"/>
                      <a:pt x="1130907" y="114189"/>
                    </a:cubicBezTo>
                    <a:cubicBezTo>
                      <a:pt x="1141002" y="134107"/>
                      <a:pt x="1146050" y="155798"/>
                      <a:pt x="1146050" y="179264"/>
                    </a:cubicBezTo>
                    <a:cubicBezTo>
                      <a:pt x="1146050" y="200273"/>
                      <a:pt x="1143253" y="218623"/>
                      <a:pt x="1137660" y="234312"/>
                    </a:cubicBezTo>
                    <a:cubicBezTo>
                      <a:pt x="1132066" y="250000"/>
                      <a:pt x="1123949" y="262756"/>
                      <a:pt x="1113308" y="272579"/>
                    </a:cubicBezTo>
                    <a:cubicBezTo>
                      <a:pt x="1102666" y="282402"/>
                      <a:pt x="1091889" y="290246"/>
                      <a:pt x="1080975" y="296112"/>
                    </a:cubicBezTo>
                    <a:cubicBezTo>
                      <a:pt x="1070061" y="301979"/>
                      <a:pt x="1057100" y="307231"/>
                      <a:pt x="1042093" y="311870"/>
                    </a:cubicBezTo>
                    <a:cubicBezTo>
                      <a:pt x="1084385" y="324966"/>
                      <a:pt x="1114604" y="343111"/>
                      <a:pt x="1132748" y="366303"/>
                    </a:cubicBezTo>
                    <a:cubicBezTo>
                      <a:pt x="1150893" y="389496"/>
                      <a:pt x="1159965" y="418827"/>
                      <a:pt x="1159965" y="454298"/>
                    </a:cubicBezTo>
                    <a:cubicBezTo>
                      <a:pt x="1159965" y="479400"/>
                      <a:pt x="1156282" y="502252"/>
                      <a:pt x="1148915" y="522852"/>
                    </a:cubicBezTo>
                    <a:cubicBezTo>
                      <a:pt x="1141548" y="543452"/>
                      <a:pt x="1132066" y="560710"/>
                      <a:pt x="1120470" y="574626"/>
                    </a:cubicBezTo>
                    <a:cubicBezTo>
                      <a:pt x="1108874" y="588541"/>
                      <a:pt x="1094685" y="600683"/>
                      <a:pt x="1077905" y="611051"/>
                    </a:cubicBezTo>
                    <a:cubicBezTo>
                      <a:pt x="1061125" y="621420"/>
                      <a:pt x="1044412" y="629537"/>
                      <a:pt x="1027769" y="635403"/>
                    </a:cubicBezTo>
                    <a:cubicBezTo>
                      <a:pt x="1011125" y="641270"/>
                      <a:pt x="992980" y="645976"/>
                      <a:pt x="973335" y="649523"/>
                    </a:cubicBezTo>
                    <a:cubicBezTo>
                      <a:pt x="953689" y="653070"/>
                      <a:pt x="936363" y="655390"/>
                      <a:pt x="921356" y="656481"/>
                    </a:cubicBezTo>
                    <a:cubicBezTo>
                      <a:pt x="906350" y="657573"/>
                      <a:pt x="890933" y="658118"/>
                      <a:pt x="875108" y="658118"/>
                    </a:cubicBezTo>
                    <a:cubicBezTo>
                      <a:pt x="834999" y="658118"/>
                      <a:pt x="799255" y="654639"/>
                      <a:pt x="767877" y="647682"/>
                    </a:cubicBezTo>
                    <a:cubicBezTo>
                      <a:pt x="736499" y="640724"/>
                      <a:pt x="708123" y="629537"/>
                      <a:pt x="682748" y="614121"/>
                    </a:cubicBezTo>
                    <a:cubicBezTo>
                      <a:pt x="657373" y="598705"/>
                      <a:pt x="637454" y="577286"/>
                      <a:pt x="622993" y="549864"/>
                    </a:cubicBezTo>
                    <a:cubicBezTo>
                      <a:pt x="608532" y="522443"/>
                      <a:pt x="600347" y="489496"/>
                      <a:pt x="598437" y="451024"/>
                    </a:cubicBezTo>
                    <a:cubicBezTo>
                      <a:pt x="598437" y="442293"/>
                      <a:pt x="602802" y="437927"/>
                      <a:pt x="611533" y="437927"/>
                    </a:cubicBezTo>
                    <a:lnTo>
                      <a:pt x="806349" y="437927"/>
                    </a:lnTo>
                    <a:cubicBezTo>
                      <a:pt x="811261" y="437927"/>
                      <a:pt x="814876" y="438473"/>
                      <a:pt x="817195" y="439564"/>
                    </a:cubicBezTo>
                    <a:cubicBezTo>
                      <a:pt x="819515" y="440656"/>
                      <a:pt x="820811" y="443111"/>
                      <a:pt x="821083" y="446931"/>
                    </a:cubicBezTo>
                    <a:lnTo>
                      <a:pt x="821083" y="447750"/>
                    </a:lnTo>
                    <a:cubicBezTo>
                      <a:pt x="823266" y="465212"/>
                      <a:pt x="828109" y="478582"/>
                      <a:pt x="835613" y="487859"/>
                    </a:cubicBezTo>
                    <a:cubicBezTo>
                      <a:pt x="843116" y="497136"/>
                      <a:pt x="854917" y="501774"/>
                      <a:pt x="871015" y="501774"/>
                    </a:cubicBezTo>
                    <a:cubicBezTo>
                      <a:pt x="885476" y="501774"/>
                      <a:pt x="896868" y="497477"/>
                      <a:pt x="905190" y="488882"/>
                    </a:cubicBezTo>
                    <a:cubicBezTo>
                      <a:pt x="913512" y="480287"/>
                      <a:pt x="917673" y="469305"/>
                      <a:pt x="917673" y="455935"/>
                    </a:cubicBezTo>
                    <a:cubicBezTo>
                      <a:pt x="917673" y="445021"/>
                      <a:pt x="915831" y="435676"/>
                      <a:pt x="912148" y="427900"/>
                    </a:cubicBezTo>
                    <a:cubicBezTo>
                      <a:pt x="908464" y="420123"/>
                      <a:pt x="904030" y="414189"/>
                      <a:pt x="898846" y="410096"/>
                    </a:cubicBezTo>
                    <a:cubicBezTo>
                      <a:pt x="893662" y="406003"/>
                      <a:pt x="886977" y="402797"/>
                      <a:pt x="878792" y="400478"/>
                    </a:cubicBezTo>
                    <a:cubicBezTo>
                      <a:pt x="870606" y="398159"/>
                      <a:pt x="863239" y="396726"/>
                      <a:pt x="856691" y="396181"/>
                    </a:cubicBezTo>
                    <a:cubicBezTo>
                      <a:pt x="850142" y="395635"/>
                      <a:pt x="842366" y="395362"/>
                      <a:pt x="833362" y="395362"/>
                    </a:cubicBezTo>
                    <a:lnTo>
                      <a:pt x="815354" y="395362"/>
                    </a:lnTo>
                    <a:cubicBezTo>
                      <a:pt x="804712" y="395362"/>
                      <a:pt x="797414" y="392224"/>
                      <a:pt x="793457" y="385949"/>
                    </a:cubicBezTo>
                    <a:cubicBezTo>
                      <a:pt x="789501" y="379673"/>
                      <a:pt x="787523" y="369987"/>
                      <a:pt x="787523" y="356890"/>
                    </a:cubicBezTo>
                    <a:lnTo>
                      <a:pt x="787523" y="330696"/>
                    </a:lnTo>
                    <a:cubicBezTo>
                      <a:pt x="787523" y="308050"/>
                      <a:pt x="789023" y="291337"/>
                      <a:pt x="792025" y="280560"/>
                    </a:cubicBezTo>
                    <a:cubicBezTo>
                      <a:pt x="795026" y="269782"/>
                      <a:pt x="800892" y="264393"/>
                      <a:pt x="809624" y="264393"/>
                    </a:cubicBezTo>
                    <a:lnTo>
                      <a:pt x="842366" y="264393"/>
                    </a:lnTo>
                    <a:cubicBezTo>
                      <a:pt x="864194" y="264393"/>
                      <a:pt x="881111" y="259960"/>
                      <a:pt x="893116" y="251092"/>
                    </a:cubicBezTo>
                    <a:cubicBezTo>
                      <a:pt x="905122" y="242224"/>
                      <a:pt x="911124" y="225376"/>
                      <a:pt x="911124" y="200546"/>
                    </a:cubicBezTo>
                    <a:cubicBezTo>
                      <a:pt x="911124" y="188541"/>
                      <a:pt x="907714" y="178582"/>
                      <a:pt x="900893" y="170669"/>
                    </a:cubicBezTo>
                    <a:cubicBezTo>
                      <a:pt x="894071" y="162756"/>
                      <a:pt x="884931" y="158800"/>
                      <a:pt x="873471" y="158800"/>
                    </a:cubicBezTo>
                    <a:cubicBezTo>
                      <a:pt x="851643" y="158800"/>
                      <a:pt x="838546" y="168895"/>
                      <a:pt x="834180" y="189086"/>
                    </a:cubicBezTo>
                    <a:lnTo>
                      <a:pt x="834180" y="205457"/>
                    </a:lnTo>
                    <a:cubicBezTo>
                      <a:pt x="831452" y="216917"/>
                      <a:pt x="825449" y="224557"/>
                      <a:pt x="816172" y="228377"/>
                    </a:cubicBezTo>
                    <a:cubicBezTo>
                      <a:pt x="758873" y="228377"/>
                      <a:pt x="707304" y="227286"/>
                      <a:pt x="661465" y="225103"/>
                    </a:cubicBezTo>
                    <a:cubicBezTo>
                      <a:pt x="659283" y="225103"/>
                      <a:pt x="655804" y="225239"/>
                      <a:pt x="651029" y="225512"/>
                    </a:cubicBezTo>
                    <a:cubicBezTo>
                      <a:pt x="646254" y="225785"/>
                      <a:pt x="642639" y="225921"/>
                      <a:pt x="640183" y="225921"/>
                    </a:cubicBezTo>
                    <a:cubicBezTo>
                      <a:pt x="618900" y="225921"/>
                      <a:pt x="608259" y="220737"/>
                      <a:pt x="608259" y="210369"/>
                    </a:cubicBezTo>
                    <a:cubicBezTo>
                      <a:pt x="612352" y="171624"/>
                      <a:pt x="615626" y="147204"/>
                      <a:pt x="618082" y="137108"/>
                    </a:cubicBezTo>
                    <a:cubicBezTo>
                      <a:pt x="625722" y="105457"/>
                      <a:pt x="642229" y="79536"/>
                      <a:pt x="667604" y="59345"/>
                    </a:cubicBezTo>
                    <a:cubicBezTo>
                      <a:pt x="675244" y="53070"/>
                      <a:pt x="683839" y="47204"/>
                      <a:pt x="693389" y="41747"/>
                    </a:cubicBezTo>
                    <a:cubicBezTo>
                      <a:pt x="721220" y="25375"/>
                      <a:pt x="752666" y="14734"/>
                      <a:pt x="787727" y="9823"/>
                    </a:cubicBezTo>
                    <a:cubicBezTo>
                      <a:pt x="822789" y="4912"/>
                      <a:pt x="863375" y="2456"/>
                      <a:pt x="909487" y="2456"/>
                    </a:cubicBezTo>
                    <a:close/>
                    <a:moveTo>
                      <a:pt x="286494" y="0"/>
                    </a:moveTo>
                    <a:cubicBezTo>
                      <a:pt x="319509" y="0"/>
                      <a:pt x="349727" y="3752"/>
                      <a:pt x="377149" y="11255"/>
                    </a:cubicBezTo>
                    <a:cubicBezTo>
                      <a:pt x="404570" y="18759"/>
                      <a:pt x="427967" y="28786"/>
                      <a:pt x="447340" y="41337"/>
                    </a:cubicBezTo>
                    <a:cubicBezTo>
                      <a:pt x="466712" y="53888"/>
                      <a:pt x="483902" y="69236"/>
                      <a:pt x="498909" y="87381"/>
                    </a:cubicBezTo>
                    <a:cubicBezTo>
                      <a:pt x="513916" y="105526"/>
                      <a:pt x="525921" y="124421"/>
                      <a:pt x="534925" y="144066"/>
                    </a:cubicBezTo>
                    <a:cubicBezTo>
                      <a:pt x="543929" y="163711"/>
                      <a:pt x="551296" y="185062"/>
                      <a:pt x="557026" y="208118"/>
                    </a:cubicBezTo>
                    <a:cubicBezTo>
                      <a:pt x="562756" y="231174"/>
                      <a:pt x="566712" y="253207"/>
                      <a:pt x="568895" y="274216"/>
                    </a:cubicBezTo>
                    <a:cubicBezTo>
                      <a:pt x="571078" y="295226"/>
                      <a:pt x="572169" y="317054"/>
                      <a:pt x="572169" y="339700"/>
                    </a:cubicBezTo>
                    <a:cubicBezTo>
                      <a:pt x="572169" y="391542"/>
                      <a:pt x="564734" y="437791"/>
                      <a:pt x="549864" y="478446"/>
                    </a:cubicBezTo>
                    <a:cubicBezTo>
                      <a:pt x="534993" y="519100"/>
                      <a:pt x="514393" y="552388"/>
                      <a:pt x="488063" y="578309"/>
                    </a:cubicBezTo>
                    <a:cubicBezTo>
                      <a:pt x="461733" y="604230"/>
                      <a:pt x="431105" y="623875"/>
                      <a:pt x="396180" y="637245"/>
                    </a:cubicBezTo>
                    <a:cubicBezTo>
                      <a:pt x="361255" y="650615"/>
                      <a:pt x="323056" y="657300"/>
                      <a:pt x="281583" y="657300"/>
                    </a:cubicBezTo>
                    <a:cubicBezTo>
                      <a:pt x="250750" y="657300"/>
                      <a:pt x="222715" y="654367"/>
                      <a:pt x="197476" y="648500"/>
                    </a:cubicBezTo>
                    <a:cubicBezTo>
                      <a:pt x="172237" y="642634"/>
                      <a:pt x="150341" y="634653"/>
                      <a:pt x="131787" y="624558"/>
                    </a:cubicBezTo>
                    <a:cubicBezTo>
                      <a:pt x="113233" y="614462"/>
                      <a:pt x="96794" y="601638"/>
                      <a:pt x="82469" y="586085"/>
                    </a:cubicBezTo>
                    <a:cubicBezTo>
                      <a:pt x="68144" y="570533"/>
                      <a:pt x="56275" y="553957"/>
                      <a:pt x="46862" y="536358"/>
                    </a:cubicBezTo>
                    <a:cubicBezTo>
                      <a:pt x="37449" y="518759"/>
                      <a:pt x="29468" y="498568"/>
                      <a:pt x="22919" y="475785"/>
                    </a:cubicBezTo>
                    <a:cubicBezTo>
                      <a:pt x="16371" y="453002"/>
                      <a:pt x="11391" y="430424"/>
                      <a:pt x="7981" y="408050"/>
                    </a:cubicBezTo>
                    <a:cubicBezTo>
                      <a:pt x="4570" y="385676"/>
                      <a:pt x="1910" y="360710"/>
                      <a:pt x="0" y="333152"/>
                    </a:cubicBezTo>
                    <a:cubicBezTo>
                      <a:pt x="0" y="126058"/>
                      <a:pt x="95498" y="15007"/>
                      <a:pt x="286494" y="0"/>
                    </a:cubicBezTo>
                    <a:close/>
                  </a:path>
                </a:pathLst>
              </a:custGeom>
              <a:solidFill>
                <a:schemeClr val="accent5"/>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69" name="TextBox 68">
                <a:extLst>
                  <a:ext uri="{FF2B5EF4-FFF2-40B4-BE49-F238E27FC236}">
                    <a16:creationId xmlns:a16="http://schemas.microsoft.com/office/drawing/2014/main" id="{E95D9DFC-5148-7A0B-3914-6AE4A7070BF1}"/>
                  </a:ext>
                </a:extLst>
              </p:cNvPr>
              <p:cNvSpPr txBox="1"/>
              <p:nvPr/>
            </p:nvSpPr>
            <p:spPr>
              <a:xfrm>
                <a:off x="4156939" y="3319211"/>
                <a:ext cx="976821" cy="553429"/>
              </a:xfrm>
              <a:custGeom>
                <a:avLst/>
                <a:gdLst>
                  <a:gd name="connsiteX0" fmla="*/ 291405 w 1161603"/>
                  <a:gd name="connsiteY0" fmla="*/ 148159 h 658119"/>
                  <a:gd name="connsiteX1" fmla="*/ 271760 w 1161603"/>
                  <a:gd name="connsiteY1" fmla="*/ 151024 h 658119"/>
                  <a:gd name="connsiteX2" fmla="*/ 256003 w 1161603"/>
                  <a:gd name="connsiteY2" fmla="*/ 160642 h 658119"/>
                  <a:gd name="connsiteX3" fmla="*/ 243929 w 1161603"/>
                  <a:gd name="connsiteY3" fmla="*/ 174352 h 658119"/>
                  <a:gd name="connsiteX4" fmla="*/ 234925 w 1161603"/>
                  <a:gd name="connsiteY4" fmla="*/ 193179 h 658119"/>
                  <a:gd name="connsiteX5" fmla="*/ 228376 w 1161603"/>
                  <a:gd name="connsiteY5" fmla="*/ 214257 h 658119"/>
                  <a:gd name="connsiteX6" fmla="*/ 223874 w 1161603"/>
                  <a:gd name="connsiteY6" fmla="*/ 238814 h 658119"/>
                  <a:gd name="connsiteX7" fmla="*/ 221214 w 1161603"/>
                  <a:gd name="connsiteY7" fmla="*/ 263780 h 658119"/>
                  <a:gd name="connsiteX8" fmla="*/ 219782 w 1161603"/>
                  <a:gd name="connsiteY8" fmla="*/ 290792 h 658119"/>
                  <a:gd name="connsiteX9" fmla="*/ 219372 w 1161603"/>
                  <a:gd name="connsiteY9" fmla="*/ 316372 h 658119"/>
                  <a:gd name="connsiteX10" fmla="*/ 219372 w 1161603"/>
                  <a:gd name="connsiteY10" fmla="*/ 341747 h 658119"/>
                  <a:gd name="connsiteX11" fmla="*/ 219372 w 1161603"/>
                  <a:gd name="connsiteY11" fmla="*/ 349523 h 658119"/>
                  <a:gd name="connsiteX12" fmla="*/ 219782 w 1161603"/>
                  <a:gd name="connsiteY12" fmla="*/ 377763 h 658119"/>
                  <a:gd name="connsiteX13" fmla="*/ 221623 w 1161603"/>
                  <a:gd name="connsiteY13" fmla="*/ 407845 h 658119"/>
                  <a:gd name="connsiteX14" fmla="*/ 225512 w 1161603"/>
                  <a:gd name="connsiteY14" fmla="*/ 438950 h 658119"/>
                  <a:gd name="connsiteX15" fmla="*/ 232674 w 1161603"/>
                  <a:gd name="connsiteY15" fmla="*/ 466577 h 658119"/>
                  <a:gd name="connsiteX16" fmla="*/ 243929 w 1161603"/>
                  <a:gd name="connsiteY16" fmla="*/ 490315 h 658119"/>
                  <a:gd name="connsiteX17" fmla="*/ 260505 w 1161603"/>
                  <a:gd name="connsiteY17" fmla="*/ 505663 h 658119"/>
                  <a:gd name="connsiteX18" fmla="*/ 283220 w 1161603"/>
                  <a:gd name="connsiteY18" fmla="*/ 511597 h 658119"/>
                  <a:gd name="connsiteX19" fmla="*/ 308799 w 1161603"/>
                  <a:gd name="connsiteY19" fmla="*/ 505458 h 658119"/>
                  <a:gd name="connsiteX20" fmla="*/ 327217 w 1161603"/>
                  <a:gd name="connsiteY20" fmla="*/ 490724 h 658119"/>
                  <a:gd name="connsiteX21" fmla="*/ 339291 w 1161603"/>
                  <a:gd name="connsiteY21" fmla="*/ 466986 h 658119"/>
                  <a:gd name="connsiteX22" fmla="*/ 346658 w 1161603"/>
                  <a:gd name="connsiteY22" fmla="*/ 440178 h 658119"/>
                  <a:gd name="connsiteX23" fmla="*/ 350341 w 1161603"/>
                  <a:gd name="connsiteY23" fmla="*/ 409482 h 658119"/>
                  <a:gd name="connsiteX24" fmla="*/ 351774 w 1161603"/>
                  <a:gd name="connsiteY24" fmla="*/ 380628 h 658119"/>
                  <a:gd name="connsiteX25" fmla="*/ 351978 w 1161603"/>
                  <a:gd name="connsiteY25" fmla="*/ 353207 h 658119"/>
                  <a:gd name="connsiteX26" fmla="*/ 351978 w 1161603"/>
                  <a:gd name="connsiteY26" fmla="*/ 347886 h 658119"/>
                  <a:gd name="connsiteX27" fmla="*/ 353615 w 1161603"/>
                  <a:gd name="connsiteY27" fmla="*/ 304503 h 658119"/>
                  <a:gd name="connsiteX28" fmla="*/ 353820 w 1161603"/>
                  <a:gd name="connsiteY28" fmla="*/ 288132 h 658119"/>
                  <a:gd name="connsiteX29" fmla="*/ 354025 w 1161603"/>
                  <a:gd name="connsiteY29" fmla="*/ 265007 h 658119"/>
                  <a:gd name="connsiteX30" fmla="*/ 352797 w 1161603"/>
                  <a:gd name="connsiteY30" fmla="*/ 239837 h 658119"/>
                  <a:gd name="connsiteX31" fmla="*/ 349523 w 1161603"/>
                  <a:gd name="connsiteY31" fmla="*/ 212825 h 658119"/>
                  <a:gd name="connsiteX32" fmla="*/ 342769 w 1161603"/>
                  <a:gd name="connsiteY32" fmla="*/ 188677 h 658119"/>
                  <a:gd name="connsiteX33" fmla="*/ 331514 w 1161603"/>
                  <a:gd name="connsiteY33" fmla="*/ 167190 h 658119"/>
                  <a:gd name="connsiteX34" fmla="*/ 314734 w 1161603"/>
                  <a:gd name="connsiteY34" fmla="*/ 153684 h 658119"/>
                  <a:gd name="connsiteX35" fmla="*/ 291405 w 1161603"/>
                  <a:gd name="connsiteY35" fmla="*/ 148159 h 658119"/>
                  <a:gd name="connsiteX36" fmla="*/ 651644 w 1161603"/>
                  <a:gd name="connsiteY36" fmla="*/ 13098 h 658119"/>
                  <a:gd name="connsiteX37" fmla="*/ 1101849 w 1161603"/>
                  <a:gd name="connsiteY37" fmla="*/ 13098 h 658119"/>
                  <a:gd name="connsiteX38" fmla="*/ 1118015 w 1161603"/>
                  <a:gd name="connsiteY38" fmla="*/ 16782 h 658119"/>
                  <a:gd name="connsiteX39" fmla="*/ 1127224 w 1161603"/>
                  <a:gd name="connsiteY39" fmla="*/ 27014 h 658119"/>
                  <a:gd name="connsiteX40" fmla="*/ 1127224 w 1161603"/>
                  <a:gd name="connsiteY40" fmla="*/ 106413 h 658119"/>
                  <a:gd name="connsiteX41" fmla="*/ 1127224 w 1161603"/>
                  <a:gd name="connsiteY41" fmla="*/ 114599 h 658119"/>
                  <a:gd name="connsiteX42" fmla="*/ 1124973 w 1161603"/>
                  <a:gd name="connsiteY42" fmla="*/ 168010 h 658119"/>
                  <a:gd name="connsiteX43" fmla="*/ 1110034 w 1161603"/>
                  <a:gd name="connsiteY43" fmla="*/ 176809 h 658119"/>
                  <a:gd name="connsiteX44" fmla="*/ 851371 w 1161603"/>
                  <a:gd name="connsiteY44" fmla="*/ 178446 h 658119"/>
                  <a:gd name="connsiteX45" fmla="*/ 848506 w 1161603"/>
                  <a:gd name="connsiteY45" fmla="*/ 215691 h 658119"/>
                  <a:gd name="connsiteX46" fmla="*/ 845641 w 1161603"/>
                  <a:gd name="connsiteY46" fmla="*/ 252935 h 658119"/>
                  <a:gd name="connsiteX47" fmla="*/ 898029 w 1161603"/>
                  <a:gd name="connsiteY47" fmla="*/ 230015 h 658119"/>
                  <a:gd name="connsiteX48" fmla="*/ 961057 w 1161603"/>
                  <a:gd name="connsiteY48" fmla="*/ 221830 h 658119"/>
                  <a:gd name="connsiteX49" fmla="*/ 1106760 w 1161603"/>
                  <a:gd name="connsiteY49" fmla="*/ 277287 h 658119"/>
                  <a:gd name="connsiteX50" fmla="*/ 1161603 w 1161603"/>
                  <a:gd name="connsiteY50" fmla="*/ 419920 h 658119"/>
                  <a:gd name="connsiteX51" fmla="*/ 1145437 w 1161603"/>
                  <a:gd name="connsiteY51" fmla="*/ 512826 h 658119"/>
                  <a:gd name="connsiteX52" fmla="*/ 1102667 w 1161603"/>
                  <a:gd name="connsiteY52" fmla="*/ 580766 h 658119"/>
                  <a:gd name="connsiteX53" fmla="*/ 1039843 w 1161603"/>
                  <a:gd name="connsiteY53" fmla="*/ 625173 h 658119"/>
                  <a:gd name="connsiteX54" fmla="*/ 965559 w 1161603"/>
                  <a:gd name="connsiteY54" fmla="*/ 650548 h 658119"/>
                  <a:gd name="connsiteX55" fmla="*/ 886569 w 1161603"/>
                  <a:gd name="connsiteY55" fmla="*/ 658119 h 658119"/>
                  <a:gd name="connsiteX56" fmla="*/ 835205 w 1161603"/>
                  <a:gd name="connsiteY56" fmla="*/ 656073 h 658119"/>
                  <a:gd name="connsiteX57" fmla="*/ 785068 w 1161603"/>
                  <a:gd name="connsiteY57" fmla="*/ 648706 h 658119"/>
                  <a:gd name="connsiteX58" fmla="*/ 737183 w 1161603"/>
                  <a:gd name="connsiteY58" fmla="*/ 634586 h 658119"/>
                  <a:gd name="connsiteX59" fmla="*/ 694822 w 1161603"/>
                  <a:gd name="connsiteY59" fmla="*/ 611257 h 658119"/>
                  <a:gd name="connsiteX60" fmla="*/ 659215 w 1161603"/>
                  <a:gd name="connsiteY60" fmla="*/ 577696 h 658119"/>
                  <a:gd name="connsiteX61" fmla="*/ 633635 w 1161603"/>
                  <a:gd name="connsiteY61" fmla="*/ 531243 h 658119"/>
                  <a:gd name="connsiteX62" fmla="*/ 619720 w 1161603"/>
                  <a:gd name="connsiteY62" fmla="*/ 470670 h 658119"/>
                  <a:gd name="connsiteX63" fmla="*/ 632203 w 1161603"/>
                  <a:gd name="connsiteY63" fmla="*/ 458801 h 658119"/>
                  <a:gd name="connsiteX64" fmla="*/ 668833 w 1161603"/>
                  <a:gd name="connsiteY64" fmla="*/ 455936 h 658119"/>
                  <a:gd name="connsiteX65" fmla="*/ 735955 w 1161603"/>
                  <a:gd name="connsiteY65" fmla="*/ 455936 h 658119"/>
                  <a:gd name="connsiteX66" fmla="*/ 789161 w 1161603"/>
                  <a:gd name="connsiteY66" fmla="*/ 457164 h 658119"/>
                  <a:gd name="connsiteX67" fmla="*/ 844004 w 1161603"/>
                  <a:gd name="connsiteY67" fmla="*/ 458392 h 658119"/>
                  <a:gd name="connsiteX68" fmla="*/ 854441 w 1161603"/>
                  <a:gd name="connsiteY68" fmla="*/ 466168 h 658119"/>
                  <a:gd name="connsiteX69" fmla="*/ 859147 w 1161603"/>
                  <a:gd name="connsiteY69" fmla="*/ 480902 h 658119"/>
                  <a:gd name="connsiteX70" fmla="*/ 865696 w 1161603"/>
                  <a:gd name="connsiteY70" fmla="*/ 495227 h 658119"/>
                  <a:gd name="connsiteX71" fmla="*/ 881658 w 1161603"/>
                  <a:gd name="connsiteY71" fmla="*/ 501775 h 658119"/>
                  <a:gd name="connsiteX72" fmla="*/ 922585 w 1161603"/>
                  <a:gd name="connsiteY72" fmla="*/ 433017 h 658119"/>
                  <a:gd name="connsiteX73" fmla="*/ 921357 w 1161603"/>
                  <a:gd name="connsiteY73" fmla="*/ 407437 h 658119"/>
                  <a:gd name="connsiteX74" fmla="*/ 916446 w 1161603"/>
                  <a:gd name="connsiteY74" fmla="*/ 384722 h 658119"/>
                  <a:gd name="connsiteX75" fmla="*/ 904372 w 1161603"/>
                  <a:gd name="connsiteY75" fmla="*/ 366509 h 658119"/>
                  <a:gd name="connsiteX76" fmla="*/ 883295 w 1161603"/>
                  <a:gd name="connsiteY76" fmla="*/ 360165 h 658119"/>
                  <a:gd name="connsiteX77" fmla="*/ 861808 w 1161603"/>
                  <a:gd name="connsiteY77" fmla="*/ 367532 h 658119"/>
                  <a:gd name="connsiteX78" fmla="*/ 854645 w 1161603"/>
                  <a:gd name="connsiteY78" fmla="*/ 383903 h 658119"/>
                  <a:gd name="connsiteX79" fmla="*/ 850143 w 1161603"/>
                  <a:gd name="connsiteY79" fmla="*/ 400275 h 658119"/>
                  <a:gd name="connsiteX80" fmla="*/ 835818 w 1161603"/>
                  <a:gd name="connsiteY80" fmla="*/ 407642 h 658119"/>
                  <a:gd name="connsiteX81" fmla="*/ 654099 w 1161603"/>
                  <a:gd name="connsiteY81" fmla="*/ 407642 h 658119"/>
                  <a:gd name="connsiteX82" fmla="*/ 641821 w 1161603"/>
                  <a:gd name="connsiteY82" fmla="*/ 357710 h 658119"/>
                  <a:gd name="connsiteX83" fmla="*/ 641821 w 1161603"/>
                  <a:gd name="connsiteY83" fmla="*/ 52389 h 658119"/>
                  <a:gd name="connsiteX84" fmla="*/ 642230 w 1161603"/>
                  <a:gd name="connsiteY84" fmla="*/ 37041 h 658119"/>
                  <a:gd name="connsiteX85" fmla="*/ 644891 w 1161603"/>
                  <a:gd name="connsiteY85" fmla="*/ 24967 h 658119"/>
                  <a:gd name="connsiteX86" fmla="*/ 651644 w 1161603"/>
                  <a:gd name="connsiteY86" fmla="*/ 13098 h 658119"/>
                  <a:gd name="connsiteX87" fmla="*/ 286494 w 1161603"/>
                  <a:gd name="connsiteY87" fmla="*/ 0 h 658119"/>
                  <a:gd name="connsiteX88" fmla="*/ 377149 w 1161603"/>
                  <a:gd name="connsiteY88" fmla="*/ 11255 h 658119"/>
                  <a:gd name="connsiteX89" fmla="*/ 447340 w 1161603"/>
                  <a:gd name="connsiteY89" fmla="*/ 41337 h 658119"/>
                  <a:gd name="connsiteX90" fmla="*/ 498909 w 1161603"/>
                  <a:gd name="connsiteY90" fmla="*/ 87381 h 658119"/>
                  <a:gd name="connsiteX91" fmla="*/ 534925 w 1161603"/>
                  <a:gd name="connsiteY91" fmla="*/ 144066 h 658119"/>
                  <a:gd name="connsiteX92" fmla="*/ 557026 w 1161603"/>
                  <a:gd name="connsiteY92" fmla="*/ 208118 h 658119"/>
                  <a:gd name="connsiteX93" fmla="*/ 568895 w 1161603"/>
                  <a:gd name="connsiteY93" fmla="*/ 274216 h 658119"/>
                  <a:gd name="connsiteX94" fmla="*/ 572169 w 1161603"/>
                  <a:gd name="connsiteY94" fmla="*/ 339701 h 658119"/>
                  <a:gd name="connsiteX95" fmla="*/ 549864 w 1161603"/>
                  <a:gd name="connsiteY95" fmla="*/ 478446 h 658119"/>
                  <a:gd name="connsiteX96" fmla="*/ 488063 w 1161603"/>
                  <a:gd name="connsiteY96" fmla="*/ 578309 h 658119"/>
                  <a:gd name="connsiteX97" fmla="*/ 396180 w 1161603"/>
                  <a:gd name="connsiteY97" fmla="*/ 637245 h 658119"/>
                  <a:gd name="connsiteX98" fmla="*/ 281583 w 1161603"/>
                  <a:gd name="connsiteY98" fmla="*/ 657300 h 658119"/>
                  <a:gd name="connsiteX99" fmla="*/ 197476 w 1161603"/>
                  <a:gd name="connsiteY99" fmla="*/ 648500 h 658119"/>
                  <a:gd name="connsiteX100" fmla="*/ 131787 w 1161603"/>
                  <a:gd name="connsiteY100" fmla="*/ 624558 h 658119"/>
                  <a:gd name="connsiteX101" fmla="*/ 82469 w 1161603"/>
                  <a:gd name="connsiteY101" fmla="*/ 586086 h 658119"/>
                  <a:gd name="connsiteX102" fmla="*/ 46862 w 1161603"/>
                  <a:gd name="connsiteY102" fmla="*/ 536358 h 658119"/>
                  <a:gd name="connsiteX103" fmla="*/ 22919 w 1161603"/>
                  <a:gd name="connsiteY103" fmla="*/ 475785 h 658119"/>
                  <a:gd name="connsiteX104" fmla="*/ 7981 w 1161603"/>
                  <a:gd name="connsiteY104" fmla="*/ 408050 h 658119"/>
                  <a:gd name="connsiteX105" fmla="*/ 0 w 1161603"/>
                  <a:gd name="connsiteY105" fmla="*/ 333152 h 658119"/>
                  <a:gd name="connsiteX106" fmla="*/ 286494 w 1161603"/>
                  <a:gd name="connsiteY106" fmla="*/ 0 h 65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1161603" h="658119">
                    <a:moveTo>
                      <a:pt x="291405" y="148159"/>
                    </a:moveTo>
                    <a:cubicBezTo>
                      <a:pt x="284311" y="148159"/>
                      <a:pt x="277763" y="149114"/>
                      <a:pt x="271760" y="151024"/>
                    </a:cubicBezTo>
                    <a:cubicBezTo>
                      <a:pt x="265757" y="152934"/>
                      <a:pt x="260505" y="156140"/>
                      <a:pt x="256003" y="160642"/>
                    </a:cubicBezTo>
                    <a:cubicBezTo>
                      <a:pt x="251501" y="165144"/>
                      <a:pt x="247476" y="169714"/>
                      <a:pt x="243929" y="174352"/>
                    </a:cubicBezTo>
                    <a:cubicBezTo>
                      <a:pt x="240382" y="178991"/>
                      <a:pt x="237381" y="185267"/>
                      <a:pt x="234925" y="193179"/>
                    </a:cubicBezTo>
                    <a:cubicBezTo>
                      <a:pt x="232469" y="201092"/>
                      <a:pt x="230286" y="208118"/>
                      <a:pt x="228376" y="214257"/>
                    </a:cubicBezTo>
                    <a:cubicBezTo>
                      <a:pt x="226466" y="220396"/>
                      <a:pt x="224966" y="228582"/>
                      <a:pt x="223874" y="238814"/>
                    </a:cubicBezTo>
                    <a:cubicBezTo>
                      <a:pt x="222783" y="249046"/>
                      <a:pt x="221896" y="257368"/>
                      <a:pt x="221214" y="263780"/>
                    </a:cubicBezTo>
                    <a:cubicBezTo>
                      <a:pt x="220532" y="270192"/>
                      <a:pt x="220054" y="279196"/>
                      <a:pt x="219782" y="290792"/>
                    </a:cubicBezTo>
                    <a:cubicBezTo>
                      <a:pt x="219509" y="302388"/>
                      <a:pt x="219372" y="310915"/>
                      <a:pt x="219372" y="316372"/>
                    </a:cubicBezTo>
                    <a:cubicBezTo>
                      <a:pt x="219372" y="321829"/>
                      <a:pt x="219372" y="330287"/>
                      <a:pt x="219372" y="341747"/>
                    </a:cubicBezTo>
                    <a:cubicBezTo>
                      <a:pt x="219372" y="345294"/>
                      <a:pt x="219372" y="347886"/>
                      <a:pt x="219372" y="349523"/>
                    </a:cubicBezTo>
                    <a:cubicBezTo>
                      <a:pt x="219372" y="360164"/>
                      <a:pt x="219509" y="369578"/>
                      <a:pt x="219782" y="377763"/>
                    </a:cubicBezTo>
                    <a:cubicBezTo>
                      <a:pt x="220054" y="385949"/>
                      <a:pt x="220668" y="395976"/>
                      <a:pt x="221623" y="407845"/>
                    </a:cubicBezTo>
                    <a:cubicBezTo>
                      <a:pt x="222578" y="419714"/>
                      <a:pt x="223874" y="430083"/>
                      <a:pt x="225512" y="438950"/>
                    </a:cubicBezTo>
                    <a:cubicBezTo>
                      <a:pt x="227149" y="447818"/>
                      <a:pt x="229536" y="457027"/>
                      <a:pt x="232674" y="466577"/>
                    </a:cubicBezTo>
                    <a:cubicBezTo>
                      <a:pt x="235812" y="476126"/>
                      <a:pt x="239563" y="484039"/>
                      <a:pt x="243929" y="490315"/>
                    </a:cubicBezTo>
                    <a:cubicBezTo>
                      <a:pt x="248295" y="496590"/>
                      <a:pt x="253820" y="501706"/>
                      <a:pt x="260505" y="505663"/>
                    </a:cubicBezTo>
                    <a:cubicBezTo>
                      <a:pt x="267190" y="509619"/>
                      <a:pt x="274761" y="511597"/>
                      <a:pt x="283220" y="511597"/>
                    </a:cubicBezTo>
                    <a:cubicBezTo>
                      <a:pt x="292769" y="511597"/>
                      <a:pt x="301296" y="509551"/>
                      <a:pt x="308799" y="505458"/>
                    </a:cubicBezTo>
                    <a:cubicBezTo>
                      <a:pt x="316303" y="501365"/>
                      <a:pt x="322442" y="496454"/>
                      <a:pt x="327217" y="490724"/>
                    </a:cubicBezTo>
                    <a:cubicBezTo>
                      <a:pt x="331992" y="484994"/>
                      <a:pt x="336016" y="477081"/>
                      <a:pt x="339291" y="466986"/>
                    </a:cubicBezTo>
                    <a:cubicBezTo>
                      <a:pt x="342565" y="456890"/>
                      <a:pt x="345021" y="447954"/>
                      <a:pt x="346658" y="440178"/>
                    </a:cubicBezTo>
                    <a:cubicBezTo>
                      <a:pt x="348295" y="432402"/>
                      <a:pt x="349523" y="422170"/>
                      <a:pt x="350341" y="409482"/>
                    </a:cubicBezTo>
                    <a:cubicBezTo>
                      <a:pt x="351160" y="396795"/>
                      <a:pt x="351637" y="387177"/>
                      <a:pt x="351774" y="380628"/>
                    </a:cubicBezTo>
                    <a:cubicBezTo>
                      <a:pt x="351910" y="374080"/>
                      <a:pt x="351978" y="364939"/>
                      <a:pt x="351978" y="353207"/>
                    </a:cubicBezTo>
                    <a:cubicBezTo>
                      <a:pt x="351978" y="350751"/>
                      <a:pt x="351978" y="348978"/>
                      <a:pt x="351978" y="347886"/>
                    </a:cubicBezTo>
                    <a:cubicBezTo>
                      <a:pt x="353070" y="338609"/>
                      <a:pt x="353615" y="324148"/>
                      <a:pt x="353615" y="304503"/>
                    </a:cubicBezTo>
                    <a:cubicBezTo>
                      <a:pt x="353615" y="303138"/>
                      <a:pt x="353684" y="297681"/>
                      <a:pt x="353820" y="288132"/>
                    </a:cubicBezTo>
                    <a:cubicBezTo>
                      <a:pt x="353956" y="278582"/>
                      <a:pt x="354025" y="270874"/>
                      <a:pt x="354025" y="265007"/>
                    </a:cubicBezTo>
                    <a:cubicBezTo>
                      <a:pt x="354025" y="259141"/>
                      <a:pt x="353615" y="250751"/>
                      <a:pt x="352797" y="239837"/>
                    </a:cubicBezTo>
                    <a:cubicBezTo>
                      <a:pt x="351978" y="228923"/>
                      <a:pt x="350887" y="219919"/>
                      <a:pt x="349523" y="212825"/>
                    </a:cubicBezTo>
                    <a:cubicBezTo>
                      <a:pt x="348158" y="205730"/>
                      <a:pt x="345907" y="197681"/>
                      <a:pt x="342769" y="188677"/>
                    </a:cubicBezTo>
                    <a:cubicBezTo>
                      <a:pt x="339632" y="179673"/>
                      <a:pt x="335880" y="172511"/>
                      <a:pt x="331514" y="167190"/>
                    </a:cubicBezTo>
                    <a:cubicBezTo>
                      <a:pt x="327149" y="161870"/>
                      <a:pt x="321555" y="157367"/>
                      <a:pt x="314734" y="153684"/>
                    </a:cubicBezTo>
                    <a:cubicBezTo>
                      <a:pt x="307913" y="150000"/>
                      <a:pt x="300136" y="148159"/>
                      <a:pt x="291405" y="148159"/>
                    </a:cubicBezTo>
                    <a:close/>
                    <a:moveTo>
                      <a:pt x="651644" y="13098"/>
                    </a:moveTo>
                    <a:lnTo>
                      <a:pt x="1101849" y="13098"/>
                    </a:lnTo>
                    <a:cubicBezTo>
                      <a:pt x="1107579" y="13098"/>
                      <a:pt x="1112967" y="14326"/>
                      <a:pt x="1118015" y="16782"/>
                    </a:cubicBezTo>
                    <a:cubicBezTo>
                      <a:pt x="1123063" y="19237"/>
                      <a:pt x="1126133" y="22648"/>
                      <a:pt x="1127224" y="27014"/>
                    </a:cubicBezTo>
                    <a:lnTo>
                      <a:pt x="1127224" y="106413"/>
                    </a:lnTo>
                    <a:cubicBezTo>
                      <a:pt x="1127224" y="108323"/>
                      <a:pt x="1127224" y="111052"/>
                      <a:pt x="1127224" y="114599"/>
                    </a:cubicBezTo>
                    <a:cubicBezTo>
                      <a:pt x="1127224" y="144340"/>
                      <a:pt x="1126474" y="162143"/>
                      <a:pt x="1124973" y="168010"/>
                    </a:cubicBezTo>
                    <a:cubicBezTo>
                      <a:pt x="1123472" y="173876"/>
                      <a:pt x="1118493" y="176809"/>
                      <a:pt x="1110034" y="176809"/>
                    </a:cubicBezTo>
                    <a:cubicBezTo>
                      <a:pt x="1051098" y="176809"/>
                      <a:pt x="964877" y="177355"/>
                      <a:pt x="851371" y="178446"/>
                    </a:cubicBezTo>
                    <a:cubicBezTo>
                      <a:pt x="850552" y="186632"/>
                      <a:pt x="849597" y="199047"/>
                      <a:pt x="848506" y="215691"/>
                    </a:cubicBezTo>
                    <a:cubicBezTo>
                      <a:pt x="847415" y="232334"/>
                      <a:pt x="846460" y="244749"/>
                      <a:pt x="845641" y="252935"/>
                    </a:cubicBezTo>
                    <a:cubicBezTo>
                      <a:pt x="859284" y="243112"/>
                      <a:pt x="876746" y="235472"/>
                      <a:pt x="898029" y="230015"/>
                    </a:cubicBezTo>
                    <a:cubicBezTo>
                      <a:pt x="919311" y="224558"/>
                      <a:pt x="940321" y="221830"/>
                      <a:pt x="961057" y="221830"/>
                    </a:cubicBezTo>
                    <a:cubicBezTo>
                      <a:pt x="1021630" y="221830"/>
                      <a:pt x="1070198" y="240315"/>
                      <a:pt x="1106760" y="277287"/>
                    </a:cubicBezTo>
                    <a:cubicBezTo>
                      <a:pt x="1143322" y="314258"/>
                      <a:pt x="1161603" y="361803"/>
                      <a:pt x="1161603" y="419920"/>
                    </a:cubicBezTo>
                    <a:cubicBezTo>
                      <a:pt x="1161603" y="454299"/>
                      <a:pt x="1156214" y="485268"/>
                      <a:pt x="1145437" y="512826"/>
                    </a:cubicBezTo>
                    <a:cubicBezTo>
                      <a:pt x="1134659" y="540384"/>
                      <a:pt x="1120403" y="563031"/>
                      <a:pt x="1102667" y="580766"/>
                    </a:cubicBezTo>
                    <a:cubicBezTo>
                      <a:pt x="1084932" y="598501"/>
                      <a:pt x="1063991" y="613303"/>
                      <a:pt x="1039843" y="625173"/>
                    </a:cubicBezTo>
                    <a:cubicBezTo>
                      <a:pt x="1015696" y="637042"/>
                      <a:pt x="990935" y="645500"/>
                      <a:pt x="965559" y="650548"/>
                    </a:cubicBezTo>
                    <a:cubicBezTo>
                      <a:pt x="940184" y="655595"/>
                      <a:pt x="913854" y="658119"/>
                      <a:pt x="886569" y="658119"/>
                    </a:cubicBezTo>
                    <a:cubicBezTo>
                      <a:pt x="868288" y="658119"/>
                      <a:pt x="851166" y="657437"/>
                      <a:pt x="835205" y="656073"/>
                    </a:cubicBezTo>
                    <a:cubicBezTo>
                      <a:pt x="819243" y="654709"/>
                      <a:pt x="802531" y="652253"/>
                      <a:pt x="785068" y="648706"/>
                    </a:cubicBezTo>
                    <a:cubicBezTo>
                      <a:pt x="767606" y="645159"/>
                      <a:pt x="751644" y="640452"/>
                      <a:pt x="737183" y="634586"/>
                    </a:cubicBezTo>
                    <a:cubicBezTo>
                      <a:pt x="722721" y="628720"/>
                      <a:pt x="708601" y="620943"/>
                      <a:pt x="694822" y="611257"/>
                    </a:cubicBezTo>
                    <a:cubicBezTo>
                      <a:pt x="681043" y="601571"/>
                      <a:pt x="669174" y="590384"/>
                      <a:pt x="659215" y="577696"/>
                    </a:cubicBezTo>
                    <a:cubicBezTo>
                      <a:pt x="649256" y="565009"/>
                      <a:pt x="640730" y="549524"/>
                      <a:pt x="633635" y="531243"/>
                    </a:cubicBezTo>
                    <a:cubicBezTo>
                      <a:pt x="626541" y="512962"/>
                      <a:pt x="621903" y="492771"/>
                      <a:pt x="619720" y="470670"/>
                    </a:cubicBezTo>
                    <a:cubicBezTo>
                      <a:pt x="619720" y="464668"/>
                      <a:pt x="623881" y="460711"/>
                      <a:pt x="632203" y="458801"/>
                    </a:cubicBezTo>
                    <a:cubicBezTo>
                      <a:pt x="640525" y="456891"/>
                      <a:pt x="652735" y="455936"/>
                      <a:pt x="668833" y="455936"/>
                    </a:cubicBezTo>
                    <a:lnTo>
                      <a:pt x="735955" y="455936"/>
                    </a:lnTo>
                    <a:cubicBezTo>
                      <a:pt x="747960" y="455936"/>
                      <a:pt x="765696" y="456346"/>
                      <a:pt x="789161" y="457164"/>
                    </a:cubicBezTo>
                    <a:cubicBezTo>
                      <a:pt x="812626" y="457983"/>
                      <a:pt x="830907" y="458392"/>
                      <a:pt x="844004" y="458392"/>
                    </a:cubicBezTo>
                    <a:cubicBezTo>
                      <a:pt x="848642" y="458938"/>
                      <a:pt x="852121" y="461530"/>
                      <a:pt x="854441" y="466168"/>
                    </a:cubicBezTo>
                    <a:cubicBezTo>
                      <a:pt x="856760" y="470807"/>
                      <a:pt x="858329" y="475718"/>
                      <a:pt x="859147" y="480902"/>
                    </a:cubicBezTo>
                    <a:cubicBezTo>
                      <a:pt x="859966" y="486086"/>
                      <a:pt x="862149" y="490861"/>
                      <a:pt x="865696" y="495227"/>
                    </a:cubicBezTo>
                    <a:cubicBezTo>
                      <a:pt x="869243" y="499593"/>
                      <a:pt x="874563" y="501775"/>
                      <a:pt x="881658" y="501775"/>
                    </a:cubicBezTo>
                    <a:cubicBezTo>
                      <a:pt x="908943" y="501775"/>
                      <a:pt x="922585" y="478856"/>
                      <a:pt x="922585" y="433017"/>
                    </a:cubicBezTo>
                    <a:cubicBezTo>
                      <a:pt x="922585" y="423194"/>
                      <a:pt x="922176" y="414668"/>
                      <a:pt x="921357" y="407437"/>
                    </a:cubicBezTo>
                    <a:cubicBezTo>
                      <a:pt x="920539" y="400206"/>
                      <a:pt x="918902" y="392635"/>
                      <a:pt x="916446" y="384722"/>
                    </a:cubicBezTo>
                    <a:cubicBezTo>
                      <a:pt x="913990" y="376809"/>
                      <a:pt x="909966" y="370738"/>
                      <a:pt x="904372" y="366509"/>
                    </a:cubicBezTo>
                    <a:cubicBezTo>
                      <a:pt x="898779" y="362280"/>
                      <a:pt x="891753" y="360165"/>
                      <a:pt x="883295" y="360165"/>
                    </a:cubicBezTo>
                    <a:cubicBezTo>
                      <a:pt x="873472" y="360165"/>
                      <a:pt x="866310" y="362621"/>
                      <a:pt x="861808" y="367532"/>
                    </a:cubicBezTo>
                    <a:cubicBezTo>
                      <a:pt x="857305" y="372444"/>
                      <a:pt x="854918" y="377901"/>
                      <a:pt x="854645" y="383903"/>
                    </a:cubicBezTo>
                    <a:cubicBezTo>
                      <a:pt x="854372" y="389906"/>
                      <a:pt x="852872" y="395363"/>
                      <a:pt x="850143" y="400275"/>
                    </a:cubicBezTo>
                    <a:cubicBezTo>
                      <a:pt x="847415" y="405186"/>
                      <a:pt x="842640" y="407642"/>
                      <a:pt x="835818" y="407642"/>
                    </a:cubicBezTo>
                    <a:lnTo>
                      <a:pt x="654099" y="407642"/>
                    </a:lnTo>
                    <a:cubicBezTo>
                      <a:pt x="645914" y="395909"/>
                      <a:pt x="641821" y="379265"/>
                      <a:pt x="641821" y="357710"/>
                    </a:cubicBezTo>
                    <a:lnTo>
                      <a:pt x="641821" y="52389"/>
                    </a:lnTo>
                    <a:cubicBezTo>
                      <a:pt x="641821" y="45568"/>
                      <a:pt x="641957" y="40452"/>
                      <a:pt x="642230" y="37041"/>
                    </a:cubicBezTo>
                    <a:cubicBezTo>
                      <a:pt x="642503" y="33630"/>
                      <a:pt x="643390" y="29606"/>
                      <a:pt x="644891" y="24967"/>
                    </a:cubicBezTo>
                    <a:cubicBezTo>
                      <a:pt x="646391" y="20329"/>
                      <a:pt x="648642" y="16372"/>
                      <a:pt x="651644" y="13098"/>
                    </a:cubicBezTo>
                    <a:close/>
                    <a:moveTo>
                      <a:pt x="286494" y="0"/>
                    </a:moveTo>
                    <a:cubicBezTo>
                      <a:pt x="319509" y="0"/>
                      <a:pt x="349727" y="3752"/>
                      <a:pt x="377149" y="11255"/>
                    </a:cubicBezTo>
                    <a:cubicBezTo>
                      <a:pt x="404570" y="18759"/>
                      <a:pt x="427967" y="28786"/>
                      <a:pt x="447340" y="41337"/>
                    </a:cubicBezTo>
                    <a:cubicBezTo>
                      <a:pt x="466712" y="53889"/>
                      <a:pt x="483902" y="69236"/>
                      <a:pt x="498909" y="87381"/>
                    </a:cubicBezTo>
                    <a:cubicBezTo>
                      <a:pt x="513916" y="105526"/>
                      <a:pt x="525921" y="124421"/>
                      <a:pt x="534925" y="144066"/>
                    </a:cubicBezTo>
                    <a:cubicBezTo>
                      <a:pt x="543929" y="163711"/>
                      <a:pt x="551296" y="185062"/>
                      <a:pt x="557026" y="208118"/>
                    </a:cubicBezTo>
                    <a:cubicBezTo>
                      <a:pt x="562756" y="231174"/>
                      <a:pt x="566712" y="253207"/>
                      <a:pt x="568895" y="274216"/>
                    </a:cubicBezTo>
                    <a:cubicBezTo>
                      <a:pt x="571078" y="295226"/>
                      <a:pt x="572169" y="317054"/>
                      <a:pt x="572169" y="339701"/>
                    </a:cubicBezTo>
                    <a:cubicBezTo>
                      <a:pt x="572169" y="391542"/>
                      <a:pt x="564734" y="437791"/>
                      <a:pt x="549864" y="478446"/>
                    </a:cubicBezTo>
                    <a:cubicBezTo>
                      <a:pt x="534993" y="519100"/>
                      <a:pt x="514393" y="552388"/>
                      <a:pt x="488063" y="578309"/>
                    </a:cubicBezTo>
                    <a:cubicBezTo>
                      <a:pt x="461733" y="604230"/>
                      <a:pt x="431105" y="623875"/>
                      <a:pt x="396180" y="637245"/>
                    </a:cubicBezTo>
                    <a:cubicBezTo>
                      <a:pt x="361255" y="650615"/>
                      <a:pt x="323056" y="657300"/>
                      <a:pt x="281583" y="657300"/>
                    </a:cubicBezTo>
                    <a:cubicBezTo>
                      <a:pt x="250750" y="657300"/>
                      <a:pt x="222715" y="654367"/>
                      <a:pt x="197476" y="648500"/>
                    </a:cubicBezTo>
                    <a:cubicBezTo>
                      <a:pt x="172237" y="642634"/>
                      <a:pt x="150341" y="634653"/>
                      <a:pt x="131787" y="624558"/>
                    </a:cubicBezTo>
                    <a:cubicBezTo>
                      <a:pt x="113233" y="614462"/>
                      <a:pt x="96794" y="601638"/>
                      <a:pt x="82469" y="586086"/>
                    </a:cubicBezTo>
                    <a:cubicBezTo>
                      <a:pt x="68144" y="570533"/>
                      <a:pt x="56275" y="553957"/>
                      <a:pt x="46862" y="536358"/>
                    </a:cubicBezTo>
                    <a:cubicBezTo>
                      <a:pt x="37449" y="518759"/>
                      <a:pt x="29468" y="498568"/>
                      <a:pt x="22919" y="475785"/>
                    </a:cubicBezTo>
                    <a:cubicBezTo>
                      <a:pt x="16371" y="453002"/>
                      <a:pt x="11391" y="430424"/>
                      <a:pt x="7981" y="408050"/>
                    </a:cubicBezTo>
                    <a:cubicBezTo>
                      <a:pt x="4570" y="385676"/>
                      <a:pt x="1910" y="360710"/>
                      <a:pt x="0" y="333152"/>
                    </a:cubicBezTo>
                    <a:cubicBezTo>
                      <a:pt x="0" y="126058"/>
                      <a:pt x="95498" y="15007"/>
                      <a:pt x="286494" y="0"/>
                    </a:cubicBezTo>
                    <a:close/>
                  </a:path>
                </a:pathLst>
              </a:custGeom>
              <a:solidFill>
                <a:schemeClr val="accent6"/>
              </a:solidFill>
              <a:ln>
                <a:noFill/>
              </a:ln>
              <a:effectLst>
                <a:outerShdw blurRad="12700" dist="12700" dir="2700000" algn="tl" rotWithShape="0">
                  <a:prstClr val="black">
                    <a:alpha val="52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pic>
            <p:nvPicPr>
              <p:cNvPr id="70" name="Graphic 69" descr="Link">
                <a:extLst>
                  <a:ext uri="{FF2B5EF4-FFF2-40B4-BE49-F238E27FC236}">
                    <a16:creationId xmlns:a16="http://schemas.microsoft.com/office/drawing/2014/main" id="{68A30654-920A-AA97-5776-DF5C3833CCB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6295" y="2318647"/>
                <a:ext cx="266356" cy="266356"/>
              </a:xfrm>
              <a:prstGeom prst="rect">
                <a:avLst/>
              </a:prstGeom>
            </p:spPr>
          </p:pic>
          <p:pic>
            <p:nvPicPr>
              <p:cNvPr id="73" name="Graphic 72" descr="Link">
                <a:extLst>
                  <a:ext uri="{FF2B5EF4-FFF2-40B4-BE49-F238E27FC236}">
                    <a16:creationId xmlns:a16="http://schemas.microsoft.com/office/drawing/2014/main" id="{31885801-A99E-ECE0-B8DB-4808A342EA5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6295" y="4046483"/>
                <a:ext cx="266356" cy="266356"/>
              </a:xfrm>
              <a:prstGeom prst="rect">
                <a:avLst/>
              </a:prstGeom>
            </p:spPr>
          </p:pic>
          <p:pic>
            <p:nvPicPr>
              <p:cNvPr id="74" name="Graphic 73" descr="Link">
                <a:extLst>
                  <a:ext uri="{FF2B5EF4-FFF2-40B4-BE49-F238E27FC236}">
                    <a16:creationId xmlns:a16="http://schemas.microsoft.com/office/drawing/2014/main" id="{B558F6AF-DDDE-80BB-F91E-E1E8228A59B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6295" y="5799997"/>
                <a:ext cx="266356" cy="266356"/>
              </a:xfrm>
              <a:prstGeom prst="rect">
                <a:avLst/>
              </a:prstGeom>
            </p:spPr>
          </p:pic>
        </p:grpSp>
        <p:sp>
          <p:nvSpPr>
            <p:cNvPr id="77" name="TextBox 76">
              <a:extLst>
                <a:ext uri="{FF2B5EF4-FFF2-40B4-BE49-F238E27FC236}">
                  <a16:creationId xmlns:a16="http://schemas.microsoft.com/office/drawing/2014/main" id="{991349FA-95D6-B7F2-B58C-6A3C38FF424C}"/>
                </a:ext>
              </a:extLst>
            </p:cNvPr>
            <p:cNvSpPr txBox="1"/>
            <p:nvPr/>
          </p:nvSpPr>
          <p:spPr>
            <a:xfrm>
              <a:off x="838200" y="4687280"/>
              <a:ext cx="1328286" cy="1107996"/>
            </a:xfrm>
            <a:prstGeom prst="rect">
              <a:avLst/>
            </a:prstGeom>
            <a:noFill/>
          </p:spPr>
          <p:txBody>
            <a:bodyPr wrap="square" rtlCol="0">
              <a:spAutoFit/>
            </a:bodyPr>
            <a:lstStyle/>
            <a:p>
              <a:r>
                <a:rPr lang="en-US" sz="6600" b="1">
                  <a:ln w="6600">
                    <a:solidFill>
                      <a:schemeClr val="accent2"/>
                    </a:solidFill>
                    <a:prstDash val="solid"/>
                  </a:ln>
                  <a:solidFill>
                    <a:srgbClr val="FFFFFF"/>
                  </a:solidFill>
                  <a:effectLst>
                    <a:outerShdw dist="38100" dir="2700000" algn="tl" rotWithShape="0">
                      <a:schemeClr val="accent2"/>
                    </a:outerShdw>
                  </a:effectLst>
                  <a:latin typeface="Aptos Black" panose="020F0502020204030204" pitchFamily="34" charset="0"/>
                  <a:cs typeface="Aharoni" panose="02010803020104030203" pitchFamily="2" charset="-79"/>
                </a:rPr>
                <a:t>07</a:t>
              </a:r>
              <a:endParaRPr lang="en-NG" sz="7200" b="1" spc="-300">
                <a:latin typeface="Aptos Black" panose="020F0502020204030204" pitchFamily="34" charset="0"/>
                <a:cs typeface="Aharoni" panose="02010803020104030203" pitchFamily="2" charset="-79"/>
              </a:endParaRPr>
            </a:p>
          </p:txBody>
        </p:sp>
        <p:sp>
          <p:nvSpPr>
            <p:cNvPr id="78" name="TextBox 77">
              <a:extLst>
                <a:ext uri="{FF2B5EF4-FFF2-40B4-BE49-F238E27FC236}">
                  <a16:creationId xmlns:a16="http://schemas.microsoft.com/office/drawing/2014/main" id="{9707FFEE-44E8-133E-7228-1D80814EE4D7}"/>
                </a:ext>
              </a:extLst>
            </p:cNvPr>
            <p:cNvSpPr txBox="1"/>
            <p:nvPr/>
          </p:nvSpPr>
          <p:spPr>
            <a:xfrm>
              <a:off x="4566561" y="4687280"/>
              <a:ext cx="1328286" cy="1107996"/>
            </a:xfrm>
            <a:prstGeom prst="rect">
              <a:avLst/>
            </a:prstGeom>
            <a:noFill/>
          </p:spPr>
          <p:txBody>
            <a:bodyPr wrap="square" rtlCol="0">
              <a:spAutoFit/>
            </a:bodyPr>
            <a:lstStyle/>
            <a:p>
              <a:r>
                <a:rPr lang="en-US" sz="66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ptos Black" panose="020F0502020204030204" pitchFamily="34" charset="0"/>
                  <a:cs typeface="Aharoni" panose="02010803020104030203" pitchFamily="2" charset="-79"/>
                </a:rPr>
                <a:t>08</a:t>
              </a:r>
              <a:endParaRPr lang="en-NG" sz="72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ptos Black" panose="020F0502020204030204" pitchFamily="34" charset="0"/>
                <a:cs typeface="Aharoni" panose="02010803020104030203" pitchFamily="2" charset="-79"/>
              </a:endParaRPr>
            </a:p>
          </p:txBody>
        </p:sp>
        <p:sp>
          <p:nvSpPr>
            <p:cNvPr id="79" name="TextBox 78">
              <a:extLst>
                <a:ext uri="{FF2B5EF4-FFF2-40B4-BE49-F238E27FC236}">
                  <a16:creationId xmlns:a16="http://schemas.microsoft.com/office/drawing/2014/main" id="{4C0E97D5-D530-3AAD-B493-C66CDA0A2B91}"/>
                </a:ext>
              </a:extLst>
            </p:cNvPr>
            <p:cNvSpPr txBox="1"/>
            <p:nvPr/>
          </p:nvSpPr>
          <p:spPr>
            <a:xfrm>
              <a:off x="8179757" y="4687280"/>
              <a:ext cx="1328286" cy="1107996"/>
            </a:xfrm>
            <a:prstGeom prst="rect">
              <a:avLst/>
            </a:prstGeom>
            <a:noFill/>
          </p:spPr>
          <p:txBody>
            <a:bodyPr wrap="square" rtlCol="0">
              <a:spAutoFit/>
            </a:bodyPr>
            <a:lstStyle/>
            <a:p>
              <a:r>
                <a:rPr lang="en-US" sz="6600">
                  <a:ln w="0"/>
                  <a:gradFill>
                    <a:gsLst>
                      <a:gs pos="21000">
                        <a:srgbClr val="53575C"/>
                      </a:gs>
                      <a:gs pos="88000">
                        <a:srgbClr val="C5C7CA"/>
                      </a:gs>
                    </a:gsLst>
                    <a:lin ang="5400000"/>
                  </a:gradFill>
                  <a:latin typeface="Aptos Black" panose="020F0502020204030204" pitchFamily="34" charset="0"/>
                  <a:cs typeface="Aharoni" panose="02010803020104030203" pitchFamily="2" charset="-79"/>
                </a:rPr>
                <a:t>09</a:t>
              </a:r>
              <a:endParaRPr lang="en-NG" sz="7200" b="1" spc="-300">
                <a:latin typeface="Aptos Black" panose="020F0502020204030204" pitchFamily="34" charset="0"/>
                <a:cs typeface="Aharoni" panose="02010803020104030203" pitchFamily="2" charset="-79"/>
              </a:endParaRPr>
            </a:p>
          </p:txBody>
        </p:sp>
      </p:grpSp>
    </p:spTree>
    <p:extLst>
      <p:ext uri="{BB962C8B-B14F-4D97-AF65-F5344CB8AC3E}">
        <p14:creationId xmlns:p14="http://schemas.microsoft.com/office/powerpoint/2010/main" val="1744096406"/>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9D331D-DD20-F4C9-CDEA-EFED5F74768C}"/>
            </a:ext>
          </a:extLst>
        </p:cNvPr>
        <p:cNvGrpSpPr/>
        <p:nvPr/>
      </p:nvGrpSpPr>
      <p:grpSpPr>
        <a:xfrm>
          <a:off x="0" y="0"/>
          <a:ext cx="0" cy="0"/>
          <a:chOff x="0" y="0"/>
          <a:chExt cx="0" cy="0"/>
        </a:xfrm>
      </p:grpSpPr>
      <p:sp useBgFill="1">
        <p:nvSpPr>
          <p:cNvPr id="2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09ABD8-E128-8554-1433-53D61AB65488}"/>
              </a:ext>
            </a:extLst>
          </p:cNvPr>
          <p:cNvSpPr>
            <a:spLocks noGrp="1"/>
          </p:cNvSpPr>
          <p:nvPr>
            <p:ph type="title"/>
          </p:nvPr>
        </p:nvSpPr>
        <p:spPr>
          <a:xfrm>
            <a:off x="761803" y="536724"/>
            <a:ext cx="4646904" cy="781374"/>
          </a:xfrm>
        </p:spPr>
        <p:txBody>
          <a:bodyPr anchor="ctr">
            <a:normAutofit/>
          </a:bodyPr>
          <a:lstStyle/>
          <a:p>
            <a:r>
              <a:rPr lang="en-US" sz="2800" b="1">
                <a:latin typeface="Century Gothic" panose="020B0502020202020204" pitchFamily="34" charset="0"/>
              </a:rPr>
              <a:t>Executive Summary</a:t>
            </a:r>
            <a:endParaRPr lang="en-NG" sz="2800" b="1">
              <a:latin typeface="Century Gothic" panose="020B0502020202020204" pitchFamily="34" charset="0"/>
            </a:endParaRPr>
          </a:p>
        </p:txBody>
      </p:sp>
      <p:graphicFrame>
        <p:nvGraphicFramePr>
          <p:cNvPr id="30" name="Content Placeholder 2">
            <a:extLst>
              <a:ext uri="{FF2B5EF4-FFF2-40B4-BE49-F238E27FC236}">
                <a16:creationId xmlns:a16="http://schemas.microsoft.com/office/drawing/2014/main" id="{2014F219-DACF-F9B5-1D21-7A687F695871}"/>
              </a:ext>
            </a:extLst>
          </p:cNvPr>
          <p:cNvGraphicFramePr>
            <a:graphicFrameLocks noGrp="1"/>
          </p:cNvGraphicFramePr>
          <p:nvPr>
            <p:ph idx="1"/>
            <p:extLst>
              <p:ext uri="{D42A27DB-BD31-4B8C-83A1-F6EECF244321}">
                <p14:modId xmlns:p14="http://schemas.microsoft.com/office/powerpoint/2010/main" val="3132585039"/>
              </p:ext>
            </p:extLst>
          </p:nvPr>
        </p:nvGraphicFramePr>
        <p:xfrm>
          <a:off x="761802" y="2689862"/>
          <a:ext cx="4891088" cy="29187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3A449D67-6EB4-7993-C81D-E0ABB98382CF}"/>
              </a:ext>
            </a:extLst>
          </p:cNvPr>
          <p:cNvSpPr>
            <a:spLocks noGrp="1"/>
          </p:cNvSpPr>
          <p:nvPr>
            <p:ph idx="4294967295"/>
          </p:nvPr>
        </p:nvSpPr>
        <p:spPr>
          <a:xfrm>
            <a:off x="761801" y="1249361"/>
            <a:ext cx="5090015" cy="1756432"/>
          </a:xfrm>
        </p:spPr>
        <p:txBody>
          <a:bodyPr anchor="ctr">
            <a:normAutofit/>
          </a:bodyPr>
          <a:lstStyle/>
          <a:p>
            <a:pPr marL="0" indent="0">
              <a:buNone/>
            </a:pPr>
            <a:r>
              <a:rPr lang="en-US" sz="1200">
                <a:latin typeface="Century Gothic" panose="020B0502020202020204" pitchFamily="34" charset="0"/>
              </a:rPr>
              <a:t>LFZDC requires an integrated, scalable, and secure digital backbone to unify enterprise operations, automate workflows, improve regulatory compliance, and enhance investor experience.</a:t>
            </a:r>
          </a:p>
          <a:p>
            <a:pPr marL="0" indent="0">
              <a:buNone/>
            </a:pPr>
            <a:r>
              <a:rPr lang="en-US" sz="1400">
                <a:latin typeface="Century Gothic" panose="020B0502020202020204" pitchFamily="34" charset="0"/>
              </a:rPr>
              <a:t>We propose a </a:t>
            </a:r>
            <a:r>
              <a:rPr lang="en-US" sz="1400" b="1">
                <a:latin typeface="Century Gothic" panose="020B0502020202020204" pitchFamily="34" charset="0"/>
              </a:rPr>
              <a:t>modular, cloud-first enterprise platform</a:t>
            </a:r>
            <a:r>
              <a:rPr lang="en-US" sz="1400">
                <a:latin typeface="Century Gothic" panose="020B0502020202020204" pitchFamily="34" charset="0"/>
              </a:rPr>
              <a:t> anchored on:</a:t>
            </a:r>
            <a:endParaRPr lang="en-NG" sz="1400">
              <a:latin typeface="Century Gothic" panose="020B0502020202020204" pitchFamily="34" charset="0"/>
            </a:endParaRPr>
          </a:p>
        </p:txBody>
      </p:sp>
      <p:pic>
        <p:nvPicPr>
          <p:cNvPr id="5" name="Picture 4" descr="Illuminated server room panel">
            <a:extLst>
              <a:ext uri="{FF2B5EF4-FFF2-40B4-BE49-F238E27FC236}">
                <a16:creationId xmlns:a16="http://schemas.microsoft.com/office/drawing/2014/main" id="{BF797B62-FCE3-D713-FD30-057E99B3F090}"/>
              </a:ext>
            </a:extLst>
          </p:cNvPr>
          <p:cNvPicPr>
            <a:picLocks noChangeAspect="1"/>
          </p:cNvPicPr>
          <p:nvPr/>
        </p:nvPicPr>
        <p:blipFill>
          <a:blip r:embed="rId7"/>
          <a:srcRect l="16934" r="23665"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14210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77D4B-327A-FB6D-90F9-979540C5F62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45E465C-B5C9-0771-CEA5-9DF2CE231C63}"/>
              </a:ext>
            </a:extLst>
          </p:cNvPr>
          <p:cNvSpPr>
            <a:spLocks noGrp="1"/>
          </p:cNvSpPr>
          <p:nvPr>
            <p:ph type="title"/>
          </p:nvPr>
        </p:nvSpPr>
        <p:spPr>
          <a:xfrm>
            <a:off x="550863" y="685165"/>
            <a:ext cx="6410007" cy="675005"/>
          </a:xfrm>
        </p:spPr>
        <p:txBody>
          <a:bodyPr>
            <a:normAutofit/>
          </a:bodyPr>
          <a:lstStyle/>
          <a:p>
            <a:r>
              <a:rPr lang="en-US" sz="2800" b="1">
                <a:latin typeface="Century Gothic" panose="020B0502020202020204" pitchFamily="34" charset="0"/>
              </a:rPr>
              <a:t>Our Understanding of the Problem</a:t>
            </a:r>
            <a:endParaRPr lang="en-NG" sz="2800" b="1">
              <a:latin typeface="Century Gothic" panose="020B0502020202020204" pitchFamily="34" charset="0"/>
            </a:endParaRPr>
          </a:p>
        </p:txBody>
      </p:sp>
      <p:graphicFrame>
        <p:nvGraphicFramePr>
          <p:cNvPr id="11" name="Rectangle 1">
            <a:extLst>
              <a:ext uri="{FF2B5EF4-FFF2-40B4-BE49-F238E27FC236}">
                <a16:creationId xmlns:a16="http://schemas.microsoft.com/office/drawing/2014/main" id="{79DC4790-1EEA-96BF-D1C0-C839F4927424}"/>
              </a:ext>
            </a:extLst>
          </p:cNvPr>
          <p:cNvGraphicFramePr>
            <a:graphicFrameLocks noGrp="1"/>
          </p:cNvGraphicFramePr>
          <p:nvPr>
            <p:ph idx="1"/>
            <p:extLst>
              <p:ext uri="{D42A27DB-BD31-4B8C-83A1-F6EECF244321}">
                <p14:modId xmlns:p14="http://schemas.microsoft.com/office/powerpoint/2010/main" val="1522803540"/>
              </p:ext>
            </p:extLst>
          </p:nvPr>
        </p:nvGraphicFramePr>
        <p:xfrm>
          <a:off x="625643" y="1896178"/>
          <a:ext cx="10793128" cy="32148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2811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D7750-4ADA-9453-8B5E-DA61EDF8FA80}"/>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esk with productivity items">
            <a:extLst>
              <a:ext uri="{FF2B5EF4-FFF2-40B4-BE49-F238E27FC236}">
                <a16:creationId xmlns:a16="http://schemas.microsoft.com/office/drawing/2014/main" id="{5DEFD00F-9539-00AC-986A-CB13CBE59B3C}"/>
              </a:ext>
            </a:extLst>
          </p:cNvPr>
          <p:cNvPicPr>
            <a:picLocks noChangeAspect="1"/>
          </p:cNvPicPr>
          <p:nvPr/>
        </p:nvPicPr>
        <p:blipFill>
          <a:blip r:embed="rId2"/>
          <a:srcRect l="27992" r="12742" b="-1"/>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6A6790-9E57-CA71-20D4-DCE895C7C15A}"/>
              </a:ext>
            </a:extLst>
          </p:cNvPr>
          <p:cNvSpPr>
            <a:spLocks noGrp="1"/>
          </p:cNvSpPr>
          <p:nvPr>
            <p:ph type="title"/>
          </p:nvPr>
        </p:nvSpPr>
        <p:spPr>
          <a:xfrm>
            <a:off x="761801" y="1177290"/>
            <a:ext cx="4778387" cy="780192"/>
          </a:xfrm>
        </p:spPr>
        <p:txBody>
          <a:bodyPr anchor="ctr">
            <a:normAutofit/>
          </a:bodyPr>
          <a:lstStyle/>
          <a:p>
            <a:r>
              <a:rPr lang="en-US" sz="2800" b="1">
                <a:latin typeface="Century Gothic" panose="020B0502020202020204" pitchFamily="34" charset="0"/>
              </a:rPr>
              <a:t>Our Proposed Solutions</a:t>
            </a:r>
            <a:endParaRPr lang="en-NG" sz="2800" b="1">
              <a:latin typeface="Century Gothic" panose="020B0502020202020204" pitchFamily="34" charset="0"/>
            </a:endParaRPr>
          </a:p>
        </p:txBody>
      </p:sp>
      <p:sp>
        <p:nvSpPr>
          <p:cNvPr id="3" name="Content Placeholder 2">
            <a:extLst>
              <a:ext uri="{FF2B5EF4-FFF2-40B4-BE49-F238E27FC236}">
                <a16:creationId xmlns:a16="http://schemas.microsoft.com/office/drawing/2014/main" id="{D81C91F3-7010-2810-AA31-5553CC39E044}"/>
              </a:ext>
            </a:extLst>
          </p:cNvPr>
          <p:cNvSpPr>
            <a:spLocks noGrp="1"/>
          </p:cNvSpPr>
          <p:nvPr>
            <p:ph idx="1"/>
          </p:nvPr>
        </p:nvSpPr>
        <p:spPr>
          <a:xfrm>
            <a:off x="761801" y="2564889"/>
            <a:ext cx="4659756" cy="3374137"/>
          </a:xfrm>
        </p:spPr>
        <p:txBody>
          <a:bodyPr anchor="ctr">
            <a:normAutofit/>
          </a:bodyPr>
          <a:lstStyle/>
          <a:p>
            <a:pPr marL="0" indent="0">
              <a:buNone/>
            </a:pPr>
            <a:r>
              <a:rPr lang="en-US" sz="1800">
                <a:latin typeface="Century Gothic" panose="020B0502020202020204" pitchFamily="34" charset="0"/>
              </a:rPr>
              <a:t>A Unified Digital Platform comprising:</a:t>
            </a:r>
          </a:p>
          <a:p>
            <a:r>
              <a:rPr lang="en-US" sz="1800">
                <a:latin typeface="Century Gothic" panose="020B0502020202020204" pitchFamily="34" charset="0"/>
              </a:rPr>
              <a:t>Enterprise Resource Planning (ERP)</a:t>
            </a:r>
          </a:p>
          <a:p>
            <a:r>
              <a:rPr lang="en-US" sz="1800">
                <a:latin typeface="Century Gothic" panose="020B0502020202020204" pitchFamily="34" charset="0"/>
              </a:rPr>
              <a:t>Enterprise &amp; Investor Portal</a:t>
            </a:r>
          </a:p>
          <a:p>
            <a:r>
              <a:rPr lang="en-US" sz="1800">
                <a:latin typeface="Century Gothic" panose="020B0502020202020204" pitchFamily="34" charset="0"/>
              </a:rPr>
              <a:t>Document &amp; Records Management</a:t>
            </a:r>
          </a:p>
          <a:p>
            <a:r>
              <a:rPr lang="en-US" sz="1800">
                <a:latin typeface="Century Gothic" panose="020B0502020202020204" pitchFamily="34" charset="0"/>
              </a:rPr>
              <a:t>Reporting &amp; Analytics Platform</a:t>
            </a:r>
          </a:p>
          <a:p>
            <a:r>
              <a:rPr lang="en-US" sz="1800">
                <a:latin typeface="Century Gothic" panose="020B0502020202020204" pitchFamily="34" charset="0"/>
              </a:rPr>
              <a:t>Smart Security &amp; Visitor Management</a:t>
            </a:r>
          </a:p>
          <a:p>
            <a:r>
              <a:rPr lang="en-US" sz="1800">
                <a:latin typeface="Century Gothic" panose="020B0502020202020204" pitchFamily="34" charset="0"/>
              </a:rPr>
              <a:t>Utility &amp; Metering Management</a:t>
            </a:r>
          </a:p>
          <a:p>
            <a:r>
              <a:rPr lang="en-US" sz="1800">
                <a:latin typeface="Century Gothic" panose="020B0502020202020204" pitchFamily="34" charset="0"/>
              </a:rPr>
              <a:t>Integration &amp; API Layer</a:t>
            </a:r>
          </a:p>
        </p:txBody>
      </p:sp>
    </p:spTree>
    <p:extLst>
      <p:ext uri="{BB962C8B-B14F-4D97-AF65-F5344CB8AC3E}">
        <p14:creationId xmlns:p14="http://schemas.microsoft.com/office/powerpoint/2010/main" val="968302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6B5FA-FEF4-3C3B-3231-AFCA0AD9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B9D3A-3017-2B59-F334-090AD8D3D257}"/>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Enterprise Resource Planning System</a:t>
            </a:r>
          </a:p>
        </p:txBody>
      </p:sp>
      <p:cxnSp>
        <p:nvCxnSpPr>
          <p:cNvPr id="4" name="Straight Connector 3">
            <a:extLst>
              <a:ext uri="{FF2B5EF4-FFF2-40B4-BE49-F238E27FC236}">
                <a16:creationId xmlns:a16="http://schemas.microsoft.com/office/drawing/2014/main" id="{5430A7E7-D77A-3B06-C1EB-61D4ED8E730B}"/>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3263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9332-C6DF-EDFC-BE52-4371E178C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D7487-5FC9-A67D-C7F2-B4FC6E02D179}"/>
              </a:ext>
            </a:extLst>
          </p:cNvPr>
          <p:cNvSpPr>
            <a:spLocks noGrp="1"/>
          </p:cNvSpPr>
          <p:nvPr>
            <p:ph type="title"/>
          </p:nvPr>
        </p:nvSpPr>
        <p:spPr>
          <a:xfrm>
            <a:off x="838200" y="662940"/>
            <a:ext cx="10515600" cy="548640"/>
          </a:xfrm>
        </p:spPr>
        <p:txBody>
          <a:bodyPr>
            <a:normAutofit/>
          </a:bodyPr>
          <a:lstStyle/>
          <a:p>
            <a:r>
              <a:rPr lang="en-US" sz="2800" b="1">
                <a:latin typeface="Century Gothic" panose="020B0502020202020204" pitchFamily="34" charset="0"/>
              </a:rPr>
              <a:t>Enterprise Resource Planning System</a:t>
            </a:r>
          </a:p>
        </p:txBody>
      </p:sp>
      <p:pic>
        <p:nvPicPr>
          <p:cNvPr id="6146" name="Picture 2" descr="Premium Vector | Enterprise resource planning or ERP Modules for ...">
            <a:extLst>
              <a:ext uri="{FF2B5EF4-FFF2-40B4-BE49-F238E27FC236}">
                <a16:creationId xmlns:a16="http://schemas.microsoft.com/office/drawing/2014/main" id="{89595277-A0C3-6193-8064-420C72D0292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503" b="93473" l="6400" r="94200">
                        <a14:foregroundMark x1="50300" y1="11178" x2="18550" y2="28207"/>
                        <a14:foregroundMark x1="18550" y1="28207" x2="10100" y2="41710"/>
                        <a14:foregroundMark x1="10100" y1="41710" x2="16000" y2="50938"/>
                        <a14:foregroundMark x1="16000" y1="50938" x2="20250" y2="65266"/>
                        <a14:foregroundMark x1="20250" y1="65266" x2="28650" y2="75769"/>
                        <a14:foregroundMark x1="28650" y1="75769" x2="54800" y2="81770"/>
                        <a14:foregroundMark x1="54800" y1="81770" x2="70400" y2="76219"/>
                        <a14:foregroundMark x1="70400" y1="76219" x2="87450" y2="49287"/>
                        <a14:foregroundMark x1="87450" y1="49287" x2="91400" y2="37584"/>
                        <a14:foregroundMark x1="91400" y1="37584" x2="86500" y2="32408"/>
                        <a14:foregroundMark x1="86500" y1="32408" x2="80100" y2="38410"/>
                        <a14:foregroundMark x1="80100" y1="38410" x2="73750" y2="27532"/>
                        <a14:foregroundMark x1="73750" y1="27532" x2="64450" y2="19505"/>
                        <a14:foregroundMark x1="64450" y1="19505" x2="60150" y2="12978"/>
                        <a14:foregroundMark x1="60150" y1="12978" x2="57450" y2="2701"/>
                        <a14:foregroundMark x1="57450" y1="2701" x2="55550" y2="16504"/>
                        <a14:foregroundMark x1="55550" y1="16504" x2="44200" y2="12978"/>
                        <a14:foregroundMark x1="10300" y1="32408" x2="5850" y2="45086"/>
                        <a14:foregroundMark x1="5850" y1="45086" x2="8500" y2="58665"/>
                        <a14:foregroundMark x1="8500" y1="58665" x2="27300" y2="83871"/>
                        <a14:foregroundMark x1="27300" y1="83871" x2="43850" y2="89647"/>
                        <a14:foregroundMark x1="43850" y1="89647" x2="49950" y2="89797"/>
                        <a14:foregroundMark x1="49950" y1="89797" x2="68450" y2="86572"/>
                        <a14:foregroundMark x1="68450" y1="86572" x2="88100" y2="64966"/>
                        <a14:foregroundMark x1="88100" y1="64966" x2="94750" y2="48687"/>
                        <a14:foregroundMark x1="94750" y1="48687" x2="79100" y2="25881"/>
                        <a14:foregroundMark x1="79100" y1="25881" x2="64200" y2="11328"/>
                        <a14:foregroundMark x1="64200" y1="11328" x2="55350" y2="8027"/>
                        <a14:foregroundMark x1="55350" y1="8027" x2="30700" y2="14254"/>
                        <a14:foregroundMark x1="30700" y1="14254" x2="9400" y2="30833"/>
                        <a14:foregroundMark x1="9400" y1="30833" x2="2750" y2="48462"/>
                        <a14:foregroundMark x1="2750" y1="48462" x2="9700" y2="72168"/>
                        <a14:foregroundMark x1="9700" y1="72168" x2="30350" y2="85596"/>
                        <a14:foregroundMark x1="30350" y1="85596" x2="56050" y2="92948"/>
                        <a14:foregroundMark x1="11250" y1="29032" x2="5000" y2="41635"/>
                        <a14:foregroundMark x1="5000" y1="41635" x2="3500" y2="52888"/>
                        <a14:foregroundMark x1="3500" y1="52888" x2="11000" y2="57239"/>
                        <a14:foregroundMark x1="11000" y1="57239" x2="14750" y2="42386"/>
                        <a14:foregroundMark x1="14750" y1="42386" x2="13150" y2="30458"/>
                        <a14:foregroundMark x1="13150" y1="30458" x2="9500" y2="31058"/>
                        <a14:foregroundMark x1="7350" y1="40210" x2="2800" y2="47862"/>
                        <a14:foregroundMark x1="2800" y1="47862" x2="6900" y2="55589"/>
                        <a14:foregroundMark x1="6900" y1="55589" x2="6800" y2="41935"/>
                        <a14:foregroundMark x1="6800" y1="41935" x2="6400" y2="41110"/>
                        <a14:foregroundMark x1="93400" y1="31733" x2="82800" y2="29782"/>
                        <a14:foregroundMark x1="82800" y1="29782" x2="79450" y2="43061"/>
                        <a14:foregroundMark x1="79450" y1="43061" x2="83800" y2="60090"/>
                        <a14:foregroundMark x1="83800" y1="60090" x2="90600" y2="60240"/>
                        <a14:foregroundMark x1="90600" y1="60240" x2="95750" y2="54914"/>
                        <a14:foregroundMark x1="95750" y1="54914" x2="96700" y2="38935"/>
                        <a14:foregroundMark x1="96700" y1="38935" x2="92100" y2="31808"/>
                        <a14:foregroundMark x1="92100" y1="31808" x2="91700" y2="31733"/>
                        <a14:foregroundMark x1="64350" y1="92498" x2="49050" y2="85596"/>
                        <a14:foregroundMark x1="49050" y1="85596" x2="42700" y2="88372"/>
                        <a14:foregroundMark x1="42700" y1="88372" x2="48800" y2="94974"/>
                        <a14:foregroundMark x1="48800" y1="94974" x2="55700" y2="95199"/>
                        <a14:foregroundMark x1="55700" y1="95199" x2="61550" y2="93623"/>
                        <a14:foregroundMark x1="61550" y1="93623" x2="63100" y2="91373"/>
                        <a14:foregroundMark x1="24650" y1="82221" x2="33650" y2="88072"/>
                        <a14:foregroundMark x1="33650" y1="88072" x2="28050" y2="83121"/>
                        <a14:foregroundMark x1="28050" y1="83121" x2="26700" y2="83121"/>
                        <a14:foregroundMark x1="36400" y1="88297" x2="29650" y2="84246"/>
                        <a14:foregroundMark x1="40900" y1="16504" x2="32350" y2="15529"/>
                        <a14:foregroundMark x1="32350" y1="15529" x2="41200" y2="16054"/>
                        <a14:foregroundMark x1="65900" y1="13878" x2="65100" y2="16954"/>
                        <a14:foregroundMark x1="69050" y1="28132" x2="34900" y2="24606"/>
                        <a14:foregroundMark x1="34900" y1="24606" x2="50450" y2="21905"/>
                        <a14:foregroundMark x1="50450" y1="21905" x2="58600" y2="24006"/>
                        <a14:foregroundMark x1="58600" y1="24006" x2="68550" y2="23256"/>
                        <a14:foregroundMark x1="73850" y1="61215" x2="74950" y2="63466"/>
                        <a14:foregroundMark x1="54350" y1="48912" x2="45650" y2="47712"/>
                        <a14:foregroundMark x1="45650" y1="47712" x2="42950" y2="54539"/>
                        <a14:foregroundMark x1="58250" y1="47787" x2="41700" y2="46287"/>
                        <a14:foregroundMark x1="58250" y1="48912" x2="49050" y2="54089"/>
                        <a14:foregroundMark x1="49050" y1="54089" x2="54650" y2="51238"/>
                        <a14:foregroundMark x1="54650" y1="51238" x2="48450" y2="49062"/>
                        <a14:foregroundMark x1="48450" y1="49062" x2="46700" y2="49362"/>
                        <a14:foregroundMark x1="67000" y1="13428" x2="68100" y2="15829"/>
                        <a14:foregroundMark x1="30750" y1="86722" x2="31550" y2="86722"/>
                        <a14:foregroundMark x1="94200" y1="51613" x2="93850" y2="52063"/>
                        <a14:foregroundMark x1="23550" y1="77569" x2="22300" y2="75994"/>
                        <a14:foregroundMark x1="38550" y1="72168" x2="33550" y2="76669"/>
                        <a14:foregroundMark x1="67000" y1="84246" x2="60300" y2="87622"/>
                        <a14:foregroundMark x1="60300" y1="87622" x2="66200" y2="87697"/>
                        <a14:foregroundMark x1="66200" y1="87697" x2="65100" y2="87172"/>
                        <a14:foregroundMark x1="50150" y1="16504" x2="46850" y2="19655"/>
                        <a14:foregroundMark x1="46850" y1="19655" x2="51050" y2="15604"/>
                        <a14:foregroundMark x1="69050" y1="14704" x2="69050" y2="16504"/>
                        <a14:foregroundMark x1="42650" y1="10953" x2="42150" y2="10503"/>
                        <a14:foregroundMark x1="20300" y1="52288" x2="22150" y2="49137"/>
                        <a14:foregroundMark x1="24200" y1="58290" x2="27150" y2="64141"/>
                        <a14:foregroundMark x1="79350" y1="77119" x2="77450" y2="76219"/>
                        <a14:foregroundMark x1="76700" y1="78020" x2="78550" y2="76894"/>
                      </a14:backgroundRemoval>
                    </a14:imgEffect>
                  </a14:imgLayer>
                </a14:imgProps>
              </a:ext>
              <a:ext uri="{28A0092B-C50C-407E-A947-70E740481C1C}">
                <a14:useLocalDpi xmlns:a14="http://schemas.microsoft.com/office/drawing/2010/main" val="0"/>
              </a:ext>
            </a:extLst>
          </a:blip>
          <a:srcRect l="2607" t="8704" r="2977" b="7037"/>
          <a:stretch>
            <a:fillRect/>
          </a:stretch>
        </p:blipFill>
        <p:spPr bwMode="auto">
          <a:xfrm>
            <a:off x="1126835" y="1298566"/>
            <a:ext cx="7674265" cy="4786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155266C-8375-35C3-D476-E01EEFFDE5A7}"/>
              </a:ext>
            </a:extLst>
          </p:cNvPr>
          <p:cNvSpPr txBox="1"/>
          <p:nvPr/>
        </p:nvSpPr>
        <p:spPr>
          <a:xfrm>
            <a:off x="8801100" y="5315987"/>
            <a:ext cx="2946400" cy="1107996"/>
          </a:xfrm>
          <a:prstGeom prst="rect">
            <a:avLst/>
          </a:prstGeom>
          <a:noFill/>
        </p:spPr>
        <p:txBody>
          <a:bodyPr wrap="square">
            <a:spAutoFit/>
          </a:bodyPr>
          <a:lstStyle/>
          <a:p>
            <a:pPr>
              <a:buNone/>
            </a:pPr>
            <a:r>
              <a:rPr lang="en-US" sz="1100" b="1">
                <a:latin typeface="Century Gothic" panose="020B0502020202020204" pitchFamily="34" charset="0"/>
              </a:rPr>
              <a:t>Recommended ERP Options (Tier‑1 / Public Sector Proven):</a:t>
            </a:r>
            <a:endParaRPr lang="en-US" sz="1100">
              <a:latin typeface="Century Gothic" panose="020B0502020202020204" pitchFamily="34" charset="0"/>
            </a:endParaRPr>
          </a:p>
          <a:p>
            <a:pPr marL="285750" indent="-285750">
              <a:buFont typeface="Arial" panose="020B0604020202020204" pitchFamily="34" charset="0"/>
              <a:buChar char="•"/>
            </a:pPr>
            <a:r>
              <a:rPr lang="en-US" sz="1100">
                <a:latin typeface="Century Gothic" panose="020B0502020202020204" pitchFamily="34" charset="0"/>
              </a:rPr>
              <a:t>Oracle Fusion Cloud ERP</a:t>
            </a:r>
            <a:endParaRPr lang="en-US" sz="1100" b="1">
              <a:latin typeface="Century Gothic" panose="020B0502020202020204" pitchFamily="34" charset="0"/>
            </a:endParaRPr>
          </a:p>
          <a:p>
            <a:pPr marL="285750" indent="-285750">
              <a:buFont typeface="Arial" panose="020B0604020202020204" pitchFamily="34" charset="0"/>
              <a:buChar char="•"/>
            </a:pPr>
            <a:r>
              <a:rPr lang="en-US" sz="1100">
                <a:latin typeface="Century Gothic" panose="020B0502020202020204" pitchFamily="34" charset="0"/>
              </a:rPr>
              <a:t>Microsoft Dynamics 365 Business Central / Finance</a:t>
            </a:r>
          </a:p>
          <a:p>
            <a:pPr marL="285750" indent="-285750">
              <a:buFont typeface="Arial" panose="020B0604020202020204" pitchFamily="34" charset="0"/>
              <a:buChar char="•"/>
            </a:pPr>
            <a:r>
              <a:rPr lang="en-US" sz="1100">
                <a:latin typeface="Century Gothic" panose="020B0502020202020204" pitchFamily="34" charset="0"/>
              </a:rPr>
              <a:t>Odoo Enterprise (Cost‑optimized alt)</a:t>
            </a:r>
            <a:endParaRPr lang="en-US" sz="1200">
              <a:latin typeface="Century Gothic" panose="020B0502020202020204" pitchFamily="34" charset="0"/>
            </a:endParaRPr>
          </a:p>
        </p:txBody>
      </p:sp>
    </p:spTree>
    <p:extLst>
      <p:ext uri="{BB962C8B-B14F-4D97-AF65-F5344CB8AC3E}">
        <p14:creationId xmlns:p14="http://schemas.microsoft.com/office/powerpoint/2010/main" val="10562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8EC72-03F6-044B-C371-8445B3932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C1CCA-1AAC-8BB1-87F6-3EF9917D4D5F}"/>
              </a:ext>
            </a:extLst>
          </p:cNvPr>
          <p:cNvSpPr>
            <a:spLocks noGrp="1"/>
          </p:cNvSpPr>
          <p:nvPr>
            <p:ph type="title"/>
          </p:nvPr>
        </p:nvSpPr>
        <p:spPr>
          <a:xfrm>
            <a:off x="838200" y="653704"/>
            <a:ext cx="10515600" cy="548640"/>
          </a:xfrm>
        </p:spPr>
        <p:txBody>
          <a:bodyPr>
            <a:normAutofit/>
          </a:bodyPr>
          <a:lstStyle/>
          <a:p>
            <a:pPr algn="ctr"/>
            <a:r>
              <a:rPr lang="en-US" sz="2800" b="1">
                <a:latin typeface="Century Gothic" panose="020B0502020202020204" pitchFamily="34" charset="0"/>
              </a:rPr>
              <a:t>Sample Project Management Dashboard</a:t>
            </a:r>
          </a:p>
        </p:txBody>
      </p:sp>
      <p:pic>
        <p:nvPicPr>
          <p:cNvPr id="3" name="Picture 2">
            <a:extLst>
              <a:ext uri="{FF2B5EF4-FFF2-40B4-BE49-F238E27FC236}">
                <a16:creationId xmlns:a16="http://schemas.microsoft.com/office/drawing/2014/main" id="{BDE7446D-0DE8-27CC-A6B1-32F9B120A25C}"/>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Lst>
          </a:blip>
          <a:srcRect l="7320" t="10602" r="4848" b="2704"/>
          <a:stretch>
            <a:fillRect/>
          </a:stretch>
        </p:blipFill>
        <p:spPr>
          <a:xfrm>
            <a:off x="569260" y="1424018"/>
            <a:ext cx="8364795" cy="4644273"/>
          </a:xfrm>
          <a:prstGeom prst="roundRect">
            <a:avLst>
              <a:gd name="adj" fmla="val 3329"/>
            </a:avLst>
          </a:prstGeom>
          <a:solidFill>
            <a:srgbClr val="FFFFFF"/>
          </a:solidFill>
          <a:ln w="7620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4" name="Content Placeholder 2">
            <a:extLst>
              <a:ext uri="{FF2B5EF4-FFF2-40B4-BE49-F238E27FC236}">
                <a16:creationId xmlns:a16="http://schemas.microsoft.com/office/drawing/2014/main" id="{B4C4DF41-FE23-57D0-84C1-A96132B9F265}"/>
              </a:ext>
            </a:extLst>
          </p:cNvPr>
          <p:cNvSpPr>
            <a:spLocks noGrp="1"/>
          </p:cNvSpPr>
          <p:nvPr>
            <p:ph idx="1"/>
          </p:nvPr>
        </p:nvSpPr>
        <p:spPr>
          <a:xfrm>
            <a:off x="9144000" y="1955289"/>
            <a:ext cx="2364509" cy="3374137"/>
          </a:xfrm>
        </p:spPr>
        <p:txBody>
          <a:bodyPr anchor="ctr">
            <a:normAutofit fontScale="77500" lnSpcReduction="20000"/>
          </a:bodyPr>
          <a:lstStyle/>
          <a:p>
            <a:r>
              <a:rPr lang="en-US" sz="1400">
                <a:latin typeface="Century Gothic" panose="020B0502020202020204" pitchFamily="34" charset="0"/>
              </a:rPr>
              <a:t>Highly Customizable</a:t>
            </a:r>
          </a:p>
          <a:p>
            <a:r>
              <a:rPr lang="en-US" sz="1400">
                <a:latin typeface="Century Gothic" panose="020B0502020202020204" pitchFamily="34" charset="0"/>
              </a:rPr>
              <a:t>RBAC enabled</a:t>
            </a:r>
          </a:p>
          <a:p>
            <a:r>
              <a:rPr lang="en-US" sz="1400">
                <a:latin typeface="Century Gothic" panose="020B0502020202020204" pitchFamily="34" charset="0"/>
              </a:rPr>
              <a:t>Track</a:t>
            </a:r>
          </a:p>
          <a:p>
            <a:pPr lvl="1"/>
            <a:r>
              <a:rPr lang="en-US" sz="1000">
                <a:latin typeface="Century Gothic" panose="020B0502020202020204" pitchFamily="34" charset="0"/>
              </a:rPr>
              <a:t>Infrastructure Development</a:t>
            </a:r>
          </a:p>
          <a:p>
            <a:pPr lvl="1"/>
            <a:r>
              <a:rPr lang="en-US" sz="1000">
                <a:latin typeface="Century Gothic" panose="020B0502020202020204" pitchFamily="34" charset="0"/>
              </a:rPr>
              <a:t>Road Construction</a:t>
            </a:r>
          </a:p>
          <a:p>
            <a:pPr lvl="1"/>
            <a:r>
              <a:rPr lang="en-US" sz="1000">
                <a:latin typeface="Century Gothic" panose="020B0502020202020204" pitchFamily="34" charset="0"/>
              </a:rPr>
              <a:t>Operations</a:t>
            </a:r>
          </a:p>
          <a:p>
            <a:pPr lvl="1"/>
            <a:r>
              <a:rPr lang="en-US" sz="1000">
                <a:latin typeface="Century Gothic" panose="020B0502020202020204" pitchFamily="34" charset="0"/>
              </a:rPr>
              <a:t>Project status</a:t>
            </a:r>
          </a:p>
          <a:p>
            <a:r>
              <a:rPr lang="en-US" sz="1400">
                <a:latin typeface="Century Gothic" panose="020B0502020202020204" pitchFamily="34" charset="0"/>
              </a:rPr>
              <a:t>Enterprise &amp; Investor Portal</a:t>
            </a:r>
          </a:p>
          <a:p>
            <a:r>
              <a:rPr lang="en-US" sz="1400">
                <a:latin typeface="Century Gothic" panose="020B0502020202020204" pitchFamily="34" charset="0"/>
              </a:rPr>
              <a:t>Document &amp; Records Management</a:t>
            </a:r>
          </a:p>
          <a:p>
            <a:r>
              <a:rPr lang="en-US" sz="1400">
                <a:latin typeface="Century Gothic" panose="020B0502020202020204" pitchFamily="34" charset="0"/>
              </a:rPr>
              <a:t>Reporting &amp; Analytics Platform</a:t>
            </a:r>
          </a:p>
          <a:p>
            <a:r>
              <a:rPr lang="en-US" sz="1400">
                <a:latin typeface="Century Gothic" panose="020B0502020202020204" pitchFamily="34" charset="0"/>
              </a:rPr>
              <a:t>Smart Security &amp; Visitor Management</a:t>
            </a:r>
          </a:p>
          <a:p>
            <a:r>
              <a:rPr lang="en-US" sz="1400">
                <a:latin typeface="Century Gothic" panose="020B0502020202020204" pitchFamily="34" charset="0"/>
              </a:rPr>
              <a:t>Utility &amp; Metering Management</a:t>
            </a:r>
          </a:p>
          <a:p>
            <a:r>
              <a:rPr lang="en-US" sz="1400">
                <a:latin typeface="Century Gothic" panose="020B0502020202020204" pitchFamily="34" charset="0"/>
              </a:rPr>
              <a:t>Integration &amp; API Layer</a:t>
            </a:r>
          </a:p>
        </p:txBody>
      </p:sp>
    </p:spTree>
    <p:extLst>
      <p:ext uri="{BB962C8B-B14F-4D97-AF65-F5344CB8AC3E}">
        <p14:creationId xmlns:p14="http://schemas.microsoft.com/office/powerpoint/2010/main" val="4109929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7BCE0-2A93-56F6-00EB-89A50CDD8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2E418-F648-5D1B-1EC5-A026243B0030}"/>
              </a:ext>
            </a:extLst>
          </p:cNvPr>
          <p:cNvSpPr>
            <a:spLocks noGrp="1"/>
          </p:cNvSpPr>
          <p:nvPr>
            <p:ph type="title"/>
          </p:nvPr>
        </p:nvSpPr>
        <p:spPr>
          <a:xfrm>
            <a:off x="838200" y="738378"/>
            <a:ext cx="6273800" cy="620268"/>
          </a:xfrm>
        </p:spPr>
        <p:txBody>
          <a:bodyPr>
            <a:noAutofit/>
          </a:bodyPr>
          <a:lstStyle/>
          <a:p>
            <a:r>
              <a:rPr lang="en-US" sz="2800" b="1">
                <a:latin typeface="Century Gothic" panose="020B0502020202020204" pitchFamily="34" charset="0"/>
              </a:rPr>
              <a:t>ERP – Departmental Coverage</a:t>
            </a:r>
          </a:p>
        </p:txBody>
      </p:sp>
      <p:graphicFrame>
        <p:nvGraphicFramePr>
          <p:cNvPr id="8" name="Diagram 7">
            <a:extLst>
              <a:ext uri="{FF2B5EF4-FFF2-40B4-BE49-F238E27FC236}">
                <a16:creationId xmlns:a16="http://schemas.microsoft.com/office/drawing/2014/main" id="{EC72454E-8D56-0F2C-EE0E-50F93F586394}"/>
              </a:ext>
            </a:extLst>
          </p:cNvPr>
          <p:cNvGraphicFramePr/>
          <p:nvPr>
            <p:extLst>
              <p:ext uri="{D42A27DB-BD31-4B8C-83A1-F6EECF244321}">
                <p14:modId xmlns:p14="http://schemas.microsoft.com/office/powerpoint/2010/main" val="4110746571"/>
              </p:ext>
            </p:extLst>
          </p:nvPr>
        </p:nvGraphicFramePr>
        <p:xfrm>
          <a:off x="951344" y="947166"/>
          <a:ext cx="9970655" cy="412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981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ED1B-7841-2A91-8A61-69A1074D5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016EF-ECF3-3C69-E670-BE1F2C257D22}"/>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Smart Security &amp; Visitor Management</a:t>
            </a:r>
          </a:p>
        </p:txBody>
      </p:sp>
      <p:cxnSp>
        <p:nvCxnSpPr>
          <p:cNvPr id="4" name="Straight Connector 3">
            <a:extLst>
              <a:ext uri="{FF2B5EF4-FFF2-40B4-BE49-F238E27FC236}">
                <a16:creationId xmlns:a16="http://schemas.microsoft.com/office/drawing/2014/main" id="{907BDE56-3E8C-7196-001F-6E043ED42CEB}"/>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64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croll: Horizontal 20">
            <a:extLst>
              <a:ext uri="{FF2B5EF4-FFF2-40B4-BE49-F238E27FC236}">
                <a16:creationId xmlns:a16="http://schemas.microsoft.com/office/drawing/2014/main" id="{30BD56A3-8777-3E6F-209A-406DF1444D98}"/>
              </a:ext>
            </a:extLst>
          </p:cNvPr>
          <p:cNvSpPr/>
          <p:nvPr/>
        </p:nvSpPr>
        <p:spPr>
          <a:xfrm>
            <a:off x="286520" y="2307167"/>
            <a:ext cx="6232813" cy="2042583"/>
          </a:xfrm>
          <a:prstGeom prst="horizontalScroll">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500"/>
          </a:p>
        </p:txBody>
      </p:sp>
      <p:sp>
        <p:nvSpPr>
          <p:cNvPr id="3" name="Text 0"/>
          <p:cNvSpPr/>
          <p:nvPr/>
        </p:nvSpPr>
        <p:spPr>
          <a:xfrm>
            <a:off x="655781" y="2838351"/>
            <a:ext cx="5482937" cy="1181298"/>
          </a:xfrm>
          <a:prstGeom prst="rect">
            <a:avLst/>
          </a:prstGeom>
          <a:noFill/>
          <a:ln/>
        </p:spPr>
        <p:txBody>
          <a:bodyPr wrap="square" lIns="0" tIns="0" rIns="0" bIns="0" rtlCol="0" anchor="t"/>
          <a:lstStyle/>
          <a:p>
            <a:pPr algn="ctr">
              <a:lnSpc>
                <a:spcPts val="4625"/>
              </a:lnSpc>
            </a:pPr>
            <a:r>
              <a:rPr lang="en-US" sz="4000" b="1">
                <a:solidFill>
                  <a:schemeClr val="bg1"/>
                </a:solidFill>
                <a:latin typeface="Century Gothic" panose="020B0502020202020204" pitchFamily="34" charset="0"/>
                <a:ea typeface="Merriweather Bold" pitchFamily="34" charset="-122"/>
                <a:cs typeface="Merriweather Bold" pitchFamily="34" charset="-120"/>
              </a:rPr>
              <a:t>Visitor Management System</a:t>
            </a:r>
            <a:endParaRPr lang="en-US" sz="4000">
              <a:solidFill>
                <a:schemeClr val="bg1"/>
              </a:solidFill>
              <a:latin typeface="Century Gothic" panose="020B0502020202020204" pitchFamily="34" charset="0"/>
            </a:endParaRPr>
          </a:p>
        </p:txBody>
      </p:sp>
      <p:sp>
        <p:nvSpPr>
          <p:cNvPr id="11" name="object 2">
            <a:extLst>
              <a:ext uri="{FF2B5EF4-FFF2-40B4-BE49-F238E27FC236}">
                <a16:creationId xmlns:a16="http://schemas.microsoft.com/office/drawing/2014/main" id="{650659B5-A51A-1941-B10C-4A9E3387505B}"/>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pic>
        <p:nvPicPr>
          <p:cNvPr id="20" name="Picture 19">
            <a:extLst>
              <a:ext uri="{FF2B5EF4-FFF2-40B4-BE49-F238E27FC236}">
                <a16:creationId xmlns:a16="http://schemas.microsoft.com/office/drawing/2014/main" id="{3F0545AE-8BD5-250E-CD2D-337EBF5B82DB}"/>
              </a:ext>
            </a:extLst>
          </p:cNvPr>
          <p:cNvPicPr>
            <a:picLocks noChangeAspect="1"/>
          </p:cNvPicPr>
          <p:nvPr/>
        </p:nvPicPr>
        <p:blipFill>
          <a:blip r:embed="rId3"/>
          <a:srcRect l="2523"/>
          <a:stretch/>
        </p:blipFill>
        <p:spPr>
          <a:xfrm>
            <a:off x="6709063" y="0"/>
            <a:ext cx="5482937"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D0085-55A9-85B8-C6B7-18789DB335F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CEE08BD-B2EA-9346-B037-26635E31AF07}"/>
              </a:ext>
            </a:extLst>
          </p:cNvPr>
          <p:cNvPicPr>
            <a:picLocks noChangeAspect="1"/>
          </p:cNvPicPr>
          <p:nvPr/>
        </p:nvPicPr>
        <p:blipFill>
          <a:blip r:embed="rId3"/>
          <a:stretch>
            <a:fillRect/>
          </a:stretch>
        </p:blipFill>
        <p:spPr>
          <a:xfrm>
            <a:off x="0" y="0"/>
            <a:ext cx="4572000" cy="6858000"/>
          </a:xfrm>
          <a:prstGeom prst="rect">
            <a:avLst/>
          </a:prstGeom>
        </p:spPr>
      </p:pic>
      <p:sp>
        <p:nvSpPr>
          <p:cNvPr id="3" name="Text 0">
            <a:extLst>
              <a:ext uri="{FF2B5EF4-FFF2-40B4-BE49-F238E27FC236}">
                <a16:creationId xmlns:a16="http://schemas.microsoft.com/office/drawing/2014/main" id="{654427C9-2655-A5D0-70DA-971AFEE467AB}"/>
              </a:ext>
            </a:extLst>
          </p:cNvPr>
          <p:cNvSpPr/>
          <p:nvPr/>
        </p:nvSpPr>
        <p:spPr>
          <a:xfrm>
            <a:off x="5056834" y="846275"/>
            <a:ext cx="6129750" cy="604838"/>
          </a:xfrm>
          <a:prstGeom prst="rect">
            <a:avLst/>
          </a:prstGeom>
          <a:noFill/>
          <a:ln/>
        </p:spPr>
        <p:txBody>
          <a:bodyPr wrap="square" lIns="0" tIns="0" rIns="0" bIns="0" rtlCol="0" anchor="t"/>
          <a:lstStyle/>
          <a:p>
            <a:pPr>
              <a:lnSpc>
                <a:spcPts val="4625"/>
              </a:lnSpc>
            </a:pPr>
            <a:r>
              <a:rPr lang="en-US" sz="2400" b="1">
                <a:solidFill>
                  <a:srgbClr val="403C4E"/>
                </a:solidFill>
                <a:latin typeface="Century Gothic" panose="020B0502020202020204" pitchFamily="34" charset="0"/>
                <a:ea typeface="Merriweather Bold" pitchFamily="34" charset="-122"/>
                <a:cs typeface="Merriweather Bold" pitchFamily="34" charset="-120"/>
              </a:rPr>
              <a:t>Core Capabilities</a:t>
            </a:r>
            <a:endParaRPr lang="en-US" sz="2400">
              <a:latin typeface="Century Gothic" panose="020B0502020202020204" pitchFamily="34" charset="0"/>
            </a:endParaRPr>
          </a:p>
        </p:txBody>
      </p:sp>
      <p:sp>
        <p:nvSpPr>
          <p:cNvPr id="4" name="Text 1">
            <a:extLst>
              <a:ext uri="{FF2B5EF4-FFF2-40B4-BE49-F238E27FC236}">
                <a16:creationId xmlns:a16="http://schemas.microsoft.com/office/drawing/2014/main" id="{059E1960-EE69-9F48-AE45-AC8C8EAAE011}"/>
              </a:ext>
            </a:extLst>
          </p:cNvPr>
          <p:cNvSpPr/>
          <p:nvPr/>
        </p:nvSpPr>
        <p:spPr>
          <a:xfrm>
            <a:off x="5056833" y="1561230"/>
            <a:ext cx="6294657" cy="3167788"/>
          </a:xfrm>
          <a:prstGeom prst="rect">
            <a:avLst/>
          </a:prstGeom>
          <a:noFill/>
          <a:ln/>
        </p:spPr>
        <p:txBody>
          <a:bodyPr wrap="square" lIns="0" tIns="0" rIns="0" bIns="0" rtlCol="0" anchor="t"/>
          <a:lstStyle/>
          <a:p>
            <a:pPr marL="285750" indent="-285750" algn="just">
              <a:lnSpc>
                <a:spcPct val="150000"/>
              </a:lnSpc>
              <a:buFont typeface="Arial" panose="020B0604020202020204" pitchFamily="34" charset="0"/>
              <a:buChar char="•"/>
            </a:pPr>
            <a:r>
              <a:rPr lang="en-US" sz="1458" err="1">
                <a:solidFill>
                  <a:srgbClr val="403C4E"/>
                </a:solidFill>
                <a:latin typeface="Century Gothic" panose="020B0502020202020204" pitchFamily="34" charset="0"/>
                <a:ea typeface="Open Sans" pitchFamily="34" charset="-122"/>
                <a:cs typeface="Open Sans" pitchFamily="34" charset="-120"/>
              </a:rPr>
              <a:t>Gatepass</a:t>
            </a:r>
            <a:r>
              <a:rPr lang="en-US" sz="1458">
                <a:solidFill>
                  <a:srgbClr val="403C4E"/>
                </a:solidFill>
                <a:latin typeface="Century Gothic" panose="020B0502020202020204" pitchFamily="34" charset="0"/>
                <a:ea typeface="Open Sans" pitchFamily="34" charset="-122"/>
                <a:cs typeface="Open Sans" pitchFamily="34" charset="-120"/>
              </a:rPr>
              <a:t> booking (pre‑approved &amp; walk‑in)</a:t>
            </a:r>
          </a:p>
          <a:p>
            <a:pPr marL="742950" lvl="1" indent="-285750" algn="just">
              <a:lnSpc>
                <a:spcPct val="150000"/>
              </a:lnSpc>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Instance deployed across enterprises with the Free Zone.</a:t>
            </a:r>
          </a:p>
          <a:p>
            <a:pPr marL="285750" indent="-285750" algn="just">
              <a:lnSpc>
                <a:spcPct val="200000"/>
              </a:lnSpc>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ANPR‑based vehicle recognition</a:t>
            </a:r>
          </a:p>
          <a:p>
            <a:pPr marL="285750" indent="-285750" algn="just">
              <a:lnSpc>
                <a:spcPct val="150000"/>
              </a:lnSpc>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Biometric-enabled passes for staff</a:t>
            </a:r>
          </a:p>
          <a:p>
            <a:pPr marL="742950" lvl="1" indent="-285750" algn="just">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Time-limited, Access Controlled for vendors and contractors</a:t>
            </a:r>
          </a:p>
          <a:p>
            <a:pPr marL="742950" lvl="1" indent="-285750" algn="just">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Multiple authentication points to prevent queue/stampede</a:t>
            </a:r>
          </a:p>
          <a:p>
            <a:pPr marL="285750" indent="-285750" algn="just">
              <a:lnSpc>
                <a:spcPct val="200000"/>
              </a:lnSpc>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Vehicle dwell‑time &amp; traffic analytics</a:t>
            </a:r>
          </a:p>
          <a:p>
            <a:pPr marL="285750" indent="-285750" algn="just">
              <a:lnSpc>
                <a:spcPct val="200000"/>
              </a:lnSpc>
              <a:buFont typeface="Arial" panose="020B0604020202020204" pitchFamily="34" charset="0"/>
              <a:buChar char="•"/>
            </a:pPr>
            <a:r>
              <a:rPr lang="en-US" sz="1458">
                <a:solidFill>
                  <a:srgbClr val="403C4E"/>
                </a:solidFill>
                <a:latin typeface="Century Gothic" panose="020B0502020202020204" pitchFamily="34" charset="0"/>
                <a:ea typeface="Open Sans" pitchFamily="34" charset="-122"/>
                <a:cs typeface="Open Sans" pitchFamily="34" charset="-120"/>
              </a:rPr>
              <a:t>Integration with access barriers &amp; CCTV</a:t>
            </a:r>
            <a:endParaRPr lang="en-US" sz="1458">
              <a:latin typeface="Century Gothic" panose="020B0502020202020204" pitchFamily="34" charset="0"/>
            </a:endParaRPr>
          </a:p>
        </p:txBody>
      </p:sp>
      <p:pic>
        <p:nvPicPr>
          <p:cNvPr id="10" name="Picture 9">
            <a:extLst>
              <a:ext uri="{FF2B5EF4-FFF2-40B4-BE49-F238E27FC236}">
                <a16:creationId xmlns:a16="http://schemas.microsoft.com/office/drawing/2014/main" id="{172BE21F-53D6-EA28-D857-5E67884D16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1" name="object 2">
            <a:extLst>
              <a:ext uri="{FF2B5EF4-FFF2-40B4-BE49-F238E27FC236}">
                <a16:creationId xmlns:a16="http://schemas.microsoft.com/office/drawing/2014/main" id="{F73B29D9-EEF5-DB59-2F8A-A9E24E98785A}"/>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sp>
        <p:nvSpPr>
          <p:cNvPr id="9" name="TextBox 8">
            <a:extLst>
              <a:ext uri="{FF2B5EF4-FFF2-40B4-BE49-F238E27FC236}">
                <a16:creationId xmlns:a16="http://schemas.microsoft.com/office/drawing/2014/main" id="{46297A40-D909-529F-7108-5D76EAC87D31}"/>
              </a:ext>
            </a:extLst>
          </p:cNvPr>
          <p:cNvSpPr txBox="1"/>
          <p:nvPr/>
        </p:nvSpPr>
        <p:spPr>
          <a:xfrm>
            <a:off x="5056833" y="5379897"/>
            <a:ext cx="3745421" cy="861774"/>
          </a:xfrm>
          <a:prstGeom prst="rect">
            <a:avLst/>
          </a:prstGeom>
          <a:noFill/>
        </p:spPr>
        <p:txBody>
          <a:bodyPr wrap="square">
            <a:spAutoFit/>
          </a:bodyPr>
          <a:lstStyle/>
          <a:p>
            <a:pPr>
              <a:buNone/>
            </a:pPr>
            <a:r>
              <a:rPr lang="en-US" sz="1400" b="1">
                <a:latin typeface="Century Gothic" panose="020B0502020202020204" pitchFamily="34" charset="0"/>
              </a:rPr>
              <a:t>Alternative Platforms:</a:t>
            </a:r>
            <a:endParaRPr lang="en-US" sz="1400">
              <a:latin typeface="Century Gothic" panose="020B0502020202020204" pitchFamily="34" charset="0"/>
            </a:endParaRPr>
          </a:p>
          <a:p>
            <a:pPr marL="285750" indent="-285750">
              <a:buFont typeface="Arial" panose="020B0604020202020204" pitchFamily="34" charset="0"/>
              <a:buChar char="•"/>
            </a:pPr>
            <a:r>
              <a:rPr lang="en-US" sz="1200">
                <a:latin typeface="Century Gothic" panose="020B0502020202020204" pitchFamily="34" charset="0"/>
              </a:rPr>
              <a:t>Genetec Security Center</a:t>
            </a:r>
          </a:p>
          <a:p>
            <a:pPr marL="285750" indent="-285750">
              <a:buFont typeface="Arial" panose="020B0604020202020204" pitchFamily="34" charset="0"/>
              <a:buChar char="•"/>
            </a:pPr>
            <a:r>
              <a:rPr lang="en-US" sz="1200" err="1">
                <a:latin typeface="Century Gothic" panose="020B0502020202020204" pitchFamily="34" charset="0"/>
              </a:rPr>
              <a:t>HikCentral</a:t>
            </a:r>
            <a:r>
              <a:rPr lang="en-US" sz="1200">
                <a:latin typeface="Century Gothic" panose="020B0502020202020204" pitchFamily="34" charset="0"/>
              </a:rPr>
              <a:t> Professional</a:t>
            </a:r>
          </a:p>
          <a:p>
            <a:pPr marL="285750" indent="-285750">
              <a:buFont typeface="Arial" panose="020B0604020202020204" pitchFamily="34" charset="0"/>
              <a:buChar char="•"/>
            </a:pPr>
            <a:r>
              <a:rPr lang="en-US" sz="1200">
                <a:latin typeface="Century Gothic" panose="020B0502020202020204" pitchFamily="34" charset="0"/>
              </a:rPr>
              <a:t>Milestone XProtect + Custom VMS</a:t>
            </a:r>
            <a:endParaRPr lang="en-US" sz="1400">
              <a:latin typeface="Century Gothic" panose="020B0502020202020204" pitchFamily="34" charset="0"/>
            </a:endParaRPr>
          </a:p>
        </p:txBody>
      </p:sp>
    </p:spTree>
    <p:extLst>
      <p:ext uri="{BB962C8B-B14F-4D97-AF65-F5344CB8AC3E}">
        <p14:creationId xmlns:p14="http://schemas.microsoft.com/office/powerpoint/2010/main" val="1233692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513E-3C3D-35CC-C3E3-50B75DB9EB1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CC4FE65-497C-3BF9-FFFB-5C18D50BABAF}"/>
              </a:ext>
            </a:extLst>
          </p:cNvPr>
          <p:cNvPicPr>
            <a:picLocks noChangeAspect="1"/>
          </p:cNvPicPr>
          <p:nvPr/>
        </p:nvPicPr>
        <p:blipFill>
          <a:blip r:embed="rId3"/>
          <a:stretch>
            <a:fillRect/>
          </a:stretch>
        </p:blipFill>
        <p:spPr>
          <a:xfrm>
            <a:off x="0" y="0"/>
            <a:ext cx="4572000" cy="6858000"/>
          </a:xfrm>
          <a:prstGeom prst="rect">
            <a:avLst/>
          </a:prstGeom>
        </p:spPr>
      </p:pic>
      <p:sp>
        <p:nvSpPr>
          <p:cNvPr id="3" name="Text 0">
            <a:extLst>
              <a:ext uri="{FF2B5EF4-FFF2-40B4-BE49-F238E27FC236}">
                <a16:creationId xmlns:a16="http://schemas.microsoft.com/office/drawing/2014/main" id="{1B16ACB8-231F-E362-9DE4-C6DD9382C366}"/>
              </a:ext>
            </a:extLst>
          </p:cNvPr>
          <p:cNvSpPr/>
          <p:nvPr/>
        </p:nvSpPr>
        <p:spPr>
          <a:xfrm>
            <a:off x="5056834" y="1607444"/>
            <a:ext cx="6383750" cy="1181298"/>
          </a:xfrm>
          <a:prstGeom prst="rect">
            <a:avLst/>
          </a:prstGeom>
          <a:noFill/>
          <a:ln/>
        </p:spPr>
        <p:txBody>
          <a:bodyPr wrap="square" lIns="0" tIns="0" rIns="0" bIns="0" rtlCol="0" anchor="t"/>
          <a:lstStyle/>
          <a:p>
            <a:pPr>
              <a:lnSpc>
                <a:spcPts val="4625"/>
              </a:lnSpc>
            </a:pPr>
            <a:r>
              <a:rPr lang="en-US" sz="2400" b="1">
                <a:solidFill>
                  <a:srgbClr val="403C4E"/>
                </a:solidFill>
                <a:latin typeface="Century Gothic" panose="020B0502020202020204" pitchFamily="34" charset="0"/>
                <a:ea typeface="Merriweather Bold" pitchFamily="34" charset="-122"/>
                <a:cs typeface="Merriweather Bold" pitchFamily="34" charset="-120"/>
              </a:rPr>
              <a:t>Transforming Visitor Experiences with </a:t>
            </a:r>
            <a:r>
              <a:rPr lang="en-US" sz="2400" b="1" err="1">
                <a:solidFill>
                  <a:srgbClr val="403C4E"/>
                </a:solidFill>
                <a:latin typeface="Century Gothic" panose="020B0502020202020204" pitchFamily="34" charset="0"/>
                <a:ea typeface="Merriweather Bold" pitchFamily="34" charset="-122"/>
                <a:cs typeface="Merriweather Bold" pitchFamily="34" charset="-120"/>
              </a:rPr>
              <a:t>VisitUs</a:t>
            </a:r>
            <a:endParaRPr lang="en-US" sz="2400">
              <a:latin typeface="Century Gothic" panose="020B0502020202020204" pitchFamily="34" charset="0"/>
            </a:endParaRPr>
          </a:p>
        </p:txBody>
      </p:sp>
      <p:sp>
        <p:nvSpPr>
          <p:cNvPr id="4" name="Text 1">
            <a:extLst>
              <a:ext uri="{FF2B5EF4-FFF2-40B4-BE49-F238E27FC236}">
                <a16:creationId xmlns:a16="http://schemas.microsoft.com/office/drawing/2014/main" id="{4B6ABDCA-99C0-1B35-F043-BF0E6BE6A3F4}"/>
              </a:ext>
            </a:extLst>
          </p:cNvPr>
          <p:cNvSpPr/>
          <p:nvPr/>
        </p:nvSpPr>
        <p:spPr>
          <a:xfrm>
            <a:off x="5056834" y="3072209"/>
            <a:ext cx="6129750" cy="604838"/>
          </a:xfrm>
          <a:prstGeom prst="rect">
            <a:avLst/>
          </a:prstGeom>
          <a:noFill/>
          <a:ln/>
        </p:spPr>
        <p:txBody>
          <a:bodyPr wrap="square" lIns="0" tIns="0" rIns="0" bIns="0" rtlCol="0" anchor="t"/>
          <a:lstStyle/>
          <a:p>
            <a:pPr algn="just">
              <a:lnSpc>
                <a:spcPts val="2375"/>
              </a:lnSpc>
            </a:pPr>
            <a:r>
              <a:rPr lang="en-US" sz="1458" b="1">
                <a:solidFill>
                  <a:srgbClr val="403C4E"/>
                </a:solidFill>
                <a:latin typeface="Century Gothic" panose="020B0502020202020204" pitchFamily="34" charset="0"/>
                <a:ea typeface="Open Sans" pitchFamily="34" charset="-122"/>
                <a:cs typeface="Open Sans" pitchFamily="34" charset="-120"/>
              </a:rPr>
              <a:t>Heirs Technologies</a:t>
            </a:r>
            <a:r>
              <a:rPr lang="en-US" sz="1458">
                <a:solidFill>
                  <a:srgbClr val="403C4E"/>
                </a:solidFill>
                <a:latin typeface="Century Gothic" panose="020B0502020202020204" pitchFamily="34" charset="0"/>
                <a:ea typeface="Open Sans" pitchFamily="34" charset="-122"/>
                <a:cs typeface="Open Sans" pitchFamily="34" charset="-120"/>
              </a:rPr>
              <a:t> introduces </a:t>
            </a:r>
            <a:r>
              <a:rPr lang="en-US" sz="1458" err="1">
                <a:solidFill>
                  <a:srgbClr val="403C4E"/>
                </a:solidFill>
                <a:latin typeface="Century Gothic" panose="020B0502020202020204" pitchFamily="34" charset="0"/>
                <a:ea typeface="Open Sans" pitchFamily="34" charset="-122"/>
                <a:cs typeface="Open Sans" pitchFamily="34" charset="-120"/>
              </a:rPr>
              <a:t>VisitUs</a:t>
            </a:r>
            <a:r>
              <a:rPr lang="en-US" sz="1458">
                <a:solidFill>
                  <a:srgbClr val="403C4E"/>
                </a:solidFill>
                <a:latin typeface="Century Gothic" panose="020B0502020202020204" pitchFamily="34" charset="0"/>
                <a:ea typeface="Open Sans" pitchFamily="34" charset="-122"/>
                <a:cs typeface="Open Sans" pitchFamily="34" charset="-120"/>
              </a:rPr>
              <a:t>, a modern visitor management system.</a:t>
            </a:r>
            <a:endParaRPr lang="en-US" sz="1458">
              <a:latin typeface="Century Gothic" panose="020B0502020202020204" pitchFamily="34" charset="0"/>
            </a:endParaRPr>
          </a:p>
        </p:txBody>
      </p:sp>
      <p:sp>
        <p:nvSpPr>
          <p:cNvPr id="5" name="Text 2">
            <a:extLst>
              <a:ext uri="{FF2B5EF4-FFF2-40B4-BE49-F238E27FC236}">
                <a16:creationId xmlns:a16="http://schemas.microsoft.com/office/drawing/2014/main" id="{7542F1A6-E12F-8A1A-D458-0885F6BB1113}"/>
              </a:ext>
            </a:extLst>
          </p:cNvPr>
          <p:cNvSpPr/>
          <p:nvPr/>
        </p:nvSpPr>
        <p:spPr>
          <a:xfrm>
            <a:off x="5588001" y="3864711"/>
            <a:ext cx="5598584" cy="410956"/>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Digitizes guest registration, check-in, communication, and tracking.</a:t>
            </a:r>
            <a:endParaRPr lang="en-US" sz="1458">
              <a:latin typeface="Century Gothic" panose="020B0502020202020204" pitchFamily="34" charset="0"/>
            </a:endParaRPr>
          </a:p>
        </p:txBody>
      </p:sp>
      <p:sp>
        <p:nvSpPr>
          <p:cNvPr id="6" name="Text 3">
            <a:extLst>
              <a:ext uri="{FF2B5EF4-FFF2-40B4-BE49-F238E27FC236}">
                <a16:creationId xmlns:a16="http://schemas.microsoft.com/office/drawing/2014/main" id="{65B2C35E-23BC-8912-CED2-DDCD0484351E}"/>
              </a:ext>
            </a:extLst>
          </p:cNvPr>
          <p:cNvSpPr/>
          <p:nvPr/>
        </p:nvSpPr>
        <p:spPr>
          <a:xfrm>
            <a:off x="5588001" y="4383551"/>
            <a:ext cx="5598584" cy="385994"/>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Trusted by organizations for improved efficiency and security.</a:t>
            </a:r>
            <a:endParaRPr lang="en-US" sz="1458">
              <a:latin typeface="Century Gothic" panose="020B0502020202020204" pitchFamily="34" charset="0"/>
            </a:endParaRPr>
          </a:p>
        </p:txBody>
      </p:sp>
      <p:pic>
        <p:nvPicPr>
          <p:cNvPr id="10" name="Picture 9">
            <a:extLst>
              <a:ext uri="{FF2B5EF4-FFF2-40B4-BE49-F238E27FC236}">
                <a16:creationId xmlns:a16="http://schemas.microsoft.com/office/drawing/2014/main" id="{BF807A45-CC7B-F4B7-B0C4-060870B66B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1" name="object 2">
            <a:extLst>
              <a:ext uri="{FF2B5EF4-FFF2-40B4-BE49-F238E27FC236}">
                <a16:creationId xmlns:a16="http://schemas.microsoft.com/office/drawing/2014/main" id="{67833E33-7703-A81A-2CCA-45A974A8D203}"/>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pic>
        <p:nvPicPr>
          <p:cNvPr id="8" name="Graphic 7" descr="Shield Tick with solid fill">
            <a:extLst>
              <a:ext uri="{FF2B5EF4-FFF2-40B4-BE49-F238E27FC236}">
                <a16:creationId xmlns:a16="http://schemas.microsoft.com/office/drawing/2014/main" id="{316628EB-D091-F950-7B9A-63460A2C0B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6833" y="4333628"/>
            <a:ext cx="435917" cy="435917"/>
          </a:xfrm>
          <a:prstGeom prst="rect">
            <a:avLst/>
          </a:prstGeom>
        </p:spPr>
      </p:pic>
      <p:pic>
        <p:nvPicPr>
          <p:cNvPr id="12" name="Graphic 11" descr="Internet with solid fill">
            <a:extLst>
              <a:ext uri="{FF2B5EF4-FFF2-40B4-BE49-F238E27FC236}">
                <a16:creationId xmlns:a16="http://schemas.microsoft.com/office/drawing/2014/main" id="{44D908A4-3C31-CB21-01AA-500C3DEF5F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7250" y="3864711"/>
            <a:ext cx="435917" cy="435917"/>
          </a:xfrm>
          <a:prstGeom prst="rect">
            <a:avLst/>
          </a:prstGeom>
        </p:spPr>
      </p:pic>
    </p:spTree>
    <p:extLst>
      <p:ext uri="{BB962C8B-B14F-4D97-AF65-F5344CB8AC3E}">
        <p14:creationId xmlns:p14="http://schemas.microsoft.com/office/powerpoint/2010/main" val="2161771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9885"/>
          </a:xfrm>
          <a:prstGeom prst="rect">
            <a:avLst/>
          </a:prstGeom>
        </p:spPr>
      </p:pic>
      <p:sp>
        <p:nvSpPr>
          <p:cNvPr id="3" name="Text 0"/>
          <p:cNvSpPr/>
          <p:nvPr/>
        </p:nvSpPr>
        <p:spPr>
          <a:xfrm>
            <a:off x="606524" y="994105"/>
            <a:ext cx="6406952" cy="548301"/>
          </a:xfrm>
          <a:prstGeom prst="rect">
            <a:avLst/>
          </a:prstGeom>
          <a:noFill/>
          <a:ln/>
        </p:spPr>
        <p:txBody>
          <a:bodyPr wrap="square" lIns="0" tIns="0" rIns="0" bIns="0" rtlCol="0" anchor="t"/>
          <a:lstStyle/>
          <a:p>
            <a:pPr>
              <a:lnSpc>
                <a:spcPts val="4250"/>
              </a:lnSpc>
            </a:pPr>
            <a:r>
              <a:rPr lang="en-US" sz="2000" b="1">
                <a:solidFill>
                  <a:srgbClr val="403C4E"/>
                </a:solidFill>
                <a:latin typeface="Century Gothic" panose="020B0502020202020204" pitchFamily="34" charset="0"/>
                <a:ea typeface="Merriweather Bold" pitchFamily="34" charset="-122"/>
                <a:cs typeface="Merriweather Bold" pitchFamily="34" charset="-120"/>
              </a:rPr>
              <a:t>Challenges with Manual Visitor Management</a:t>
            </a:r>
            <a:endParaRPr lang="en-US" sz="2000">
              <a:latin typeface="Century Gothic" panose="020B0502020202020204" pitchFamily="34" charset="0"/>
            </a:endParaRPr>
          </a:p>
        </p:txBody>
      </p:sp>
      <p:sp>
        <p:nvSpPr>
          <p:cNvPr id="4" name="Shape 1"/>
          <p:cNvSpPr/>
          <p:nvPr/>
        </p:nvSpPr>
        <p:spPr>
          <a:xfrm>
            <a:off x="606524" y="1728034"/>
            <a:ext cx="6406952" cy="1011039"/>
          </a:xfrm>
          <a:prstGeom prst="roundRect">
            <a:avLst>
              <a:gd name="adj" fmla="val 7199"/>
            </a:avLst>
          </a:prstGeom>
          <a:solidFill>
            <a:schemeClr val="bg1">
              <a:lumMod val="75000"/>
              <a:alpha val="25000"/>
            </a:schemeClr>
          </a:solidFill>
          <a:ln w="7620">
            <a:noFill/>
            <a:prstDash val="solid"/>
          </a:ln>
        </p:spPr>
        <p:txBody>
          <a:bodyPr/>
          <a:lstStyle/>
          <a:p>
            <a:endParaRPr lang="en-NG" sz="1500">
              <a:latin typeface="Century Gothic" panose="020B0502020202020204" pitchFamily="34" charset="0"/>
            </a:endParaRPr>
          </a:p>
        </p:txBody>
      </p:sp>
      <p:sp>
        <p:nvSpPr>
          <p:cNvPr id="5" name="Text 2"/>
          <p:cNvSpPr/>
          <p:nvPr/>
        </p:nvSpPr>
        <p:spPr>
          <a:xfrm>
            <a:off x="786110" y="1907619"/>
            <a:ext cx="2166143" cy="270668"/>
          </a:xfrm>
          <a:prstGeom prst="rect">
            <a:avLst/>
          </a:prstGeom>
          <a:noFill/>
          <a:ln>
            <a:noFill/>
          </a:ln>
        </p:spPr>
        <p:txBody>
          <a:bodyPr wrap="none" lIns="0" tIns="0" rIns="0" bIns="0" rtlCol="0" anchor="t"/>
          <a:lstStyle/>
          <a:p>
            <a:pPr>
              <a:lnSpc>
                <a:spcPts val="2125"/>
              </a:lnSpc>
            </a:pPr>
            <a:r>
              <a:rPr lang="en-US" sz="1667" b="1">
                <a:solidFill>
                  <a:srgbClr val="403C4E"/>
                </a:solidFill>
                <a:latin typeface="Century Gothic" panose="020B0502020202020204" pitchFamily="34" charset="0"/>
                <a:ea typeface="Merriweather Bold" pitchFamily="34" charset="-122"/>
                <a:cs typeface="Merriweather Bold" pitchFamily="34" charset="-120"/>
              </a:rPr>
              <a:t>Manual Logs</a:t>
            </a:r>
            <a:endParaRPr lang="en-US" sz="1667">
              <a:latin typeface="Century Gothic" panose="020B0502020202020204" pitchFamily="34" charset="0"/>
            </a:endParaRPr>
          </a:p>
        </p:txBody>
      </p:sp>
      <p:sp>
        <p:nvSpPr>
          <p:cNvPr id="6" name="Text 3"/>
          <p:cNvSpPr/>
          <p:nvPr/>
        </p:nvSpPr>
        <p:spPr>
          <a:xfrm>
            <a:off x="786110" y="2282170"/>
            <a:ext cx="6047780" cy="277317"/>
          </a:xfrm>
          <a:prstGeom prst="rect">
            <a:avLst/>
          </a:prstGeom>
          <a:noFill/>
          <a:ln>
            <a:noFill/>
          </a:ln>
        </p:spPr>
        <p:txBody>
          <a:bodyPr wrap="none" lIns="0" tIns="0" rIns="0" bIns="0" rtlCol="0" anchor="t"/>
          <a:lstStyle/>
          <a:p>
            <a:pPr>
              <a:lnSpc>
                <a:spcPts val="2167"/>
              </a:lnSpc>
            </a:pPr>
            <a:r>
              <a:rPr lang="en-US" sz="1333">
                <a:solidFill>
                  <a:srgbClr val="403C4E"/>
                </a:solidFill>
                <a:latin typeface="Century Gothic" panose="020B0502020202020204" pitchFamily="34" charset="0"/>
                <a:ea typeface="Open Sans" pitchFamily="34" charset="-122"/>
                <a:cs typeface="Open Sans" pitchFamily="34" charset="-120"/>
              </a:rPr>
              <a:t>Unstructured and paper-based visitor records</a:t>
            </a:r>
            <a:endParaRPr lang="en-US" sz="1333">
              <a:latin typeface="Century Gothic" panose="020B0502020202020204" pitchFamily="34" charset="0"/>
            </a:endParaRPr>
          </a:p>
        </p:txBody>
      </p:sp>
      <p:sp>
        <p:nvSpPr>
          <p:cNvPr id="7" name="Shape 4"/>
          <p:cNvSpPr/>
          <p:nvPr/>
        </p:nvSpPr>
        <p:spPr>
          <a:xfrm>
            <a:off x="606524" y="2912309"/>
            <a:ext cx="6406952" cy="1011039"/>
          </a:xfrm>
          <a:prstGeom prst="roundRect">
            <a:avLst>
              <a:gd name="adj" fmla="val 7199"/>
            </a:avLst>
          </a:prstGeom>
          <a:solidFill>
            <a:schemeClr val="bg1">
              <a:lumMod val="75000"/>
              <a:alpha val="25000"/>
            </a:schemeClr>
          </a:solidFill>
          <a:ln w="7620">
            <a:noFill/>
            <a:prstDash val="solid"/>
          </a:ln>
        </p:spPr>
        <p:txBody>
          <a:bodyPr/>
          <a:lstStyle/>
          <a:p>
            <a:endParaRPr lang="en-NG" sz="1500">
              <a:latin typeface="Century Gothic" panose="020B0502020202020204" pitchFamily="34" charset="0"/>
            </a:endParaRPr>
          </a:p>
        </p:txBody>
      </p:sp>
      <p:sp>
        <p:nvSpPr>
          <p:cNvPr id="8" name="Text 5"/>
          <p:cNvSpPr/>
          <p:nvPr/>
        </p:nvSpPr>
        <p:spPr>
          <a:xfrm>
            <a:off x="786110" y="3091894"/>
            <a:ext cx="2166143" cy="270668"/>
          </a:xfrm>
          <a:prstGeom prst="rect">
            <a:avLst/>
          </a:prstGeom>
          <a:noFill/>
          <a:ln>
            <a:noFill/>
          </a:ln>
        </p:spPr>
        <p:txBody>
          <a:bodyPr wrap="none" lIns="0" tIns="0" rIns="0" bIns="0" rtlCol="0" anchor="t"/>
          <a:lstStyle/>
          <a:p>
            <a:pPr>
              <a:lnSpc>
                <a:spcPts val="2125"/>
              </a:lnSpc>
            </a:pPr>
            <a:r>
              <a:rPr lang="en-US" sz="1667" b="1">
                <a:solidFill>
                  <a:srgbClr val="403C4E"/>
                </a:solidFill>
                <a:latin typeface="Century Gothic" panose="020B0502020202020204" pitchFamily="34" charset="0"/>
                <a:ea typeface="Merriweather Bold" pitchFamily="34" charset="-122"/>
                <a:cs typeface="Merriweather Bold" pitchFamily="34" charset="-120"/>
              </a:rPr>
              <a:t>Delays</a:t>
            </a:r>
            <a:endParaRPr lang="en-US" sz="1667">
              <a:latin typeface="Century Gothic" panose="020B0502020202020204" pitchFamily="34" charset="0"/>
            </a:endParaRPr>
          </a:p>
        </p:txBody>
      </p:sp>
      <p:sp>
        <p:nvSpPr>
          <p:cNvPr id="9" name="Text 6"/>
          <p:cNvSpPr/>
          <p:nvPr/>
        </p:nvSpPr>
        <p:spPr>
          <a:xfrm>
            <a:off x="786110" y="3466445"/>
            <a:ext cx="6047780" cy="277317"/>
          </a:xfrm>
          <a:prstGeom prst="rect">
            <a:avLst/>
          </a:prstGeom>
          <a:noFill/>
          <a:ln>
            <a:noFill/>
          </a:ln>
        </p:spPr>
        <p:txBody>
          <a:bodyPr wrap="none" lIns="0" tIns="0" rIns="0" bIns="0" rtlCol="0" anchor="t"/>
          <a:lstStyle/>
          <a:p>
            <a:pPr>
              <a:lnSpc>
                <a:spcPts val="2167"/>
              </a:lnSpc>
            </a:pPr>
            <a:r>
              <a:rPr lang="en-US" sz="1333">
                <a:solidFill>
                  <a:srgbClr val="403C4E"/>
                </a:solidFill>
                <a:latin typeface="Century Gothic" panose="020B0502020202020204" pitchFamily="34" charset="0"/>
                <a:ea typeface="Open Sans" pitchFamily="34" charset="-122"/>
                <a:cs typeface="Open Sans" pitchFamily="34" charset="-120"/>
              </a:rPr>
              <a:t>Slow host notifications and check-ins</a:t>
            </a:r>
            <a:endParaRPr lang="en-US" sz="1333">
              <a:latin typeface="Century Gothic" panose="020B0502020202020204" pitchFamily="34" charset="0"/>
            </a:endParaRPr>
          </a:p>
        </p:txBody>
      </p:sp>
      <p:sp>
        <p:nvSpPr>
          <p:cNvPr id="10" name="Shape 7"/>
          <p:cNvSpPr/>
          <p:nvPr/>
        </p:nvSpPr>
        <p:spPr>
          <a:xfrm>
            <a:off x="606524" y="4096584"/>
            <a:ext cx="6406952" cy="1011039"/>
          </a:xfrm>
          <a:prstGeom prst="roundRect">
            <a:avLst>
              <a:gd name="adj" fmla="val 7199"/>
            </a:avLst>
          </a:prstGeom>
          <a:solidFill>
            <a:schemeClr val="bg1">
              <a:lumMod val="75000"/>
              <a:alpha val="25000"/>
            </a:schemeClr>
          </a:solidFill>
          <a:ln w="7620">
            <a:noFill/>
            <a:prstDash val="solid"/>
          </a:ln>
        </p:spPr>
        <p:txBody>
          <a:bodyPr/>
          <a:lstStyle/>
          <a:p>
            <a:endParaRPr lang="en-NG" sz="1500">
              <a:latin typeface="Century Gothic" panose="020B0502020202020204" pitchFamily="34" charset="0"/>
            </a:endParaRPr>
          </a:p>
        </p:txBody>
      </p:sp>
      <p:sp>
        <p:nvSpPr>
          <p:cNvPr id="11" name="Text 8"/>
          <p:cNvSpPr/>
          <p:nvPr/>
        </p:nvSpPr>
        <p:spPr>
          <a:xfrm>
            <a:off x="786110" y="4276169"/>
            <a:ext cx="2166143" cy="270668"/>
          </a:xfrm>
          <a:prstGeom prst="rect">
            <a:avLst/>
          </a:prstGeom>
          <a:noFill/>
          <a:ln>
            <a:noFill/>
          </a:ln>
        </p:spPr>
        <p:txBody>
          <a:bodyPr wrap="none" lIns="0" tIns="0" rIns="0" bIns="0" rtlCol="0" anchor="t"/>
          <a:lstStyle/>
          <a:p>
            <a:pPr>
              <a:lnSpc>
                <a:spcPts val="2125"/>
              </a:lnSpc>
            </a:pPr>
            <a:r>
              <a:rPr lang="en-US" sz="1667" b="1">
                <a:solidFill>
                  <a:srgbClr val="403C4E"/>
                </a:solidFill>
                <a:latin typeface="Century Gothic" panose="020B0502020202020204" pitchFamily="34" charset="0"/>
                <a:ea typeface="Merriweather Bold" pitchFamily="34" charset="-122"/>
                <a:cs typeface="Merriweather Bold" pitchFamily="34" charset="-120"/>
              </a:rPr>
              <a:t>Limited Visibility</a:t>
            </a:r>
            <a:endParaRPr lang="en-US" sz="1667">
              <a:latin typeface="Century Gothic" panose="020B0502020202020204" pitchFamily="34" charset="0"/>
            </a:endParaRPr>
          </a:p>
        </p:txBody>
      </p:sp>
      <p:sp>
        <p:nvSpPr>
          <p:cNvPr id="12" name="Text 9"/>
          <p:cNvSpPr/>
          <p:nvPr/>
        </p:nvSpPr>
        <p:spPr>
          <a:xfrm>
            <a:off x="786110" y="4650720"/>
            <a:ext cx="6047780" cy="277317"/>
          </a:xfrm>
          <a:prstGeom prst="rect">
            <a:avLst/>
          </a:prstGeom>
          <a:noFill/>
          <a:ln>
            <a:noFill/>
          </a:ln>
        </p:spPr>
        <p:txBody>
          <a:bodyPr wrap="none" lIns="0" tIns="0" rIns="0" bIns="0" rtlCol="0" anchor="t"/>
          <a:lstStyle/>
          <a:p>
            <a:pPr>
              <a:lnSpc>
                <a:spcPts val="2167"/>
              </a:lnSpc>
            </a:pPr>
            <a:r>
              <a:rPr lang="en-US" sz="1333">
                <a:solidFill>
                  <a:srgbClr val="403C4E"/>
                </a:solidFill>
                <a:latin typeface="Century Gothic" panose="020B0502020202020204" pitchFamily="34" charset="0"/>
                <a:ea typeface="Open Sans" pitchFamily="34" charset="-122"/>
                <a:cs typeface="Open Sans" pitchFamily="34" charset="-120"/>
              </a:rPr>
              <a:t>Reception staff lacks real-time data</a:t>
            </a:r>
            <a:endParaRPr lang="en-US" sz="1333">
              <a:latin typeface="Century Gothic" panose="020B0502020202020204" pitchFamily="34" charset="0"/>
            </a:endParaRPr>
          </a:p>
        </p:txBody>
      </p:sp>
      <p:sp>
        <p:nvSpPr>
          <p:cNvPr id="13" name="Shape 10"/>
          <p:cNvSpPr/>
          <p:nvPr/>
        </p:nvSpPr>
        <p:spPr>
          <a:xfrm>
            <a:off x="606524" y="5280859"/>
            <a:ext cx="6406952" cy="1011039"/>
          </a:xfrm>
          <a:prstGeom prst="roundRect">
            <a:avLst>
              <a:gd name="adj" fmla="val 7199"/>
            </a:avLst>
          </a:prstGeom>
          <a:solidFill>
            <a:schemeClr val="bg1">
              <a:lumMod val="75000"/>
              <a:alpha val="25000"/>
            </a:schemeClr>
          </a:solidFill>
          <a:ln w="7620">
            <a:noFill/>
            <a:prstDash val="solid"/>
          </a:ln>
        </p:spPr>
        <p:txBody>
          <a:bodyPr/>
          <a:lstStyle/>
          <a:p>
            <a:endParaRPr lang="en-NG" sz="1500">
              <a:latin typeface="Century Gothic" panose="020B0502020202020204" pitchFamily="34" charset="0"/>
            </a:endParaRPr>
          </a:p>
        </p:txBody>
      </p:sp>
      <p:sp>
        <p:nvSpPr>
          <p:cNvPr id="14" name="Text 11"/>
          <p:cNvSpPr/>
          <p:nvPr/>
        </p:nvSpPr>
        <p:spPr>
          <a:xfrm>
            <a:off x="786110" y="5460444"/>
            <a:ext cx="2166143" cy="270668"/>
          </a:xfrm>
          <a:prstGeom prst="rect">
            <a:avLst/>
          </a:prstGeom>
          <a:noFill/>
          <a:ln>
            <a:noFill/>
          </a:ln>
        </p:spPr>
        <p:txBody>
          <a:bodyPr wrap="none" lIns="0" tIns="0" rIns="0" bIns="0" rtlCol="0" anchor="t"/>
          <a:lstStyle/>
          <a:p>
            <a:pPr>
              <a:lnSpc>
                <a:spcPts val="2125"/>
              </a:lnSpc>
            </a:pPr>
            <a:r>
              <a:rPr lang="en-US" sz="1667" b="1">
                <a:solidFill>
                  <a:srgbClr val="403C4E"/>
                </a:solidFill>
                <a:latin typeface="Century Gothic" panose="020B0502020202020204" pitchFamily="34" charset="0"/>
                <a:ea typeface="Merriweather Bold" pitchFamily="34" charset="-122"/>
                <a:cs typeface="Merriweather Bold" pitchFamily="34" charset="-120"/>
              </a:rPr>
              <a:t>Security Risks</a:t>
            </a:r>
            <a:endParaRPr lang="en-US" sz="1667">
              <a:latin typeface="Century Gothic" panose="020B0502020202020204" pitchFamily="34" charset="0"/>
            </a:endParaRPr>
          </a:p>
        </p:txBody>
      </p:sp>
      <p:sp>
        <p:nvSpPr>
          <p:cNvPr id="15" name="Text 12"/>
          <p:cNvSpPr/>
          <p:nvPr/>
        </p:nvSpPr>
        <p:spPr>
          <a:xfrm>
            <a:off x="786110" y="5834995"/>
            <a:ext cx="6047780" cy="277317"/>
          </a:xfrm>
          <a:prstGeom prst="rect">
            <a:avLst/>
          </a:prstGeom>
          <a:noFill/>
          <a:ln>
            <a:noFill/>
          </a:ln>
        </p:spPr>
        <p:txBody>
          <a:bodyPr wrap="none" lIns="0" tIns="0" rIns="0" bIns="0" rtlCol="0" anchor="t"/>
          <a:lstStyle/>
          <a:p>
            <a:pPr>
              <a:lnSpc>
                <a:spcPts val="2167"/>
              </a:lnSpc>
            </a:pPr>
            <a:r>
              <a:rPr lang="en-US" sz="1333">
                <a:solidFill>
                  <a:srgbClr val="403C4E"/>
                </a:solidFill>
                <a:latin typeface="Century Gothic" panose="020B0502020202020204" pitchFamily="34" charset="0"/>
                <a:ea typeface="Open Sans" pitchFamily="34" charset="-122"/>
                <a:cs typeface="Open Sans" pitchFamily="34" charset="-120"/>
              </a:rPr>
              <a:t>Poor audit capabilities, poor visitor control</a:t>
            </a:r>
            <a:endParaRPr lang="en-US" sz="1333">
              <a:latin typeface="Century Gothic" panose="020B0502020202020204" pitchFamily="34" charset="0"/>
            </a:endParaRPr>
          </a:p>
        </p:txBody>
      </p:sp>
      <p:pic>
        <p:nvPicPr>
          <p:cNvPr id="16" name="Picture 15">
            <a:extLst>
              <a:ext uri="{FF2B5EF4-FFF2-40B4-BE49-F238E27FC236}">
                <a16:creationId xmlns:a16="http://schemas.microsoft.com/office/drawing/2014/main" id="{DF895F3E-3CB0-1967-329D-4B0A7BE5FC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7" name="object 2">
            <a:extLst>
              <a:ext uri="{FF2B5EF4-FFF2-40B4-BE49-F238E27FC236}">
                <a16:creationId xmlns:a16="http://schemas.microsoft.com/office/drawing/2014/main" id="{CC38D758-A5F3-9F9A-15C6-A140F614D84B}"/>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5781" y="854824"/>
            <a:ext cx="4725492" cy="590649"/>
          </a:xfrm>
          <a:prstGeom prst="rect">
            <a:avLst/>
          </a:prstGeom>
          <a:noFill/>
          <a:ln/>
        </p:spPr>
        <p:txBody>
          <a:bodyPr wrap="none" lIns="0" tIns="0" rIns="0" bIns="0" rtlCol="0" anchor="t"/>
          <a:lstStyle/>
          <a:p>
            <a:pPr>
              <a:lnSpc>
                <a:spcPts val="4625"/>
              </a:lnSpc>
            </a:pPr>
            <a:r>
              <a:rPr lang="en-US" sz="3200" b="1" err="1">
                <a:solidFill>
                  <a:srgbClr val="403C4E"/>
                </a:solidFill>
                <a:latin typeface="Century Gothic" panose="020B0502020202020204" pitchFamily="34" charset="0"/>
                <a:ea typeface="Merriweather Bold" pitchFamily="34" charset="-122"/>
                <a:cs typeface="Merriweather Bold" pitchFamily="34" charset="-120"/>
              </a:rPr>
              <a:t>VisitUs</a:t>
            </a:r>
            <a:r>
              <a:rPr lang="en-US" sz="3200" b="1">
                <a:solidFill>
                  <a:srgbClr val="403C4E"/>
                </a:solidFill>
                <a:latin typeface="Century Gothic" panose="020B0502020202020204" pitchFamily="34" charset="0"/>
                <a:ea typeface="Merriweather Bold" pitchFamily="34" charset="-122"/>
                <a:cs typeface="Merriweather Bold" pitchFamily="34" charset="-120"/>
              </a:rPr>
              <a:t>’ Features</a:t>
            </a:r>
            <a:endParaRPr lang="en-US" sz="3200">
              <a:latin typeface="Century Gothic" panose="020B0502020202020204" pitchFamily="34" charset="0"/>
            </a:endParaRPr>
          </a:p>
        </p:txBody>
      </p:sp>
      <p:sp>
        <p:nvSpPr>
          <p:cNvPr id="3" name="Text 1"/>
          <p:cNvSpPr/>
          <p:nvPr/>
        </p:nvSpPr>
        <p:spPr>
          <a:xfrm>
            <a:off x="655781" y="1917952"/>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Pre-Booking</a:t>
            </a:r>
            <a:endParaRPr lang="en-US" sz="1833">
              <a:latin typeface="Century Gothic" panose="020B0502020202020204" pitchFamily="34" charset="0"/>
            </a:endParaRPr>
          </a:p>
        </p:txBody>
      </p:sp>
      <p:sp>
        <p:nvSpPr>
          <p:cNvPr id="4" name="Text 2"/>
          <p:cNvSpPr/>
          <p:nvPr/>
        </p:nvSpPr>
        <p:spPr>
          <a:xfrm>
            <a:off x="655781" y="2402239"/>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Staff/Enterprises schedule visits conveniently ahead</a:t>
            </a:r>
            <a:endParaRPr lang="en-US" sz="1458">
              <a:latin typeface="Century Gothic" panose="020B0502020202020204" pitchFamily="34" charset="0"/>
            </a:endParaRPr>
          </a:p>
        </p:txBody>
      </p:sp>
      <p:sp>
        <p:nvSpPr>
          <p:cNvPr id="5" name="Text 3"/>
          <p:cNvSpPr/>
          <p:nvPr/>
        </p:nvSpPr>
        <p:spPr>
          <a:xfrm>
            <a:off x="3494628" y="1917952"/>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Seamless Check-In</a:t>
            </a:r>
            <a:endParaRPr lang="en-US" sz="1833">
              <a:latin typeface="Century Gothic" panose="020B0502020202020204" pitchFamily="34" charset="0"/>
            </a:endParaRPr>
          </a:p>
        </p:txBody>
      </p:sp>
      <p:sp>
        <p:nvSpPr>
          <p:cNvPr id="6" name="Text 4"/>
          <p:cNvSpPr/>
          <p:nvPr/>
        </p:nvSpPr>
        <p:spPr>
          <a:xfrm>
            <a:off x="3494628" y="2402239"/>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Support for walk-ins and appointments</a:t>
            </a:r>
            <a:endParaRPr lang="en-US" sz="1458">
              <a:latin typeface="Century Gothic" panose="020B0502020202020204" pitchFamily="34" charset="0"/>
            </a:endParaRPr>
          </a:p>
        </p:txBody>
      </p:sp>
      <p:sp>
        <p:nvSpPr>
          <p:cNvPr id="7" name="Text 5"/>
          <p:cNvSpPr/>
          <p:nvPr/>
        </p:nvSpPr>
        <p:spPr>
          <a:xfrm>
            <a:off x="673045" y="3788579"/>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Real-time Tracking</a:t>
            </a:r>
            <a:endParaRPr lang="en-US" sz="1833">
              <a:latin typeface="Century Gothic" panose="020B0502020202020204" pitchFamily="34" charset="0"/>
            </a:endParaRPr>
          </a:p>
        </p:txBody>
      </p:sp>
      <p:sp>
        <p:nvSpPr>
          <p:cNvPr id="8" name="Text 6"/>
          <p:cNvSpPr/>
          <p:nvPr/>
        </p:nvSpPr>
        <p:spPr>
          <a:xfrm>
            <a:off x="673045" y="4272866"/>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Visibility via visitor dashboards</a:t>
            </a:r>
            <a:endParaRPr lang="en-US" sz="1458">
              <a:latin typeface="Century Gothic" panose="020B0502020202020204" pitchFamily="34" charset="0"/>
            </a:endParaRPr>
          </a:p>
        </p:txBody>
      </p:sp>
      <p:sp>
        <p:nvSpPr>
          <p:cNvPr id="9" name="Text 7"/>
          <p:cNvSpPr/>
          <p:nvPr/>
        </p:nvSpPr>
        <p:spPr>
          <a:xfrm>
            <a:off x="3511892" y="3788579"/>
            <a:ext cx="2371328" cy="590550"/>
          </a:xfrm>
          <a:prstGeom prst="rect">
            <a:avLst/>
          </a:prstGeom>
          <a:noFill/>
          <a:ln/>
        </p:spPr>
        <p:txBody>
          <a:bodyPr wrap="squar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Instant Communication</a:t>
            </a:r>
            <a:endParaRPr lang="en-US" sz="1833">
              <a:latin typeface="Century Gothic" panose="020B0502020202020204" pitchFamily="34" charset="0"/>
            </a:endParaRPr>
          </a:p>
        </p:txBody>
      </p:sp>
      <p:sp>
        <p:nvSpPr>
          <p:cNvPr id="10" name="Text 8"/>
          <p:cNvSpPr/>
          <p:nvPr/>
        </p:nvSpPr>
        <p:spPr>
          <a:xfrm>
            <a:off x="3511892" y="4568141"/>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Effortless visitor-host messaging</a:t>
            </a:r>
            <a:endParaRPr lang="en-US" sz="1458">
              <a:latin typeface="Century Gothic" panose="020B0502020202020204" pitchFamily="34" charset="0"/>
            </a:endParaRPr>
          </a:p>
        </p:txBody>
      </p:sp>
      <p:pic>
        <p:nvPicPr>
          <p:cNvPr id="11" name="Picture 10">
            <a:extLst>
              <a:ext uri="{FF2B5EF4-FFF2-40B4-BE49-F238E27FC236}">
                <a16:creationId xmlns:a16="http://schemas.microsoft.com/office/drawing/2014/main" id="{F582098D-882D-37DC-1C8A-94116F4C75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2" name="object 2">
            <a:extLst>
              <a:ext uri="{FF2B5EF4-FFF2-40B4-BE49-F238E27FC236}">
                <a16:creationId xmlns:a16="http://schemas.microsoft.com/office/drawing/2014/main" id="{C76AC34F-34AA-373D-EB88-D62C89F0C4C7}"/>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pic>
        <p:nvPicPr>
          <p:cNvPr id="13" name="Picture 12">
            <a:extLst>
              <a:ext uri="{FF2B5EF4-FFF2-40B4-BE49-F238E27FC236}">
                <a16:creationId xmlns:a16="http://schemas.microsoft.com/office/drawing/2014/main" id="{7E8E69ED-06F6-E83A-55FF-C2BFD3C10DCA}"/>
              </a:ext>
            </a:extLst>
          </p:cNvPr>
          <p:cNvPicPr>
            <a:picLocks noChangeAspect="1"/>
          </p:cNvPicPr>
          <p:nvPr/>
        </p:nvPicPr>
        <p:blipFill>
          <a:blip r:embed="rId4">
            <a:grayscl/>
          </a:blip>
          <a:srcRect t="11492" b="13464"/>
          <a:stretch>
            <a:fillRect/>
          </a:stretch>
        </p:blipFill>
        <p:spPr>
          <a:xfrm>
            <a:off x="6308782" y="1445473"/>
            <a:ext cx="5436785" cy="38654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2362696"/>
          </a:xfrm>
          <a:prstGeom prst="rect">
            <a:avLst/>
          </a:prstGeom>
        </p:spPr>
      </p:pic>
      <p:sp>
        <p:nvSpPr>
          <p:cNvPr id="3" name="Text 0"/>
          <p:cNvSpPr/>
          <p:nvPr/>
        </p:nvSpPr>
        <p:spPr>
          <a:xfrm>
            <a:off x="661492" y="2685654"/>
            <a:ext cx="4725492" cy="590649"/>
          </a:xfrm>
          <a:prstGeom prst="rect">
            <a:avLst/>
          </a:prstGeom>
          <a:noFill/>
          <a:ln/>
        </p:spPr>
        <p:txBody>
          <a:bodyPr wrap="none" lIns="0" tIns="0" rIns="0" bIns="0" rtlCol="0" anchor="t"/>
          <a:lstStyle/>
          <a:p>
            <a:pPr>
              <a:lnSpc>
                <a:spcPts val="4625"/>
              </a:lnSpc>
            </a:pPr>
            <a:r>
              <a:rPr lang="en-US" sz="2400" b="1" err="1">
                <a:solidFill>
                  <a:srgbClr val="403C4E"/>
                </a:solidFill>
                <a:latin typeface="Century Gothic" panose="020B0502020202020204" pitchFamily="34" charset="0"/>
                <a:ea typeface="Merriweather Bold" pitchFamily="34" charset="-122"/>
                <a:cs typeface="Merriweather Bold" pitchFamily="34" charset="-120"/>
              </a:rPr>
              <a:t>VisitUs</a:t>
            </a:r>
            <a:r>
              <a:rPr lang="en-US" sz="2400" b="1">
                <a:solidFill>
                  <a:srgbClr val="403C4E"/>
                </a:solidFill>
                <a:latin typeface="Century Gothic" panose="020B0502020202020204" pitchFamily="34" charset="0"/>
                <a:ea typeface="Merriweather Bold" pitchFamily="34" charset="-122"/>
                <a:cs typeface="Merriweather Bold" pitchFamily="34" charset="-120"/>
              </a:rPr>
              <a:t> in Action</a:t>
            </a:r>
            <a:endParaRPr lang="en-US" sz="2400">
              <a:latin typeface="Century Gothic" panose="020B0502020202020204" pitchFamily="34" charset="0"/>
            </a:endParaRPr>
          </a:p>
        </p:txBody>
      </p:sp>
      <p:sp>
        <p:nvSpPr>
          <p:cNvPr id="4" name="Shape 1"/>
          <p:cNvSpPr/>
          <p:nvPr/>
        </p:nvSpPr>
        <p:spPr>
          <a:xfrm>
            <a:off x="661492" y="3786386"/>
            <a:ext cx="3433961" cy="189012"/>
          </a:xfrm>
          <a:prstGeom prst="roundRect">
            <a:avLst>
              <a:gd name="adj" fmla="val 42003"/>
            </a:avLst>
          </a:prstGeom>
          <a:solidFill>
            <a:schemeClr val="bg1">
              <a:lumMod val="85000"/>
            </a:schemeClr>
          </a:solidFill>
          <a:ln w="7620">
            <a:solidFill>
              <a:schemeClr val="bg1">
                <a:lumMod val="85000"/>
              </a:schemeClr>
            </a:solidFill>
            <a:prstDash val="solid"/>
          </a:ln>
        </p:spPr>
        <p:txBody>
          <a:bodyPr/>
          <a:lstStyle/>
          <a:p>
            <a:endParaRPr lang="en-NG" sz="1500">
              <a:latin typeface="Century Gothic" panose="020B0502020202020204" pitchFamily="34" charset="0"/>
            </a:endParaRPr>
          </a:p>
        </p:txBody>
      </p:sp>
      <p:sp>
        <p:nvSpPr>
          <p:cNvPr id="5" name="Text 2"/>
          <p:cNvSpPr/>
          <p:nvPr/>
        </p:nvSpPr>
        <p:spPr>
          <a:xfrm>
            <a:off x="661492" y="4258866"/>
            <a:ext cx="2436118"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Visitor Entry Module</a:t>
            </a:r>
            <a:endParaRPr lang="en-US" sz="1833">
              <a:latin typeface="Century Gothic" panose="020B0502020202020204" pitchFamily="34" charset="0"/>
            </a:endParaRPr>
          </a:p>
        </p:txBody>
      </p:sp>
      <p:sp>
        <p:nvSpPr>
          <p:cNvPr id="6" name="Text 3"/>
          <p:cNvSpPr/>
          <p:nvPr/>
        </p:nvSpPr>
        <p:spPr>
          <a:xfrm>
            <a:off x="661492" y="4667548"/>
            <a:ext cx="3433961"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Walk-in form with photo capture</a:t>
            </a:r>
            <a:endParaRPr lang="en-US" sz="1458">
              <a:latin typeface="Century Gothic" panose="020B0502020202020204" pitchFamily="34" charset="0"/>
            </a:endParaRPr>
          </a:p>
        </p:txBody>
      </p:sp>
      <p:sp>
        <p:nvSpPr>
          <p:cNvPr id="7" name="Text 4"/>
          <p:cNvSpPr/>
          <p:nvPr/>
        </p:nvSpPr>
        <p:spPr>
          <a:xfrm>
            <a:off x="661492" y="5036046"/>
            <a:ext cx="3433961"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Automatic host email notification</a:t>
            </a:r>
            <a:endParaRPr lang="en-US" sz="1458">
              <a:latin typeface="Century Gothic" panose="020B0502020202020204" pitchFamily="34" charset="0"/>
            </a:endParaRPr>
          </a:p>
        </p:txBody>
      </p:sp>
      <p:sp>
        <p:nvSpPr>
          <p:cNvPr id="8" name="Text 5"/>
          <p:cNvSpPr/>
          <p:nvPr/>
        </p:nvSpPr>
        <p:spPr>
          <a:xfrm>
            <a:off x="661492" y="5404545"/>
            <a:ext cx="3433961"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Digital visitor record created</a:t>
            </a:r>
            <a:endParaRPr lang="en-US" sz="1458">
              <a:latin typeface="Century Gothic" panose="020B0502020202020204" pitchFamily="34" charset="0"/>
            </a:endParaRPr>
          </a:p>
        </p:txBody>
      </p:sp>
      <p:sp>
        <p:nvSpPr>
          <p:cNvPr id="9" name="Shape 6"/>
          <p:cNvSpPr/>
          <p:nvPr/>
        </p:nvSpPr>
        <p:spPr>
          <a:xfrm>
            <a:off x="4378920" y="3502819"/>
            <a:ext cx="3434060" cy="189012"/>
          </a:xfrm>
          <a:prstGeom prst="roundRect">
            <a:avLst>
              <a:gd name="adj" fmla="val 42003"/>
            </a:avLst>
          </a:prstGeom>
          <a:solidFill>
            <a:schemeClr val="bg1">
              <a:lumMod val="85000"/>
            </a:schemeClr>
          </a:solidFill>
          <a:ln w="7620">
            <a:solidFill>
              <a:schemeClr val="bg1">
                <a:lumMod val="85000"/>
              </a:schemeClr>
            </a:solidFill>
            <a:prstDash val="solid"/>
          </a:ln>
        </p:spPr>
        <p:txBody>
          <a:bodyPr/>
          <a:lstStyle/>
          <a:p>
            <a:endParaRPr lang="en-NG" sz="1500">
              <a:latin typeface="Century Gothic" panose="020B0502020202020204" pitchFamily="34" charset="0"/>
            </a:endParaRPr>
          </a:p>
        </p:txBody>
      </p:sp>
      <p:sp>
        <p:nvSpPr>
          <p:cNvPr id="10" name="Text 7"/>
          <p:cNvSpPr/>
          <p:nvPr/>
        </p:nvSpPr>
        <p:spPr>
          <a:xfrm>
            <a:off x="4378920" y="3975298"/>
            <a:ext cx="255071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Staff Booking Module</a:t>
            </a:r>
            <a:endParaRPr lang="en-US" sz="1833">
              <a:latin typeface="Century Gothic" panose="020B0502020202020204" pitchFamily="34" charset="0"/>
            </a:endParaRPr>
          </a:p>
        </p:txBody>
      </p:sp>
      <p:sp>
        <p:nvSpPr>
          <p:cNvPr id="11" name="Text 8"/>
          <p:cNvSpPr/>
          <p:nvPr/>
        </p:nvSpPr>
        <p:spPr>
          <a:xfrm>
            <a:off x="4378920" y="4383981"/>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Advance scheduling form</a:t>
            </a:r>
            <a:endParaRPr lang="en-US" sz="1458">
              <a:latin typeface="Century Gothic" panose="020B0502020202020204" pitchFamily="34" charset="0"/>
            </a:endParaRPr>
          </a:p>
        </p:txBody>
      </p:sp>
      <p:sp>
        <p:nvSpPr>
          <p:cNvPr id="12" name="Text 9"/>
          <p:cNvSpPr/>
          <p:nvPr/>
        </p:nvSpPr>
        <p:spPr>
          <a:xfrm>
            <a:off x="4378920" y="4752480"/>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Email alerts to visitor &amp; receptionist</a:t>
            </a:r>
            <a:endParaRPr lang="en-US" sz="1458">
              <a:latin typeface="Century Gothic" panose="020B0502020202020204" pitchFamily="34" charset="0"/>
            </a:endParaRPr>
          </a:p>
        </p:txBody>
      </p:sp>
      <p:sp>
        <p:nvSpPr>
          <p:cNvPr id="13" name="Text 10"/>
          <p:cNvSpPr/>
          <p:nvPr/>
        </p:nvSpPr>
        <p:spPr>
          <a:xfrm>
            <a:off x="4378920" y="5120978"/>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Quick arrival check-in</a:t>
            </a:r>
            <a:endParaRPr lang="en-US" sz="1458">
              <a:latin typeface="Century Gothic" panose="020B0502020202020204" pitchFamily="34" charset="0"/>
            </a:endParaRPr>
          </a:p>
        </p:txBody>
      </p:sp>
      <p:sp>
        <p:nvSpPr>
          <p:cNvPr id="14" name="Shape 11"/>
          <p:cNvSpPr/>
          <p:nvPr/>
        </p:nvSpPr>
        <p:spPr>
          <a:xfrm>
            <a:off x="8096448" y="3219351"/>
            <a:ext cx="3434060" cy="189012"/>
          </a:xfrm>
          <a:prstGeom prst="roundRect">
            <a:avLst>
              <a:gd name="adj" fmla="val 42003"/>
            </a:avLst>
          </a:prstGeom>
          <a:solidFill>
            <a:schemeClr val="bg1">
              <a:lumMod val="85000"/>
            </a:schemeClr>
          </a:solidFill>
          <a:ln w="7620">
            <a:solidFill>
              <a:schemeClr val="bg1">
                <a:lumMod val="85000"/>
              </a:schemeClr>
            </a:solidFill>
            <a:prstDash val="solid"/>
          </a:ln>
        </p:spPr>
        <p:txBody>
          <a:bodyPr/>
          <a:lstStyle/>
          <a:p>
            <a:endParaRPr lang="en-NG" sz="1500">
              <a:latin typeface="Century Gothic" panose="020B0502020202020204" pitchFamily="34" charset="0"/>
            </a:endParaRPr>
          </a:p>
        </p:txBody>
      </p:sp>
      <p:sp>
        <p:nvSpPr>
          <p:cNvPr id="15" name="Text 12"/>
          <p:cNvSpPr/>
          <p:nvPr/>
        </p:nvSpPr>
        <p:spPr>
          <a:xfrm>
            <a:off x="8096449" y="3691831"/>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Visitor Directory</a:t>
            </a:r>
            <a:endParaRPr lang="en-US" sz="1833">
              <a:latin typeface="Century Gothic" panose="020B0502020202020204" pitchFamily="34" charset="0"/>
            </a:endParaRPr>
          </a:p>
        </p:txBody>
      </p:sp>
      <p:sp>
        <p:nvSpPr>
          <p:cNvPr id="16" name="Text 13"/>
          <p:cNvSpPr/>
          <p:nvPr/>
        </p:nvSpPr>
        <p:spPr>
          <a:xfrm>
            <a:off x="8096448" y="4100513"/>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Real-time dashboard overview</a:t>
            </a:r>
            <a:endParaRPr lang="en-US" sz="1458">
              <a:latin typeface="Century Gothic" panose="020B0502020202020204" pitchFamily="34" charset="0"/>
            </a:endParaRPr>
          </a:p>
        </p:txBody>
      </p:sp>
      <p:sp>
        <p:nvSpPr>
          <p:cNvPr id="17" name="Text 14"/>
          <p:cNvSpPr/>
          <p:nvPr/>
        </p:nvSpPr>
        <p:spPr>
          <a:xfrm>
            <a:off x="8096448" y="4469011"/>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Check-in/out tracking</a:t>
            </a:r>
            <a:endParaRPr lang="en-US" sz="1458">
              <a:latin typeface="Century Gothic" panose="020B0502020202020204" pitchFamily="34" charset="0"/>
            </a:endParaRPr>
          </a:p>
        </p:txBody>
      </p:sp>
      <p:sp>
        <p:nvSpPr>
          <p:cNvPr id="18" name="Text 15"/>
          <p:cNvSpPr/>
          <p:nvPr/>
        </p:nvSpPr>
        <p:spPr>
          <a:xfrm>
            <a:off x="8096448" y="4837510"/>
            <a:ext cx="3434060"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403C4E"/>
                </a:solidFill>
                <a:latin typeface="Century Gothic" panose="020B0502020202020204" pitchFamily="34" charset="0"/>
                <a:ea typeface="Open Sans" pitchFamily="34" charset="-122"/>
                <a:cs typeface="Open Sans" pitchFamily="34" charset="-120"/>
              </a:rPr>
              <a:t>Filter by name, time, status</a:t>
            </a:r>
            <a:endParaRPr lang="en-US" sz="1458">
              <a:latin typeface="Century Gothic" panose="020B0502020202020204" pitchFamily="34" charset="0"/>
            </a:endParaRPr>
          </a:p>
        </p:txBody>
      </p:sp>
      <p:pic>
        <p:nvPicPr>
          <p:cNvPr id="19" name="Picture 18">
            <a:extLst>
              <a:ext uri="{FF2B5EF4-FFF2-40B4-BE49-F238E27FC236}">
                <a16:creationId xmlns:a16="http://schemas.microsoft.com/office/drawing/2014/main" id="{CDA143C8-1C74-F8B8-C8F8-AC63E2596F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20" name="object 2">
            <a:extLst>
              <a:ext uri="{FF2B5EF4-FFF2-40B4-BE49-F238E27FC236}">
                <a16:creationId xmlns:a16="http://schemas.microsoft.com/office/drawing/2014/main" id="{939E5C8F-C9EF-C388-C1CE-F4A72567A559}"/>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CF2FB-A7A9-C618-8CB2-D45C32D4DFF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533EBD6-A70F-E3D7-D2D2-12A59F3959D3}"/>
              </a:ext>
            </a:extLst>
          </p:cNvPr>
          <p:cNvSpPr/>
          <p:nvPr/>
        </p:nvSpPr>
        <p:spPr>
          <a:xfrm>
            <a:off x="655781" y="682381"/>
            <a:ext cx="4725492" cy="590649"/>
          </a:xfrm>
          <a:prstGeom prst="rect">
            <a:avLst/>
          </a:prstGeom>
          <a:noFill/>
          <a:ln/>
        </p:spPr>
        <p:txBody>
          <a:bodyPr wrap="none" lIns="0" tIns="0" rIns="0" bIns="0" rtlCol="0" anchor="t"/>
          <a:lstStyle/>
          <a:p>
            <a:pPr>
              <a:lnSpc>
                <a:spcPts val="4625"/>
              </a:lnSpc>
            </a:pPr>
            <a:r>
              <a:rPr lang="en-US" sz="2800" b="1">
                <a:solidFill>
                  <a:srgbClr val="403C4E"/>
                </a:solidFill>
                <a:latin typeface="Century Gothic" panose="020B0502020202020204" pitchFamily="34" charset="0"/>
                <a:ea typeface="Merriweather Bold" pitchFamily="34" charset="-122"/>
                <a:cs typeface="Merriweather Bold" pitchFamily="34" charset="-120"/>
              </a:rPr>
              <a:t>How it Works</a:t>
            </a:r>
            <a:endParaRPr lang="en-US" sz="2800">
              <a:latin typeface="Century Gothic" panose="020B0502020202020204" pitchFamily="34" charset="0"/>
            </a:endParaRPr>
          </a:p>
        </p:txBody>
      </p:sp>
      <p:pic>
        <p:nvPicPr>
          <p:cNvPr id="19" name="Picture 18">
            <a:extLst>
              <a:ext uri="{FF2B5EF4-FFF2-40B4-BE49-F238E27FC236}">
                <a16:creationId xmlns:a16="http://schemas.microsoft.com/office/drawing/2014/main" id="{3CA19368-FB1A-D268-8E72-407EA7460E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20" name="object 2">
            <a:extLst>
              <a:ext uri="{FF2B5EF4-FFF2-40B4-BE49-F238E27FC236}">
                <a16:creationId xmlns:a16="http://schemas.microsoft.com/office/drawing/2014/main" id="{035CEB9A-AE7C-B3FE-F704-8E3F062DDAA9}"/>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pic>
        <p:nvPicPr>
          <p:cNvPr id="21" name="Picture 20">
            <a:extLst>
              <a:ext uri="{FF2B5EF4-FFF2-40B4-BE49-F238E27FC236}">
                <a16:creationId xmlns:a16="http://schemas.microsoft.com/office/drawing/2014/main" id="{C4F187E5-D786-80C0-059A-DE17A2CDDB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062" y="1778990"/>
            <a:ext cx="3561292" cy="2018771"/>
          </a:xfrm>
          <a:prstGeom prst="rect">
            <a:avLst/>
          </a:prstGeom>
          <a:solidFill>
            <a:srgbClr val="FFFFFF">
              <a:shade val="85000"/>
            </a:srgbClr>
          </a:solidFill>
          <a:ln w="88900" cap="sq">
            <a:noFill/>
            <a:miter lim="800000"/>
          </a:ln>
          <a:effectLst/>
          <a:scene3d>
            <a:camera prst="orthographicFront"/>
            <a:lightRig rig="twoPt" dir="t">
              <a:rot lat="0" lon="0" rev="7200000"/>
            </a:lightRig>
          </a:scene3d>
          <a:sp3d>
            <a:bevelT w="25400" h="19050"/>
            <a:contourClr>
              <a:srgbClr val="FFFFFF"/>
            </a:contourClr>
          </a:sp3d>
        </p:spPr>
      </p:pic>
      <p:pic>
        <p:nvPicPr>
          <p:cNvPr id="22" name="Picture 21">
            <a:extLst>
              <a:ext uri="{FF2B5EF4-FFF2-40B4-BE49-F238E27FC236}">
                <a16:creationId xmlns:a16="http://schemas.microsoft.com/office/drawing/2014/main" id="{7CAB70A6-3945-039D-B8C5-F0F7FA6705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7500" y="2875173"/>
            <a:ext cx="3640667" cy="2080154"/>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3" name="Picture 22">
            <a:extLst>
              <a:ext uri="{FF2B5EF4-FFF2-40B4-BE49-F238E27FC236}">
                <a16:creationId xmlns:a16="http://schemas.microsoft.com/office/drawing/2014/main" id="{2D0CC170-41CB-2B6A-750C-044171D3BA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9633" y="4039484"/>
            <a:ext cx="3644900" cy="20806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Oval 23">
            <a:extLst>
              <a:ext uri="{FF2B5EF4-FFF2-40B4-BE49-F238E27FC236}">
                <a16:creationId xmlns:a16="http://schemas.microsoft.com/office/drawing/2014/main" id="{39370A91-2079-7197-961A-DC4799951109}"/>
              </a:ext>
            </a:extLst>
          </p:cNvPr>
          <p:cNvSpPr/>
          <p:nvPr/>
        </p:nvSpPr>
        <p:spPr>
          <a:xfrm>
            <a:off x="2233084" y="1301355"/>
            <a:ext cx="439563" cy="45269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entury Gothic" panose="020B0502020202020204" pitchFamily="34" charset="0"/>
              </a:rPr>
              <a:t>1</a:t>
            </a:r>
            <a:endParaRPr lang="en-NG" sz="2000">
              <a:latin typeface="Century Gothic" panose="020B0502020202020204" pitchFamily="34" charset="0"/>
            </a:endParaRPr>
          </a:p>
        </p:txBody>
      </p:sp>
      <p:sp>
        <p:nvSpPr>
          <p:cNvPr id="25" name="Oval 24">
            <a:extLst>
              <a:ext uri="{FF2B5EF4-FFF2-40B4-BE49-F238E27FC236}">
                <a16:creationId xmlns:a16="http://schemas.microsoft.com/office/drawing/2014/main" id="{EE312C8E-72DE-32E3-1A6D-69B1F0864D7B}"/>
              </a:ext>
            </a:extLst>
          </p:cNvPr>
          <p:cNvSpPr/>
          <p:nvPr/>
        </p:nvSpPr>
        <p:spPr>
          <a:xfrm>
            <a:off x="5728052" y="2424044"/>
            <a:ext cx="439563" cy="45269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entury Gothic" panose="020B0502020202020204" pitchFamily="34" charset="0"/>
              </a:rPr>
              <a:t>2</a:t>
            </a:r>
            <a:endParaRPr lang="en-NG" sz="2000">
              <a:latin typeface="Century Gothic" panose="020B0502020202020204" pitchFamily="34" charset="0"/>
            </a:endParaRPr>
          </a:p>
        </p:txBody>
      </p:sp>
      <p:sp>
        <p:nvSpPr>
          <p:cNvPr id="26" name="Oval 25">
            <a:extLst>
              <a:ext uri="{FF2B5EF4-FFF2-40B4-BE49-F238E27FC236}">
                <a16:creationId xmlns:a16="http://schemas.microsoft.com/office/drawing/2014/main" id="{933EB892-9DB9-4D14-5348-9C5058679B12}"/>
              </a:ext>
            </a:extLst>
          </p:cNvPr>
          <p:cNvSpPr/>
          <p:nvPr/>
        </p:nvSpPr>
        <p:spPr>
          <a:xfrm>
            <a:off x="9223020" y="3546733"/>
            <a:ext cx="439563" cy="45269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entury Gothic" panose="020B0502020202020204" pitchFamily="34" charset="0"/>
              </a:rPr>
              <a:t>3</a:t>
            </a:r>
            <a:endParaRPr lang="en-NG" sz="2000">
              <a:latin typeface="Century Gothic" panose="020B0502020202020204" pitchFamily="34" charset="0"/>
            </a:endParaRPr>
          </a:p>
        </p:txBody>
      </p:sp>
      <p:sp>
        <p:nvSpPr>
          <p:cNvPr id="28" name="TextBox 27">
            <a:extLst>
              <a:ext uri="{FF2B5EF4-FFF2-40B4-BE49-F238E27FC236}">
                <a16:creationId xmlns:a16="http://schemas.microsoft.com/office/drawing/2014/main" id="{587027FE-C0BF-9DC8-7EE4-401C499015E4}"/>
              </a:ext>
            </a:extLst>
          </p:cNvPr>
          <p:cNvSpPr txBox="1"/>
          <p:nvPr/>
        </p:nvSpPr>
        <p:spPr>
          <a:xfrm>
            <a:off x="754063" y="3828060"/>
            <a:ext cx="3087688" cy="323165"/>
          </a:xfrm>
          <a:prstGeom prst="rect">
            <a:avLst/>
          </a:prstGeom>
          <a:noFill/>
        </p:spPr>
        <p:txBody>
          <a:bodyPr wrap="square">
            <a:spAutoFit/>
          </a:bodyPr>
          <a:lstStyle/>
          <a:p>
            <a:pPr>
              <a:buNone/>
            </a:pPr>
            <a:r>
              <a:rPr lang="en-US" sz="1500">
                <a:latin typeface="Century Gothic" panose="020B0502020202020204" pitchFamily="34" charset="0"/>
                <a:ea typeface="Verdana" panose="020B0604030504040204" pitchFamily="34" charset="0"/>
                <a:cs typeface="Verdana" panose="020B0604030504040204" pitchFamily="34" charset="0"/>
              </a:rPr>
              <a:t>Visitor Entry Module</a:t>
            </a:r>
            <a:endParaRPr lang="en-NG" sz="1500">
              <a:latin typeface="Century Gothic" panose="020B0502020202020204" pitchFamily="34" charset="0"/>
              <a:ea typeface="Verdana" panose="020B0604030504040204" pitchFamily="34" charset="0"/>
              <a:cs typeface="Verdana" panose="020B0604030504040204" pitchFamily="34" charset="0"/>
            </a:endParaRPr>
          </a:p>
        </p:txBody>
      </p:sp>
      <p:sp>
        <p:nvSpPr>
          <p:cNvPr id="30" name="TextBox 29">
            <a:extLst>
              <a:ext uri="{FF2B5EF4-FFF2-40B4-BE49-F238E27FC236}">
                <a16:creationId xmlns:a16="http://schemas.microsoft.com/office/drawing/2014/main" id="{2AC4BA1A-B8C7-1556-E42A-7C9CE0F2B30B}"/>
              </a:ext>
            </a:extLst>
          </p:cNvPr>
          <p:cNvSpPr txBox="1"/>
          <p:nvPr/>
        </p:nvSpPr>
        <p:spPr>
          <a:xfrm>
            <a:off x="4127500" y="4955327"/>
            <a:ext cx="3344333" cy="323165"/>
          </a:xfrm>
          <a:prstGeom prst="rect">
            <a:avLst/>
          </a:prstGeom>
          <a:noFill/>
        </p:spPr>
        <p:txBody>
          <a:bodyPr wrap="square">
            <a:spAutoFit/>
          </a:bodyPr>
          <a:lstStyle/>
          <a:p>
            <a:pPr>
              <a:buNone/>
            </a:pPr>
            <a:r>
              <a:rPr lang="en-US" sz="1500">
                <a:latin typeface="Century Gothic" panose="020B0502020202020204" pitchFamily="34" charset="0"/>
                <a:ea typeface="Verdana" panose="020B0604030504040204" pitchFamily="34" charset="0"/>
                <a:cs typeface="Verdana" panose="020B0604030504040204" pitchFamily="34" charset="0"/>
              </a:rPr>
              <a:t>Staff Booking Module</a:t>
            </a:r>
            <a:endParaRPr lang="en-NG" sz="1500">
              <a:latin typeface="Century Gothic" panose="020B0502020202020204" pitchFamily="34" charset="0"/>
              <a:ea typeface="Verdana" panose="020B0604030504040204" pitchFamily="34" charset="0"/>
              <a:cs typeface="Verdana" panose="020B0604030504040204" pitchFamily="34" charset="0"/>
            </a:endParaRPr>
          </a:p>
        </p:txBody>
      </p:sp>
      <p:sp>
        <p:nvSpPr>
          <p:cNvPr id="32" name="TextBox 31">
            <a:extLst>
              <a:ext uri="{FF2B5EF4-FFF2-40B4-BE49-F238E27FC236}">
                <a16:creationId xmlns:a16="http://schemas.microsoft.com/office/drawing/2014/main" id="{600D999F-F647-E41B-7E7C-BA0C02715317}"/>
              </a:ext>
            </a:extLst>
          </p:cNvPr>
          <p:cNvSpPr txBox="1"/>
          <p:nvPr/>
        </p:nvSpPr>
        <p:spPr>
          <a:xfrm>
            <a:off x="7649634" y="6136559"/>
            <a:ext cx="2333273" cy="323165"/>
          </a:xfrm>
          <a:prstGeom prst="rect">
            <a:avLst/>
          </a:prstGeom>
          <a:noFill/>
        </p:spPr>
        <p:txBody>
          <a:bodyPr wrap="square">
            <a:spAutoFit/>
          </a:bodyPr>
          <a:lstStyle/>
          <a:p>
            <a:r>
              <a:rPr lang="en-US" sz="1500">
                <a:latin typeface="Century Gothic" panose="020B0502020202020204" pitchFamily="34" charset="0"/>
                <a:ea typeface="Verdana" panose="020B0604030504040204" pitchFamily="34" charset="0"/>
                <a:cs typeface="Verdana" panose="020B0604030504040204" pitchFamily="34" charset="0"/>
              </a:rPr>
              <a:t>Visitor Directory</a:t>
            </a:r>
            <a:endParaRPr lang="en-NG" sz="1500">
              <a:latin typeface="Century Gothic" panose="020B050202020202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39166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492" y="872927"/>
            <a:ext cx="4725492" cy="590649"/>
          </a:xfrm>
          <a:prstGeom prst="rect">
            <a:avLst/>
          </a:prstGeom>
          <a:noFill/>
          <a:ln/>
        </p:spPr>
        <p:txBody>
          <a:bodyPr wrap="none" lIns="0" tIns="0" rIns="0" bIns="0" rtlCol="0" anchor="t"/>
          <a:lstStyle/>
          <a:p>
            <a:pPr>
              <a:lnSpc>
                <a:spcPts val="4625"/>
              </a:lnSpc>
            </a:pPr>
            <a:r>
              <a:rPr lang="en-US" sz="2800" b="1">
                <a:solidFill>
                  <a:srgbClr val="403C4E"/>
                </a:solidFill>
                <a:latin typeface="Century Gothic" panose="020B0502020202020204" pitchFamily="34" charset="0"/>
                <a:ea typeface="Merriweather Bold" pitchFamily="34" charset="-122"/>
                <a:cs typeface="Merriweather Bold" pitchFamily="34" charset="-120"/>
              </a:rPr>
              <a:t>What </a:t>
            </a:r>
            <a:r>
              <a:rPr lang="en-US" sz="2800" b="1" err="1">
                <a:solidFill>
                  <a:srgbClr val="403C4E"/>
                </a:solidFill>
                <a:latin typeface="Century Gothic" panose="020B0502020202020204" pitchFamily="34" charset="0"/>
                <a:ea typeface="Merriweather Bold" pitchFamily="34" charset="-122"/>
                <a:cs typeface="Merriweather Bold" pitchFamily="34" charset="-120"/>
              </a:rPr>
              <a:t>VisitUs</a:t>
            </a:r>
            <a:r>
              <a:rPr lang="en-US" sz="2800" b="1">
                <a:solidFill>
                  <a:srgbClr val="403C4E"/>
                </a:solidFill>
                <a:latin typeface="Century Gothic" panose="020B0502020202020204" pitchFamily="34" charset="0"/>
                <a:ea typeface="Merriweather Bold" pitchFamily="34" charset="-122"/>
                <a:cs typeface="Merriweather Bold" pitchFamily="34" charset="-120"/>
              </a:rPr>
              <a:t> Offers</a:t>
            </a:r>
            <a:endParaRPr lang="en-US" sz="2800">
              <a:latin typeface="Century Gothic" panose="020B0502020202020204" pitchFamily="34" charset="0"/>
            </a:endParaRPr>
          </a:p>
        </p:txBody>
      </p:sp>
      <p:sp>
        <p:nvSpPr>
          <p:cNvPr id="4" name="Shape 1"/>
          <p:cNvSpPr/>
          <p:nvPr/>
        </p:nvSpPr>
        <p:spPr>
          <a:xfrm>
            <a:off x="661492" y="1778794"/>
            <a:ext cx="425252" cy="425252"/>
          </a:xfrm>
          <a:prstGeom prst="roundRect">
            <a:avLst>
              <a:gd name="adj" fmla="val 18669"/>
            </a:avLst>
          </a:prstGeom>
          <a:solidFill>
            <a:srgbClr val="FF0000"/>
          </a:solidFill>
          <a:ln w="7620">
            <a:solidFill>
              <a:srgbClr val="E5BEB2"/>
            </a:solidFill>
            <a:prstDash val="solid"/>
          </a:ln>
        </p:spPr>
        <p:txBody>
          <a:bodyPr/>
          <a:lstStyle/>
          <a:p>
            <a:endParaRPr lang="en-NG" sz="1500">
              <a:latin typeface="Century Gothic" panose="020B0502020202020204" pitchFamily="34" charset="0"/>
            </a:endParaRPr>
          </a:p>
        </p:txBody>
      </p:sp>
      <p:sp>
        <p:nvSpPr>
          <p:cNvPr id="5" name="Text 2"/>
          <p:cNvSpPr/>
          <p:nvPr/>
        </p:nvSpPr>
        <p:spPr>
          <a:xfrm>
            <a:off x="1275756" y="1811933"/>
            <a:ext cx="2374999"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Workload Reduction</a:t>
            </a:r>
            <a:endParaRPr lang="en-US" sz="1833">
              <a:latin typeface="Century Gothic" panose="020B0502020202020204" pitchFamily="34" charset="0"/>
            </a:endParaRPr>
          </a:p>
        </p:txBody>
      </p:sp>
      <p:sp>
        <p:nvSpPr>
          <p:cNvPr id="6" name="Text 3"/>
          <p:cNvSpPr/>
          <p:nvPr/>
        </p:nvSpPr>
        <p:spPr>
          <a:xfrm>
            <a:off x="1275755" y="2058426"/>
            <a:ext cx="4494606" cy="295275"/>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Less manual data entry at reception</a:t>
            </a:r>
            <a:endParaRPr lang="en-US" sz="1458">
              <a:latin typeface="Century Gothic" panose="020B0502020202020204" pitchFamily="34" charset="0"/>
            </a:endParaRPr>
          </a:p>
        </p:txBody>
      </p:sp>
      <p:sp>
        <p:nvSpPr>
          <p:cNvPr id="7" name="Shape 4"/>
          <p:cNvSpPr/>
          <p:nvPr/>
        </p:nvSpPr>
        <p:spPr>
          <a:xfrm>
            <a:off x="661492" y="2932807"/>
            <a:ext cx="425252" cy="425252"/>
          </a:xfrm>
          <a:prstGeom prst="roundRect">
            <a:avLst>
              <a:gd name="adj" fmla="val 18669"/>
            </a:avLst>
          </a:prstGeom>
          <a:solidFill>
            <a:srgbClr val="FF0000"/>
          </a:solidFill>
          <a:ln w="7620">
            <a:solidFill>
              <a:srgbClr val="E5BEB2"/>
            </a:solidFill>
            <a:prstDash val="solid"/>
          </a:ln>
        </p:spPr>
        <p:txBody>
          <a:bodyPr/>
          <a:lstStyle/>
          <a:p>
            <a:endParaRPr lang="en-NG" sz="1500">
              <a:latin typeface="Century Gothic" panose="020B0502020202020204" pitchFamily="34" charset="0"/>
            </a:endParaRPr>
          </a:p>
        </p:txBody>
      </p:sp>
      <p:sp>
        <p:nvSpPr>
          <p:cNvPr id="8" name="Text 5"/>
          <p:cNvSpPr/>
          <p:nvPr/>
        </p:nvSpPr>
        <p:spPr>
          <a:xfrm>
            <a:off x="1275755" y="2965946"/>
            <a:ext cx="2521347"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Enhanced Experience</a:t>
            </a:r>
            <a:endParaRPr lang="en-US" sz="1833">
              <a:latin typeface="Century Gothic" panose="020B0502020202020204" pitchFamily="34" charset="0"/>
            </a:endParaRPr>
          </a:p>
        </p:txBody>
      </p:sp>
      <p:sp>
        <p:nvSpPr>
          <p:cNvPr id="9" name="Text 6"/>
          <p:cNvSpPr/>
          <p:nvPr/>
        </p:nvSpPr>
        <p:spPr>
          <a:xfrm>
            <a:off x="1275755" y="3212439"/>
            <a:ext cx="4494606" cy="295275"/>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Professional and streamlined visitor process</a:t>
            </a:r>
            <a:endParaRPr lang="en-US" sz="1458">
              <a:latin typeface="Century Gothic" panose="020B0502020202020204" pitchFamily="34" charset="0"/>
            </a:endParaRPr>
          </a:p>
        </p:txBody>
      </p:sp>
      <p:sp>
        <p:nvSpPr>
          <p:cNvPr id="10" name="Shape 7"/>
          <p:cNvSpPr/>
          <p:nvPr/>
        </p:nvSpPr>
        <p:spPr>
          <a:xfrm>
            <a:off x="661492" y="4086820"/>
            <a:ext cx="425252" cy="425252"/>
          </a:xfrm>
          <a:prstGeom prst="roundRect">
            <a:avLst>
              <a:gd name="adj" fmla="val 18669"/>
            </a:avLst>
          </a:prstGeom>
          <a:solidFill>
            <a:srgbClr val="FF0000"/>
          </a:solidFill>
          <a:ln w="7620">
            <a:solidFill>
              <a:srgbClr val="E5BEB2"/>
            </a:solidFill>
            <a:prstDash val="solid"/>
          </a:ln>
        </p:spPr>
        <p:txBody>
          <a:bodyPr/>
          <a:lstStyle/>
          <a:p>
            <a:endParaRPr lang="en-NG" sz="1500">
              <a:latin typeface="Century Gothic" panose="020B0502020202020204" pitchFamily="34" charset="0"/>
            </a:endParaRPr>
          </a:p>
        </p:txBody>
      </p:sp>
      <p:sp>
        <p:nvSpPr>
          <p:cNvPr id="11" name="Text 8"/>
          <p:cNvSpPr/>
          <p:nvPr/>
        </p:nvSpPr>
        <p:spPr>
          <a:xfrm>
            <a:off x="1275755" y="4119959"/>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Improved Security</a:t>
            </a:r>
            <a:endParaRPr lang="en-US" sz="1833">
              <a:latin typeface="Century Gothic" panose="020B0502020202020204" pitchFamily="34" charset="0"/>
            </a:endParaRPr>
          </a:p>
        </p:txBody>
      </p:sp>
      <p:sp>
        <p:nvSpPr>
          <p:cNvPr id="12" name="Text 9"/>
          <p:cNvSpPr/>
          <p:nvPr/>
        </p:nvSpPr>
        <p:spPr>
          <a:xfrm>
            <a:off x="1275755" y="4366453"/>
            <a:ext cx="4494606" cy="295275"/>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Real-time monitoring and alerts</a:t>
            </a:r>
            <a:endParaRPr lang="en-US" sz="1458">
              <a:latin typeface="Century Gothic" panose="020B0502020202020204" pitchFamily="34" charset="0"/>
            </a:endParaRPr>
          </a:p>
        </p:txBody>
      </p:sp>
      <p:sp>
        <p:nvSpPr>
          <p:cNvPr id="13" name="Shape 10"/>
          <p:cNvSpPr/>
          <p:nvPr/>
        </p:nvSpPr>
        <p:spPr>
          <a:xfrm>
            <a:off x="661492" y="5240833"/>
            <a:ext cx="425252" cy="425252"/>
          </a:xfrm>
          <a:prstGeom prst="roundRect">
            <a:avLst>
              <a:gd name="adj" fmla="val 18669"/>
            </a:avLst>
          </a:prstGeom>
          <a:solidFill>
            <a:srgbClr val="FF0000"/>
          </a:solidFill>
          <a:ln w="7620">
            <a:solidFill>
              <a:srgbClr val="E5BEB2"/>
            </a:solidFill>
            <a:prstDash val="solid"/>
          </a:ln>
        </p:spPr>
        <p:txBody>
          <a:bodyPr/>
          <a:lstStyle/>
          <a:p>
            <a:endParaRPr lang="en-NG" sz="1500">
              <a:latin typeface="Century Gothic" panose="020B0502020202020204" pitchFamily="34" charset="0"/>
            </a:endParaRPr>
          </a:p>
        </p:txBody>
      </p:sp>
      <p:sp>
        <p:nvSpPr>
          <p:cNvPr id="14" name="Text 11"/>
          <p:cNvSpPr/>
          <p:nvPr/>
        </p:nvSpPr>
        <p:spPr>
          <a:xfrm>
            <a:off x="1275755" y="5273973"/>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Audit Ready</a:t>
            </a:r>
            <a:endParaRPr lang="en-US" sz="1833">
              <a:latin typeface="Century Gothic" panose="020B0502020202020204" pitchFamily="34" charset="0"/>
            </a:endParaRPr>
          </a:p>
        </p:txBody>
      </p:sp>
      <p:sp>
        <p:nvSpPr>
          <p:cNvPr id="15" name="Text 12"/>
          <p:cNvSpPr/>
          <p:nvPr/>
        </p:nvSpPr>
        <p:spPr>
          <a:xfrm>
            <a:off x="1275755" y="5520466"/>
            <a:ext cx="4494606" cy="295275"/>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Reliable digital logs for compliance</a:t>
            </a:r>
            <a:endParaRPr lang="en-US" sz="1458">
              <a:latin typeface="Century Gothic" panose="020B0502020202020204" pitchFamily="34" charset="0"/>
            </a:endParaRPr>
          </a:p>
        </p:txBody>
      </p:sp>
      <p:pic>
        <p:nvPicPr>
          <p:cNvPr id="16" name="Picture 15">
            <a:extLst>
              <a:ext uri="{FF2B5EF4-FFF2-40B4-BE49-F238E27FC236}">
                <a16:creationId xmlns:a16="http://schemas.microsoft.com/office/drawing/2014/main" id="{DC937E19-56E0-57B0-44B0-0C101F4966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7" name="object 2">
            <a:extLst>
              <a:ext uri="{FF2B5EF4-FFF2-40B4-BE49-F238E27FC236}">
                <a16:creationId xmlns:a16="http://schemas.microsoft.com/office/drawing/2014/main" id="{E9953BBF-BE23-6499-72CC-A0F6EE52591E}"/>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5781" y="1171653"/>
            <a:ext cx="4725492" cy="590649"/>
          </a:xfrm>
          <a:prstGeom prst="rect">
            <a:avLst/>
          </a:prstGeom>
          <a:noFill/>
          <a:ln/>
        </p:spPr>
        <p:txBody>
          <a:bodyPr wrap="none" lIns="0" tIns="0" rIns="0" bIns="0" rtlCol="0" anchor="t"/>
          <a:lstStyle/>
          <a:p>
            <a:pPr>
              <a:lnSpc>
                <a:spcPts val="4625"/>
              </a:lnSpc>
            </a:pPr>
            <a:r>
              <a:rPr lang="en-US" sz="2800" b="1">
                <a:solidFill>
                  <a:srgbClr val="403C4E"/>
                </a:solidFill>
                <a:latin typeface="Century Gothic" panose="020B0502020202020204" pitchFamily="34" charset="0"/>
                <a:ea typeface="Merriweather Bold" pitchFamily="34" charset="-122"/>
                <a:cs typeface="Merriweather Bold" pitchFamily="34" charset="-120"/>
              </a:rPr>
              <a:t>What You Get</a:t>
            </a:r>
            <a:endParaRPr lang="en-US" sz="2800">
              <a:latin typeface="Century Gothic" panose="020B0502020202020204" pitchFamily="34" charset="0"/>
            </a:endParaRPr>
          </a:p>
        </p:txBody>
      </p:sp>
      <p:sp>
        <p:nvSpPr>
          <p:cNvPr id="3" name="Text 1"/>
          <p:cNvSpPr/>
          <p:nvPr/>
        </p:nvSpPr>
        <p:spPr>
          <a:xfrm>
            <a:off x="661492" y="3095096"/>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Visitor Portal</a:t>
            </a:r>
            <a:endParaRPr lang="en-US" sz="1833">
              <a:latin typeface="Century Gothic" panose="020B0502020202020204" pitchFamily="34" charset="0"/>
            </a:endParaRPr>
          </a:p>
        </p:txBody>
      </p:sp>
      <p:sp>
        <p:nvSpPr>
          <p:cNvPr id="4" name="Text 2"/>
          <p:cNvSpPr/>
          <p:nvPr/>
        </p:nvSpPr>
        <p:spPr>
          <a:xfrm>
            <a:off x="661492" y="3410049"/>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Web-based check-in system</a:t>
            </a:r>
            <a:endParaRPr lang="en-US" sz="1458">
              <a:latin typeface="Century Gothic" panose="020B0502020202020204" pitchFamily="34" charset="0"/>
            </a:endParaRPr>
          </a:p>
        </p:txBody>
      </p:sp>
      <p:sp>
        <p:nvSpPr>
          <p:cNvPr id="5" name="Text 3"/>
          <p:cNvSpPr/>
          <p:nvPr/>
        </p:nvSpPr>
        <p:spPr>
          <a:xfrm>
            <a:off x="3500339" y="3095096"/>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Staff Booking</a:t>
            </a:r>
            <a:endParaRPr lang="en-US" sz="1833">
              <a:latin typeface="Century Gothic" panose="020B0502020202020204" pitchFamily="34" charset="0"/>
            </a:endParaRPr>
          </a:p>
        </p:txBody>
      </p:sp>
      <p:sp>
        <p:nvSpPr>
          <p:cNvPr id="6" name="Text 4"/>
          <p:cNvSpPr/>
          <p:nvPr/>
        </p:nvSpPr>
        <p:spPr>
          <a:xfrm>
            <a:off x="3500339" y="3410050"/>
            <a:ext cx="2371328"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Easy scheduling interface</a:t>
            </a:r>
            <a:endParaRPr lang="en-US" sz="1458">
              <a:latin typeface="Century Gothic" panose="020B0502020202020204" pitchFamily="34" charset="0"/>
            </a:endParaRPr>
          </a:p>
        </p:txBody>
      </p:sp>
      <p:sp>
        <p:nvSpPr>
          <p:cNvPr id="7" name="Text 5"/>
          <p:cNvSpPr/>
          <p:nvPr/>
        </p:nvSpPr>
        <p:spPr>
          <a:xfrm>
            <a:off x="6339185" y="3052763"/>
            <a:ext cx="2371328" cy="590550"/>
          </a:xfrm>
          <a:prstGeom prst="rect">
            <a:avLst/>
          </a:prstGeom>
          <a:noFill/>
          <a:ln/>
        </p:spPr>
        <p:txBody>
          <a:bodyPr wrap="squar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Reception Dashboard</a:t>
            </a:r>
            <a:endParaRPr lang="en-US" sz="1833">
              <a:latin typeface="Century Gothic" panose="020B0502020202020204" pitchFamily="34" charset="0"/>
            </a:endParaRPr>
          </a:p>
        </p:txBody>
      </p:sp>
      <p:sp>
        <p:nvSpPr>
          <p:cNvPr id="8" name="Text 6"/>
          <p:cNvSpPr/>
          <p:nvPr/>
        </p:nvSpPr>
        <p:spPr>
          <a:xfrm>
            <a:off x="6339185" y="3662991"/>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Access visitor history and status</a:t>
            </a:r>
            <a:endParaRPr lang="en-US" sz="1458">
              <a:latin typeface="Century Gothic" panose="020B0502020202020204" pitchFamily="34" charset="0"/>
            </a:endParaRPr>
          </a:p>
        </p:txBody>
      </p:sp>
      <p:sp>
        <p:nvSpPr>
          <p:cNvPr id="9" name="Text 7"/>
          <p:cNvSpPr/>
          <p:nvPr/>
        </p:nvSpPr>
        <p:spPr>
          <a:xfrm>
            <a:off x="9178032" y="3052763"/>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Email Notifications</a:t>
            </a:r>
            <a:endParaRPr lang="en-US" sz="1833">
              <a:latin typeface="Century Gothic" panose="020B0502020202020204" pitchFamily="34" charset="0"/>
            </a:endParaRPr>
          </a:p>
        </p:txBody>
      </p:sp>
      <p:sp>
        <p:nvSpPr>
          <p:cNvPr id="10" name="Text 8"/>
          <p:cNvSpPr/>
          <p:nvPr/>
        </p:nvSpPr>
        <p:spPr>
          <a:xfrm>
            <a:off x="9178032" y="3367716"/>
            <a:ext cx="2371328" cy="604838"/>
          </a:xfrm>
          <a:prstGeom prst="rect">
            <a:avLst/>
          </a:prstGeom>
          <a:noFill/>
          <a:ln/>
        </p:spPr>
        <p:txBody>
          <a:bodyPr wrap="squar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Integrated communication setup</a:t>
            </a:r>
            <a:endParaRPr lang="en-US" sz="1458">
              <a:latin typeface="Century Gothic" panose="020B0502020202020204" pitchFamily="34" charset="0"/>
            </a:endParaRPr>
          </a:p>
        </p:txBody>
      </p:sp>
      <p:sp>
        <p:nvSpPr>
          <p:cNvPr id="11" name="Text 9"/>
          <p:cNvSpPr/>
          <p:nvPr/>
        </p:nvSpPr>
        <p:spPr>
          <a:xfrm>
            <a:off x="655781" y="5011230"/>
            <a:ext cx="10869018"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Custom branding and optional email API included.</a:t>
            </a:r>
            <a:endParaRPr lang="en-US" sz="1458">
              <a:latin typeface="Century Gothic" panose="020B0502020202020204" pitchFamily="34" charset="0"/>
            </a:endParaRPr>
          </a:p>
        </p:txBody>
      </p:sp>
      <p:pic>
        <p:nvPicPr>
          <p:cNvPr id="12" name="Picture 11">
            <a:extLst>
              <a:ext uri="{FF2B5EF4-FFF2-40B4-BE49-F238E27FC236}">
                <a16:creationId xmlns:a16="http://schemas.microsoft.com/office/drawing/2014/main" id="{897719D4-F421-CBAF-1259-7266392E21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3" name="object 2">
            <a:extLst>
              <a:ext uri="{FF2B5EF4-FFF2-40B4-BE49-F238E27FC236}">
                <a16:creationId xmlns:a16="http://schemas.microsoft.com/office/drawing/2014/main" id="{F1DD0651-DE66-0852-C62D-00BE6666F6CD}"/>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pic>
        <p:nvPicPr>
          <p:cNvPr id="15" name="Graphic 14" descr="Email with solid fill">
            <a:extLst>
              <a:ext uri="{FF2B5EF4-FFF2-40B4-BE49-F238E27FC236}">
                <a16:creationId xmlns:a16="http://schemas.microsoft.com/office/drawing/2014/main" id="{4926D3D6-08D5-72C3-0C14-C212644D4D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42500" y="2376917"/>
            <a:ext cx="656167" cy="656167"/>
          </a:xfrm>
          <a:prstGeom prst="rect">
            <a:avLst/>
          </a:prstGeom>
        </p:spPr>
      </p:pic>
      <p:pic>
        <p:nvPicPr>
          <p:cNvPr id="17" name="Graphic 16" descr="Projector screen with solid fill">
            <a:extLst>
              <a:ext uri="{FF2B5EF4-FFF2-40B4-BE49-F238E27FC236}">
                <a16:creationId xmlns:a16="http://schemas.microsoft.com/office/drawing/2014/main" id="{A2143FF3-8C04-CEB2-9F97-74DE7A07ED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40118" y="2397161"/>
            <a:ext cx="762000" cy="762000"/>
          </a:xfrm>
          <a:prstGeom prst="rect">
            <a:avLst/>
          </a:prstGeom>
        </p:spPr>
      </p:pic>
      <p:pic>
        <p:nvPicPr>
          <p:cNvPr id="19" name="Graphic 18" descr="Daily calendar outline">
            <a:extLst>
              <a:ext uri="{FF2B5EF4-FFF2-40B4-BE49-F238E27FC236}">
                <a16:creationId xmlns:a16="http://schemas.microsoft.com/office/drawing/2014/main" id="{E5A3B095-5534-95D9-BBA4-AA2078EDAD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02204" y="2324001"/>
            <a:ext cx="762000" cy="762000"/>
          </a:xfrm>
          <a:prstGeom prst="rect">
            <a:avLst/>
          </a:prstGeom>
        </p:spPr>
      </p:pic>
      <p:pic>
        <p:nvPicPr>
          <p:cNvPr id="21" name="Graphic 20" descr="Internet with solid fill">
            <a:extLst>
              <a:ext uri="{FF2B5EF4-FFF2-40B4-BE49-F238E27FC236}">
                <a16:creationId xmlns:a16="http://schemas.microsoft.com/office/drawing/2014/main" id="{A7250744-F9C7-4414-1FEE-E0443FF908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3791" y="2383889"/>
            <a:ext cx="762000" cy="762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492" y="1049239"/>
            <a:ext cx="6297018" cy="643729"/>
          </a:xfrm>
          <a:prstGeom prst="rect">
            <a:avLst/>
          </a:prstGeom>
          <a:noFill/>
          <a:ln/>
        </p:spPr>
        <p:txBody>
          <a:bodyPr wrap="square" lIns="0" tIns="0" rIns="0" bIns="0" rtlCol="0" anchor="t"/>
          <a:lstStyle/>
          <a:p>
            <a:pPr>
              <a:lnSpc>
                <a:spcPts val="4625"/>
              </a:lnSpc>
            </a:pPr>
            <a:r>
              <a:rPr lang="en-US" sz="2800" b="1">
                <a:solidFill>
                  <a:srgbClr val="403C4E"/>
                </a:solidFill>
                <a:latin typeface="Century Gothic" panose="020B0502020202020204" pitchFamily="34" charset="0"/>
                <a:ea typeface="Merriweather Bold" pitchFamily="34" charset="-122"/>
                <a:cs typeface="Merriweather Bold" pitchFamily="34" charset="-120"/>
              </a:rPr>
              <a:t>Let’s Simplify Your Front Desk</a:t>
            </a:r>
            <a:endParaRPr lang="en-US" sz="2800">
              <a:latin typeface="Century Gothic" panose="020B0502020202020204" pitchFamily="34" charset="0"/>
            </a:endParaRPr>
          </a:p>
        </p:txBody>
      </p:sp>
      <p:pic>
        <p:nvPicPr>
          <p:cNvPr id="4" name="Image 1" descr="preencoded.png"/>
          <p:cNvPicPr>
            <a:picLocks noChangeAspect="1"/>
          </p:cNvPicPr>
          <p:nvPr/>
        </p:nvPicPr>
        <p:blipFill>
          <a:blip r:embed="rId4">
            <a:duotone>
              <a:prstClr val="black"/>
              <a:schemeClr val="tx2">
                <a:tint val="45000"/>
                <a:satMod val="400000"/>
              </a:schemeClr>
            </a:duotone>
          </a:blip>
          <a:stretch>
            <a:fillRect/>
          </a:stretch>
        </p:blipFill>
        <p:spPr>
          <a:xfrm>
            <a:off x="661492" y="2202756"/>
            <a:ext cx="945058" cy="1134070"/>
          </a:xfrm>
          <a:prstGeom prst="rect">
            <a:avLst/>
          </a:prstGeom>
          <a:solidFill>
            <a:schemeClr val="bg1"/>
          </a:solidFill>
        </p:spPr>
      </p:pic>
      <p:sp>
        <p:nvSpPr>
          <p:cNvPr id="5" name="Text 1"/>
          <p:cNvSpPr/>
          <p:nvPr/>
        </p:nvSpPr>
        <p:spPr>
          <a:xfrm>
            <a:off x="1890019" y="2391768"/>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Speed</a:t>
            </a:r>
            <a:endParaRPr lang="en-US" sz="1833">
              <a:latin typeface="Century Gothic" panose="020B0502020202020204" pitchFamily="34" charset="0"/>
            </a:endParaRPr>
          </a:p>
        </p:txBody>
      </p:sp>
      <p:sp>
        <p:nvSpPr>
          <p:cNvPr id="6" name="Text 2"/>
          <p:cNvSpPr/>
          <p:nvPr/>
        </p:nvSpPr>
        <p:spPr>
          <a:xfrm>
            <a:off x="1890019" y="2673450"/>
            <a:ext cx="5068491"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Faster visitor processing</a:t>
            </a:r>
            <a:endParaRPr lang="en-US" sz="1458">
              <a:latin typeface="Century Gothic" panose="020B0502020202020204" pitchFamily="34" charset="0"/>
            </a:endParaRPr>
          </a:p>
        </p:txBody>
      </p:sp>
      <p:pic>
        <p:nvPicPr>
          <p:cNvPr id="7" name="Image 2" descr="preencoded.png"/>
          <p:cNvPicPr>
            <a:picLocks noChangeAspect="1"/>
          </p:cNvPicPr>
          <p:nvPr/>
        </p:nvPicPr>
        <p:blipFill>
          <a:blip r:embed="rId5">
            <a:duotone>
              <a:prstClr val="black"/>
              <a:schemeClr val="tx2">
                <a:tint val="45000"/>
                <a:satMod val="400000"/>
              </a:schemeClr>
            </a:duotone>
          </a:blip>
          <a:stretch>
            <a:fillRect/>
          </a:stretch>
        </p:blipFill>
        <p:spPr>
          <a:xfrm>
            <a:off x="661492" y="3336826"/>
            <a:ext cx="945058" cy="1134070"/>
          </a:xfrm>
          <a:prstGeom prst="rect">
            <a:avLst/>
          </a:prstGeom>
          <a:solidFill>
            <a:schemeClr val="bg1"/>
          </a:solidFill>
        </p:spPr>
      </p:pic>
      <p:sp>
        <p:nvSpPr>
          <p:cNvPr id="8" name="Text 3"/>
          <p:cNvSpPr/>
          <p:nvPr/>
        </p:nvSpPr>
        <p:spPr>
          <a:xfrm>
            <a:off x="1890019" y="3525838"/>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Security</a:t>
            </a:r>
            <a:endParaRPr lang="en-US" sz="1833">
              <a:latin typeface="Century Gothic" panose="020B0502020202020204" pitchFamily="34" charset="0"/>
            </a:endParaRPr>
          </a:p>
        </p:txBody>
      </p:sp>
      <p:sp>
        <p:nvSpPr>
          <p:cNvPr id="9" name="Text 4"/>
          <p:cNvSpPr/>
          <p:nvPr/>
        </p:nvSpPr>
        <p:spPr>
          <a:xfrm>
            <a:off x="1890019" y="3807520"/>
            <a:ext cx="5068491"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Improved access control</a:t>
            </a:r>
            <a:endParaRPr lang="en-US" sz="1458">
              <a:latin typeface="Century Gothic" panose="020B0502020202020204" pitchFamily="34" charset="0"/>
            </a:endParaRPr>
          </a:p>
        </p:txBody>
      </p:sp>
      <p:pic>
        <p:nvPicPr>
          <p:cNvPr id="10" name="Image 3" descr="preencoded.png"/>
          <p:cNvPicPr>
            <a:picLocks noChangeAspect="1"/>
          </p:cNvPicPr>
          <p:nvPr/>
        </p:nvPicPr>
        <p:blipFill>
          <a:blip r:embed="rId6">
            <a:duotone>
              <a:prstClr val="black"/>
              <a:schemeClr val="tx2">
                <a:tint val="45000"/>
                <a:satMod val="400000"/>
              </a:schemeClr>
            </a:duotone>
          </a:blip>
          <a:stretch>
            <a:fillRect/>
          </a:stretch>
        </p:blipFill>
        <p:spPr>
          <a:xfrm>
            <a:off x="661492" y="4470896"/>
            <a:ext cx="945058" cy="1134070"/>
          </a:xfrm>
          <a:prstGeom prst="rect">
            <a:avLst/>
          </a:prstGeom>
          <a:solidFill>
            <a:schemeClr val="bg1"/>
          </a:solidFill>
        </p:spPr>
      </p:pic>
      <p:sp>
        <p:nvSpPr>
          <p:cNvPr id="11" name="Text 5"/>
          <p:cNvSpPr/>
          <p:nvPr/>
        </p:nvSpPr>
        <p:spPr>
          <a:xfrm>
            <a:off x="1890019" y="4659908"/>
            <a:ext cx="2362696" cy="295275"/>
          </a:xfrm>
          <a:prstGeom prst="rect">
            <a:avLst/>
          </a:prstGeom>
          <a:noFill/>
          <a:ln/>
        </p:spPr>
        <p:txBody>
          <a:bodyPr wrap="none" lIns="0" tIns="0" rIns="0" bIns="0" rtlCol="0" anchor="t"/>
          <a:lstStyle/>
          <a:p>
            <a:pPr>
              <a:lnSpc>
                <a:spcPts val="2292"/>
              </a:lnSpc>
            </a:pPr>
            <a:r>
              <a:rPr lang="en-US" sz="1833" b="1">
                <a:solidFill>
                  <a:srgbClr val="403C4E"/>
                </a:solidFill>
                <a:latin typeface="Century Gothic" panose="020B0502020202020204" pitchFamily="34" charset="0"/>
                <a:ea typeface="Merriweather Bold" pitchFamily="34" charset="-122"/>
                <a:cs typeface="Merriweather Bold" pitchFamily="34" charset="-120"/>
              </a:rPr>
              <a:t>Clarity</a:t>
            </a:r>
            <a:endParaRPr lang="en-US" sz="1833">
              <a:latin typeface="Century Gothic" panose="020B0502020202020204" pitchFamily="34" charset="0"/>
            </a:endParaRPr>
          </a:p>
        </p:txBody>
      </p:sp>
      <p:sp>
        <p:nvSpPr>
          <p:cNvPr id="12" name="Text 6"/>
          <p:cNvSpPr/>
          <p:nvPr/>
        </p:nvSpPr>
        <p:spPr>
          <a:xfrm>
            <a:off x="1890019" y="4941591"/>
            <a:ext cx="5068491"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Clear visitor records and communication</a:t>
            </a:r>
            <a:endParaRPr lang="en-US" sz="1458">
              <a:latin typeface="Century Gothic" panose="020B0502020202020204" pitchFamily="34" charset="0"/>
            </a:endParaRPr>
          </a:p>
        </p:txBody>
      </p:sp>
      <p:sp>
        <p:nvSpPr>
          <p:cNvPr id="13" name="Text 7"/>
          <p:cNvSpPr/>
          <p:nvPr/>
        </p:nvSpPr>
        <p:spPr>
          <a:xfrm>
            <a:off x="661492" y="5817593"/>
            <a:ext cx="6297018" cy="302419"/>
          </a:xfrm>
          <a:prstGeom prst="rect">
            <a:avLst/>
          </a:prstGeom>
          <a:noFill/>
          <a:ln/>
        </p:spPr>
        <p:txBody>
          <a:bodyPr wrap="none" lIns="0" tIns="0" rIns="0" bIns="0" rtlCol="0" anchor="t"/>
          <a:lstStyle/>
          <a:p>
            <a:pPr>
              <a:lnSpc>
                <a:spcPts val="2375"/>
              </a:lnSpc>
            </a:pPr>
            <a:r>
              <a:rPr lang="en-US" sz="1458">
                <a:solidFill>
                  <a:srgbClr val="403C4E"/>
                </a:solidFill>
                <a:latin typeface="Century Gothic" panose="020B0502020202020204" pitchFamily="34" charset="0"/>
                <a:ea typeface="Open Sans" pitchFamily="34" charset="-122"/>
                <a:cs typeface="Open Sans" pitchFamily="34" charset="-120"/>
              </a:rPr>
              <a:t>Ready to deploy, integrate, and customize for your needs.</a:t>
            </a:r>
            <a:endParaRPr lang="en-US" sz="1458">
              <a:latin typeface="Century Gothic" panose="020B0502020202020204" pitchFamily="34" charset="0"/>
            </a:endParaRPr>
          </a:p>
        </p:txBody>
      </p:sp>
      <p:pic>
        <p:nvPicPr>
          <p:cNvPr id="14" name="Picture 13">
            <a:extLst>
              <a:ext uri="{FF2B5EF4-FFF2-40B4-BE49-F238E27FC236}">
                <a16:creationId xmlns:a16="http://schemas.microsoft.com/office/drawing/2014/main" id="{8EDF0108-E945-B753-97DF-299B4F8DA63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5" name="object 2">
            <a:extLst>
              <a:ext uri="{FF2B5EF4-FFF2-40B4-BE49-F238E27FC236}">
                <a16:creationId xmlns:a16="http://schemas.microsoft.com/office/drawing/2014/main" id="{EAB25237-E0F7-8DF7-C73C-C3DEE18B0381}"/>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C7DE-55B9-CFD8-3CD8-F0C4988EA26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1EE91A53-748A-85DE-F684-5CA7DD44BE94}"/>
              </a:ext>
            </a:extLst>
          </p:cNvPr>
          <p:cNvSpPr/>
          <p:nvPr/>
        </p:nvSpPr>
        <p:spPr>
          <a:xfrm>
            <a:off x="661492" y="737989"/>
            <a:ext cx="6297018" cy="633115"/>
          </a:xfrm>
          <a:prstGeom prst="rect">
            <a:avLst/>
          </a:prstGeom>
          <a:noFill/>
          <a:ln/>
        </p:spPr>
        <p:txBody>
          <a:bodyPr wrap="square" lIns="0" tIns="0" rIns="0" bIns="0" rtlCol="0" anchor="t"/>
          <a:lstStyle/>
          <a:p>
            <a:pPr>
              <a:lnSpc>
                <a:spcPts val="4625"/>
              </a:lnSpc>
            </a:pPr>
            <a:r>
              <a:rPr lang="en-US" sz="2400" b="1">
                <a:solidFill>
                  <a:srgbClr val="403C4E"/>
                </a:solidFill>
                <a:latin typeface="Century Gothic" panose="020B0502020202020204" pitchFamily="34" charset="0"/>
                <a:ea typeface="Merriweather Bold" pitchFamily="34" charset="-122"/>
              </a:rPr>
              <a:t>Implementation Plan</a:t>
            </a:r>
            <a:endParaRPr lang="en-US" sz="2400">
              <a:latin typeface="Century Gothic" panose="020B0502020202020204" pitchFamily="34" charset="0"/>
            </a:endParaRPr>
          </a:p>
        </p:txBody>
      </p:sp>
      <p:pic>
        <p:nvPicPr>
          <p:cNvPr id="14" name="Picture 13">
            <a:extLst>
              <a:ext uri="{FF2B5EF4-FFF2-40B4-BE49-F238E27FC236}">
                <a16:creationId xmlns:a16="http://schemas.microsoft.com/office/drawing/2014/main" id="{06A6016A-475D-9DEB-9E67-0C476AE7F1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15" name="object 2">
            <a:extLst>
              <a:ext uri="{FF2B5EF4-FFF2-40B4-BE49-F238E27FC236}">
                <a16:creationId xmlns:a16="http://schemas.microsoft.com/office/drawing/2014/main" id="{92F9E465-553F-17B5-9DAF-1675A2DBFE06}"/>
              </a:ext>
            </a:extLst>
          </p:cNvPr>
          <p:cNvSpPr txBox="1"/>
          <p:nvPr/>
        </p:nvSpPr>
        <p:spPr>
          <a:xfrm>
            <a:off x="8686802" y="6572834"/>
            <a:ext cx="3301999" cy="172762"/>
          </a:xfrm>
          <a:prstGeom prst="rect">
            <a:avLst/>
          </a:prstGeom>
        </p:spPr>
        <p:txBody>
          <a:bodyPr vert="horz" wrap="square" lIns="0" tIns="8467" rIns="0" bIns="0" rtlCol="0">
            <a:spAutoFit/>
          </a:bodyPr>
          <a:lstStyle/>
          <a:p>
            <a:pPr marL="176108" marR="3387" indent="-167642" defTabSz="609606">
              <a:spcBef>
                <a:spcPts val="67"/>
              </a:spcBef>
            </a:pPr>
            <a:r>
              <a:rPr sz="1067" i="1">
                <a:solidFill>
                  <a:srgbClr val="FF0000"/>
                </a:solidFill>
                <a:latin typeface="Century Gothic" panose="020B0502020202020204" pitchFamily="34" charset="0"/>
                <a:cs typeface="Verdana"/>
              </a:rPr>
              <a:t>World class expertise,  local accessibility</a:t>
            </a:r>
            <a:r>
              <a:rPr lang="en-US" sz="1067" i="1">
                <a:solidFill>
                  <a:srgbClr val="FF0000"/>
                </a:solidFill>
                <a:latin typeface="Century Gothic" panose="020B0502020202020204" pitchFamily="34" charset="0"/>
                <a:cs typeface="Verdana"/>
              </a:rPr>
              <a:t>…</a:t>
            </a:r>
            <a:endParaRPr sz="1067">
              <a:solidFill>
                <a:prstClr val="black"/>
              </a:solidFill>
              <a:latin typeface="Century Gothic" panose="020B0502020202020204" pitchFamily="34" charset="0"/>
              <a:cs typeface="Verdana"/>
            </a:endParaRPr>
          </a:p>
        </p:txBody>
      </p:sp>
      <p:graphicFrame>
        <p:nvGraphicFramePr>
          <p:cNvPr id="24" name="Table 23">
            <a:extLst>
              <a:ext uri="{FF2B5EF4-FFF2-40B4-BE49-F238E27FC236}">
                <a16:creationId xmlns:a16="http://schemas.microsoft.com/office/drawing/2014/main" id="{057DEA50-8308-7AE2-6050-D040CD7015E1}"/>
              </a:ext>
            </a:extLst>
          </p:cNvPr>
          <p:cNvGraphicFramePr>
            <a:graphicFrameLocks noGrp="1"/>
          </p:cNvGraphicFramePr>
          <p:nvPr>
            <p:extLst>
              <p:ext uri="{D42A27DB-BD31-4B8C-83A1-F6EECF244321}">
                <p14:modId xmlns:p14="http://schemas.microsoft.com/office/powerpoint/2010/main" val="4200613279"/>
              </p:ext>
            </p:extLst>
          </p:nvPr>
        </p:nvGraphicFramePr>
        <p:xfrm>
          <a:off x="655781" y="1348244"/>
          <a:ext cx="10895509" cy="5109706"/>
        </p:xfrm>
        <a:graphic>
          <a:graphicData uri="http://schemas.openxmlformats.org/drawingml/2006/table">
            <a:tbl>
              <a:tblPr firstRow="1" firstCol="1" bandRow="1">
                <a:tableStyleId>{9D7B26C5-4107-4FEC-AEDC-1716B250A1EF}</a:tableStyleId>
              </a:tblPr>
              <a:tblGrid>
                <a:gridCol w="1952592">
                  <a:extLst>
                    <a:ext uri="{9D8B030D-6E8A-4147-A177-3AD203B41FA5}">
                      <a16:colId xmlns:a16="http://schemas.microsoft.com/office/drawing/2014/main" val="3180252642"/>
                    </a:ext>
                  </a:extLst>
                </a:gridCol>
                <a:gridCol w="1090083">
                  <a:extLst>
                    <a:ext uri="{9D8B030D-6E8A-4147-A177-3AD203B41FA5}">
                      <a16:colId xmlns:a16="http://schemas.microsoft.com/office/drawing/2014/main" val="2396431936"/>
                    </a:ext>
                  </a:extLst>
                </a:gridCol>
                <a:gridCol w="2317750">
                  <a:extLst>
                    <a:ext uri="{9D8B030D-6E8A-4147-A177-3AD203B41FA5}">
                      <a16:colId xmlns:a16="http://schemas.microsoft.com/office/drawing/2014/main" val="2851113132"/>
                    </a:ext>
                  </a:extLst>
                </a:gridCol>
                <a:gridCol w="2878667">
                  <a:extLst>
                    <a:ext uri="{9D8B030D-6E8A-4147-A177-3AD203B41FA5}">
                      <a16:colId xmlns:a16="http://schemas.microsoft.com/office/drawing/2014/main" val="1179359542"/>
                    </a:ext>
                  </a:extLst>
                </a:gridCol>
                <a:gridCol w="2656417">
                  <a:extLst>
                    <a:ext uri="{9D8B030D-6E8A-4147-A177-3AD203B41FA5}">
                      <a16:colId xmlns:a16="http://schemas.microsoft.com/office/drawing/2014/main" val="3164343105"/>
                    </a:ext>
                  </a:extLst>
                </a:gridCol>
              </a:tblGrid>
              <a:tr h="289339">
                <a:tc>
                  <a:txBody>
                    <a:bodyPr/>
                    <a:lstStyle/>
                    <a:p>
                      <a:pPr algn="ctr">
                        <a:lnSpc>
                          <a:spcPct val="115000"/>
                        </a:lnSpc>
                        <a:spcAft>
                          <a:spcPts val="800"/>
                        </a:spcAft>
                        <a:buNone/>
                      </a:pPr>
                      <a:r>
                        <a:rPr lang="en-NG" sz="1300" kern="100">
                          <a:solidFill>
                            <a:schemeClr val="bg1"/>
                          </a:solidFill>
                          <a:effectLst/>
                          <a:latin typeface="Century Gothic" panose="020B0502020202020204" pitchFamily="34" charset="0"/>
                        </a:rPr>
                        <a:t>Phase</a:t>
                      </a:r>
                      <a:endParaRPr lang="en-NG" sz="1300" kern="10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solidFill>
                      <a:srgbClr val="FF0000"/>
                    </a:solidFill>
                  </a:tcPr>
                </a:tc>
                <a:tc>
                  <a:txBody>
                    <a:bodyPr/>
                    <a:lstStyle/>
                    <a:p>
                      <a:pPr algn="ctr">
                        <a:lnSpc>
                          <a:spcPct val="115000"/>
                        </a:lnSpc>
                        <a:spcAft>
                          <a:spcPts val="800"/>
                        </a:spcAft>
                        <a:buNone/>
                      </a:pPr>
                      <a:r>
                        <a:rPr lang="en-NG" sz="1300" kern="100">
                          <a:solidFill>
                            <a:schemeClr val="bg1"/>
                          </a:solidFill>
                          <a:effectLst/>
                          <a:latin typeface="Century Gothic" panose="020B0502020202020204" pitchFamily="34" charset="0"/>
                        </a:rPr>
                        <a:t>Duration</a:t>
                      </a:r>
                      <a:endParaRPr lang="en-NG" sz="1300" kern="10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solidFill>
                      <a:srgbClr val="FF0000"/>
                    </a:solidFill>
                  </a:tcPr>
                </a:tc>
                <a:tc>
                  <a:txBody>
                    <a:bodyPr/>
                    <a:lstStyle/>
                    <a:p>
                      <a:pPr algn="ctr">
                        <a:lnSpc>
                          <a:spcPct val="115000"/>
                        </a:lnSpc>
                        <a:spcAft>
                          <a:spcPts val="800"/>
                        </a:spcAft>
                        <a:buNone/>
                      </a:pPr>
                      <a:r>
                        <a:rPr lang="en-NG" sz="1300" kern="100">
                          <a:solidFill>
                            <a:schemeClr val="bg1"/>
                          </a:solidFill>
                          <a:effectLst/>
                          <a:latin typeface="Century Gothic" panose="020B0502020202020204" pitchFamily="34" charset="0"/>
                        </a:rPr>
                        <a:t>Objectives</a:t>
                      </a:r>
                      <a:endParaRPr lang="en-NG" sz="1300" kern="10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solidFill>
                      <a:srgbClr val="FF0000"/>
                    </a:solidFill>
                  </a:tcPr>
                </a:tc>
                <a:tc>
                  <a:txBody>
                    <a:bodyPr/>
                    <a:lstStyle/>
                    <a:p>
                      <a:pPr algn="ctr">
                        <a:lnSpc>
                          <a:spcPct val="115000"/>
                        </a:lnSpc>
                        <a:spcAft>
                          <a:spcPts val="800"/>
                        </a:spcAft>
                        <a:buNone/>
                      </a:pPr>
                      <a:r>
                        <a:rPr lang="en-NG" sz="1300" kern="100">
                          <a:solidFill>
                            <a:schemeClr val="bg1"/>
                          </a:solidFill>
                          <a:effectLst/>
                          <a:latin typeface="Century Gothic" panose="020B0502020202020204" pitchFamily="34" charset="0"/>
                        </a:rPr>
                        <a:t>Key Activities</a:t>
                      </a:r>
                      <a:endParaRPr lang="en-NG" sz="1300" kern="10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solidFill>
                      <a:srgbClr val="FF0000"/>
                    </a:solidFill>
                  </a:tcPr>
                </a:tc>
                <a:tc>
                  <a:txBody>
                    <a:bodyPr/>
                    <a:lstStyle/>
                    <a:p>
                      <a:pPr algn="ctr">
                        <a:lnSpc>
                          <a:spcPct val="115000"/>
                        </a:lnSpc>
                        <a:spcAft>
                          <a:spcPts val="800"/>
                        </a:spcAft>
                        <a:buNone/>
                      </a:pPr>
                      <a:r>
                        <a:rPr lang="en-NG" sz="1300" kern="100">
                          <a:solidFill>
                            <a:schemeClr val="bg1"/>
                          </a:solidFill>
                          <a:effectLst/>
                          <a:latin typeface="Century Gothic" panose="020B0502020202020204" pitchFamily="34" charset="0"/>
                        </a:rPr>
                        <a:t>Deliverables</a:t>
                      </a:r>
                      <a:endParaRPr lang="en-NG" sz="1300" kern="100">
                        <a:solidFill>
                          <a:schemeClr val="bg1"/>
                        </a:solidFill>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solidFill>
                      <a:srgbClr val="FF0000"/>
                    </a:solidFill>
                  </a:tcPr>
                </a:tc>
                <a:extLst>
                  <a:ext uri="{0D108BD9-81ED-4DB2-BD59-A6C34878D82A}">
                    <a16:rowId xmlns:a16="http://schemas.microsoft.com/office/drawing/2014/main" val="1916205166"/>
                  </a:ext>
                </a:extLst>
              </a:tr>
              <a:tr h="932974">
                <a:tc>
                  <a:txBody>
                    <a:bodyPr/>
                    <a:lstStyle/>
                    <a:p>
                      <a:pPr>
                        <a:lnSpc>
                          <a:spcPct val="115000"/>
                        </a:lnSpc>
                        <a:spcAft>
                          <a:spcPts val="800"/>
                        </a:spcAft>
                        <a:buNone/>
                      </a:pPr>
                      <a:r>
                        <a:rPr lang="en-NG" sz="1200" kern="100">
                          <a:effectLst/>
                          <a:latin typeface="Century Gothic" panose="020B0502020202020204" pitchFamily="34" charset="0"/>
                        </a:rPr>
                        <a:t>1. </a:t>
                      </a:r>
                      <a:r>
                        <a:rPr lang="en-NG" sz="1200" kern="100" err="1">
                          <a:effectLst/>
                          <a:latin typeface="Century Gothic" panose="020B0502020202020204" pitchFamily="34" charset="0"/>
                        </a:rPr>
                        <a:t>Kickoff</a:t>
                      </a:r>
                      <a:r>
                        <a:rPr lang="en-NG" sz="1200" kern="100">
                          <a:effectLst/>
                          <a:latin typeface="Century Gothic" panose="020B0502020202020204" pitchFamily="34" charset="0"/>
                        </a:rPr>
                        <a:t> &amp; Requirements</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1</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Define scope, gather requirements, align on expectations</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err="1">
                          <a:effectLst/>
                          <a:latin typeface="Century Gothic" panose="020B0502020202020204" pitchFamily="34" charset="0"/>
                        </a:rPr>
                        <a:t>Kickoff</a:t>
                      </a:r>
                      <a:r>
                        <a:rPr lang="en-NG" sz="1000" kern="100">
                          <a:effectLst/>
                          <a:latin typeface="Century Gothic" panose="020B0502020202020204" pitchFamily="34" charset="0"/>
                        </a:rPr>
                        <a:t> meeting</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Collect branding assets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Define workflows and visitor types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Identify email/SaaS integration needs</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Requirements doc</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Implementation timeline</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Access setup</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4150742603"/>
                  </a:ext>
                </a:extLst>
              </a:tr>
              <a:tr h="932974">
                <a:tc>
                  <a:txBody>
                    <a:bodyPr/>
                    <a:lstStyle/>
                    <a:p>
                      <a:pPr>
                        <a:lnSpc>
                          <a:spcPct val="115000"/>
                        </a:lnSpc>
                        <a:spcAft>
                          <a:spcPts val="800"/>
                        </a:spcAft>
                        <a:buNone/>
                      </a:pPr>
                      <a:r>
                        <a:rPr lang="en-NG" sz="1200" kern="100">
                          <a:effectLst/>
                          <a:latin typeface="Century Gothic" panose="020B0502020202020204" pitchFamily="34" charset="0"/>
                        </a:rPr>
                        <a:t>2. Configuration &amp; Setup</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2</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Customize system and apply branding</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Set up </a:t>
                      </a:r>
                      <a:r>
                        <a:rPr lang="en-NG" sz="1000" kern="100" err="1">
                          <a:effectLst/>
                          <a:latin typeface="Century Gothic" panose="020B0502020202020204" pitchFamily="34" charset="0"/>
                        </a:rPr>
                        <a:t>VisitUs</a:t>
                      </a:r>
                      <a:r>
                        <a:rPr lang="en-NG" sz="1000" kern="100">
                          <a:effectLst/>
                          <a:latin typeface="Century Gothic" panose="020B0502020202020204" pitchFamily="34" charset="0"/>
                        </a:rPr>
                        <a:t> instance</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Customize forms and dashboards</a:t>
                      </a:r>
                      <a:r>
                        <a:rPr lang="en-US" sz="1000" kern="100">
                          <a:effectLst/>
                          <a:latin typeface="Century Gothic" panose="020B0502020202020204" pitchFamily="34" charset="0"/>
                        </a:rPr>
                        <a:t>’</a:t>
                      </a:r>
                    </a:p>
                    <a:p>
                      <a:pPr marL="285750" indent="-285750">
                        <a:lnSpc>
                          <a:spcPct val="100000"/>
                        </a:lnSpc>
                        <a:spcAft>
                          <a:spcPts val="800"/>
                        </a:spcAft>
                        <a:buFontTx/>
                        <a:buChar char="-"/>
                      </a:pPr>
                      <a:r>
                        <a:rPr lang="en-NG" sz="1000" kern="100">
                          <a:effectLst/>
                          <a:latin typeface="Century Gothic" panose="020B0502020202020204" pitchFamily="34" charset="0"/>
                        </a:rPr>
                        <a:t>Configure email notifications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Create user/admin roles</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Configured system</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Branding applied</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Email integration</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900835176"/>
                  </a:ext>
                </a:extLst>
              </a:tr>
              <a:tr h="932974">
                <a:tc>
                  <a:txBody>
                    <a:bodyPr/>
                    <a:lstStyle/>
                    <a:p>
                      <a:pPr>
                        <a:lnSpc>
                          <a:spcPct val="115000"/>
                        </a:lnSpc>
                        <a:spcAft>
                          <a:spcPts val="800"/>
                        </a:spcAft>
                        <a:buNone/>
                      </a:pPr>
                      <a:r>
                        <a:rPr lang="en-NG" sz="1200" kern="100">
                          <a:effectLst/>
                          <a:latin typeface="Century Gothic" panose="020B0502020202020204" pitchFamily="34" charset="0"/>
                        </a:rPr>
                        <a:t>3. UAT (Testing)</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3</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Validate functionality and collect feedback</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Simulate check-ins/bookings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Test dashboards and alerts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Capture feedback</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Apply necessary adjustments</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UAT test report</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Feedback log- Final config (if any)</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822117525"/>
                  </a:ext>
                </a:extLst>
              </a:tr>
              <a:tr h="673815">
                <a:tc>
                  <a:txBody>
                    <a:bodyPr/>
                    <a:lstStyle/>
                    <a:p>
                      <a:pPr>
                        <a:lnSpc>
                          <a:spcPct val="115000"/>
                        </a:lnSpc>
                        <a:spcAft>
                          <a:spcPts val="800"/>
                        </a:spcAft>
                        <a:buNone/>
                      </a:pPr>
                      <a:r>
                        <a:rPr lang="en-NG" sz="1200" kern="100">
                          <a:effectLst/>
                          <a:latin typeface="Century Gothic" panose="020B0502020202020204" pitchFamily="34" charset="0"/>
                        </a:rPr>
                        <a:t>4. Training &amp; Preparation</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4</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Train staff and finalize go-live readiness</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Train reception/admin/host users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Distribute user manuals</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Finalize visitor directory and SOPs</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Staff trained</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SOPs ready</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Go-live checklist</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3808529117"/>
                  </a:ext>
                </a:extLst>
              </a:tr>
              <a:tr h="673815">
                <a:tc>
                  <a:txBody>
                    <a:bodyPr/>
                    <a:lstStyle/>
                    <a:p>
                      <a:pPr>
                        <a:lnSpc>
                          <a:spcPct val="115000"/>
                        </a:lnSpc>
                        <a:spcAft>
                          <a:spcPts val="800"/>
                        </a:spcAft>
                        <a:buNone/>
                      </a:pPr>
                      <a:r>
                        <a:rPr lang="en-NG" sz="1200" kern="100">
                          <a:effectLst/>
                          <a:latin typeface="Century Gothic" panose="020B0502020202020204" pitchFamily="34" charset="0"/>
                        </a:rPr>
                        <a:t>5. Go-Live &amp; Support</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5</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Launch the system and support adoption</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Launch </a:t>
                      </a:r>
                      <a:r>
                        <a:rPr lang="en-NG" sz="1000" kern="100" err="1">
                          <a:effectLst/>
                          <a:latin typeface="Century Gothic" panose="020B0502020202020204" pitchFamily="34" charset="0"/>
                        </a:rPr>
                        <a:t>VisitUs</a:t>
                      </a:r>
                      <a:r>
                        <a:rPr lang="en-NG" sz="1000" kern="100">
                          <a:effectLst/>
                          <a:latin typeface="Century Gothic" panose="020B0502020202020204" pitchFamily="34" charset="0"/>
                        </a:rPr>
                        <a:t> in production</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Monitor usage and resolve issues</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System live</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First-week usage report</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Issue log</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563049522"/>
                  </a:ext>
                </a:extLst>
              </a:tr>
              <a:tr h="673815">
                <a:tc>
                  <a:txBody>
                    <a:bodyPr/>
                    <a:lstStyle/>
                    <a:p>
                      <a:pPr>
                        <a:lnSpc>
                          <a:spcPct val="115000"/>
                        </a:lnSpc>
                        <a:spcAft>
                          <a:spcPts val="800"/>
                        </a:spcAft>
                        <a:buNone/>
                      </a:pPr>
                      <a:r>
                        <a:rPr lang="en-NG" sz="1200" kern="100">
                          <a:effectLst/>
                          <a:latin typeface="Century Gothic" panose="020B0502020202020204" pitchFamily="34" charset="0"/>
                        </a:rPr>
                        <a:t>6. Post-Implementation Review</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gn="ctr">
                        <a:lnSpc>
                          <a:spcPct val="115000"/>
                        </a:lnSpc>
                        <a:spcAft>
                          <a:spcPts val="800"/>
                        </a:spcAft>
                        <a:buNone/>
                      </a:pPr>
                      <a:r>
                        <a:rPr lang="en-NG" sz="1200" kern="100">
                          <a:effectLst/>
                          <a:latin typeface="Century Gothic" panose="020B0502020202020204" pitchFamily="34" charset="0"/>
                        </a:rPr>
                        <a:t>Week 6</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a:lnSpc>
                          <a:spcPct val="115000"/>
                        </a:lnSpc>
                        <a:spcAft>
                          <a:spcPts val="800"/>
                        </a:spcAft>
                        <a:buNone/>
                      </a:pPr>
                      <a:r>
                        <a:rPr lang="en-NG" sz="1200" kern="100">
                          <a:effectLst/>
                          <a:latin typeface="Century Gothic" panose="020B0502020202020204" pitchFamily="34" charset="0"/>
                        </a:rPr>
                        <a:t>Review performance and transition to support</a:t>
                      </a:r>
                      <a:endParaRPr lang="en-NG" sz="12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171450" indent="-171450">
                        <a:lnSpc>
                          <a:spcPct val="100000"/>
                        </a:lnSpc>
                        <a:spcAft>
                          <a:spcPts val="800"/>
                        </a:spcAft>
                        <a:buFontTx/>
                        <a:buChar char="-"/>
                      </a:pPr>
                      <a:r>
                        <a:rPr lang="en-NG" sz="1000" kern="100">
                          <a:effectLst/>
                          <a:latin typeface="Century Gothic" panose="020B0502020202020204" pitchFamily="34" charset="0"/>
                        </a:rPr>
                        <a:t>Review </a:t>
                      </a:r>
                      <a:r>
                        <a:rPr lang="en-NG" sz="1000" kern="100" err="1">
                          <a:effectLst/>
                          <a:latin typeface="Century Gothic" panose="020B0502020202020204" pitchFamily="34" charset="0"/>
                        </a:rPr>
                        <a:t>KPIs</a:t>
                      </a:r>
                      <a:endParaRPr lang="en-US" sz="1000" kern="100">
                        <a:effectLst/>
                        <a:latin typeface="Century Gothic" panose="020B0502020202020204" pitchFamily="34" charset="0"/>
                      </a:endParaRPr>
                    </a:p>
                    <a:p>
                      <a:pPr marL="171450" indent="-171450">
                        <a:lnSpc>
                          <a:spcPct val="100000"/>
                        </a:lnSpc>
                        <a:spcAft>
                          <a:spcPts val="800"/>
                        </a:spcAft>
                        <a:buFontTx/>
                        <a:buChar char="-"/>
                      </a:pPr>
                      <a:r>
                        <a:rPr lang="en-NG" sz="1000" kern="100">
                          <a:effectLst/>
                          <a:latin typeface="Century Gothic" panose="020B0502020202020204" pitchFamily="34" charset="0"/>
                        </a:rPr>
                        <a:t>Conduct debrief and satisfaction survey</a:t>
                      </a:r>
                      <a:endParaRPr lang="en-US" sz="1000" kern="100">
                        <a:effectLst/>
                        <a:latin typeface="Century Gothic" panose="020B0502020202020204" pitchFamily="34" charset="0"/>
                      </a:endParaRPr>
                    </a:p>
                    <a:p>
                      <a:pPr marL="171450" indent="-171450">
                        <a:lnSpc>
                          <a:spcPct val="100000"/>
                        </a:lnSpc>
                        <a:spcAft>
                          <a:spcPts val="800"/>
                        </a:spcAft>
                        <a:buFontTx/>
                        <a:buChar char="-"/>
                      </a:pPr>
                      <a:r>
                        <a:rPr lang="en-NG" sz="1000" kern="100">
                          <a:effectLst/>
                          <a:latin typeface="Century Gothic" panose="020B0502020202020204" pitchFamily="34" charset="0"/>
                        </a:rPr>
                        <a:t>Transition to support or SLA agreement</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tc>
                  <a:txBody>
                    <a:bodyPr/>
                    <a:lstStyle/>
                    <a:p>
                      <a:pPr marL="285750" indent="-285750">
                        <a:lnSpc>
                          <a:spcPct val="100000"/>
                        </a:lnSpc>
                        <a:spcAft>
                          <a:spcPts val="800"/>
                        </a:spcAft>
                        <a:buFontTx/>
                        <a:buChar char="-"/>
                      </a:pPr>
                      <a:r>
                        <a:rPr lang="en-NG" sz="1000" kern="100">
                          <a:effectLst/>
                          <a:latin typeface="Century Gothic" panose="020B0502020202020204" pitchFamily="34" charset="0"/>
                        </a:rPr>
                        <a:t>Closure report</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Support handover</a:t>
                      </a:r>
                      <a:endParaRPr lang="en-US" sz="1000" kern="100">
                        <a:effectLst/>
                        <a:latin typeface="Century Gothic" panose="020B0502020202020204" pitchFamily="34" charset="0"/>
                      </a:endParaRPr>
                    </a:p>
                    <a:p>
                      <a:pPr marL="285750" indent="-285750">
                        <a:lnSpc>
                          <a:spcPct val="100000"/>
                        </a:lnSpc>
                        <a:spcAft>
                          <a:spcPts val="800"/>
                        </a:spcAft>
                        <a:buFontTx/>
                        <a:buChar char="-"/>
                      </a:pPr>
                      <a:r>
                        <a:rPr lang="en-NG" sz="1000" kern="100">
                          <a:effectLst/>
                          <a:latin typeface="Century Gothic" panose="020B0502020202020204" pitchFamily="34" charset="0"/>
                        </a:rPr>
                        <a:t>Optional rollout roadmap</a:t>
                      </a:r>
                      <a:endParaRPr lang="en-NG" sz="1000" kern="100">
                        <a:effectLst/>
                        <a:latin typeface="Century Gothic" panose="020B0502020202020204" pitchFamily="34" charset="0"/>
                        <a:ea typeface="Aptos" panose="020B00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1736456067"/>
                  </a:ext>
                </a:extLst>
              </a:tr>
            </a:tbl>
          </a:graphicData>
        </a:graphic>
      </p:graphicFrame>
    </p:spTree>
    <p:extLst>
      <p:ext uri="{BB962C8B-B14F-4D97-AF65-F5344CB8AC3E}">
        <p14:creationId xmlns:p14="http://schemas.microsoft.com/office/powerpoint/2010/main" val="5504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EFA4DB-A241-4872-6D90-3075488D5CE6}"/>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8D34F72-957F-157F-4F26-738AA030F22E}"/>
              </a:ext>
            </a:extLst>
          </p:cNvPr>
          <p:cNvSpPr>
            <a:spLocks noGrp="1"/>
          </p:cNvSpPr>
          <p:nvPr>
            <p:ph type="title"/>
          </p:nvPr>
        </p:nvSpPr>
        <p:spPr>
          <a:xfrm>
            <a:off x="217980" y="2667668"/>
            <a:ext cx="3623089" cy="1147239"/>
          </a:xfrm>
        </p:spPr>
        <p:txBody>
          <a:bodyPr vert="horz" lIns="91440" tIns="45720" rIns="91440" bIns="45720" rtlCol="0" anchor="t">
            <a:noAutofit/>
          </a:bodyPr>
          <a:lstStyle/>
          <a:p>
            <a:pPr algn="ctr"/>
            <a:r>
              <a:rPr lang="en-US" sz="2800" b="1" kern="1200">
                <a:solidFill>
                  <a:srgbClr val="FFFFFF"/>
                </a:solidFill>
                <a:latin typeface="Century Gothic" panose="020B0502020202020204" pitchFamily="34" charset="0"/>
              </a:rPr>
              <a:t>Smart Security &amp; Incident Management</a:t>
            </a:r>
          </a:p>
        </p:txBody>
      </p:sp>
      <p:cxnSp>
        <p:nvCxnSpPr>
          <p:cNvPr id="26" name="Straight Connector 25">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B964EEB-9921-08A6-61AB-AC8D0F845DFA}"/>
              </a:ext>
            </a:extLst>
          </p:cNvPr>
          <p:cNvSpPr txBox="1"/>
          <p:nvPr/>
        </p:nvSpPr>
        <p:spPr>
          <a:xfrm>
            <a:off x="4610437" y="1900679"/>
            <a:ext cx="3265700" cy="3056641"/>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latin typeface="Century Gothic" panose="020B0502020202020204" pitchFamily="34" charset="0"/>
              </a:rPr>
              <a:t>Integrated systems for:</a:t>
            </a:r>
          </a:p>
          <a:p>
            <a:pPr marL="285750" indent="-228600">
              <a:lnSpc>
                <a:spcPct val="90000"/>
              </a:lnSpc>
              <a:spcAft>
                <a:spcPts val="600"/>
              </a:spcAft>
              <a:buFont typeface="Arial" panose="020B0604020202020204" pitchFamily="34" charset="0"/>
              <a:buChar char="•"/>
            </a:pPr>
            <a:r>
              <a:rPr lang="en-US">
                <a:latin typeface="Century Gothic" panose="020B0502020202020204" pitchFamily="34" charset="0"/>
              </a:rPr>
              <a:t>Access control (biometric, RFID)</a:t>
            </a:r>
          </a:p>
          <a:p>
            <a:pPr marL="285750" indent="-228600">
              <a:lnSpc>
                <a:spcPct val="90000"/>
              </a:lnSpc>
              <a:spcAft>
                <a:spcPts val="600"/>
              </a:spcAft>
              <a:buFont typeface="Arial" panose="020B0604020202020204" pitchFamily="34" charset="0"/>
              <a:buChar char="•"/>
            </a:pPr>
            <a:r>
              <a:rPr lang="en-US">
                <a:latin typeface="Century Gothic" panose="020B0502020202020204" pitchFamily="34" charset="0"/>
              </a:rPr>
              <a:t>CCTV &amp; smart video analytics</a:t>
            </a:r>
          </a:p>
          <a:p>
            <a:pPr marL="285750" indent="-228600">
              <a:lnSpc>
                <a:spcPct val="90000"/>
              </a:lnSpc>
              <a:spcAft>
                <a:spcPts val="600"/>
              </a:spcAft>
              <a:buFont typeface="Arial" panose="020B0604020202020204" pitchFamily="34" charset="0"/>
              <a:buChar char="•"/>
            </a:pPr>
            <a:r>
              <a:rPr lang="en-US">
                <a:latin typeface="Century Gothic" panose="020B0502020202020204" pitchFamily="34" charset="0"/>
              </a:rPr>
              <a:t>Incident reporting &amp; escalation</a:t>
            </a:r>
          </a:p>
          <a:p>
            <a:pPr marL="285750" indent="-228600">
              <a:lnSpc>
                <a:spcPct val="90000"/>
              </a:lnSpc>
              <a:spcAft>
                <a:spcPts val="600"/>
              </a:spcAft>
              <a:buFont typeface="Arial" panose="020B0604020202020204" pitchFamily="34" charset="0"/>
              <a:buChar char="•"/>
            </a:pPr>
            <a:r>
              <a:rPr lang="en-US">
                <a:latin typeface="Century Gothic" panose="020B0502020202020204" pitchFamily="34" charset="0"/>
              </a:rPr>
              <a:t>Central Command &amp; Control Dashboard</a:t>
            </a:r>
          </a:p>
        </p:txBody>
      </p:sp>
      <p:sp>
        <p:nvSpPr>
          <p:cNvPr id="4" name="TextBox 3">
            <a:extLst>
              <a:ext uri="{FF2B5EF4-FFF2-40B4-BE49-F238E27FC236}">
                <a16:creationId xmlns:a16="http://schemas.microsoft.com/office/drawing/2014/main" id="{230D45C4-5622-9B46-ABD1-768BD55C57F8}"/>
              </a:ext>
            </a:extLst>
          </p:cNvPr>
          <p:cNvSpPr txBox="1"/>
          <p:nvPr/>
        </p:nvSpPr>
        <p:spPr>
          <a:xfrm>
            <a:off x="8383606" y="2855918"/>
            <a:ext cx="3519435" cy="958989"/>
          </a:xfrm>
          <a:prstGeom prst="rect">
            <a:avLst/>
          </a:prstGeom>
        </p:spPr>
        <p:txBody>
          <a:bodyPr vert="horz" lIns="91440" tIns="45720" rIns="91440" bIns="45720" rtlCol="0">
            <a:normAutofit/>
          </a:bodyPr>
          <a:lstStyle/>
          <a:p>
            <a:pPr algn="ctr">
              <a:lnSpc>
                <a:spcPct val="90000"/>
              </a:lnSpc>
              <a:spcAft>
                <a:spcPts val="600"/>
              </a:spcAft>
            </a:pPr>
            <a:r>
              <a:rPr lang="en-US">
                <a:latin typeface="Century Gothic" panose="020B0502020202020204" pitchFamily="34" charset="0"/>
              </a:rPr>
              <a:t>All security data synchronized with enterprise and visitor records.</a:t>
            </a:r>
          </a:p>
        </p:txBody>
      </p:sp>
    </p:spTree>
    <p:extLst>
      <p:ext uri="{BB962C8B-B14F-4D97-AF65-F5344CB8AC3E}">
        <p14:creationId xmlns:p14="http://schemas.microsoft.com/office/powerpoint/2010/main" val="189603901"/>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54D66-7782-4950-A998-ED2EF01A4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376D5-3E0D-5F40-511D-FD48819D7CEA}"/>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Document &amp; Records Management</a:t>
            </a:r>
          </a:p>
        </p:txBody>
      </p:sp>
      <p:cxnSp>
        <p:nvCxnSpPr>
          <p:cNvPr id="4" name="Straight Connector 3">
            <a:extLst>
              <a:ext uri="{FF2B5EF4-FFF2-40B4-BE49-F238E27FC236}">
                <a16:creationId xmlns:a16="http://schemas.microsoft.com/office/drawing/2014/main" id="{3F575881-B523-F4E8-E3A2-DDB921ED521E}"/>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5920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35580-5F4E-3670-C344-ED0993D575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0F6C9-A2A4-01B3-6C07-794E59B522A9}"/>
              </a:ext>
            </a:extLst>
          </p:cNvPr>
          <p:cNvSpPr>
            <a:spLocks noGrp="1"/>
          </p:cNvSpPr>
          <p:nvPr>
            <p:ph idx="1"/>
          </p:nvPr>
        </p:nvSpPr>
        <p:spPr>
          <a:xfrm>
            <a:off x="838199" y="700863"/>
            <a:ext cx="10515600" cy="872112"/>
          </a:xfrm>
        </p:spPr>
        <p:txBody>
          <a:bodyPr>
            <a:normAutofit/>
          </a:bodyPr>
          <a:lstStyle/>
          <a:p>
            <a:pPr marL="0" indent="0">
              <a:buNone/>
            </a:pPr>
            <a:r>
              <a:rPr lang="en-US" b="1">
                <a:latin typeface="Century Gothic" panose="020B0502020202020204" pitchFamily="34" charset="0"/>
              </a:rPr>
              <a:t>Document Tracking and Control System</a:t>
            </a:r>
          </a:p>
          <a:p>
            <a:pPr marL="0" indent="0">
              <a:buNone/>
            </a:pPr>
            <a:r>
              <a:rPr lang="en-US" sz="1600">
                <a:latin typeface="Century Gothic" panose="020B0502020202020204" pitchFamily="34" charset="0"/>
              </a:rPr>
              <a:t>Centralized, secure, searchable document repository.</a:t>
            </a:r>
          </a:p>
        </p:txBody>
      </p:sp>
      <p:sp>
        <p:nvSpPr>
          <p:cNvPr id="7" name="TextBox 6">
            <a:extLst>
              <a:ext uri="{FF2B5EF4-FFF2-40B4-BE49-F238E27FC236}">
                <a16:creationId xmlns:a16="http://schemas.microsoft.com/office/drawing/2014/main" id="{1A381693-E789-BC84-A14C-18952BD09953}"/>
              </a:ext>
            </a:extLst>
          </p:cNvPr>
          <p:cNvSpPr txBox="1"/>
          <p:nvPr/>
        </p:nvSpPr>
        <p:spPr>
          <a:xfrm>
            <a:off x="2827209" y="5740697"/>
            <a:ext cx="2874911" cy="733663"/>
          </a:xfrm>
          <a:prstGeom prst="stripedRightArrow">
            <a:avLst>
              <a:gd name="adj1" fmla="val 55248"/>
              <a:gd name="adj2" fmla="val 68367"/>
            </a:avLst>
          </a:prstGeom>
          <a:noFill/>
          <a:ln>
            <a:solidFill>
              <a:srgbClr val="FF0000"/>
            </a:solidFill>
          </a:ln>
        </p:spPr>
        <p:txBody>
          <a:bodyPr wrap="square">
            <a:spAutoFit/>
          </a:bodyPr>
          <a:lstStyle/>
          <a:p>
            <a:pPr algn="ctr"/>
            <a:r>
              <a:rPr lang="en-US" b="1"/>
              <a:t>Technology Options</a:t>
            </a:r>
            <a:endParaRPr lang="en-US"/>
          </a:p>
        </p:txBody>
      </p:sp>
      <p:grpSp>
        <p:nvGrpSpPr>
          <p:cNvPr id="43" name="Group 42">
            <a:extLst>
              <a:ext uri="{FF2B5EF4-FFF2-40B4-BE49-F238E27FC236}">
                <a16:creationId xmlns:a16="http://schemas.microsoft.com/office/drawing/2014/main" id="{71F6A068-7D9F-0025-2B3E-B153660D74C8}"/>
              </a:ext>
            </a:extLst>
          </p:cNvPr>
          <p:cNvGrpSpPr/>
          <p:nvPr/>
        </p:nvGrpSpPr>
        <p:grpSpPr>
          <a:xfrm>
            <a:off x="1500739" y="1906050"/>
            <a:ext cx="9190522" cy="3275730"/>
            <a:chOff x="762000" y="2047041"/>
            <a:chExt cx="10668000" cy="4094986"/>
          </a:xfrm>
        </p:grpSpPr>
        <p:grpSp>
          <p:nvGrpSpPr>
            <p:cNvPr id="8" name="Group 7">
              <a:extLst>
                <a:ext uri="{FF2B5EF4-FFF2-40B4-BE49-F238E27FC236}">
                  <a16:creationId xmlns:a16="http://schemas.microsoft.com/office/drawing/2014/main" id="{50102B4C-52C4-D1D5-0D9B-97F9D2512D56}"/>
                </a:ext>
              </a:extLst>
            </p:cNvPr>
            <p:cNvGrpSpPr/>
            <p:nvPr/>
          </p:nvGrpSpPr>
          <p:grpSpPr>
            <a:xfrm>
              <a:off x="762000" y="2047041"/>
              <a:ext cx="10668000" cy="3962464"/>
              <a:chOff x="762000" y="1447768"/>
              <a:chExt cx="10668000" cy="3962464"/>
            </a:xfrm>
          </p:grpSpPr>
          <p:sp>
            <p:nvSpPr>
              <p:cNvPr id="9" name="Rectangle: Rounded Corners 7">
                <a:extLst>
                  <a:ext uri="{FF2B5EF4-FFF2-40B4-BE49-F238E27FC236}">
                    <a16:creationId xmlns:a16="http://schemas.microsoft.com/office/drawing/2014/main" id="{73F1DAD6-8EC9-1B01-961F-7034A12253CF}"/>
                  </a:ext>
                </a:extLst>
              </p:cNvPr>
              <p:cNvSpPr/>
              <p:nvPr/>
            </p:nvSpPr>
            <p:spPr>
              <a:xfrm>
                <a:off x="762000" y="1447768"/>
                <a:ext cx="3064596" cy="3962464"/>
              </a:xfrm>
              <a:custGeom>
                <a:avLst/>
                <a:gdLst>
                  <a:gd name="connsiteX0" fmla="*/ 0 w 1914384"/>
                  <a:gd name="connsiteY0" fmla="*/ 165518 h 2915542"/>
                  <a:gd name="connsiteX1" fmla="*/ 165518 w 1914384"/>
                  <a:gd name="connsiteY1" fmla="*/ 0 h 2915542"/>
                  <a:gd name="connsiteX2" fmla="*/ 1748866 w 1914384"/>
                  <a:gd name="connsiteY2" fmla="*/ 0 h 2915542"/>
                  <a:gd name="connsiteX3" fmla="*/ 1914384 w 1914384"/>
                  <a:gd name="connsiteY3" fmla="*/ 165518 h 2915542"/>
                  <a:gd name="connsiteX4" fmla="*/ 1914384 w 1914384"/>
                  <a:gd name="connsiteY4" fmla="*/ 2750024 h 2915542"/>
                  <a:gd name="connsiteX5" fmla="*/ 1748866 w 1914384"/>
                  <a:gd name="connsiteY5" fmla="*/ 2915542 h 2915542"/>
                  <a:gd name="connsiteX6" fmla="*/ 165518 w 1914384"/>
                  <a:gd name="connsiteY6" fmla="*/ 2915542 h 2915542"/>
                  <a:gd name="connsiteX7" fmla="*/ 0 w 1914384"/>
                  <a:gd name="connsiteY7" fmla="*/ 2750024 h 2915542"/>
                  <a:gd name="connsiteX8" fmla="*/ 0 w 1914384"/>
                  <a:gd name="connsiteY8" fmla="*/ 165518 h 2915542"/>
                  <a:gd name="connsiteX0" fmla="*/ 0 w 1941456"/>
                  <a:gd name="connsiteY0" fmla="*/ 165518 h 2915542"/>
                  <a:gd name="connsiteX1" fmla="*/ 165518 w 1941456"/>
                  <a:gd name="connsiteY1" fmla="*/ 0 h 2915542"/>
                  <a:gd name="connsiteX2" fmla="*/ 1748866 w 1941456"/>
                  <a:gd name="connsiteY2" fmla="*/ 0 h 2915542"/>
                  <a:gd name="connsiteX3" fmla="*/ 1914384 w 1941456"/>
                  <a:gd name="connsiteY3" fmla="*/ 2750024 h 2915542"/>
                  <a:gd name="connsiteX4" fmla="*/ 1748866 w 1941456"/>
                  <a:gd name="connsiteY4" fmla="*/ 2915542 h 2915542"/>
                  <a:gd name="connsiteX5" fmla="*/ 165518 w 1941456"/>
                  <a:gd name="connsiteY5" fmla="*/ 2915542 h 2915542"/>
                  <a:gd name="connsiteX6" fmla="*/ 0 w 1941456"/>
                  <a:gd name="connsiteY6" fmla="*/ 2750024 h 2915542"/>
                  <a:gd name="connsiteX7" fmla="*/ 0 w 1941456"/>
                  <a:gd name="connsiteY7" fmla="*/ 165518 h 2915542"/>
                  <a:gd name="connsiteX0" fmla="*/ 0 w 1946784"/>
                  <a:gd name="connsiteY0" fmla="*/ 165518 h 2915542"/>
                  <a:gd name="connsiteX1" fmla="*/ 165518 w 1946784"/>
                  <a:gd name="connsiteY1" fmla="*/ 0 h 2915542"/>
                  <a:gd name="connsiteX2" fmla="*/ 1748866 w 1946784"/>
                  <a:gd name="connsiteY2" fmla="*/ 0 h 2915542"/>
                  <a:gd name="connsiteX3" fmla="*/ 1748866 w 1946784"/>
                  <a:gd name="connsiteY3" fmla="*/ 2915542 h 2915542"/>
                  <a:gd name="connsiteX4" fmla="*/ 165518 w 1946784"/>
                  <a:gd name="connsiteY4" fmla="*/ 2915542 h 2915542"/>
                  <a:gd name="connsiteX5" fmla="*/ 0 w 1946784"/>
                  <a:gd name="connsiteY5" fmla="*/ 2750024 h 2915542"/>
                  <a:gd name="connsiteX6" fmla="*/ 0 w 1946784"/>
                  <a:gd name="connsiteY6" fmla="*/ 165518 h 2915542"/>
                  <a:gd name="connsiteX0" fmla="*/ 0 w 2059167"/>
                  <a:gd name="connsiteY0" fmla="*/ 165518 h 2915542"/>
                  <a:gd name="connsiteX1" fmla="*/ 165518 w 2059167"/>
                  <a:gd name="connsiteY1" fmla="*/ 0 h 2915542"/>
                  <a:gd name="connsiteX2" fmla="*/ 1748866 w 2059167"/>
                  <a:gd name="connsiteY2" fmla="*/ 0 h 2915542"/>
                  <a:gd name="connsiteX3" fmla="*/ 1930099 w 2059167"/>
                  <a:gd name="connsiteY3" fmla="*/ 2676645 h 2915542"/>
                  <a:gd name="connsiteX4" fmla="*/ 165518 w 2059167"/>
                  <a:gd name="connsiteY4" fmla="*/ 2915542 h 2915542"/>
                  <a:gd name="connsiteX5" fmla="*/ 0 w 2059167"/>
                  <a:gd name="connsiteY5" fmla="*/ 2750024 h 2915542"/>
                  <a:gd name="connsiteX6" fmla="*/ 0 w 2059167"/>
                  <a:gd name="connsiteY6" fmla="*/ 165518 h 2915542"/>
                  <a:gd name="connsiteX0" fmla="*/ 0 w 2041544"/>
                  <a:gd name="connsiteY0" fmla="*/ 165518 h 2915542"/>
                  <a:gd name="connsiteX1" fmla="*/ 165518 w 2041544"/>
                  <a:gd name="connsiteY1" fmla="*/ 0 h 2915542"/>
                  <a:gd name="connsiteX2" fmla="*/ 1748866 w 2041544"/>
                  <a:gd name="connsiteY2" fmla="*/ 0 h 2915542"/>
                  <a:gd name="connsiteX3" fmla="*/ 1905385 w 2041544"/>
                  <a:gd name="connsiteY3" fmla="*/ 2717834 h 2915542"/>
                  <a:gd name="connsiteX4" fmla="*/ 165518 w 2041544"/>
                  <a:gd name="connsiteY4" fmla="*/ 2915542 h 2915542"/>
                  <a:gd name="connsiteX5" fmla="*/ 0 w 2041544"/>
                  <a:gd name="connsiteY5" fmla="*/ 2750024 h 2915542"/>
                  <a:gd name="connsiteX6" fmla="*/ 0 w 2041544"/>
                  <a:gd name="connsiteY6" fmla="*/ 165518 h 2915542"/>
                  <a:gd name="connsiteX0" fmla="*/ 0 w 2049273"/>
                  <a:gd name="connsiteY0" fmla="*/ 165518 h 2915542"/>
                  <a:gd name="connsiteX1" fmla="*/ 165518 w 2049273"/>
                  <a:gd name="connsiteY1" fmla="*/ 0 h 2915542"/>
                  <a:gd name="connsiteX2" fmla="*/ 1773580 w 2049273"/>
                  <a:gd name="connsiteY2" fmla="*/ 354227 h 2915542"/>
                  <a:gd name="connsiteX3" fmla="*/ 1905385 w 2049273"/>
                  <a:gd name="connsiteY3" fmla="*/ 2717834 h 2915542"/>
                  <a:gd name="connsiteX4" fmla="*/ 165518 w 2049273"/>
                  <a:gd name="connsiteY4" fmla="*/ 2915542 h 2915542"/>
                  <a:gd name="connsiteX5" fmla="*/ 0 w 2049273"/>
                  <a:gd name="connsiteY5" fmla="*/ 2750024 h 2915542"/>
                  <a:gd name="connsiteX6" fmla="*/ 0 w 2049273"/>
                  <a:gd name="connsiteY6" fmla="*/ 165518 h 2915542"/>
                  <a:gd name="connsiteX0" fmla="*/ 0 w 2049273"/>
                  <a:gd name="connsiteY0" fmla="*/ 165518 h 2915542"/>
                  <a:gd name="connsiteX1" fmla="*/ 165518 w 2049273"/>
                  <a:gd name="connsiteY1" fmla="*/ 0 h 2915542"/>
                  <a:gd name="connsiteX2" fmla="*/ 1773580 w 2049273"/>
                  <a:gd name="connsiteY2" fmla="*/ 486032 h 2915542"/>
                  <a:gd name="connsiteX3" fmla="*/ 1905385 w 2049273"/>
                  <a:gd name="connsiteY3" fmla="*/ 2717834 h 2915542"/>
                  <a:gd name="connsiteX4" fmla="*/ 165518 w 2049273"/>
                  <a:gd name="connsiteY4" fmla="*/ 2915542 h 2915542"/>
                  <a:gd name="connsiteX5" fmla="*/ 0 w 2049273"/>
                  <a:gd name="connsiteY5" fmla="*/ 2750024 h 2915542"/>
                  <a:gd name="connsiteX6" fmla="*/ 0 w 2049273"/>
                  <a:gd name="connsiteY6" fmla="*/ 165518 h 2915542"/>
                  <a:gd name="connsiteX0" fmla="*/ 0 w 2063719"/>
                  <a:gd name="connsiteY0" fmla="*/ 165518 h 2915542"/>
                  <a:gd name="connsiteX1" fmla="*/ 165518 w 2063719"/>
                  <a:gd name="connsiteY1" fmla="*/ 0 h 2915542"/>
                  <a:gd name="connsiteX2" fmla="*/ 1814769 w 2063719"/>
                  <a:gd name="connsiteY2" fmla="*/ 345988 h 2915542"/>
                  <a:gd name="connsiteX3" fmla="*/ 1905385 w 2063719"/>
                  <a:gd name="connsiteY3" fmla="*/ 2717834 h 2915542"/>
                  <a:gd name="connsiteX4" fmla="*/ 165518 w 2063719"/>
                  <a:gd name="connsiteY4" fmla="*/ 2915542 h 2915542"/>
                  <a:gd name="connsiteX5" fmla="*/ 0 w 2063719"/>
                  <a:gd name="connsiteY5" fmla="*/ 2750024 h 2915542"/>
                  <a:gd name="connsiteX6" fmla="*/ 0 w 2063719"/>
                  <a:gd name="connsiteY6" fmla="*/ 165518 h 291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3719" h="2915542">
                    <a:moveTo>
                      <a:pt x="0" y="165518"/>
                    </a:moveTo>
                    <a:cubicBezTo>
                      <a:pt x="0" y="74105"/>
                      <a:pt x="74105" y="0"/>
                      <a:pt x="165518" y="0"/>
                    </a:cubicBezTo>
                    <a:lnTo>
                      <a:pt x="1814769" y="345988"/>
                    </a:lnTo>
                    <a:cubicBezTo>
                      <a:pt x="2078660" y="831912"/>
                      <a:pt x="2169276" y="2231910"/>
                      <a:pt x="1905385" y="2717834"/>
                    </a:cubicBezTo>
                    <a:lnTo>
                      <a:pt x="165518" y="2915542"/>
                    </a:lnTo>
                    <a:cubicBezTo>
                      <a:pt x="74105" y="2915542"/>
                      <a:pt x="0" y="2841437"/>
                      <a:pt x="0" y="2750024"/>
                    </a:cubicBezTo>
                    <a:lnTo>
                      <a:pt x="0" y="165518"/>
                    </a:lnTo>
                    <a:close/>
                  </a:path>
                </a:pathLst>
              </a:cu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Freeform: Shape 9">
                <a:extLst>
                  <a:ext uri="{FF2B5EF4-FFF2-40B4-BE49-F238E27FC236}">
                    <a16:creationId xmlns:a16="http://schemas.microsoft.com/office/drawing/2014/main" id="{074616C4-6AA0-D57A-FAA3-DF5E061CE2B2}"/>
                  </a:ext>
                </a:extLst>
              </p:cNvPr>
              <p:cNvSpPr/>
              <p:nvPr/>
            </p:nvSpPr>
            <p:spPr>
              <a:xfrm>
                <a:off x="2685832" y="1785327"/>
                <a:ext cx="1140764" cy="3446087"/>
              </a:xfrm>
              <a:custGeom>
                <a:avLst/>
                <a:gdLst>
                  <a:gd name="connsiteX0" fmla="*/ 70125 w 998865"/>
                  <a:gd name="connsiteY0" fmla="*/ 0 h 3446087"/>
                  <a:gd name="connsiteX1" fmla="*/ 675163 w 998865"/>
                  <a:gd name="connsiteY1" fmla="*/ 132669 h 3446087"/>
                  <a:gd name="connsiteX2" fmla="*/ 792988 w 998865"/>
                  <a:gd name="connsiteY2" fmla="*/ 3356205 h 3446087"/>
                  <a:gd name="connsiteX3" fmla="*/ 36233 w 998865"/>
                  <a:gd name="connsiteY3" fmla="*/ 3446087 h 3446087"/>
                  <a:gd name="connsiteX4" fmla="*/ 16753 w 998865"/>
                  <a:gd name="connsiteY4" fmla="*/ 3417195 h 3446087"/>
                  <a:gd name="connsiteX5" fmla="*/ 0 w 998865"/>
                  <a:gd name="connsiteY5" fmla="*/ 3334213 h 3446087"/>
                  <a:gd name="connsiteX6" fmla="*/ 0 w 998865"/>
                  <a:gd name="connsiteY6" fmla="*/ 155925 h 3446087"/>
                  <a:gd name="connsiteX7" fmla="*/ 62441 w 998865"/>
                  <a:gd name="connsiteY7" fmla="*/ 5180 h 3446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8865" h="3446087">
                    <a:moveTo>
                      <a:pt x="70125" y="0"/>
                    </a:moveTo>
                    <a:lnTo>
                      <a:pt x="675163" y="132669"/>
                    </a:lnTo>
                    <a:cubicBezTo>
                      <a:pt x="1018292" y="793080"/>
                      <a:pt x="1136118" y="2695793"/>
                      <a:pt x="792988" y="3356205"/>
                    </a:cubicBezTo>
                    <a:lnTo>
                      <a:pt x="36233" y="3446087"/>
                    </a:lnTo>
                    <a:lnTo>
                      <a:pt x="16753" y="3417195"/>
                    </a:lnTo>
                    <a:cubicBezTo>
                      <a:pt x="5966" y="3391689"/>
                      <a:pt x="0" y="3363648"/>
                      <a:pt x="0" y="3334213"/>
                    </a:cubicBezTo>
                    <a:lnTo>
                      <a:pt x="0" y="155925"/>
                    </a:lnTo>
                    <a:cubicBezTo>
                      <a:pt x="0" y="97056"/>
                      <a:pt x="23862" y="43759"/>
                      <a:pt x="62441" y="5180"/>
                    </a:cubicBez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olidFill>
                    <a:schemeClr val="tx1"/>
                  </a:solidFill>
                </a:endParaRPr>
              </a:p>
            </p:txBody>
          </p:sp>
          <p:sp>
            <p:nvSpPr>
              <p:cNvPr id="11" name="Freeform: Shape 10">
                <a:extLst>
                  <a:ext uri="{FF2B5EF4-FFF2-40B4-BE49-F238E27FC236}">
                    <a16:creationId xmlns:a16="http://schemas.microsoft.com/office/drawing/2014/main" id="{8FC286F5-5B20-B15A-4D59-69C67ADEF242}"/>
                  </a:ext>
                </a:extLst>
              </p:cNvPr>
              <p:cNvSpPr/>
              <p:nvPr/>
            </p:nvSpPr>
            <p:spPr>
              <a:xfrm>
                <a:off x="8367513" y="1447768"/>
                <a:ext cx="3062487" cy="3962464"/>
              </a:xfrm>
              <a:custGeom>
                <a:avLst/>
                <a:gdLst>
                  <a:gd name="connsiteX0" fmla="*/ 2466477 w 2681547"/>
                  <a:gd name="connsiteY0" fmla="*/ 0 h 3962464"/>
                  <a:gd name="connsiteX1" fmla="*/ 2681547 w 2681547"/>
                  <a:gd name="connsiteY1" fmla="*/ 224953 h 3962464"/>
                  <a:gd name="connsiteX2" fmla="*/ 2681547 w 2681547"/>
                  <a:gd name="connsiteY2" fmla="*/ 3737511 h 3962464"/>
                  <a:gd name="connsiteX3" fmla="*/ 2466477 w 2681547"/>
                  <a:gd name="connsiteY3" fmla="*/ 3962464 h 3962464"/>
                  <a:gd name="connsiteX4" fmla="*/ 205736 w 2681547"/>
                  <a:gd name="connsiteY4" fmla="*/ 3693763 h 3962464"/>
                  <a:gd name="connsiteX5" fmla="*/ 323480 w 2681547"/>
                  <a:gd name="connsiteY5" fmla="*/ 470227 h 396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1547" h="3962464">
                    <a:moveTo>
                      <a:pt x="2466477" y="0"/>
                    </a:moveTo>
                    <a:cubicBezTo>
                      <a:pt x="2585257" y="0"/>
                      <a:pt x="2681547" y="100715"/>
                      <a:pt x="2681547" y="224953"/>
                    </a:cubicBezTo>
                    <a:lnTo>
                      <a:pt x="2681547" y="3737511"/>
                    </a:lnTo>
                    <a:cubicBezTo>
                      <a:pt x="2681547" y="3861749"/>
                      <a:pt x="2585257" y="3962464"/>
                      <a:pt x="2466477" y="3962464"/>
                    </a:cubicBezTo>
                    <a:lnTo>
                      <a:pt x="205736" y="3693763"/>
                    </a:lnTo>
                    <a:cubicBezTo>
                      <a:pt x="-137157" y="3033351"/>
                      <a:pt x="-19413" y="1130638"/>
                      <a:pt x="323480" y="470227"/>
                    </a:cubicBezTo>
                    <a:close/>
                  </a:path>
                </a:pathLst>
              </a:cu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p>
            </p:txBody>
          </p:sp>
          <p:sp>
            <p:nvSpPr>
              <p:cNvPr id="12" name="Rectangle: Rounded Corners 6">
                <a:extLst>
                  <a:ext uri="{FF2B5EF4-FFF2-40B4-BE49-F238E27FC236}">
                    <a16:creationId xmlns:a16="http://schemas.microsoft.com/office/drawing/2014/main" id="{BB0AD186-7327-6FAE-2BB6-EF20994E4782}"/>
                  </a:ext>
                </a:extLst>
              </p:cNvPr>
              <p:cNvSpPr/>
              <p:nvPr/>
            </p:nvSpPr>
            <p:spPr>
              <a:xfrm>
                <a:off x="2955964" y="1447768"/>
                <a:ext cx="2817935" cy="3962464"/>
              </a:xfrm>
              <a:custGeom>
                <a:avLst/>
                <a:gdLst>
                  <a:gd name="connsiteX0" fmla="*/ 0 w 1662215"/>
                  <a:gd name="connsiteY0" fmla="*/ 143715 h 2915542"/>
                  <a:gd name="connsiteX1" fmla="*/ 143715 w 1662215"/>
                  <a:gd name="connsiteY1" fmla="*/ 0 h 2915542"/>
                  <a:gd name="connsiteX2" fmla="*/ 1518500 w 1662215"/>
                  <a:gd name="connsiteY2" fmla="*/ 0 h 2915542"/>
                  <a:gd name="connsiteX3" fmla="*/ 1662215 w 1662215"/>
                  <a:gd name="connsiteY3" fmla="*/ 143715 h 2915542"/>
                  <a:gd name="connsiteX4" fmla="*/ 1662215 w 1662215"/>
                  <a:gd name="connsiteY4" fmla="*/ 2771827 h 2915542"/>
                  <a:gd name="connsiteX5" fmla="*/ 1518500 w 1662215"/>
                  <a:gd name="connsiteY5" fmla="*/ 2915542 h 2915542"/>
                  <a:gd name="connsiteX6" fmla="*/ 143715 w 1662215"/>
                  <a:gd name="connsiteY6" fmla="*/ 2915542 h 2915542"/>
                  <a:gd name="connsiteX7" fmla="*/ 0 w 1662215"/>
                  <a:gd name="connsiteY7" fmla="*/ 2771827 h 2915542"/>
                  <a:gd name="connsiteX8" fmla="*/ 0 w 1662215"/>
                  <a:gd name="connsiteY8" fmla="*/ 143715 h 2915542"/>
                  <a:gd name="connsiteX0" fmla="*/ 0 w 1685721"/>
                  <a:gd name="connsiteY0" fmla="*/ 143715 h 2915542"/>
                  <a:gd name="connsiteX1" fmla="*/ 143715 w 1685721"/>
                  <a:gd name="connsiteY1" fmla="*/ 0 h 2915542"/>
                  <a:gd name="connsiteX2" fmla="*/ 1518500 w 1685721"/>
                  <a:gd name="connsiteY2" fmla="*/ 0 h 2915542"/>
                  <a:gd name="connsiteX3" fmla="*/ 1662215 w 1685721"/>
                  <a:gd name="connsiteY3" fmla="*/ 2771827 h 2915542"/>
                  <a:gd name="connsiteX4" fmla="*/ 1518500 w 1685721"/>
                  <a:gd name="connsiteY4" fmla="*/ 2915542 h 2915542"/>
                  <a:gd name="connsiteX5" fmla="*/ 143715 w 1685721"/>
                  <a:gd name="connsiteY5" fmla="*/ 2915542 h 2915542"/>
                  <a:gd name="connsiteX6" fmla="*/ 0 w 1685721"/>
                  <a:gd name="connsiteY6" fmla="*/ 2771827 h 2915542"/>
                  <a:gd name="connsiteX7" fmla="*/ 0 w 1685721"/>
                  <a:gd name="connsiteY7" fmla="*/ 143715 h 2915542"/>
                  <a:gd name="connsiteX0" fmla="*/ 0 w 1716286"/>
                  <a:gd name="connsiteY0" fmla="*/ 143715 h 2915542"/>
                  <a:gd name="connsiteX1" fmla="*/ 143715 w 1716286"/>
                  <a:gd name="connsiteY1" fmla="*/ 0 h 2915542"/>
                  <a:gd name="connsiteX2" fmla="*/ 1576165 w 1716286"/>
                  <a:gd name="connsiteY2" fmla="*/ 444843 h 2915542"/>
                  <a:gd name="connsiteX3" fmla="*/ 1662215 w 1716286"/>
                  <a:gd name="connsiteY3" fmla="*/ 2771827 h 2915542"/>
                  <a:gd name="connsiteX4" fmla="*/ 1518500 w 1716286"/>
                  <a:gd name="connsiteY4" fmla="*/ 2915542 h 2915542"/>
                  <a:gd name="connsiteX5" fmla="*/ 143715 w 1716286"/>
                  <a:gd name="connsiteY5" fmla="*/ 2915542 h 2915542"/>
                  <a:gd name="connsiteX6" fmla="*/ 0 w 1716286"/>
                  <a:gd name="connsiteY6" fmla="*/ 2771827 h 2915542"/>
                  <a:gd name="connsiteX7" fmla="*/ 0 w 1716286"/>
                  <a:gd name="connsiteY7" fmla="*/ 143715 h 2915542"/>
                  <a:gd name="connsiteX0" fmla="*/ 0 w 1726499"/>
                  <a:gd name="connsiteY0" fmla="*/ 143715 h 2915542"/>
                  <a:gd name="connsiteX1" fmla="*/ 143715 w 1726499"/>
                  <a:gd name="connsiteY1" fmla="*/ 0 h 2915542"/>
                  <a:gd name="connsiteX2" fmla="*/ 1592641 w 1726499"/>
                  <a:gd name="connsiteY2" fmla="*/ 634314 h 2915542"/>
                  <a:gd name="connsiteX3" fmla="*/ 1662215 w 1726499"/>
                  <a:gd name="connsiteY3" fmla="*/ 2771827 h 2915542"/>
                  <a:gd name="connsiteX4" fmla="*/ 1518500 w 1726499"/>
                  <a:gd name="connsiteY4" fmla="*/ 2915542 h 2915542"/>
                  <a:gd name="connsiteX5" fmla="*/ 143715 w 1726499"/>
                  <a:gd name="connsiteY5" fmla="*/ 2915542 h 2915542"/>
                  <a:gd name="connsiteX6" fmla="*/ 0 w 1726499"/>
                  <a:gd name="connsiteY6" fmla="*/ 2771827 h 2915542"/>
                  <a:gd name="connsiteX7" fmla="*/ 0 w 1726499"/>
                  <a:gd name="connsiteY7" fmla="*/ 143715 h 2915542"/>
                  <a:gd name="connsiteX0" fmla="*/ 0 w 1803248"/>
                  <a:gd name="connsiteY0" fmla="*/ 143715 h 2915542"/>
                  <a:gd name="connsiteX1" fmla="*/ 143715 w 1803248"/>
                  <a:gd name="connsiteY1" fmla="*/ 0 h 2915542"/>
                  <a:gd name="connsiteX2" fmla="*/ 1699733 w 1803248"/>
                  <a:gd name="connsiteY2" fmla="*/ 453081 h 2915542"/>
                  <a:gd name="connsiteX3" fmla="*/ 1662215 w 1803248"/>
                  <a:gd name="connsiteY3" fmla="*/ 2771827 h 2915542"/>
                  <a:gd name="connsiteX4" fmla="*/ 1518500 w 1803248"/>
                  <a:gd name="connsiteY4" fmla="*/ 2915542 h 2915542"/>
                  <a:gd name="connsiteX5" fmla="*/ 143715 w 1803248"/>
                  <a:gd name="connsiteY5" fmla="*/ 2915542 h 2915542"/>
                  <a:gd name="connsiteX6" fmla="*/ 0 w 1803248"/>
                  <a:gd name="connsiteY6" fmla="*/ 2771827 h 2915542"/>
                  <a:gd name="connsiteX7" fmla="*/ 0 w 1803248"/>
                  <a:gd name="connsiteY7" fmla="*/ 143715 h 2915542"/>
                  <a:gd name="connsiteX0" fmla="*/ 0 w 1812303"/>
                  <a:gd name="connsiteY0" fmla="*/ 143715 h 2915542"/>
                  <a:gd name="connsiteX1" fmla="*/ 143715 w 1812303"/>
                  <a:gd name="connsiteY1" fmla="*/ 0 h 2915542"/>
                  <a:gd name="connsiteX2" fmla="*/ 1699733 w 1812303"/>
                  <a:gd name="connsiteY2" fmla="*/ 453081 h 2915542"/>
                  <a:gd name="connsiteX3" fmla="*/ 1518500 w 1812303"/>
                  <a:gd name="connsiteY3" fmla="*/ 2915542 h 2915542"/>
                  <a:gd name="connsiteX4" fmla="*/ 143715 w 1812303"/>
                  <a:gd name="connsiteY4" fmla="*/ 2915542 h 2915542"/>
                  <a:gd name="connsiteX5" fmla="*/ 0 w 1812303"/>
                  <a:gd name="connsiteY5" fmla="*/ 2771827 h 2915542"/>
                  <a:gd name="connsiteX6" fmla="*/ 0 w 1812303"/>
                  <a:gd name="connsiteY6" fmla="*/ 143715 h 2915542"/>
                  <a:gd name="connsiteX0" fmla="*/ 0 w 1947381"/>
                  <a:gd name="connsiteY0" fmla="*/ 143715 h 2915542"/>
                  <a:gd name="connsiteX1" fmla="*/ 143715 w 1947381"/>
                  <a:gd name="connsiteY1" fmla="*/ 0 h 2915542"/>
                  <a:gd name="connsiteX2" fmla="*/ 1699733 w 1947381"/>
                  <a:gd name="connsiteY2" fmla="*/ 453081 h 2915542"/>
                  <a:gd name="connsiteX3" fmla="*/ 1806825 w 1947381"/>
                  <a:gd name="connsiteY3" fmla="*/ 2553077 h 2915542"/>
                  <a:gd name="connsiteX4" fmla="*/ 143715 w 1947381"/>
                  <a:gd name="connsiteY4" fmla="*/ 2915542 h 2915542"/>
                  <a:gd name="connsiteX5" fmla="*/ 0 w 1947381"/>
                  <a:gd name="connsiteY5" fmla="*/ 2771827 h 2915542"/>
                  <a:gd name="connsiteX6" fmla="*/ 0 w 1947381"/>
                  <a:gd name="connsiteY6" fmla="*/ 143715 h 2915542"/>
                  <a:gd name="connsiteX0" fmla="*/ 0 w 1952955"/>
                  <a:gd name="connsiteY0" fmla="*/ 143715 h 2915542"/>
                  <a:gd name="connsiteX1" fmla="*/ 143715 w 1952955"/>
                  <a:gd name="connsiteY1" fmla="*/ 0 h 2915542"/>
                  <a:gd name="connsiteX2" fmla="*/ 1699733 w 1952955"/>
                  <a:gd name="connsiteY2" fmla="*/ 453081 h 2915542"/>
                  <a:gd name="connsiteX3" fmla="*/ 1815063 w 1952955"/>
                  <a:gd name="connsiteY3" fmla="*/ 2643693 h 2915542"/>
                  <a:gd name="connsiteX4" fmla="*/ 143715 w 1952955"/>
                  <a:gd name="connsiteY4" fmla="*/ 2915542 h 2915542"/>
                  <a:gd name="connsiteX5" fmla="*/ 0 w 1952955"/>
                  <a:gd name="connsiteY5" fmla="*/ 2771827 h 2915542"/>
                  <a:gd name="connsiteX6" fmla="*/ 0 w 1952955"/>
                  <a:gd name="connsiteY6" fmla="*/ 143715 h 291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2955" h="2915542">
                    <a:moveTo>
                      <a:pt x="0" y="143715"/>
                    </a:moveTo>
                    <a:cubicBezTo>
                      <a:pt x="0" y="64343"/>
                      <a:pt x="64343" y="0"/>
                      <a:pt x="143715" y="0"/>
                    </a:cubicBezTo>
                    <a:lnTo>
                      <a:pt x="1699733" y="453081"/>
                    </a:lnTo>
                    <a:cubicBezTo>
                      <a:pt x="1928864" y="939005"/>
                      <a:pt x="2074399" y="2233283"/>
                      <a:pt x="1815063" y="2643693"/>
                    </a:cubicBezTo>
                    <a:lnTo>
                      <a:pt x="143715" y="2915542"/>
                    </a:lnTo>
                    <a:cubicBezTo>
                      <a:pt x="64343" y="2915542"/>
                      <a:pt x="0" y="2851199"/>
                      <a:pt x="0" y="2771827"/>
                    </a:cubicBezTo>
                    <a:lnTo>
                      <a:pt x="0" y="143715"/>
                    </a:lnTo>
                    <a:close/>
                  </a:path>
                </a:pathLst>
              </a:cu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Freeform: Shape 12">
                <a:extLst>
                  <a:ext uri="{FF2B5EF4-FFF2-40B4-BE49-F238E27FC236}">
                    <a16:creationId xmlns:a16="http://schemas.microsoft.com/office/drawing/2014/main" id="{62B2721F-D2B6-01B7-4326-9A2807745D3C}"/>
                  </a:ext>
                </a:extLst>
              </p:cNvPr>
              <p:cNvSpPr/>
              <p:nvPr/>
            </p:nvSpPr>
            <p:spPr>
              <a:xfrm>
                <a:off x="8367513" y="1793874"/>
                <a:ext cx="1084172" cy="3432160"/>
              </a:xfrm>
              <a:custGeom>
                <a:avLst/>
                <a:gdLst>
                  <a:gd name="connsiteX0" fmla="*/ 889143 w 949313"/>
                  <a:gd name="connsiteY0" fmla="*/ 0 h 3432160"/>
                  <a:gd name="connsiteX1" fmla="*/ 932560 w 949313"/>
                  <a:gd name="connsiteY1" fmla="*/ 64396 h 3432160"/>
                  <a:gd name="connsiteX2" fmla="*/ 949313 w 949313"/>
                  <a:gd name="connsiteY2" fmla="*/ 147377 h 3432160"/>
                  <a:gd name="connsiteX3" fmla="*/ 949313 w 949313"/>
                  <a:gd name="connsiteY3" fmla="*/ 3325665 h 3432160"/>
                  <a:gd name="connsiteX4" fmla="*/ 932560 w 949313"/>
                  <a:gd name="connsiteY4" fmla="*/ 3408647 h 3432160"/>
                  <a:gd name="connsiteX5" fmla="*/ 916707 w 949313"/>
                  <a:gd name="connsiteY5" fmla="*/ 3432160 h 3432160"/>
                  <a:gd name="connsiteX6" fmla="*/ 205736 w 949313"/>
                  <a:gd name="connsiteY6" fmla="*/ 3347657 h 3432160"/>
                  <a:gd name="connsiteX7" fmla="*/ 323480 w 949313"/>
                  <a:gd name="connsiteY7" fmla="*/ 124121 h 343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313" h="3432160">
                    <a:moveTo>
                      <a:pt x="889143" y="0"/>
                    </a:moveTo>
                    <a:lnTo>
                      <a:pt x="932560" y="64396"/>
                    </a:lnTo>
                    <a:cubicBezTo>
                      <a:pt x="943348" y="89901"/>
                      <a:pt x="949313" y="117942"/>
                      <a:pt x="949313" y="147377"/>
                    </a:cubicBezTo>
                    <a:lnTo>
                      <a:pt x="949313" y="3325665"/>
                    </a:lnTo>
                    <a:cubicBezTo>
                      <a:pt x="949313" y="3355100"/>
                      <a:pt x="943348" y="3383141"/>
                      <a:pt x="932560" y="3408647"/>
                    </a:cubicBezTo>
                    <a:lnTo>
                      <a:pt x="916707" y="3432160"/>
                    </a:lnTo>
                    <a:lnTo>
                      <a:pt x="205736" y="3347657"/>
                    </a:lnTo>
                    <a:cubicBezTo>
                      <a:pt x="-137157" y="2687245"/>
                      <a:pt x="-19413" y="784532"/>
                      <a:pt x="323480" y="124121"/>
                    </a:cubicBez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olidFill>
                    <a:schemeClr val="tx1"/>
                  </a:solidFill>
                </a:endParaRPr>
              </a:p>
            </p:txBody>
          </p:sp>
          <p:sp>
            <p:nvSpPr>
              <p:cNvPr id="14" name="Freeform: Shape 13">
                <a:extLst>
                  <a:ext uri="{FF2B5EF4-FFF2-40B4-BE49-F238E27FC236}">
                    <a16:creationId xmlns:a16="http://schemas.microsoft.com/office/drawing/2014/main" id="{89720DD8-ABD5-8DF3-ACA6-C057B1CE51AE}"/>
                  </a:ext>
                </a:extLst>
              </p:cNvPr>
              <p:cNvSpPr/>
              <p:nvPr/>
            </p:nvSpPr>
            <p:spPr>
              <a:xfrm>
                <a:off x="6421550" y="1447768"/>
                <a:ext cx="2815997" cy="3962464"/>
              </a:xfrm>
              <a:custGeom>
                <a:avLst/>
                <a:gdLst>
                  <a:gd name="connsiteX0" fmla="*/ 2284269 w 2465717"/>
                  <a:gd name="connsiteY0" fmla="*/ 0 h 3962464"/>
                  <a:gd name="connsiteX1" fmla="*/ 2465717 w 2465717"/>
                  <a:gd name="connsiteY1" fmla="*/ 195321 h 3962464"/>
                  <a:gd name="connsiteX2" fmla="*/ 2465717 w 2465717"/>
                  <a:gd name="connsiteY2" fmla="*/ 3767143 h 3962464"/>
                  <a:gd name="connsiteX3" fmla="*/ 2284269 w 2465717"/>
                  <a:gd name="connsiteY3" fmla="*/ 3962464 h 3962464"/>
                  <a:gd name="connsiteX4" fmla="*/ 174098 w 2465717"/>
                  <a:gd name="connsiteY4" fmla="*/ 3592999 h 3962464"/>
                  <a:gd name="connsiteX5" fmla="*/ 319708 w 2465717"/>
                  <a:gd name="connsiteY5" fmla="*/ 615775 h 396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717" h="3962464">
                    <a:moveTo>
                      <a:pt x="2284269" y="0"/>
                    </a:moveTo>
                    <a:cubicBezTo>
                      <a:pt x="2384480" y="0"/>
                      <a:pt x="2465717" y="87448"/>
                      <a:pt x="2465717" y="195321"/>
                    </a:cubicBezTo>
                    <a:lnTo>
                      <a:pt x="2465717" y="3767143"/>
                    </a:lnTo>
                    <a:cubicBezTo>
                      <a:pt x="2465717" y="3875017"/>
                      <a:pt x="2384480" y="3962464"/>
                      <a:pt x="2284269" y="3962464"/>
                    </a:cubicBezTo>
                    <a:lnTo>
                      <a:pt x="174098" y="3592999"/>
                    </a:lnTo>
                    <a:cubicBezTo>
                      <a:pt x="-153329" y="3035217"/>
                      <a:pt x="30417" y="1276186"/>
                      <a:pt x="319708" y="615775"/>
                    </a:cubicBezTo>
                    <a:close/>
                  </a:path>
                </a:pathLst>
              </a:cu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n w="0"/>
                  <a:solidFill>
                    <a:schemeClr val="accent1"/>
                  </a:solidFill>
                  <a:effectLst>
                    <a:outerShdw blurRad="38100" dist="25400" dir="5400000" algn="ctr" rotWithShape="0">
                      <a:srgbClr val="6E747A">
                        <a:alpha val="43000"/>
                      </a:srgbClr>
                    </a:outerShdw>
                  </a:effectLst>
                </a:endParaRPr>
              </a:p>
            </p:txBody>
          </p:sp>
          <p:sp>
            <p:nvSpPr>
              <p:cNvPr id="15" name="Freeform: Shape 14">
                <a:extLst>
                  <a:ext uri="{FF2B5EF4-FFF2-40B4-BE49-F238E27FC236}">
                    <a16:creationId xmlns:a16="http://schemas.microsoft.com/office/drawing/2014/main" id="{4F3C3E57-6F72-7CFE-395B-7C6F8B797427}"/>
                  </a:ext>
                </a:extLst>
              </p:cNvPr>
              <p:cNvSpPr/>
              <p:nvPr/>
            </p:nvSpPr>
            <p:spPr>
              <a:xfrm>
                <a:off x="4689727" y="1870465"/>
                <a:ext cx="1084172" cy="3298922"/>
              </a:xfrm>
              <a:custGeom>
                <a:avLst/>
                <a:gdLst>
                  <a:gd name="connsiteX0" fmla="*/ 12968 w 949313"/>
                  <a:gd name="connsiteY0" fmla="*/ 0 h 3298922"/>
                  <a:gd name="connsiteX1" fmla="*/ 629386 w 949313"/>
                  <a:gd name="connsiteY1" fmla="*/ 193078 h 3298922"/>
                  <a:gd name="connsiteX2" fmla="*/ 775097 w 949313"/>
                  <a:gd name="connsiteY2" fmla="*/ 3170302 h 3298922"/>
                  <a:gd name="connsiteX3" fmla="*/ 39989 w 949313"/>
                  <a:gd name="connsiteY3" fmla="*/ 3298922 h 3298922"/>
                  <a:gd name="connsiteX4" fmla="*/ 16754 w 949313"/>
                  <a:gd name="connsiteY4" fmla="*/ 3264459 h 3298922"/>
                  <a:gd name="connsiteX5" fmla="*/ 0 w 949313"/>
                  <a:gd name="connsiteY5" fmla="*/ 3181477 h 3298922"/>
                  <a:gd name="connsiteX6" fmla="*/ 0 w 949313"/>
                  <a:gd name="connsiteY6" fmla="*/ 70786 h 3298922"/>
                  <a:gd name="connsiteX7" fmla="*/ 4332 w 949313"/>
                  <a:gd name="connsiteY7" fmla="*/ 27822 h 3298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313" h="3298922">
                    <a:moveTo>
                      <a:pt x="12968" y="0"/>
                    </a:moveTo>
                    <a:lnTo>
                      <a:pt x="629386" y="193078"/>
                    </a:lnTo>
                    <a:cubicBezTo>
                      <a:pt x="918876" y="853489"/>
                      <a:pt x="1102749" y="2612520"/>
                      <a:pt x="775097" y="3170302"/>
                    </a:cubicBezTo>
                    <a:lnTo>
                      <a:pt x="39989" y="3298922"/>
                    </a:lnTo>
                    <a:lnTo>
                      <a:pt x="16754" y="3264459"/>
                    </a:lnTo>
                    <a:cubicBezTo>
                      <a:pt x="5966" y="3238953"/>
                      <a:pt x="0" y="3210912"/>
                      <a:pt x="0" y="3181477"/>
                    </a:cubicBezTo>
                    <a:lnTo>
                      <a:pt x="0" y="70786"/>
                    </a:lnTo>
                    <a:cubicBezTo>
                      <a:pt x="0" y="56069"/>
                      <a:pt x="1492" y="41700"/>
                      <a:pt x="4332" y="27822"/>
                    </a:cubicBez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olidFill>
                    <a:schemeClr val="tx1"/>
                  </a:solidFill>
                </a:endParaRPr>
              </a:p>
            </p:txBody>
          </p:sp>
          <p:sp>
            <p:nvSpPr>
              <p:cNvPr id="16" name="Freeform: Shape 15">
                <a:extLst>
                  <a:ext uri="{FF2B5EF4-FFF2-40B4-BE49-F238E27FC236}">
                    <a16:creationId xmlns:a16="http://schemas.microsoft.com/office/drawing/2014/main" id="{141EE77C-AA5B-E8BE-C79C-2A5E83ECE578}"/>
                  </a:ext>
                </a:extLst>
              </p:cNvPr>
              <p:cNvSpPr/>
              <p:nvPr/>
            </p:nvSpPr>
            <p:spPr>
              <a:xfrm>
                <a:off x="6421550" y="1870281"/>
                <a:ext cx="1084173" cy="3299204"/>
              </a:xfrm>
              <a:custGeom>
                <a:avLst/>
                <a:gdLst>
                  <a:gd name="connsiteX0" fmla="*/ 936290 w 949314"/>
                  <a:gd name="connsiteY0" fmla="*/ 0 h 3299204"/>
                  <a:gd name="connsiteX1" fmla="*/ 944983 w 949314"/>
                  <a:gd name="connsiteY1" fmla="*/ 28006 h 3299204"/>
                  <a:gd name="connsiteX2" fmla="*/ 949314 w 949314"/>
                  <a:gd name="connsiteY2" fmla="*/ 70970 h 3299204"/>
                  <a:gd name="connsiteX3" fmla="*/ 949314 w 949314"/>
                  <a:gd name="connsiteY3" fmla="*/ 3181661 h 3299204"/>
                  <a:gd name="connsiteX4" fmla="*/ 932561 w 949314"/>
                  <a:gd name="connsiteY4" fmla="*/ 3264643 h 3299204"/>
                  <a:gd name="connsiteX5" fmla="*/ 909259 w 949314"/>
                  <a:gd name="connsiteY5" fmla="*/ 3299204 h 3299204"/>
                  <a:gd name="connsiteX6" fmla="*/ 174098 w 949314"/>
                  <a:gd name="connsiteY6" fmla="*/ 3170486 h 3299204"/>
                  <a:gd name="connsiteX7" fmla="*/ 319708 w 949314"/>
                  <a:gd name="connsiteY7" fmla="*/ 193262 h 329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9314" h="3299204">
                    <a:moveTo>
                      <a:pt x="936290" y="0"/>
                    </a:moveTo>
                    <a:lnTo>
                      <a:pt x="944983" y="28006"/>
                    </a:lnTo>
                    <a:cubicBezTo>
                      <a:pt x="947823" y="41884"/>
                      <a:pt x="949314" y="56253"/>
                      <a:pt x="949314" y="70970"/>
                    </a:cubicBezTo>
                    <a:lnTo>
                      <a:pt x="949314" y="3181661"/>
                    </a:lnTo>
                    <a:cubicBezTo>
                      <a:pt x="949314" y="3211096"/>
                      <a:pt x="943349" y="3239137"/>
                      <a:pt x="932561" y="3264643"/>
                    </a:cubicBezTo>
                    <a:lnTo>
                      <a:pt x="909259" y="3299204"/>
                    </a:lnTo>
                    <a:lnTo>
                      <a:pt x="174098" y="3170486"/>
                    </a:lnTo>
                    <a:cubicBezTo>
                      <a:pt x="-153329" y="2612704"/>
                      <a:pt x="30417" y="853673"/>
                      <a:pt x="319708" y="193262"/>
                    </a:cubicBez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olidFill>
                    <a:schemeClr val="tx1"/>
                  </a:solidFill>
                </a:endParaRPr>
              </a:p>
            </p:txBody>
          </p:sp>
          <p:sp>
            <p:nvSpPr>
              <p:cNvPr id="17" name="Rectangle: Rounded Corners 16">
                <a:extLst>
                  <a:ext uri="{FF2B5EF4-FFF2-40B4-BE49-F238E27FC236}">
                    <a16:creationId xmlns:a16="http://schemas.microsoft.com/office/drawing/2014/main" id="{1B6B9F3B-3D7A-849A-468C-89E96DE52093}"/>
                  </a:ext>
                </a:extLst>
              </p:cNvPr>
              <p:cNvSpPr/>
              <p:nvPr/>
            </p:nvSpPr>
            <p:spPr>
              <a:xfrm>
                <a:off x="4871012" y="1592872"/>
                <a:ext cx="2453425" cy="3672258"/>
              </a:xfrm>
              <a:prstGeom prst="roundRect">
                <a:avLst>
                  <a:gd name="adj" fmla="val 864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9" name="TextBox 18">
              <a:extLst>
                <a:ext uri="{FF2B5EF4-FFF2-40B4-BE49-F238E27FC236}">
                  <a16:creationId xmlns:a16="http://schemas.microsoft.com/office/drawing/2014/main" id="{141B189D-CEB5-D40C-36E2-9DEE632CDDA2}"/>
                </a:ext>
              </a:extLst>
            </p:cNvPr>
            <p:cNvSpPr txBox="1"/>
            <p:nvPr/>
          </p:nvSpPr>
          <p:spPr>
            <a:xfrm>
              <a:off x="5080241" y="3753642"/>
              <a:ext cx="2049752" cy="731027"/>
            </a:xfrm>
            <a:prstGeom prst="rect">
              <a:avLst/>
            </a:prstGeom>
            <a:noFill/>
          </p:spPr>
          <p:txBody>
            <a:bodyPr wrap="square" lIns="0" rIns="0" rtlCol="0" anchor="b">
              <a:spAutoFit/>
            </a:bodyPr>
            <a:lstStyle/>
            <a:p>
              <a:pPr algn="ctr"/>
              <a:r>
                <a:rPr lang="en-US" sz="1600" b="1" noProof="1">
                  <a:solidFill>
                    <a:schemeClr val="bg1"/>
                  </a:solidFill>
                </a:rPr>
                <a:t>OCR, Metadata indexing, IDP</a:t>
              </a:r>
            </a:p>
          </p:txBody>
        </p:sp>
        <p:pic>
          <p:nvPicPr>
            <p:cNvPr id="21" name="Graphic 20" descr="Gears outline">
              <a:extLst>
                <a:ext uri="{FF2B5EF4-FFF2-40B4-BE49-F238E27FC236}">
                  <a16:creationId xmlns:a16="http://schemas.microsoft.com/office/drawing/2014/main" id="{49D8DF98-F918-D2D9-D1CF-CB772454534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9983642" y="2482307"/>
              <a:ext cx="914400" cy="914400"/>
            </a:xfrm>
            <a:prstGeom prst="rect">
              <a:avLst/>
            </a:prstGeom>
          </p:spPr>
        </p:pic>
        <p:pic>
          <p:nvPicPr>
            <p:cNvPr id="22" name="Graphic 21" descr="Clipboard Mixed outline">
              <a:extLst>
                <a:ext uri="{FF2B5EF4-FFF2-40B4-BE49-F238E27FC236}">
                  <a16:creationId xmlns:a16="http://schemas.microsoft.com/office/drawing/2014/main" id="{36A22392-3344-5CBB-0025-50677A46551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908204" y="2699628"/>
              <a:ext cx="914400" cy="914400"/>
            </a:xfrm>
            <a:prstGeom prst="rect">
              <a:avLst/>
            </a:prstGeom>
          </p:spPr>
        </p:pic>
        <p:pic>
          <p:nvPicPr>
            <p:cNvPr id="23" name="Graphic 22" descr="Bar chart outline">
              <a:extLst>
                <a:ext uri="{FF2B5EF4-FFF2-40B4-BE49-F238E27FC236}">
                  <a16:creationId xmlns:a16="http://schemas.microsoft.com/office/drawing/2014/main" id="{0CF12F1A-EE93-1C6A-A014-BE5503C1AE2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440831" y="2699628"/>
              <a:ext cx="914400" cy="914400"/>
            </a:xfrm>
            <a:prstGeom prst="rect">
              <a:avLst/>
            </a:prstGeom>
          </p:spPr>
        </p:pic>
        <p:pic>
          <p:nvPicPr>
            <p:cNvPr id="24" name="Graphic 23" descr="Lights On outline">
              <a:extLst>
                <a:ext uri="{FF2B5EF4-FFF2-40B4-BE49-F238E27FC236}">
                  <a16:creationId xmlns:a16="http://schemas.microsoft.com/office/drawing/2014/main" id="{AC32903E-DDE3-A8CA-1BC0-3E4F2CF02F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8800" y="2415268"/>
              <a:ext cx="914400" cy="914400"/>
            </a:xfrm>
            <a:prstGeom prst="rect">
              <a:avLst/>
            </a:prstGeom>
          </p:spPr>
        </p:pic>
        <p:pic>
          <p:nvPicPr>
            <p:cNvPr id="25" name="Graphic 24" descr="Checkbox Checked outline">
              <a:extLst>
                <a:ext uri="{FF2B5EF4-FFF2-40B4-BE49-F238E27FC236}">
                  <a16:creationId xmlns:a16="http://schemas.microsoft.com/office/drawing/2014/main" id="{54A170ED-CC94-35EA-AE6F-348B0EB21A5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260421" y="2545812"/>
              <a:ext cx="914400" cy="914400"/>
            </a:xfrm>
            <a:prstGeom prst="rect">
              <a:avLst/>
            </a:prstGeom>
          </p:spPr>
        </p:pic>
        <p:sp>
          <p:nvSpPr>
            <p:cNvPr id="27" name="TextBox 26">
              <a:extLst>
                <a:ext uri="{FF2B5EF4-FFF2-40B4-BE49-F238E27FC236}">
                  <a16:creationId xmlns:a16="http://schemas.microsoft.com/office/drawing/2014/main" id="{EACEC07A-B55D-F710-7D2C-966595160010}"/>
                </a:ext>
              </a:extLst>
            </p:cNvPr>
            <p:cNvSpPr txBox="1"/>
            <p:nvPr/>
          </p:nvSpPr>
          <p:spPr>
            <a:xfrm>
              <a:off x="3045451" y="3753642"/>
              <a:ext cx="1562287" cy="731027"/>
            </a:xfrm>
            <a:prstGeom prst="rect">
              <a:avLst/>
            </a:prstGeom>
            <a:noFill/>
          </p:spPr>
          <p:txBody>
            <a:bodyPr wrap="square" lIns="0" rIns="0" rtlCol="0" anchor="b">
              <a:spAutoFit/>
            </a:bodyPr>
            <a:lstStyle/>
            <a:p>
              <a:pPr algn="ctr"/>
              <a:r>
                <a:rPr lang="en-US" sz="1600" b="1" noProof="1"/>
                <a:t>Role‑based access</a:t>
              </a:r>
            </a:p>
          </p:txBody>
        </p:sp>
        <p:sp>
          <p:nvSpPr>
            <p:cNvPr id="30" name="TextBox 29">
              <a:extLst>
                <a:ext uri="{FF2B5EF4-FFF2-40B4-BE49-F238E27FC236}">
                  <a16:creationId xmlns:a16="http://schemas.microsoft.com/office/drawing/2014/main" id="{BAE2D7EE-79CF-58BF-95B5-D9DAD79F59B9}"/>
                </a:ext>
              </a:extLst>
            </p:cNvPr>
            <p:cNvSpPr txBox="1"/>
            <p:nvPr/>
          </p:nvSpPr>
          <p:spPr>
            <a:xfrm>
              <a:off x="988478" y="3696029"/>
              <a:ext cx="1562287" cy="1038828"/>
            </a:xfrm>
            <a:prstGeom prst="rect">
              <a:avLst/>
            </a:prstGeom>
            <a:noFill/>
          </p:spPr>
          <p:txBody>
            <a:bodyPr wrap="square" lIns="0" rIns="0" rtlCol="0" anchor="b">
              <a:spAutoFit/>
            </a:bodyPr>
            <a:lstStyle/>
            <a:p>
              <a:pPr algn="ctr"/>
              <a:r>
                <a:rPr lang="en-US" sz="1600" b="1">
                  <a:solidFill>
                    <a:schemeClr val="bg1"/>
                  </a:solidFill>
                </a:rPr>
                <a:t>Version control &amp; audit trails</a:t>
              </a:r>
            </a:p>
          </p:txBody>
        </p:sp>
        <p:sp>
          <p:nvSpPr>
            <p:cNvPr id="33" name="TextBox 32">
              <a:extLst>
                <a:ext uri="{FF2B5EF4-FFF2-40B4-BE49-F238E27FC236}">
                  <a16:creationId xmlns:a16="http://schemas.microsoft.com/office/drawing/2014/main" id="{12213CF3-DA69-E48B-41B4-7C05B32D5A7D}"/>
                </a:ext>
              </a:extLst>
            </p:cNvPr>
            <p:cNvSpPr txBox="1"/>
            <p:nvPr/>
          </p:nvSpPr>
          <p:spPr>
            <a:xfrm>
              <a:off x="9631154" y="3448415"/>
              <a:ext cx="1562287" cy="1346629"/>
            </a:xfrm>
            <a:prstGeom prst="rect">
              <a:avLst/>
            </a:prstGeom>
            <a:noFill/>
          </p:spPr>
          <p:txBody>
            <a:bodyPr wrap="square" lIns="0" rIns="0" rtlCol="0" anchor="b">
              <a:spAutoFit/>
            </a:bodyPr>
            <a:lstStyle/>
            <a:p>
              <a:pPr algn="ctr"/>
              <a:r>
                <a:rPr lang="en-US" sz="1600" b="1" noProof="1">
                  <a:solidFill>
                    <a:schemeClr val="bg1"/>
                  </a:solidFill>
                </a:rPr>
                <a:t>External enterprise document access</a:t>
              </a:r>
            </a:p>
          </p:txBody>
        </p:sp>
        <p:sp>
          <p:nvSpPr>
            <p:cNvPr id="36" name="TextBox 35">
              <a:extLst>
                <a:ext uri="{FF2B5EF4-FFF2-40B4-BE49-F238E27FC236}">
                  <a16:creationId xmlns:a16="http://schemas.microsoft.com/office/drawing/2014/main" id="{4DD18CB8-6BB2-B753-F42C-C3940DEDFC88}"/>
                </a:ext>
              </a:extLst>
            </p:cNvPr>
            <p:cNvSpPr txBox="1"/>
            <p:nvPr/>
          </p:nvSpPr>
          <p:spPr>
            <a:xfrm>
              <a:off x="7573503" y="3638109"/>
              <a:ext cx="1562287" cy="1038828"/>
            </a:xfrm>
            <a:prstGeom prst="rect">
              <a:avLst/>
            </a:prstGeom>
            <a:noFill/>
          </p:spPr>
          <p:txBody>
            <a:bodyPr wrap="square" lIns="0" rIns="0" rtlCol="0" anchor="b">
              <a:spAutoFit/>
            </a:bodyPr>
            <a:lstStyle/>
            <a:p>
              <a:pPr algn="ctr"/>
              <a:r>
                <a:rPr lang="en-US" sz="1600" b="1" noProof="1"/>
                <a:t>Workflow-linked documents</a:t>
              </a:r>
            </a:p>
          </p:txBody>
        </p:sp>
        <p:sp>
          <p:nvSpPr>
            <p:cNvPr id="38" name="Oval 37">
              <a:extLst>
                <a:ext uri="{FF2B5EF4-FFF2-40B4-BE49-F238E27FC236}">
                  <a16:creationId xmlns:a16="http://schemas.microsoft.com/office/drawing/2014/main" id="{28BFD4BF-7722-0AB8-ED63-605EB3FB3FB6}"/>
                </a:ext>
              </a:extLst>
            </p:cNvPr>
            <p:cNvSpPr/>
            <p:nvPr/>
          </p:nvSpPr>
          <p:spPr>
            <a:xfrm>
              <a:off x="5812162" y="5574351"/>
              <a:ext cx="567676" cy="567676"/>
            </a:xfrm>
            <a:prstGeom prst="ellipse">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a:t>03</a:t>
              </a:r>
            </a:p>
          </p:txBody>
        </p:sp>
        <p:sp>
          <p:nvSpPr>
            <p:cNvPr id="39" name="Oval 38">
              <a:extLst>
                <a:ext uri="{FF2B5EF4-FFF2-40B4-BE49-F238E27FC236}">
                  <a16:creationId xmlns:a16="http://schemas.microsoft.com/office/drawing/2014/main" id="{3340560A-2A28-C172-70FA-143986A11B72}"/>
                </a:ext>
              </a:extLst>
            </p:cNvPr>
            <p:cNvSpPr/>
            <p:nvPr/>
          </p:nvSpPr>
          <p:spPr>
            <a:xfrm>
              <a:off x="1433783" y="5574351"/>
              <a:ext cx="567676" cy="567676"/>
            </a:xfrm>
            <a:prstGeom prst="ellipse">
              <a:avLst/>
            </a:prstGeom>
            <a:solidFill>
              <a:schemeClr val="accent2">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a:t>01</a:t>
              </a:r>
            </a:p>
          </p:txBody>
        </p:sp>
        <p:sp>
          <p:nvSpPr>
            <p:cNvPr id="40" name="Oval 39">
              <a:extLst>
                <a:ext uri="{FF2B5EF4-FFF2-40B4-BE49-F238E27FC236}">
                  <a16:creationId xmlns:a16="http://schemas.microsoft.com/office/drawing/2014/main" id="{63DFF318-D2C8-A794-1078-3C6B3B75660E}"/>
                </a:ext>
              </a:extLst>
            </p:cNvPr>
            <p:cNvSpPr/>
            <p:nvPr/>
          </p:nvSpPr>
          <p:spPr>
            <a:xfrm>
              <a:off x="3542757" y="5574351"/>
              <a:ext cx="567676" cy="567676"/>
            </a:xfrm>
            <a:prstGeom prst="ellipse">
              <a:avLst/>
            </a:prstGeom>
            <a:solidFill>
              <a:schemeClr val="accent3">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a:t>02</a:t>
              </a:r>
            </a:p>
          </p:txBody>
        </p:sp>
        <p:sp>
          <p:nvSpPr>
            <p:cNvPr id="41" name="Oval 40">
              <a:extLst>
                <a:ext uri="{FF2B5EF4-FFF2-40B4-BE49-F238E27FC236}">
                  <a16:creationId xmlns:a16="http://schemas.microsoft.com/office/drawing/2014/main" id="{7655EB82-3381-8DB4-81AB-441632FCB36D}"/>
                </a:ext>
              </a:extLst>
            </p:cNvPr>
            <p:cNvSpPr/>
            <p:nvPr/>
          </p:nvSpPr>
          <p:spPr>
            <a:xfrm>
              <a:off x="8081566" y="5574351"/>
              <a:ext cx="567676" cy="567676"/>
            </a:xfrm>
            <a:prstGeom prst="ellipse">
              <a:avLst/>
            </a:prstGeom>
            <a:solidFill>
              <a:schemeClr val="accent4">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a:t>04</a:t>
              </a:r>
            </a:p>
          </p:txBody>
        </p:sp>
        <p:sp>
          <p:nvSpPr>
            <p:cNvPr id="42" name="Oval 41">
              <a:extLst>
                <a:ext uri="{FF2B5EF4-FFF2-40B4-BE49-F238E27FC236}">
                  <a16:creationId xmlns:a16="http://schemas.microsoft.com/office/drawing/2014/main" id="{C1217982-5F85-B096-CD19-DB256B3799B0}"/>
                </a:ext>
              </a:extLst>
            </p:cNvPr>
            <p:cNvSpPr/>
            <p:nvPr/>
          </p:nvSpPr>
          <p:spPr>
            <a:xfrm>
              <a:off x="10157004" y="5574351"/>
              <a:ext cx="567676" cy="567676"/>
            </a:xfrm>
            <a:prstGeom prst="ellipse">
              <a:avLst/>
            </a:prstGeom>
            <a:solidFill>
              <a:schemeClr val="accent5">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a:t>05</a:t>
              </a:r>
            </a:p>
          </p:txBody>
        </p:sp>
      </p:grpSp>
      <p:sp>
        <p:nvSpPr>
          <p:cNvPr id="45" name="TextBox 44">
            <a:extLst>
              <a:ext uri="{FF2B5EF4-FFF2-40B4-BE49-F238E27FC236}">
                <a16:creationId xmlns:a16="http://schemas.microsoft.com/office/drawing/2014/main" id="{850F358A-C085-FE39-855A-F13BC0C4902F}"/>
              </a:ext>
            </a:extLst>
          </p:cNvPr>
          <p:cNvSpPr txBox="1"/>
          <p:nvPr/>
        </p:nvSpPr>
        <p:spPr>
          <a:xfrm>
            <a:off x="5940859" y="5745321"/>
            <a:ext cx="3373328" cy="738664"/>
          </a:xfrm>
          <a:prstGeom prst="rect">
            <a:avLst/>
          </a:prstGeom>
          <a:noFill/>
          <a:ln>
            <a:solidFill>
              <a:srgbClr val="FF0000"/>
            </a:solidFill>
          </a:ln>
        </p:spPr>
        <p:txBody>
          <a:bodyPr wrap="square">
            <a:spAutoFit/>
          </a:bodyPr>
          <a:lstStyle/>
          <a:p>
            <a:pPr marL="285750" indent="-285750">
              <a:buFont typeface="Arial" panose="020B0604020202020204" pitchFamily="34" charset="0"/>
              <a:buChar char="•"/>
            </a:pPr>
            <a:r>
              <a:rPr lang="en-US" sz="1400"/>
              <a:t>Oracle WebCenter Content</a:t>
            </a:r>
          </a:p>
          <a:p>
            <a:pPr marL="285750" indent="-285750">
              <a:buFont typeface="Arial" panose="020B0604020202020204" pitchFamily="34" charset="0"/>
              <a:buChar char="•"/>
            </a:pPr>
            <a:r>
              <a:rPr lang="en-US" sz="1400"/>
              <a:t>Microsoft SharePoint Online</a:t>
            </a:r>
          </a:p>
          <a:p>
            <a:pPr marL="285750" indent="-285750">
              <a:buFont typeface="Arial" panose="020B0604020202020204" pitchFamily="34" charset="0"/>
              <a:buChar char="•"/>
            </a:pPr>
            <a:r>
              <a:rPr lang="en-US" sz="1400"/>
              <a:t>Alfresco Enterprise</a:t>
            </a:r>
          </a:p>
        </p:txBody>
      </p:sp>
      <p:cxnSp>
        <p:nvCxnSpPr>
          <p:cNvPr id="47" name="Straight Connector 46">
            <a:extLst>
              <a:ext uri="{FF2B5EF4-FFF2-40B4-BE49-F238E27FC236}">
                <a16:creationId xmlns:a16="http://schemas.microsoft.com/office/drawing/2014/main" id="{4F93DE0A-A47B-4886-9ABE-52BC58C06742}"/>
              </a:ext>
            </a:extLst>
          </p:cNvPr>
          <p:cNvCxnSpPr/>
          <p:nvPr/>
        </p:nvCxnSpPr>
        <p:spPr>
          <a:xfrm>
            <a:off x="923223" y="5447899"/>
            <a:ext cx="9999846" cy="0"/>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2879363"/>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EA167-ACA5-71E2-EBD6-A6028E264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CC8BB-1F55-7964-812C-E39056473AC2}"/>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Utility &amp; Metering Management</a:t>
            </a:r>
          </a:p>
        </p:txBody>
      </p:sp>
      <p:cxnSp>
        <p:nvCxnSpPr>
          <p:cNvPr id="4" name="Straight Connector 3">
            <a:extLst>
              <a:ext uri="{FF2B5EF4-FFF2-40B4-BE49-F238E27FC236}">
                <a16:creationId xmlns:a16="http://schemas.microsoft.com/office/drawing/2014/main" id="{C7C1E7F7-A783-4D73-ED4F-AB207A8D387D}"/>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361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A3488-BF91-5120-8981-229F29921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8DED1-719A-AB93-6FAA-8231DD417F86}"/>
              </a:ext>
            </a:extLst>
          </p:cNvPr>
          <p:cNvSpPr>
            <a:spLocks noGrp="1"/>
          </p:cNvSpPr>
          <p:nvPr>
            <p:ph type="title"/>
          </p:nvPr>
        </p:nvSpPr>
        <p:spPr>
          <a:xfrm>
            <a:off x="805543" y="724329"/>
            <a:ext cx="9848850" cy="867335"/>
          </a:xfrm>
        </p:spPr>
        <p:txBody>
          <a:bodyPr>
            <a:noAutofit/>
          </a:bodyPr>
          <a:lstStyle/>
          <a:p>
            <a:pPr>
              <a:lnSpc>
                <a:spcPct val="150000"/>
              </a:lnSpc>
            </a:pPr>
            <a:r>
              <a:rPr lang="en-US" sz="2800" b="1">
                <a:latin typeface="Century Gothic" panose="020B0502020202020204" pitchFamily="34" charset="0"/>
              </a:rPr>
              <a:t>Utility &amp; Metering Management </a:t>
            </a:r>
            <a:br>
              <a:rPr lang="en-US" sz="2800" b="1">
                <a:latin typeface="Century Gothic" panose="020B0502020202020204" pitchFamily="34" charset="0"/>
              </a:rPr>
            </a:br>
            <a:r>
              <a:rPr lang="en-US" sz="1800" b="1">
                <a:solidFill>
                  <a:schemeClr val="tx1">
                    <a:lumMod val="50000"/>
                    <a:lumOff val="50000"/>
                  </a:schemeClr>
                </a:solidFill>
                <a:latin typeface="Century Gothic" panose="020B0502020202020204" pitchFamily="34" charset="0"/>
              </a:rPr>
              <a:t>Project &amp; Utility Services Department (PUSD)</a:t>
            </a:r>
          </a:p>
        </p:txBody>
      </p:sp>
      <p:sp>
        <p:nvSpPr>
          <p:cNvPr id="5" name="TextBox 4">
            <a:extLst>
              <a:ext uri="{FF2B5EF4-FFF2-40B4-BE49-F238E27FC236}">
                <a16:creationId xmlns:a16="http://schemas.microsoft.com/office/drawing/2014/main" id="{4FE47054-49C2-6603-D19B-AA48489AAC9A}"/>
              </a:ext>
            </a:extLst>
          </p:cNvPr>
          <p:cNvSpPr txBox="1"/>
          <p:nvPr/>
        </p:nvSpPr>
        <p:spPr>
          <a:xfrm>
            <a:off x="1728473" y="2026005"/>
            <a:ext cx="6870698" cy="3329053"/>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a:latin typeface="Century Gothic" panose="020B0502020202020204" pitchFamily="34" charset="0"/>
              </a:rPr>
              <a:t>Smart electricity &amp; water meters</a:t>
            </a:r>
          </a:p>
          <a:p>
            <a:pPr marL="285750" indent="-285750">
              <a:lnSpc>
                <a:spcPct val="200000"/>
              </a:lnSpc>
              <a:buFont typeface="Arial" panose="020B0604020202020204" pitchFamily="34" charset="0"/>
              <a:buChar char="•"/>
            </a:pPr>
            <a:r>
              <a:rPr lang="en-US">
                <a:latin typeface="Century Gothic" panose="020B0502020202020204" pitchFamily="34" charset="0"/>
              </a:rPr>
              <a:t>Remote data capture &amp; validation</a:t>
            </a:r>
          </a:p>
          <a:p>
            <a:pPr marL="285750" indent="-285750">
              <a:lnSpc>
                <a:spcPct val="200000"/>
              </a:lnSpc>
              <a:buFont typeface="Arial" panose="020B0604020202020204" pitchFamily="34" charset="0"/>
              <a:buChar char="•"/>
            </a:pPr>
            <a:r>
              <a:rPr lang="en-US">
                <a:latin typeface="Century Gothic" panose="020B0502020202020204" pitchFamily="34" charset="0"/>
              </a:rPr>
              <a:t>Usage dashboards &amp; anomaly detection</a:t>
            </a:r>
          </a:p>
          <a:p>
            <a:pPr marL="285750" indent="-285750">
              <a:lnSpc>
                <a:spcPct val="200000"/>
              </a:lnSpc>
              <a:buFont typeface="Arial" panose="020B0604020202020204" pitchFamily="34" charset="0"/>
              <a:buChar char="•"/>
            </a:pPr>
            <a:r>
              <a:rPr lang="en-US">
                <a:latin typeface="Century Gothic" panose="020B0502020202020204" pitchFamily="34" charset="0"/>
              </a:rPr>
              <a:t>Automated billing handoff to Finance</a:t>
            </a:r>
          </a:p>
          <a:p>
            <a:pPr marL="285750" indent="-285750">
              <a:lnSpc>
                <a:spcPct val="200000"/>
              </a:lnSpc>
              <a:buFont typeface="Arial" panose="020B0604020202020204" pitchFamily="34" charset="0"/>
              <a:buChar char="•"/>
            </a:pPr>
            <a:r>
              <a:rPr lang="en-US">
                <a:latin typeface="Century Gothic" panose="020B0502020202020204" pitchFamily="34" charset="0"/>
              </a:rPr>
              <a:t>Preventive maintenance alerts</a:t>
            </a:r>
          </a:p>
          <a:p>
            <a:pPr marL="285750" indent="-285750">
              <a:lnSpc>
                <a:spcPct val="200000"/>
              </a:lnSpc>
              <a:buFont typeface="Arial" panose="020B0604020202020204" pitchFamily="34" charset="0"/>
              <a:buChar char="•"/>
            </a:pPr>
            <a:r>
              <a:rPr lang="en-US">
                <a:latin typeface="Century Gothic" panose="020B0502020202020204" pitchFamily="34" charset="0"/>
              </a:rPr>
              <a:t>Integrated directly with ERP Finance &amp; Enterprise Portal.</a:t>
            </a:r>
          </a:p>
        </p:txBody>
      </p:sp>
      <p:sp>
        <p:nvSpPr>
          <p:cNvPr id="6" name="Content Placeholder 2">
            <a:extLst>
              <a:ext uri="{FF2B5EF4-FFF2-40B4-BE49-F238E27FC236}">
                <a16:creationId xmlns:a16="http://schemas.microsoft.com/office/drawing/2014/main" id="{B0BB5E61-7636-70C1-5A59-1B276C162A81}"/>
              </a:ext>
            </a:extLst>
          </p:cNvPr>
          <p:cNvSpPr txBox="1">
            <a:spLocks/>
          </p:cNvSpPr>
          <p:nvPr/>
        </p:nvSpPr>
        <p:spPr>
          <a:xfrm rot="16200000">
            <a:off x="-416152" y="3454215"/>
            <a:ext cx="3551568" cy="73768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6500" b="1">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latin typeface="Century Gothic" panose="020B0502020202020204" pitchFamily="34" charset="0"/>
              </a:rPr>
              <a:t>FEATURES</a:t>
            </a:r>
            <a:endParaRPr lang="en-NG" sz="5400" b="1">
              <a:ln w="9525">
                <a:solidFill>
                  <a:schemeClr val="bg1"/>
                </a:solidFill>
                <a:prstDash val="solid"/>
              </a:ln>
              <a:solidFill>
                <a:srgbClr val="FF0000"/>
              </a:solidFill>
              <a:effectLst>
                <a:outerShdw blurRad="12700" dist="38100" dir="2700000" algn="tl" rotWithShape="0">
                  <a:schemeClr val="accent5">
                    <a:lumMod val="60000"/>
                    <a:lumOff val="40000"/>
                  </a:schemeClr>
                </a:outerShdw>
              </a:effectLst>
              <a:latin typeface="Century Gothic" panose="020B0502020202020204" pitchFamily="34" charset="0"/>
            </a:endParaRPr>
          </a:p>
        </p:txBody>
      </p:sp>
    </p:spTree>
    <p:extLst>
      <p:ext uri="{BB962C8B-B14F-4D97-AF65-F5344CB8AC3E}">
        <p14:creationId xmlns:p14="http://schemas.microsoft.com/office/powerpoint/2010/main" val="3292093402"/>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746FA-4AC1-D712-949A-3BB2E14D3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59165-2906-DF3A-1185-2BD958C4847D}"/>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Reporting &amp; Analytics Platform</a:t>
            </a:r>
          </a:p>
        </p:txBody>
      </p:sp>
      <p:cxnSp>
        <p:nvCxnSpPr>
          <p:cNvPr id="4" name="Straight Connector 3">
            <a:extLst>
              <a:ext uri="{FF2B5EF4-FFF2-40B4-BE49-F238E27FC236}">
                <a16:creationId xmlns:a16="http://schemas.microsoft.com/office/drawing/2014/main" id="{943DA685-3479-3188-E496-C08A1E0FE503}"/>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4582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01AB-3FC8-330B-EB29-98A63CE00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96A9D-8BF5-DB83-97CA-62144B4AE2BF}"/>
              </a:ext>
            </a:extLst>
          </p:cNvPr>
          <p:cNvSpPr>
            <a:spLocks noGrp="1"/>
          </p:cNvSpPr>
          <p:nvPr>
            <p:ph type="title"/>
          </p:nvPr>
        </p:nvSpPr>
        <p:spPr>
          <a:xfrm>
            <a:off x="838200" y="620862"/>
            <a:ext cx="5994400" cy="661988"/>
          </a:xfrm>
        </p:spPr>
        <p:txBody>
          <a:bodyPr>
            <a:normAutofit/>
          </a:bodyPr>
          <a:lstStyle/>
          <a:p>
            <a:r>
              <a:rPr lang="en-US" sz="2800" b="1">
                <a:latin typeface="Century Gothic" panose="020B0502020202020204" pitchFamily="34" charset="0"/>
              </a:rPr>
              <a:t>Reporting Dashboard</a:t>
            </a:r>
          </a:p>
        </p:txBody>
      </p:sp>
      <p:sp>
        <p:nvSpPr>
          <p:cNvPr id="5" name="TextBox 4">
            <a:extLst>
              <a:ext uri="{FF2B5EF4-FFF2-40B4-BE49-F238E27FC236}">
                <a16:creationId xmlns:a16="http://schemas.microsoft.com/office/drawing/2014/main" id="{DC93F1D7-FFAE-F2EE-3982-3AD16B3C9988}"/>
              </a:ext>
            </a:extLst>
          </p:cNvPr>
          <p:cNvSpPr txBox="1"/>
          <p:nvPr/>
        </p:nvSpPr>
        <p:spPr>
          <a:xfrm>
            <a:off x="1795780" y="2033052"/>
            <a:ext cx="6413500" cy="2948179"/>
          </a:xfrm>
          <a:prstGeom prst="rect">
            <a:avLst/>
          </a:prstGeom>
          <a:noFill/>
        </p:spPr>
        <p:txBody>
          <a:bodyPr wrap="square">
            <a:spAutoFit/>
          </a:bodyPr>
          <a:lstStyle/>
          <a:p>
            <a:pPr>
              <a:lnSpc>
                <a:spcPct val="150000"/>
              </a:lnSpc>
            </a:pPr>
            <a:r>
              <a:rPr lang="en-US">
                <a:latin typeface="Century Gothic" panose="020B0502020202020204" pitchFamily="34" charset="0"/>
              </a:rPr>
              <a:t>Executive dashboards (Finance, Operations, Security)</a:t>
            </a:r>
          </a:p>
          <a:p>
            <a:pPr>
              <a:lnSpc>
                <a:spcPct val="150000"/>
              </a:lnSpc>
            </a:pPr>
            <a:endParaRPr lang="en-US">
              <a:latin typeface="Century Gothic" panose="020B0502020202020204" pitchFamily="34" charset="0"/>
            </a:endParaRPr>
          </a:p>
          <a:p>
            <a:pPr>
              <a:lnSpc>
                <a:spcPct val="150000"/>
              </a:lnSpc>
            </a:pPr>
            <a:r>
              <a:rPr lang="en-US">
                <a:latin typeface="Century Gothic" panose="020B0502020202020204" pitchFamily="34" charset="0"/>
              </a:rPr>
              <a:t>Investor &amp; land allocation analytics</a:t>
            </a:r>
          </a:p>
          <a:p>
            <a:pPr>
              <a:lnSpc>
                <a:spcPct val="150000"/>
              </a:lnSpc>
            </a:pPr>
            <a:endParaRPr lang="en-US">
              <a:latin typeface="Century Gothic" panose="020B0502020202020204" pitchFamily="34" charset="0"/>
            </a:endParaRPr>
          </a:p>
          <a:p>
            <a:pPr>
              <a:lnSpc>
                <a:spcPct val="150000"/>
              </a:lnSpc>
            </a:pPr>
            <a:r>
              <a:rPr lang="en-US">
                <a:latin typeface="Century Gothic" panose="020B0502020202020204" pitchFamily="34" charset="0"/>
              </a:rPr>
              <a:t>Compliance &amp; audit reports</a:t>
            </a:r>
          </a:p>
          <a:p>
            <a:pPr>
              <a:lnSpc>
                <a:spcPct val="150000"/>
              </a:lnSpc>
            </a:pPr>
            <a:endParaRPr lang="en-US">
              <a:latin typeface="Century Gothic" panose="020B0502020202020204" pitchFamily="34" charset="0"/>
            </a:endParaRPr>
          </a:p>
          <a:p>
            <a:pPr>
              <a:lnSpc>
                <a:spcPct val="150000"/>
              </a:lnSpc>
            </a:pPr>
            <a:r>
              <a:rPr lang="en-US">
                <a:latin typeface="Century Gothic" panose="020B0502020202020204" pitchFamily="34" charset="0"/>
              </a:rPr>
              <a:t>Import/export &amp; inventory insights</a:t>
            </a:r>
          </a:p>
        </p:txBody>
      </p:sp>
      <p:sp>
        <p:nvSpPr>
          <p:cNvPr id="7" name="TextBox 6">
            <a:extLst>
              <a:ext uri="{FF2B5EF4-FFF2-40B4-BE49-F238E27FC236}">
                <a16:creationId xmlns:a16="http://schemas.microsoft.com/office/drawing/2014/main" id="{764429E8-1782-F776-7B9B-D97C31E118BC}"/>
              </a:ext>
            </a:extLst>
          </p:cNvPr>
          <p:cNvSpPr txBox="1"/>
          <p:nvPr/>
        </p:nvSpPr>
        <p:spPr>
          <a:xfrm>
            <a:off x="8572500" y="5252903"/>
            <a:ext cx="3136900" cy="1200329"/>
          </a:xfrm>
          <a:prstGeom prst="rect">
            <a:avLst/>
          </a:prstGeom>
          <a:noFill/>
        </p:spPr>
        <p:txBody>
          <a:bodyPr wrap="square">
            <a:spAutoFit/>
          </a:bodyPr>
          <a:lstStyle/>
          <a:p>
            <a:pPr>
              <a:buNone/>
            </a:pPr>
            <a:r>
              <a:rPr lang="en-US" b="1">
                <a:latin typeface="Century Gothic" panose="020B0502020202020204" pitchFamily="34" charset="0"/>
              </a:rPr>
              <a:t>Technology Options</a:t>
            </a:r>
            <a:endParaRPr lang="en-US">
              <a:latin typeface="Century Gothic" panose="020B0502020202020204" pitchFamily="34" charset="0"/>
            </a:endParaRPr>
          </a:p>
          <a:p>
            <a:pPr marL="285750" indent="-285750">
              <a:buFont typeface="Arial" panose="020B0604020202020204" pitchFamily="34" charset="0"/>
              <a:buChar char="•"/>
            </a:pPr>
            <a:r>
              <a:rPr lang="en-US">
                <a:latin typeface="Century Gothic" panose="020B0502020202020204" pitchFamily="34" charset="0"/>
              </a:rPr>
              <a:t>Oracle Analytics Cloud</a:t>
            </a:r>
          </a:p>
          <a:p>
            <a:pPr marL="285750" indent="-285750">
              <a:buFont typeface="Arial" panose="020B0604020202020204" pitchFamily="34" charset="0"/>
              <a:buChar char="•"/>
            </a:pPr>
            <a:r>
              <a:rPr lang="en-US">
                <a:latin typeface="Century Gothic" panose="020B0502020202020204" pitchFamily="34" charset="0"/>
              </a:rPr>
              <a:t>Microsoft Power BI</a:t>
            </a:r>
          </a:p>
          <a:p>
            <a:pPr marL="285750" indent="-285750">
              <a:buFont typeface="Arial" panose="020B0604020202020204" pitchFamily="34" charset="0"/>
              <a:buChar char="•"/>
            </a:pPr>
            <a:r>
              <a:rPr lang="en-US">
                <a:latin typeface="Century Gothic" panose="020B0502020202020204" pitchFamily="34" charset="0"/>
              </a:rPr>
              <a:t>Tableau</a:t>
            </a:r>
          </a:p>
        </p:txBody>
      </p:sp>
      <p:sp>
        <p:nvSpPr>
          <p:cNvPr id="8" name="Oval 7">
            <a:extLst>
              <a:ext uri="{FF2B5EF4-FFF2-40B4-BE49-F238E27FC236}">
                <a16:creationId xmlns:a16="http://schemas.microsoft.com/office/drawing/2014/main" id="{117201C5-C24A-458E-55B4-9E07E89CDA82}"/>
              </a:ext>
            </a:extLst>
          </p:cNvPr>
          <p:cNvSpPr/>
          <p:nvPr/>
        </p:nvSpPr>
        <p:spPr>
          <a:xfrm>
            <a:off x="1057040" y="2007652"/>
            <a:ext cx="637140" cy="613079"/>
          </a:xfrm>
          <a:prstGeom prst="ellipse">
            <a:avLst/>
          </a:prstGeom>
          <a:solidFill>
            <a:srgbClr val="FF0000"/>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Century Gothic" panose="020B0502020202020204" pitchFamily="34" charset="0"/>
              </a:rPr>
              <a:t>+</a:t>
            </a:r>
            <a:endParaRPr lang="en-NG" sz="3600" b="1">
              <a:latin typeface="Century Gothic" panose="020B0502020202020204" pitchFamily="34" charset="0"/>
            </a:endParaRPr>
          </a:p>
        </p:txBody>
      </p:sp>
      <p:sp>
        <p:nvSpPr>
          <p:cNvPr id="9" name="Oval 8">
            <a:extLst>
              <a:ext uri="{FF2B5EF4-FFF2-40B4-BE49-F238E27FC236}">
                <a16:creationId xmlns:a16="http://schemas.microsoft.com/office/drawing/2014/main" id="{47B3E0CE-EC67-E13A-29CF-948445ABEFED}"/>
              </a:ext>
            </a:extLst>
          </p:cNvPr>
          <p:cNvSpPr/>
          <p:nvPr/>
        </p:nvSpPr>
        <p:spPr>
          <a:xfrm>
            <a:off x="1055435" y="2824490"/>
            <a:ext cx="637140" cy="613079"/>
          </a:xfrm>
          <a:prstGeom prst="ellipse">
            <a:avLst/>
          </a:prstGeom>
          <a:solidFill>
            <a:srgbClr val="FF0000"/>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Century Gothic" panose="020B0502020202020204" pitchFamily="34" charset="0"/>
              </a:rPr>
              <a:t>+</a:t>
            </a:r>
            <a:endParaRPr lang="en-NG" sz="3600" b="1">
              <a:latin typeface="Century Gothic" panose="020B0502020202020204" pitchFamily="34" charset="0"/>
            </a:endParaRPr>
          </a:p>
        </p:txBody>
      </p:sp>
      <p:sp>
        <p:nvSpPr>
          <p:cNvPr id="10" name="Oval 9">
            <a:extLst>
              <a:ext uri="{FF2B5EF4-FFF2-40B4-BE49-F238E27FC236}">
                <a16:creationId xmlns:a16="http://schemas.microsoft.com/office/drawing/2014/main" id="{83FA6DF4-52C4-BDCB-8D43-1422D9040E69}"/>
              </a:ext>
            </a:extLst>
          </p:cNvPr>
          <p:cNvSpPr/>
          <p:nvPr/>
        </p:nvSpPr>
        <p:spPr>
          <a:xfrm>
            <a:off x="1055168" y="3641328"/>
            <a:ext cx="637140" cy="613079"/>
          </a:xfrm>
          <a:prstGeom prst="ellipse">
            <a:avLst/>
          </a:prstGeom>
          <a:solidFill>
            <a:srgbClr val="FF0000"/>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Century Gothic" panose="020B0502020202020204" pitchFamily="34" charset="0"/>
              </a:rPr>
              <a:t>+</a:t>
            </a:r>
            <a:endParaRPr lang="en-NG" sz="3600" b="1">
              <a:latin typeface="Century Gothic" panose="020B0502020202020204" pitchFamily="34" charset="0"/>
            </a:endParaRPr>
          </a:p>
        </p:txBody>
      </p:sp>
      <p:sp>
        <p:nvSpPr>
          <p:cNvPr id="11" name="Oval 10">
            <a:extLst>
              <a:ext uri="{FF2B5EF4-FFF2-40B4-BE49-F238E27FC236}">
                <a16:creationId xmlns:a16="http://schemas.microsoft.com/office/drawing/2014/main" id="{8F4A749C-0FFB-339B-CB52-4048F82909DB}"/>
              </a:ext>
            </a:extLst>
          </p:cNvPr>
          <p:cNvSpPr/>
          <p:nvPr/>
        </p:nvSpPr>
        <p:spPr>
          <a:xfrm>
            <a:off x="1055034" y="4483566"/>
            <a:ext cx="637140" cy="613079"/>
          </a:xfrm>
          <a:prstGeom prst="ellipse">
            <a:avLst/>
          </a:prstGeom>
          <a:solidFill>
            <a:srgbClr val="FF0000"/>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latin typeface="Century Gothic" panose="020B0502020202020204" pitchFamily="34" charset="0"/>
              </a:rPr>
              <a:t>+</a:t>
            </a:r>
            <a:endParaRPr lang="en-NG" sz="3600" b="1">
              <a:latin typeface="Century Gothic" panose="020B0502020202020204" pitchFamily="34" charset="0"/>
            </a:endParaRPr>
          </a:p>
        </p:txBody>
      </p:sp>
      <p:sp>
        <p:nvSpPr>
          <p:cNvPr id="13" name="TextBox 12">
            <a:extLst>
              <a:ext uri="{FF2B5EF4-FFF2-40B4-BE49-F238E27FC236}">
                <a16:creationId xmlns:a16="http://schemas.microsoft.com/office/drawing/2014/main" id="{9929DC47-7733-6E98-78AB-E073D0D99594}"/>
              </a:ext>
            </a:extLst>
          </p:cNvPr>
          <p:cNvSpPr txBox="1"/>
          <p:nvPr/>
        </p:nvSpPr>
        <p:spPr>
          <a:xfrm>
            <a:off x="838200" y="1284511"/>
            <a:ext cx="6223000" cy="454996"/>
          </a:xfrm>
          <a:prstGeom prst="rect">
            <a:avLst/>
          </a:prstGeom>
          <a:noFill/>
        </p:spPr>
        <p:txBody>
          <a:bodyPr wrap="square">
            <a:spAutoFit/>
          </a:bodyPr>
          <a:lstStyle/>
          <a:p>
            <a:pPr>
              <a:lnSpc>
                <a:spcPct val="150000"/>
              </a:lnSpc>
              <a:buNone/>
            </a:pPr>
            <a:r>
              <a:rPr lang="en-US" sz="1800" b="1">
                <a:latin typeface="Century Gothic" panose="020B0502020202020204" pitchFamily="34" charset="0"/>
              </a:rPr>
              <a:t>Enterprise BI Layer</a:t>
            </a:r>
            <a:r>
              <a:rPr lang="en-US" sz="1800">
                <a:latin typeface="Century Gothic" panose="020B0502020202020204" pitchFamily="34" charset="0"/>
              </a:rPr>
              <a:t> delivering:</a:t>
            </a:r>
          </a:p>
        </p:txBody>
      </p:sp>
    </p:spTree>
    <p:extLst>
      <p:ext uri="{BB962C8B-B14F-4D97-AF65-F5344CB8AC3E}">
        <p14:creationId xmlns:p14="http://schemas.microsoft.com/office/powerpoint/2010/main" val="21908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A0E7-60BA-A33A-E4C9-9291C3434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EA19B-C56B-A6DD-6A16-4DD4448416F1}"/>
              </a:ext>
            </a:extLst>
          </p:cNvPr>
          <p:cNvSpPr>
            <a:spLocks noGrp="1"/>
          </p:cNvSpPr>
          <p:nvPr>
            <p:ph type="title"/>
          </p:nvPr>
        </p:nvSpPr>
        <p:spPr>
          <a:xfrm>
            <a:off x="1238250" y="3154680"/>
            <a:ext cx="9894570" cy="548640"/>
          </a:xfrm>
        </p:spPr>
        <p:txBody>
          <a:bodyPr>
            <a:normAutofit fontScale="90000"/>
          </a:bodyPr>
          <a:lstStyle/>
          <a:p>
            <a:pPr algn="r"/>
            <a:r>
              <a:rPr lang="en-US" sz="3600" b="1">
                <a:solidFill>
                  <a:schemeClr val="tx1">
                    <a:lumMod val="50000"/>
                    <a:lumOff val="50000"/>
                  </a:schemeClr>
                </a:solidFill>
                <a:latin typeface="Century Gothic" panose="020B0502020202020204" pitchFamily="34" charset="0"/>
              </a:rPr>
              <a:t>Enterprise &amp; Investor Portal</a:t>
            </a:r>
          </a:p>
        </p:txBody>
      </p:sp>
      <p:cxnSp>
        <p:nvCxnSpPr>
          <p:cNvPr id="4" name="Straight Connector 3">
            <a:extLst>
              <a:ext uri="{FF2B5EF4-FFF2-40B4-BE49-F238E27FC236}">
                <a16:creationId xmlns:a16="http://schemas.microsoft.com/office/drawing/2014/main" id="{086037FA-EEFA-1F6A-A9BD-3FF9131FF1D8}"/>
              </a:ext>
            </a:extLst>
          </p:cNvPr>
          <p:cNvCxnSpPr/>
          <p:nvPr/>
        </p:nvCxnSpPr>
        <p:spPr>
          <a:xfrm>
            <a:off x="1177290" y="3851910"/>
            <a:ext cx="99441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6485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7115-B260-34B4-E794-E71D3F71E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1F08F-9BF0-C746-79DE-209D8DA4AC5A}"/>
              </a:ext>
            </a:extLst>
          </p:cNvPr>
          <p:cNvSpPr>
            <a:spLocks noGrp="1"/>
          </p:cNvSpPr>
          <p:nvPr>
            <p:ph type="title"/>
          </p:nvPr>
        </p:nvSpPr>
        <p:spPr>
          <a:xfrm>
            <a:off x="838200" y="681890"/>
            <a:ext cx="6376416" cy="682070"/>
          </a:xfrm>
        </p:spPr>
        <p:txBody>
          <a:bodyPr>
            <a:noAutofit/>
          </a:bodyPr>
          <a:lstStyle/>
          <a:p>
            <a:r>
              <a:rPr lang="en-US" sz="2800" b="1">
                <a:latin typeface="Century Gothic" panose="020B0502020202020204" pitchFamily="34" charset="0"/>
              </a:rPr>
              <a:t>Enterprise &amp; Investor Portal</a:t>
            </a:r>
          </a:p>
        </p:txBody>
      </p:sp>
      <p:sp>
        <p:nvSpPr>
          <p:cNvPr id="5" name="TextBox 4">
            <a:extLst>
              <a:ext uri="{FF2B5EF4-FFF2-40B4-BE49-F238E27FC236}">
                <a16:creationId xmlns:a16="http://schemas.microsoft.com/office/drawing/2014/main" id="{FF812DE0-46C1-54FA-18C2-0887823CC47A}"/>
              </a:ext>
            </a:extLst>
          </p:cNvPr>
          <p:cNvSpPr txBox="1"/>
          <p:nvPr/>
        </p:nvSpPr>
        <p:spPr>
          <a:xfrm>
            <a:off x="838200" y="1390008"/>
            <a:ext cx="6094476" cy="369332"/>
          </a:xfrm>
          <a:prstGeom prst="rect">
            <a:avLst/>
          </a:prstGeom>
          <a:noFill/>
        </p:spPr>
        <p:txBody>
          <a:bodyPr wrap="square">
            <a:spAutoFit/>
          </a:bodyPr>
          <a:lstStyle/>
          <a:p>
            <a:r>
              <a:rPr lang="en-US">
                <a:latin typeface="Century Gothic" panose="020B0502020202020204" pitchFamily="34" charset="0"/>
              </a:rPr>
              <a:t>A secure, branded </a:t>
            </a:r>
            <a:r>
              <a:rPr lang="en-US" b="1">
                <a:latin typeface="Century Gothic" panose="020B0502020202020204" pitchFamily="34" charset="0"/>
              </a:rPr>
              <a:t>LFZDC Digital Portal</a:t>
            </a:r>
            <a:r>
              <a:rPr lang="en-US">
                <a:latin typeface="Century Gothic" panose="020B0502020202020204" pitchFamily="34" charset="0"/>
              </a:rPr>
              <a:t> for:</a:t>
            </a:r>
          </a:p>
        </p:txBody>
      </p:sp>
      <p:sp>
        <p:nvSpPr>
          <p:cNvPr id="6" name="Rectangle: Rounded Corners 5">
            <a:extLst>
              <a:ext uri="{FF2B5EF4-FFF2-40B4-BE49-F238E27FC236}">
                <a16:creationId xmlns:a16="http://schemas.microsoft.com/office/drawing/2014/main" id="{E2C5F55D-016D-47F6-C192-703B136275AF}"/>
              </a:ext>
            </a:extLst>
          </p:cNvPr>
          <p:cNvSpPr/>
          <p:nvPr/>
        </p:nvSpPr>
        <p:spPr>
          <a:xfrm>
            <a:off x="838200" y="2616772"/>
            <a:ext cx="2695073" cy="1212783"/>
          </a:xfrm>
          <a:prstGeom prst="roundRect">
            <a:avLst/>
          </a:prstGeom>
          <a:solidFill>
            <a:schemeClr val="bg2">
              <a:lumMod val="75000"/>
            </a:scheme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Investor onboarding &amp; profile management</a:t>
            </a:r>
          </a:p>
        </p:txBody>
      </p:sp>
      <p:sp>
        <p:nvSpPr>
          <p:cNvPr id="7" name="Rectangle: Rounded Corners 6">
            <a:extLst>
              <a:ext uri="{FF2B5EF4-FFF2-40B4-BE49-F238E27FC236}">
                <a16:creationId xmlns:a16="http://schemas.microsoft.com/office/drawing/2014/main" id="{1B7BCEBF-6F25-72BE-B814-A7040BCB903F}"/>
              </a:ext>
            </a:extLst>
          </p:cNvPr>
          <p:cNvSpPr/>
          <p:nvPr/>
        </p:nvSpPr>
        <p:spPr>
          <a:xfrm>
            <a:off x="4346609" y="2616771"/>
            <a:ext cx="2695073" cy="1212783"/>
          </a:xfrm>
          <a:prstGeom prst="roundRect">
            <a:avLst/>
          </a:prstGeom>
          <a:solidFill>
            <a:schemeClr val="bg2">
              <a:lumMod val="90000"/>
            </a:scheme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Permit &amp; license applications</a:t>
            </a:r>
          </a:p>
        </p:txBody>
      </p:sp>
      <p:sp>
        <p:nvSpPr>
          <p:cNvPr id="8" name="Rectangle: Rounded Corners 7">
            <a:extLst>
              <a:ext uri="{FF2B5EF4-FFF2-40B4-BE49-F238E27FC236}">
                <a16:creationId xmlns:a16="http://schemas.microsoft.com/office/drawing/2014/main" id="{A5A43692-FF2E-15BB-DFB0-C32F86CEBC83}"/>
              </a:ext>
            </a:extLst>
          </p:cNvPr>
          <p:cNvSpPr/>
          <p:nvPr/>
        </p:nvSpPr>
        <p:spPr>
          <a:xfrm>
            <a:off x="7845392" y="2616771"/>
            <a:ext cx="2695073" cy="1212783"/>
          </a:xfrm>
          <a:prstGeom prst="roundRect">
            <a:avLst/>
          </a:prstGeom>
          <a:solidFill>
            <a:schemeClr val="bg2">
              <a:lumMod val="75000"/>
            </a:scheme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Invoice viewing &amp; payment tracking</a:t>
            </a:r>
          </a:p>
        </p:txBody>
      </p:sp>
      <p:sp>
        <p:nvSpPr>
          <p:cNvPr id="9" name="Rectangle: Rounded Corners 8">
            <a:extLst>
              <a:ext uri="{FF2B5EF4-FFF2-40B4-BE49-F238E27FC236}">
                <a16:creationId xmlns:a16="http://schemas.microsoft.com/office/drawing/2014/main" id="{3A1D3C4E-EDE1-76FD-03A0-34D1D605355F}"/>
              </a:ext>
            </a:extLst>
          </p:cNvPr>
          <p:cNvSpPr/>
          <p:nvPr/>
        </p:nvSpPr>
        <p:spPr>
          <a:xfrm>
            <a:off x="838200" y="4281257"/>
            <a:ext cx="2695073" cy="1212783"/>
          </a:xfrm>
          <a:prstGeom prst="roundRect">
            <a:avLst/>
          </a:prstGeom>
          <a:solidFill>
            <a:schemeClr val="bg1">
              <a:lumMod val="50000"/>
            </a:scheme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Document download (DLAs, permits, receipts)</a:t>
            </a:r>
          </a:p>
        </p:txBody>
      </p:sp>
      <p:sp>
        <p:nvSpPr>
          <p:cNvPr id="10" name="Rectangle: Rounded Corners 9">
            <a:extLst>
              <a:ext uri="{FF2B5EF4-FFF2-40B4-BE49-F238E27FC236}">
                <a16:creationId xmlns:a16="http://schemas.microsoft.com/office/drawing/2014/main" id="{8B0E0906-4385-AFA2-5F87-A9E6C52BDD01}"/>
              </a:ext>
            </a:extLst>
          </p:cNvPr>
          <p:cNvSpPr/>
          <p:nvPr/>
        </p:nvSpPr>
        <p:spPr>
          <a:xfrm>
            <a:off x="4346609" y="4281256"/>
            <a:ext cx="2695073" cy="1212783"/>
          </a:xfrm>
          <a:prstGeom prst="roundRect">
            <a:avLst/>
          </a:prstGeom>
          <a:solidFill>
            <a:schemeClr val="bg1">
              <a:lumMod val="75000"/>
            </a:schemeClr>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Inspection &amp; compliance status</a:t>
            </a:r>
          </a:p>
        </p:txBody>
      </p:sp>
      <p:sp>
        <p:nvSpPr>
          <p:cNvPr id="11" name="Rectangle: Rounded Corners 10">
            <a:extLst>
              <a:ext uri="{FF2B5EF4-FFF2-40B4-BE49-F238E27FC236}">
                <a16:creationId xmlns:a16="http://schemas.microsoft.com/office/drawing/2014/main" id="{252ACCFF-2A5F-36CA-B0AA-0287D574AFAF}"/>
              </a:ext>
            </a:extLst>
          </p:cNvPr>
          <p:cNvSpPr/>
          <p:nvPr/>
        </p:nvSpPr>
        <p:spPr>
          <a:xfrm>
            <a:off x="7845392" y="4281256"/>
            <a:ext cx="2695073" cy="1212783"/>
          </a:xfrm>
          <a:prstGeom prst="roundRect">
            <a:avLst/>
          </a:prstGeom>
          <a:solidFill>
            <a:srgbClr val="FF0000"/>
          </a:solidFill>
          <a:ln>
            <a:noFill/>
          </a:ln>
          <a:effectLst>
            <a:innerShdw blurRad="63500" dist="50800" dir="162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Century Gothic" panose="020B0502020202020204" pitchFamily="34" charset="0"/>
              </a:rPr>
              <a:t>Notifications &amp; announcements</a:t>
            </a:r>
          </a:p>
        </p:txBody>
      </p:sp>
    </p:spTree>
    <p:extLst>
      <p:ext uri="{BB962C8B-B14F-4D97-AF65-F5344CB8AC3E}">
        <p14:creationId xmlns:p14="http://schemas.microsoft.com/office/powerpoint/2010/main" val="303448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C54E-B627-6C30-A087-6682C7FD9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B142C-8AA2-8D91-0912-45F42DBDF899}"/>
              </a:ext>
            </a:extLst>
          </p:cNvPr>
          <p:cNvSpPr>
            <a:spLocks noGrp="1"/>
          </p:cNvSpPr>
          <p:nvPr>
            <p:ph type="title"/>
          </p:nvPr>
        </p:nvSpPr>
        <p:spPr>
          <a:xfrm>
            <a:off x="742876" y="683804"/>
            <a:ext cx="4403378" cy="425246"/>
          </a:xfrm>
        </p:spPr>
        <p:txBody>
          <a:bodyPr>
            <a:noAutofit/>
          </a:bodyPr>
          <a:lstStyle/>
          <a:p>
            <a:r>
              <a:rPr lang="en-US" sz="2800" b="1">
                <a:latin typeface="Century Gothic" panose="020B0502020202020204" pitchFamily="34" charset="0"/>
              </a:rPr>
              <a:t>Integration &amp; API Layer</a:t>
            </a:r>
          </a:p>
        </p:txBody>
      </p:sp>
      <p:sp>
        <p:nvSpPr>
          <p:cNvPr id="5" name="TextBox 4">
            <a:extLst>
              <a:ext uri="{FF2B5EF4-FFF2-40B4-BE49-F238E27FC236}">
                <a16:creationId xmlns:a16="http://schemas.microsoft.com/office/drawing/2014/main" id="{F6D9DF9C-699C-4DA9-688C-391917931270}"/>
              </a:ext>
            </a:extLst>
          </p:cNvPr>
          <p:cNvSpPr txBox="1"/>
          <p:nvPr/>
        </p:nvSpPr>
        <p:spPr>
          <a:xfrm>
            <a:off x="9250121" y="3361417"/>
            <a:ext cx="2448402" cy="1406323"/>
          </a:xfrm>
          <a:prstGeom prst="wave">
            <a:avLst>
              <a:gd name="adj1" fmla="val 5400"/>
              <a:gd name="adj2" fmla="val -1013"/>
            </a:avLst>
          </a:prstGeom>
          <a:noFill/>
          <a:ln>
            <a:solidFill>
              <a:schemeClr val="bg1">
                <a:lumMod val="50000"/>
              </a:schemeClr>
            </a:solidFill>
          </a:ln>
        </p:spPr>
        <p:txBody>
          <a:bodyPr wrap="square">
            <a:spAutoFit/>
          </a:bodyPr>
          <a:lstStyle/>
          <a:p>
            <a:pPr>
              <a:lnSpc>
                <a:spcPct val="150000"/>
              </a:lnSpc>
              <a:buNone/>
            </a:pPr>
            <a:r>
              <a:rPr lang="en-US" sz="1200" b="1"/>
              <a:t>Technologies:</a:t>
            </a:r>
          </a:p>
          <a:p>
            <a:pPr marL="285750" indent="-285750">
              <a:lnSpc>
                <a:spcPct val="150000"/>
              </a:lnSpc>
              <a:buFont typeface="Arial" panose="020B0604020202020204" pitchFamily="34" charset="0"/>
              <a:buChar char="•"/>
            </a:pPr>
            <a:r>
              <a:rPr lang="en-US" sz="1100"/>
              <a:t>REST APIs</a:t>
            </a:r>
          </a:p>
          <a:p>
            <a:pPr marL="285750" indent="-285750">
              <a:lnSpc>
                <a:spcPct val="150000"/>
              </a:lnSpc>
              <a:buFont typeface="Arial" panose="020B0604020202020204" pitchFamily="34" charset="0"/>
              <a:buChar char="•"/>
            </a:pPr>
            <a:r>
              <a:rPr lang="en-US" sz="1100"/>
              <a:t>Middleware (Oracle Integration Cloud / Azure Logic Apps)</a:t>
            </a:r>
          </a:p>
        </p:txBody>
      </p:sp>
      <p:grpSp>
        <p:nvGrpSpPr>
          <p:cNvPr id="33" name="Group 32">
            <a:extLst>
              <a:ext uri="{FF2B5EF4-FFF2-40B4-BE49-F238E27FC236}">
                <a16:creationId xmlns:a16="http://schemas.microsoft.com/office/drawing/2014/main" id="{5CA6F1C6-F11B-A408-4A84-08821C7D7318}"/>
              </a:ext>
            </a:extLst>
          </p:cNvPr>
          <p:cNvGrpSpPr/>
          <p:nvPr/>
        </p:nvGrpSpPr>
        <p:grpSpPr>
          <a:xfrm>
            <a:off x="761402" y="1362764"/>
            <a:ext cx="7857398" cy="4892299"/>
            <a:chOff x="1593661" y="1559245"/>
            <a:chExt cx="7857398" cy="4892299"/>
          </a:xfrm>
        </p:grpSpPr>
        <p:sp>
          <p:nvSpPr>
            <p:cNvPr id="10" name="Oval 9">
              <a:extLst>
                <a:ext uri="{FF2B5EF4-FFF2-40B4-BE49-F238E27FC236}">
                  <a16:creationId xmlns:a16="http://schemas.microsoft.com/office/drawing/2014/main" id="{F3536172-4DB1-1A43-0EA4-77CF9D6AF347}"/>
                </a:ext>
              </a:extLst>
            </p:cNvPr>
            <p:cNvSpPr/>
            <p:nvPr/>
          </p:nvSpPr>
          <p:spPr>
            <a:xfrm>
              <a:off x="4846962" y="2692919"/>
              <a:ext cx="2506739" cy="2445768"/>
            </a:xfrm>
            <a:prstGeom prst="ellipse">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6" name="Oval 5">
              <a:extLst>
                <a:ext uri="{FF2B5EF4-FFF2-40B4-BE49-F238E27FC236}">
                  <a16:creationId xmlns:a16="http://schemas.microsoft.com/office/drawing/2014/main" id="{CCDDAA90-71FE-F65E-BA12-E977D59BFD3E}"/>
                </a:ext>
              </a:extLst>
            </p:cNvPr>
            <p:cNvSpPr/>
            <p:nvPr/>
          </p:nvSpPr>
          <p:spPr>
            <a:xfrm>
              <a:off x="4992946" y="2836095"/>
              <a:ext cx="2206108" cy="215941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entury Gothic" panose="020B0502020202020204" pitchFamily="34" charset="0"/>
                </a:rPr>
                <a:t>ERP</a:t>
              </a:r>
              <a:endParaRPr lang="en-NG" sz="4000" b="1">
                <a:solidFill>
                  <a:schemeClr val="tx1"/>
                </a:solidFill>
                <a:latin typeface="Century Gothic" panose="020B0502020202020204" pitchFamily="34" charset="0"/>
              </a:endParaRPr>
            </a:p>
          </p:txBody>
        </p:sp>
        <p:grpSp>
          <p:nvGrpSpPr>
            <p:cNvPr id="14" name="Group 13">
              <a:extLst>
                <a:ext uri="{FF2B5EF4-FFF2-40B4-BE49-F238E27FC236}">
                  <a16:creationId xmlns:a16="http://schemas.microsoft.com/office/drawing/2014/main" id="{CA340C17-D478-C101-7821-9F18AC2BDC86}"/>
                </a:ext>
              </a:extLst>
            </p:cNvPr>
            <p:cNvGrpSpPr/>
            <p:nvPr/>
          </p:nvGrpSpPr>
          <p:grpSpPr>
            <a:xfrm>
              <a:off x="3001819" y="1559245"/>
              <a:ext cx="1641749" cy="1471735"/>
              <a:chOff x="3205213" y="1696577"/>
              <a:chExt cx="1641749" cy="1471735"/>
            </a:xfrm>
          </p:grpSpPr>
          <p:sp>
            <p:nvSpPr>
              <p:cNvPr id="12" name="Moon 11">
                <a:extLst>
                  <a:ext uri="{FF2B5EF4-FFF2-40B4-BE49-F238E27FC236}">
                    <a16:creationId xmlns:a16="http://schemas.microsoft.com/office/drawing/2014/main" id="{8334BA66-A412-E874-A73D-630BE4B6B6CF}"/>
                  </a:ext>
                </a:extLst>
              </p:cNvPr>
              <p:cNvSpPr/>
              <p:nvPr/>
            </p:nvSpPr>
            <p:spPr>
              <a:xfrm>
                <a:off x="3408607" y="1700314"/>
                <a:ext cx="624377" cy="1458374"/>
              </a:xfrm>
              <a:prstGeom prst="mo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11" name="Oval 10">
                <a:extLst>
                  <a:ext uri="{FF2B5EF4-FFF2-40B4-BE49-F238E27FC236}">
                    <a16:creationId xmlns:a16="http://schemas.microsoft.com/office/drawing/2014/main" id="{02620495-30D3-47D3-F0A3-9BA9D4DA5A07}"/>
                  </a:ext>
                </a:extLst>
              </p:cNvPr>
              <p:cNvSpPr/>
              <p:nvPr/>
            </p:nvSpPr>
            <p:spPr>
              <a:xfrm>
                <a:off x="3418233" y="1696577"/>
                <a:ext cx="1428729" cy="1471735"/>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Century Gothic" panose="020B0502020202020204" pitchFamily="34" charset="0"/>
                  </a:rPr>
                  <a:t>SAP B1</a:t>
                </a:r>
                <a:endParaRPr lang="en-NG" sz="1400" b="1">
                  <a:solidFill>
                    <a:schemeClr val="tx1"/>
                  </a:solidFill>
                  <a:latin typeface="Century Gothic" panose="020B0502020202020204" pitchFamily="34" charset="0"/>
                </a:endParaRPr>
              </a:p>
            </p:txBody>
          </p:sp>
          <p:sp>
            <p:nvSpPr>
              <p:cNvPr id="13" name="Oval 12">
                <a:extLst>
                  <a:ext uri="{FF2B5EF4-FFF2-40B4-BE49-F238E27FC236}">
                    <a16:creationId xmlns:a16="http://schemas.microsoft.com/office/drawing/2014/main" id="{BD3CC24C-559E-2887-089D-F5C24A4EA026}"/>
                  </a:ext>
                </a:extLst>
              </p:cNvPr>
              <p:cNvSpPr/>
              <p:nvPr/>
            </p:nvSpPr>
            <p:spPr>
              <a:xfrm>
                <a:off x="3205213" y="2146434"/>
                <a:ext cx="404261" cy="385010"/>
              </a:xfrm>
              <a:prstGeom prst="ellipse">
                <a:avLst/>
              </a:prstGeom>
              <a:solidFill>
                <a:schemeClr val="bg2">
                  <a:lumMod val="75000"/>
                </a:scheme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Century Gothic" panose="020B0502020202020204" pitchFamily="34" charset="0"/>
                  </a:rPr>
                  <a:t>1</a:t>
                </a:r>
                <a:endParaRPr lang="en-NG" sz="1600">
                  <a:latin typeface="Century Gothic" panose="020B0502020202020204" pitchFamily="34" charset="0"/>
                </a:endParaRPr>
              </a:p>
            </p:txBody>
          </p:sp>
        </p:grpSp>
        <p:grpSp>
          <p:nvGrpSpPr>
            <p:cNvPr id="15" name="Group 14">
              <a:extLst>
                <a:ext uri="{FF2B5EF4-FFF2-40B4-BE49-F238E27FC236}">
                  <a16:creationId xmlns:a16="http://schemas.microsoft.com/office/drawing/2014/main" id="{7F6B30E9-320B-8F59-152D-218506BE07BA}"/>
                </a:ext>
              </a:extLst>
            </p:cNvPr>
            <p:cNvGrpSpPr/>
            <p:nvPr/>
          </p:nvGrpSpPr>
          <p:grpSpPr>
            <a:xfrm>
              <a:off x="1903277" y="3164496"/>
              <a:ext cx="1618061" cy="1471735"/>
              <a:chOff x="3205213" y="1738010"/>
              <a:chExt cx="1618061" cy="1471735"/>
            </a:xfrm>
          </p:grpSpPr>
          <p:sp>
            <p:nvSpPr>
              <p:cNvPr id="16" name="Moon 15">
                <a:extLst>
                  <a:ext uri="{FF2B5EF4-FFF2-40B4-BE49-F238E27FC236}">
                    <a16:creationId xmlns:a16="http://schemas.microsoft.com/office/drawing/2014/main" id="{3BB0F8BF-A1E9-4459-B102-8F734E3977DD}"/>
                  </a:ext>
                </a:extLst>
              </p:cNvPr>
              <p:cNvSpPr/>
              <p:nvPr/>
            </p:nvSpPr>
            <p:spPr>
              <a:xfrm>
                <a:off x="3389152" y="1739224"/>
                <a:ext cx="624377" cy="1458374"/>
              </a:xfrm>
              <a:prstGeom prst="moon">
                <a:avLst/>
              </a:prstGeom>
              <a:noFill/>
              <a:ln w="571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17" name="Oval 16">
                <a:extLst>
                  <a:ext uri="{FF2B5EF4-FFF2-40B4-BE49-F238E27FC236}">
                    <a16:creationId xmlns:a16="http://schemas.microsoft.com/office/drawing/2014/main" id="{AC3971B7-7875-ABA4-3567-779B5691E61C}"/>
                  </a:ext>
                </a:extLst>
              </p:cNvPr>
              <p:cNvSpPr/>
              <p:nvPr/>
            </p:nvSpPr>
            <p:spPr>
              <a:xfrm>
                <a:off x="3394545" y="1738010"/>
                <a:ext cx="1428729" cy="1471735"/>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Century Gothic" panose="020B0502020202020204" pitchFamily="34" charset="0"/>
                  </a:rPr>
                  <a:t>Metering Systems</a:t>
                </a:r>
                <a:endParaRPr lang="en-NG" sz="1400" b="1">
                  <a:solidFill>
                    <a:schemeClr val="tx1"/>
                  </a:solidFill>
                  <a:latin typeface="Century Gothic" panose="020B0502020202020204" pitchFamily="34" charset="0"/>
                </a:endParaRPr>
              </a:p>
            </p:txBody>
          </p:sp>
          <p:sp>
            <p:nvSpPr>
              <p:cNvPr id="18" name="Oval 17">
                <a:extLst>
                  <a:ext uri="{FF2B5EF4-FFF2-40B4-BE49-F238E27FC236}">
                    <a16:creationId xmlns:a16="http://schemas.microsoft.com/office/drawing/2014/main" id="{62610288-6475-C950-43CF-43FC2A5C69DF}"/>
                  </a:ext>
                </a:extLst>
              </p:cNvPr>
              <p:cNvSpPr/>
              <p:nvPr/>
            </p:nvSpPr>
            <p:spPr>
              <a:xfrm>
                <a:off x="3205213" y="2204799"/>
                <a:ext cx="404261" cy="385010"/>
              </a:xfrm>
              <a:prstGeom prst="ellipse">
                <a:avLst/>
              </a:prstGeom>
              <a:solidFill>
                <a:srgbClr val="FF0000"/>
              </a:solidFill>
              <a:ln w="381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Century Gothic" panose="020B0502020202020204" pitchFamily="34" charset="0"/>
                  </a:rPr>
                  <a:t>2</a:t>
                </a:r>
                <a:endParaRPr lang="en-NG" sz="1600">
                  <a:latin typeface="Century Gothic" panose="020B0502020202020204" pitchFamily="34" charset="0"/>
                </a:endParaRPr>
              </a:p>
            </p:txBody>
          </p:sp>
        </p:grpSp>
        <p:grpSp>
          <p:nvGrpSpPr>
            <p:cNvPr id="19" name="Group 18">
              <a:extLst>
                <a:ext uri="{FF2B5EF4-FFF2-40B4-BE49-F238E27FC236}">
                  <a16:creationId xmlns:a16="http://schemas.microsoft.com/office/drawing/2014/main" id="{61062F34-AC64-58DF-A954-57561D1090F5}"/>
                </a:ext>
              </a:extLst>
            </p:cNvPr>
            <p:cNvGrpSpPr/>
            <p:nvPr/>
          </p:nvGrpSpPr>
          <p:grpSpPr>
            <a:xfrm>
              <a:off x="2849440" y="4979809"/>
              <a:ext cx="1641749" cy="1471735"/>
              <a:chOff x="3205213" y="1696577"/>
              <a:chExt cx="1641749" cy="1471735"/>
            </a:xfrm>
          </p:grpSpPr>
          <p:sp>
            <p:nvSpPr>
              <p:cNvPr id="20" name="Moon 19">
                <a:extLst>
                  <a:ext uri="{FF2B5EF4-FFF2-40B4-BE49-F238E27FC236}">
                    <a16:creationId xmlns:a16="http://schemas.microsoft.com/office/drawing/2014/main" id="{014E4DC1-30A6-49B4-1071-FEE2550C3BA3}"/>
                  </a:ext>
                </a:extLst>
              </p:cNvPr>
              <p:cNvSpPr/>
              <p:nvPr/>
            </p:nvSpPr>
            <p:spPr>
              <a:xfrm>
                <a:off x="3408607" y="1700314"/>
                <a:ext cx="624377" cy="1458374"/>
              </a:xfrm>
              <a:prstGeom prst="mo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21" name="Oval 20">
                <a:extLst>
                  <a:ext uri="{FF2B5EF4-FFF2-40B4-BE49-F238E27FC236}">
                    <a16:creationId xmlns:a16="http://schemas.microsoft.com/office/drawing/2014/main" id="{23C6E266-C9BB-A13A-A636-AF904175AA73}"/>
                  </a:ext>
                </a:extLst>
              </p:cNvPr>
              <p:cNvSpPr/>
              <p:nvPr/>
            </p:nvSpPr>
            <p:spPr>
              <a:xfrm>
                <a:off x="3418233" y="1696577"/>
                <a:ext cx="1428729" cy="1471735"/>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Century Gothic" panose="020B0502020202020204" pitchFamily="34" charset="0"/>
                  </a:rPr>
                  <a:t>Security Systems +</a:t>
                </a:r>
              </a:p>
              <a:p>
                <a:pPr algn="ctr"/>
                <a:r>
                  <a:rPr lang="en-US" sz="1400" b="1">
                    <a:solidFill>
                      <a:schemeClr val="tx1"/>
                    </a:solidFill>
                    <a:latin typeface="Century Gothic" panose="020B0502020202020204" pitchFamily="34" charset="0"/>
                  </a:rPr>
                  <a:t>VMS</a:t>
                </a:r>
                <a:endParaRPr lang="en-NG" sz="1400" b="1">
                  <a:solidFill>
                    <a:schemeClr val="tx1"/>
                  </a:solidFill>
                  <a:latin typeface="Century Gothic" panose="020B0502020202020204" pitchFamily="34" charset="0"/>
                </a:endParaRPr>
              </a:p>
            </p:txBody>
          </p:sp>
          <p:sp>
            <p:nvSpPr>
              <p:cNvPr id="22" name="Oval 21">
                <a:extLst>
                  <a:ext uri="{FF2B5EF4-FFF2-40B4-BE49-F238E27FC236}">
                    <a16:creationId xmlns:a16="http://schemas.microsoft.com/office/drawing/2014/main" id="{5C62FC95-B660-6F4B-50B8-6063A705D406}"/>
                  </a:ext>
                </a:extLst>
              </p:cNvPr>
              <p:cNvSpPr/>
              <p:nvPr/>
            </p:nvSpPr>
            <p:spPr>
              <a:xfrm>
                <a:off x="3205213" y="2146434"/>
                <a:ext cx="404261" cy="385010"/>
              </a:xfrm>
              <a:prstGeom prst="ellipse">
                <a:avLst/>
              </a:prstGeom>
              <a:solidFill>
                <a:schemeClr val="bg2">
                  <a:lumMod val="75000"/>
                </a:scheme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Century Gothic" panose="020B0502020202020204" pitchFamily="34" charset="0"/>
                  </a:rPr>
                  <a:t>3</a:t>
                </a:r>
                <a:endParaRPr lang="en-NG" sz="1600">
                  <a:latin typeface="Century Gothic" panose="020B0502020202020204" pitchFamily="34" charset="0"/>
                </a:endParaRPr>
              </a:p>
            </p:txBody>
          </p:sp>
        </p:grpSp>
        <p:sp>
          <p:nvSpPr>
            <p:cNvPr id="24" name="TextBox 23">
              <a:extLst>
                <a:ext uri="{FF2B5EF4-FFF2-40B4-BE49-F238E27FC236}">
                  <a16:creationId xmlns:a16="http://schemas.microsoft.com/office/drawing/2014/main" id="{4ECB08E7-59DE-09EE-BC9B-B74CEED47F59}"/>
                </a:ext>
              </a:extLst>
            </p:cNvPr>
            <p:cNvSpPr txBox="1"/>
            <p:nvPr/>
          </p:nvSpPr>
          <p:spPr>
            <a:xfrm>
              <a:off x="1593661" y="1645164"/>
              <a:ext cx="1812419" cy="200055"/>
            </a:xfrm>
            <a:prstGeom prst="rect">
              <a:avLst/>
            </a:prstGeom>
            <a:noFill/>
          </p:spPr>
          <p:txBody>
            <a:bodyPr wrap="square">
              <a:spAutoFit/>
            </a:bodyPr>
            <a:lstStyle/>
            <a:p>
              <a:r>
                <a:rPr lang="en-US" sz="700">
                  <a:latin typeface="Century Gothic" panose="020B0502020202020204" pitchFamily="34" charset="0"/>
                </a:rPr>
                <a:t>Phased coexistence or migration</a:t>
              </a:r>
              <a:endParaRPr lang="en-NG" sz="700">
                <a:latin typeface="Century Gothic" panose="020B0502020202020204" pitchFamily="34" charset="0"/>
              </a:endParaRPr>
            </a:p>
          </p:txBody>
        </p:sp>
        <p:grpSp>
          <p:nvGrpSpPr>
            <p:cNvPr id="25" name="Group 24">
              <a:extLst>
                <a:ext uri="{FF2B5EF4-FFF2-40B4-BE49-F238E27FC236}">
                  <a16:creationId xmlns:a16="http://schemas.microsoft.com/office/drawing/2014/main" id="{24D31C55-20CE-DDEE-30FF-ABA6AFAA328A}"/>
                </a:ext>
              </a:extLst>
            </p:cNvPr>
            <p:cNvGrpSpPr/>
            <p:nvPr/>
          </p:nvGrpSpPr>
          <p:grpSpPr>
            <a:xfrm flipH="1">
              <a:off x="7809310" y="1559245"/>
              <a:ext cx="1641749" cy="1471735"/>
              <a:chOff x="3205213" y="1696577"/>
              <a:chExt cx="1641749" cy="1471735"/>
            </a:xfrm>
          </p:grpSpPr>
          <p:sp>
            <p:nvSpPr>
              <p:cNvPr id="26" name="Moon 25">
                <a:extLst>
                  <a:ext uri="{FF2B5EF4-FFF2-40B4-BE49-F238E27FC236}">
                    <a16:creationId xmlns:a16="http://schemas.microsoft.com/office/drawing/2014/main" id="{89E862CE-C533-3709-0EF4-599C5B1BDE44}"/>
                  </a:ext>
                </a:extLst>
              </p:cNvPr>
              <p:cNvSpPr/>
              <p:nvPr/>
            </p:nvSpPr>
            <p:spPr>
              <a:xfrm>
                <a:off x="3408607" y="1700314"/>
                <a:ext cx="624377" cy="1458374"/>
              </a:xfrm>
              <a:prstGeom prst="mo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27" name="Oval 26">
                <a:extLst>
                  <a:ext uri="{FF2B5EF4-FFF2-40B4-BE49-F238E27FC236}">
                    <a16:creationId xmlns:a16="http://schemas.microsoft.com/office/drawing/2014/main" id="{F3CF8BFE-D479-AA27-5886-03E12744B9D7}"/>
                  </a:ext>
                </a:extLst>
              </p:cNvPr>
              <p:cNvSpPr/>
              <p:nvPr/>
            </p:nvSpPr>
            <p:spPr>
              <a:xfrm>
                <a:off x="3418233" y="1696577"/>
                <a:ext cx="1428729" cy="1471735"/>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entury Gothic" panose="020B0502020202020204" pitchFamily="34" charset="0"/>
                  </a:rPr>
                  <a:t>Doc &amp; Records Mgt</a:t>
                </a:r>
                <a:endParaRPr lang="en-NG" sz="1200" b="1">
                  <a:solidFill>
                    <a:schemeClr val="tx1"/>
                  </a:solidFill>
                  <a:latin typeface="Century Gothic" panose="020B0502020202020204" pitchFamily="34" charset="0"/>
                </a:endParaRPr>
              </a:p>
            </p:txBody>
          </p:sp>
          <p:sp>
            <p:nvSpPr>
              <p:cNvPr id="28" name="Oval 27">
                <a:extLst>
                  <a:ext uri="{FF2B5EF4-FFF2-40B4-BE49-F238E27FC236}">
                    <a16:creationId xmlns:a16="http://schemas.microsoft.com/office/drawing/2014/main" id="{E4EEA93C-4532-E699-33C6-C4463E3DE2B2}"/>
                  </a:ext>
                </a:extLst>
              </p:cNvPr>
              <p:cNvSpPr/>
              <p:nvPr/>
            </p:nvSpPr>
            <p:spPr>
              <a:xfrm>
                <a:off x="3205213" y="2146434"/>
                <a:ext cx="404261" cy="385010"/>
              </a:xfrm>
              <a:prstGeom prst="ellipse">
                <a:avLst/>
              </a:prstGeom>
              <a:solidFill>
                <a:schemeClr val="bg2">
                  <a:lumMod val="75000"/>
                </a:scheme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Century Gothic" panose="020B0502020202020204" pitchFamily="34" charset="0"/>
                  </a:rPr>
                  <a:t>4</a:t>
                </a:r>
                <a:endParaRPr lang="en-NG" sz="1600">
                  <a:latin typeface="Century Gothic" panose="020B0502020202020204" pitchFamily="34" charset="0"/>
                </a:endParaRPr>
              </a:p>
            </p:txBody>
          </p:sp>
        </p:grpSp>
        <p:grpSp>
          <p:nvGrpSpPr>
            <p:cNvPr id="29" name="Group 28">
              <a:extLst>
                <a:ext uri="{FF2B5EF4-FFF2-40B4-BE49-F238E27FC236}">
                  <a16:creationId xmlns:a16="http://schemas.microsoft.com/office/drawing/2014/main" id="{F6C171EA-E8C6-ED09-2062-C97D6EBB21A6}"/>
                </a:ext>
              </a:extLst>
            </p:cNvPr>
            <p:cNvGrpSpPr/>
            <p:nvPr/>
          </p:nvGrpSpPr>
          <p:grpSpPr>
            <a:xfrm flipH="1">
              <a:off x="7656931" y="4979809"/>
              <a:ext cx="1641749" cy="1471735"/>
              <a:chOff x="3205213" y="1696577"/>
              <a:chExt cx="1641749" cy="1471735"/>
            </a:xfrm>
          </p:grpSpPr>
          <p:sp>
            <p:nvSpPr>
              <p:cNvPr id="30" name="Moon 29">
                <a:extLst>
                  <a:ext uri="{FF2B5EF4-FFF2-40B4-BE49-F238E27FC236}">
                    <a16:creationId xmlns:a16="http://schemas.microsoft.com/office/drawing/2014/main" id="{54E7EF8B-AA78-F2CA-DFFA-AE29BAE7676B}"/>
                  </a:ext>
                </a:extLst>
              </p:cNvPr>
              <p:cNvSpPr/>
              <p:nvPr/>
            </p:nvSpPr>
            <p:spPr>
              <a:xfrm>
                <a:off x="3408607" y="1700314"/>
                <a:ext cx="624377" cy="1458374"/>
              </a:xfrm>
              <a:prstGeom prst="moon">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sz="1600">
                  <a:latin typeface="Century Gothic" panose="020B0502020202020204" pitchFamily="34" charset="0"/>
                </a:endParaRPr>
              </a:p>
            </p:txBody>
          </p:sp>
          <p:sp>
            <p:nvSpPr>
              <p:cNvPr id="31" name="Oval 30">
                <a:extLst>
                  <a:ext uri="{FF2B5EF4-FFF2-40B4-BE49-F238E27FC236}">
                    <a16:creationId xmlns:a16="http://schemas.microsoft.com/office/drawing/2014/main" id="{8165F41A-763A-4081-1E06-35B41B3CC1A5}"/>
                  </a:ext>
                </a:extLst>
              </p:cNvPr>
              <p:cNvSpPr/>
              <p:nvPr/>
            </p:nvSpPr>
            <p:spPr>
              <a:xfrm>
                <a:off x="3418233" y="1696577"/>
                <a:ext cx="1428729" cy="1471735"/>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entury Gothic" panose="020B0502020202020204" pitchFamily="34" charset="0"/>
                  </a:rPr>
                  <a:t>Enterprise &amp; Investor Portal</a:t>
                </a:r>
              </a:p>
            </p:txBody>
          </p:sp>
          <p:sp>
            <p:nvSpPr>
              <p:cNvPr id="32" name="Oval 31">
                <a:extLst>
                  <a:ext uri="{FF2B5EF4-FFF2-40B4-BE49-F238E27FC236}">
                    <a16:creationId xmlns:a16="http://schemas.microsoft.com/office/drawing/2014/main" id="{EA8C8787-FD75-A471-FB00-B5BF9B849724}"/>
                  </a:ext>
                </a:extLst>
              </p:cNvPr>
              <p:cNvSpPr/>
              <p:nvPr/>
            </p:nvSpPr>
            <p:spPr>
              <a:xfrm>
                <a:off x="3205213" y="2146434"/>
                <a:ext cx="404261" cy="385010"/>
              </a:xfrm>
              <a:prstGeom prst="ellipse">
                <a:avLst/>
              </a:prstGeom>
              <a:solidFill>
                <a:schemeClr val="bg2">
                  <a:lumMod val="75000"/>
                </a:scheme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latin typeface="Century Gothic" panose="020B0502020202020204" pitchFamily="34" charset="0"/>
                  </a:rPr>
                  <a:t>5</a:t>
                </a:r>
                <a:endParaRPr lang="en-NG" sz="1600">
                  <a:latin typeface="Century Gothic" panose="020B0502020202020204" pitchFamily="34" charset="0"/>
                </a:endParaRPr>
              </a:p>
            </p:txBody>
          </p:sp>
        </p:grpSp>
      </p:grpSp>
      <p:cxnSp>
        <p:nvCxnSpPr>
          <p:cNvPr id="35" name="Straight Connector 34">
            <a:extLst>
              <a:ext uri="{FF2B5EF4-FFF2-40B4-BE49-F238E27FC236}">
                <a16:creationId xmlns:a16="http://schemas.microsoft.com/office/drawing/2014/main" id="{F25FE7C4-C3C8-23C7-F05F-B3E112B60B34}"/>
              </a:ext>
            </a:extLst>
          </p:cNvPr>
          <p:cNvCxnSpPr>
            <a:cxnSpLocks/>
            <a:stCxn id="10" idx="1"/>
            <a:endCxn id="11" idx="5"/>
          </p:cNvCxnSpPr>
          <p:nvPr/>
        </p:nvCxnSpPr>
        <p:spPr>
          <a:xfrm flipH="1" flipV="1">
            <a:off x="3602076" y="2618968"/>
            <a:ext cx="779730" cy="235644"/>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4A3D060-2253-F2A2-F9BD-C61336890A95}"/>
              </a:ext>
            </a:extLst>
          </p:cNvPr>
          <p:cNvCxnSpPr>
            <a:cxnSpLocks/>
            <a:stCxn id="10" idx="2"/>
            <a:endCxn id="17" idx="6"/>
          </p:cNvCxnSpPr>
          <p:nvPr/>
        </p:nvCxnSpPr>
        <p:spPr>
          <a:xfrm flipH="1" flipV="1">
            <a:off x="2689079" y="3703883"/>
            <a:ext cx="1325624" cy="15439"/>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E015C4D-C3D4-10E0-744E-578B63E005A0}"/>
              </a:ext>
            </a:extLst>
          </p:cNvPr>
          <p:cNvCxnSpPr>
            <a:cxnSpLocks/>
            <a:stCxn id="10" idx="3"/>
          </p:cNvCxnSpPr>
          <p:nvPr/>
        </p:nvCxnSpPr>
        <p:spPr>
          <a:xfrm flipH="1">
            <a:off x="3523141" y="4584032"/>
            <a:ext cx="858665" cy="501350"/>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E71BD09-998A-B9A7-DF22-9B9F43DC8F43}"/>
              </a:ext>
            </a:extLst>
          </p:cNvPr>
          <p:cNvCxnSpPr>
            <a:cxnSpLocks/>
            <a:stCxn id="10" idx="7"/>
            <a:endCxn id="27" idx="5"/>
          </p:cNvCxnSpPr>
          <p:nvPr/>
        </p:nvCxnSpPr>
        <p:spPr>
          <a:xfrm flipV="1">
            <a:off x="6154339" y="2618968"/>
            <a:ext cx="1031945" cy="235644"/>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970BF-481F-3E72-577F-8B820FAF2C3E}"/>
              </a:ext>
            </a:extLst>
          </p:cNvPr>
          <p:cNvCxnSpPr>
            <a:cxnSpLocks/>
            <a:stCxn id="10" idx="5"/>
            <a:endCxn id="31" idx="7"/>
          </p:cNvCxnSpPr>
          <p:nvPr/>
        </p:nvCxnSpPr>
        <p:spPr>
          <a:xfrm>
            <a:off x="6154339" y="4584032"/>
            <a:ext cx="879566" cy="414827"/>
          </a:xfrm>
          <a:prstGeom prst="line">
            <a:avLst/>
          </a:prstGeom>
          <a:ln>
            <a:solidFill>
              <a:srgbClr val="FF0000"/>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6E04265-2998-F355-AE85-77C5453B5111}"/>
              </a:ext>
            </a:extLst>
          </p:cNvPr>
          <p:cNvSpPr txBox="1"/>
          <p:nvPr/>
        </p:nvSpPr>
        <p:spPr>
          <a:xfrm>
            <a:off x="4439084" y="3978085"/>
            <a:ext cx="1559060" cy="461665"/>
          </a:xfrm>
          <a:prstGeom prst="rect">
            <a:avLst/>
          </a:prstGeom>
          <a:noFill/>
        </p:spPr>
        <p:txBody>
          <a:bodyPr wrap="square">
            <a:spAutoFit/>
          </a:bodyPr>
          <a:lstStyle/>
          <a:p>
            <a:pPr algn="ctr"/>
            <a:r>
              <a:rPr lang="en-US" sz="1200"/>
              <a:t>+ Reporting &amp; Analytics Platform</a:t>
            </a:r>
          </a:p>
        </p:txBody>
      </p:sp>
    </p:spTree>
    <p:extLst>
      <p:ext uri="{BB962C8B-B14F-4D97-AF65-F5344CB8AC3E}">
        <p14:creationId xmlns:p14="http://schemas.microsoft.com/office/powerpoint/2010/main" val="3535000223"/>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7EB6-C6A0-29F9-92FC-5F6C21EDC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C9CDB-3F7D-F96A-4EC3-4B63599B8EB8}"/>
              </a:ext>
            </a:extLst>
          </p:cNvPr>
          <p:cNvSpPr>
            <a:spLocks noGrp="1"/>
          </p:cNvSpPr>
          <p:nvPr>
            <p:ph type="title"/>
          </p:nvPr>
        </p:nvSpPr>
        <p:spPr>
          <a:xfrm>
            <a:off x="838200" y="697230"/>
            <a:ext cx="10515600" cy="426203"/>
          </a:xfrm>
        </p:spPr>
        <p:txBody>
          <a:bodyPr>
            <a:noAutofit/>
          </a:bodyPr>
          <a:lstStyle/>
          <a:p>
            <a:r>
              <a:rPr lang="en-US" sz="2800" b="1">
                <a:latin typeface="Century Gothic" panose="020B0502020202020204" pitchFamily="34" charset="0"/>
              </a:rPr>
              <a:t>Solution Coverage by Department &amp; Phase</a:t>
            </a:r>
          </a:p>
        </p:txBody>
      </p:sp>
      <p:graphicFrame>
        <p:nvGraphicFramePr>
          <p:cNvPr id="16" name="Table 15">
            <a:extLst>
              <a:ext uri="{FF2B5EF4-FFF2-40B4-BE49-F238E27FC236}">
                <a16:creationId xmlns:a16="http://schemas.microsoft.com/office/drawing/2014/main" id="{6476BD8B-5BBD-64CE-AA39-C00674ECDDC2}"/>
              </a:ext>
            </a:extLst>
          </p:cNvPr>
          <p:cNvGraphicFramePr>
            <a:graphicFrameLocks noGrp="1"/>
          </p:cNvGraphicFramePr>
          <p:nvPr>
            <p:extLst>
              <p:ext uri="{D42A27DB-BD31-4B8C-83A1-F6EECF244321}">
                <p14:modId xmlns:p14="http://schemas.microsoft.com/office/powerpoint/2010/main" val="3003890382"/>
              </p:ext>
            </p:extLst>
          </p:nvPr>
        </p:nvGraphicFramePr>
        <p:xfrm>
          <a:off x="838200" y="1187123"/>
          <a:ext cx="10515600" cy="5181779"/>
        </p:xfrm>
        <a:graphic>
          <a:graphicData uri="http://schemas.openxmlformats.org/drawingml/2006/table">
            <a:tbl>
              <a:tblPr/>
              <a:tblGrid>
                <a:gridCol w="2062537">
                  <a:extLst>
                    <a:ext uri="{9D8B030D-6E8A-4147-A177-3AD203B41FA5}">
                      <a16:colId xmlns:a16="http://schemas.microsoft.com/office/drawing/2014/main" val="545425158"/>
                    </a:ext>
                  </a:extLst>
                </a:gridCol>
                <a:gridCol w="3195263">
                  <a:extLst>
                    <a:ext uri="{9D8B030D-6E8A-4147-A177-3AD203B41FA5}">
                      <a16:colId xmlns:a16="http://schemas.microsoft.com/office/drawing/2014/main" val="2120096558"/>
                    </a:ext>
                  </a:extLst>
                </a:gridCol>
                <a:gridCol w="2850118">
                  <a:extLst>
                    <a:ext uri="{9D8B030D-6E8A-4147-A177-3AD203B41FA5}">
                      <a16:colId xmlns:a16="http://schemas.microsoft.com/office/drawing/2014/main" val="2554704808"/>
                    </a:ext>
                  </a:extLst>
                </a:gridCol>
                <a:gridCol w="2407682">
                  <a:extLst>
                    <a:ext uri="{9D8B030D-6E8A-4147-A177-3AD203B41FA5}">
                      <a16:colId xmlns:a16="http://schemas.microsoft.com/office/drawing/2014/main" val="3413194121"/>
                    </a:ext>
                  </a:extLst>
                </a:gridCol>
              </a:tblGrid>
              <a:tr h="413340">
                <a:tc>
                  <a:txBody>
                    <a:bodyPr/>
                    <a:lstStyle/>
                    <a:p>
                      <a:pPr algn="ctr">
                        <a:buNone/>
                      </a:pPr>
                      <a:r>
                        <a:rPr lang="en-US" sz="1600" b="1">
                          <a:latin typeface="Century Gothic" panose="020B0502020202020204" pitchFamily="34" charset="0"/>
                        </a:rPr>
                        <a:t>Department</a:t>
                      </a:r>
                    </a:p>
                  </a:txBody>
                  <a:tcPr marL="46291" marR="46291" marT="23145" marB="23145" anchor="ctr">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buNone/>
                      </a:pPr>
                      <a:r>
                        <a:rPr lang="en-US" sz="1600" b="1">
                          <a:latin typeface="Century Gothic" panose="020B0502020202020204" pitchFamily="34" charset="0"/>
                        </a:rPr>
                        <a:t>Key Digital Needs</a:t>
                      </a:r>
                    </a:p>
                  </a:txBody>
                  <a:tcPr marL="46291" marR="46291" marT="23145" marB="23145"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buNone/>
                      </a:pPr>
                      <a:r>
                        <a:rPr lang="en-US" sz="1600" b="1">
                          <a:latin typeface="Century Gothic" panose="020B0502020202020204" pitchFamily="34" charset="0"/>
                        </a:rPr>
                        <a:t>Proposed Solution(s)</a:t>
                      </a:r>
                    </a:p>
                  </a:txBody>
                  <a:tcPr marL="46291" marR="46291" marT="23145" marB="23145" anchor="ctr">
                    <a:lnL>
                      <a:noFill/>
                    </a:lnL>
                    <a:lnR>
                      <a:noFill/>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buNone/>
                      </a:pPr>
                      <a:r>
                        <a:rPr lang="en-US" sz="1600" b="1">
                          <a:latin typeface="Century Gothic" panose="020B0502020202020204" pitchFamily="34" charset="0"/>
                        </a:rPr>
                        <a:t>Implementation Phase</a:t>
                      </a:r>
                    </a:p>
                  </a:txBody>
                  <a:tcPr marL="46291" marR="46291" marT="23145" marB="23145" anchor="ctr">
                    <a:lnL>
                      <a:noFill/>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524411265"/>
                  </a:ext>
                </a:extLst>
              </a:tr>
              <a:tr h="651198">
                <a:tc>
                  <a:txBody>
                    <a:bodyPr/>
                    <a:lstStyle/>
                    <a:p>
                      <a:pPr>
                        <a:buNone/>
                      </a:pPr>
                      <a:r>
                        <a:rPr lang="en-US" sz="1200" b="1">
                          <a:latin typeface="Century Gothic" panose="020B0502020202020204" pitchFamily="34" charset="0"/>
                        </a:rPr>
                        <a:t>Finance</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Receivables, billing, budgeting, revenue recognition, utilities reconciliation</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(Finance), BI &amp; Analytics, Integration Layer</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1 </a:t>
                      </a:r>
                    </a:p>
                    <a:p>
                      <a:pPr algn="ctr">
                        <a:buNone/>
                      </a:pPr>
                      <a:r>
                        <a:rPr lang="en-US" sz="1200">
                          <a:latin typeface="Century Gothic" panose="020B0502020202020204" pitchFamily="34" charset="0"/>
                        </a:rPr>
                        <a:t>(Core), Phase 2 (Extensions)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289512159"/>
                  </a:ext>
                </a:extLst>
              </a:tr>
              <a:tr h="500922">
                <a:tc>
                  <a:txBody>
                    <a:bodyPr/>
                    <a:lstStyle/>
                    <a:p>
                      <a:pPr>
                        <a:buNone/>
                      </a:pPr>
                      <a:r>
                        <a:rPr lang="en-US" sz="1200" b="1">
                          <a:latin typeface="Century Gothic" panose="020B0502020202020204" pitchFamily="34" charset="0"/>
                        </a:rPr>
                        <a:t>Human Resources</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Core HR, payroll, leave, performance, ESS, digitization</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(HCM), DMS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1</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72388102"/>
                  </a:ext>
                </a:extLst>
              </a:tr>
              <a:tr h="500922">
                <a:tc>
                  <a:txBody>
                    <a:bodyPr/>
                    <a:lstStyle/>
                    <a:p>
                      <a:pPr>
                        <a:buNone/>
                      </a:pPr>
                      <a:r>
                        <a:rPr lang="en-US" sz="1200" b="1">
                          <a:latin typeface="Century Gothic" panose="020B0502020202020204" pitchFamily="34" charset="0"/>
                        </a:rPr>
                        <a:t>Legal</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Contract lifecycle, approvals, compliance, NEPZA tracking</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(Contracts), DMS, Workflow Engine</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2</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036403199"/>
                  </a:ext>
                </a:extLst>
              </a:tr>
              <a:tr h="500922">
                <a:tc>
                  <a:txBody>
                    <a:bodyPr/>
                    <a:lstStyle/>
                    <a:p>
                      <a:pPr>
                        <a:buNone/>
                      </a:pPr>
                      <a:r>
                        <a:rPr lang="en-US" sz="1200" b="1">
                          <a:latin typeface="Century Gothic" panose="020B0502020202020204" pitchFamily="34" charset="0"/>
                        </a:rPr>
                        <a:t>Marketing / Investor Relations</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Investor CRM, land allocation, invoicing, progress tracking</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Enterprise &amp; Investor Portal, ERP (CRM), BI</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2</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913190703"/>
                  </a:ext>
                </a:extLst>
              </a:tr>
              <a:tr h="651198">
                <a:tc>
                  <a:txBody>
                    <a:bodyPr/>
                    <a:lstStyle/>
                    <a:p>
                      <a:pPr>
                        <a:buNone/>
                      </a:pPr>
                      <a:r>
                        <a:rPr lang="en-US" sz="1200" b="1">
                          <a:latin typeface="Century Gothic" panose="020B0502020202020204" pitchFamily="34" charset="0"/>
                        </a:rPr>
                        <a:t>Operations</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Enterprise registry, permits, compliance, inventory, imports/exports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(Operations), Portal, DMS, Analytics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2</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00602426"/>
                  </a:ext>
                </a:extLst>
              </a:tr>
              <a:tr h="500922">
                <a:tc>
                  <a:txBody>
                    <a:bodyPr/>
                    <a:lstStyle/>
                    <a:p>
                      <a:pPr>
                        <a:buNone/>
                      </a:pPr>
                      <a:r>
                        <a:rPr lang="en-US" sz="1200" b="1">
                          <a:latin typeface="Century Gothic" panose="020B0502020202020204" pitchFamily="34" charset="0"/>
                        </a:rPr>
                        <a:t>Construction</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Project monitoring, milestone validation, cost tracking</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(Projects), Construction Monitoring Tools, BI</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1</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1815825"/>
                  </a:ext>
                </a:extLst>
              </a:tr>
              <a:tr h="415226">
                <a:tc>
                  <a:txBody>
                    <a:bodyPr/>
                    <a:lstStyle/>
                    <a:p>
                      <a:pPr>
                        <a:buNone/>
                      </a:pPr>
                      <a:r>
                        <a:rPr lang="en-US" sz="1200" b="1">
                          <a:latin typeface="Century Gothic" panose="020B0502020202020204" pitchFamily="34" charset="0"/>
                        </a:rPr>
                        <a:t>PUSD (Utilities)</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Metering, utility billing, workflows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Smart Metering System, ERP Integration, BI</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2</a:t>
                      </a:r>
                    </a:p>
                    <a:p>
                      <a:pPr algn="ctr">
                        <a:buNone/>
                      </a:pPr>
                      <a:r>
                        <a:rPr lang="en-US" sz="1200">
                          <a:latin typeface="Century Gothic" panose="020B0502020202020204" pitchFamily="34" charset="0"/>
                        </a:rPr>
                        <a:t>(Pilot), Phase 3 (Scale)</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77850162"/>
                  </a:ext>
                </a:extLst>
              </a:tr>
              <a:tr h="500922">
                <a:tc>
                  <a:txBody>
                    <a:bodyPr/>
                    <a:lstStyle/>
                    <a:p>
                      <a:pPr>
                        <a:buNone/>
                      </a:pPr>
                      <a:r>
                        <a:rPr lang="en-US" sz="1200" b="1">
                          <a:latin typeface="Century Gothic" panose="020B0502020202020204" pitchFamily="34" charset="0"/>
                        </a:rPr>
                        <a:t>Security</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Visitor mgmt, ANPR, access control, CCTV, incidents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Visitor &amp; Vehicle </a:t>
                      </a:r>
                      <a:r>
                        <a:rPr lang="en-US" sz="1200" err="1">
                          <a:latin typeface="Century Gothic" panose="020B0502020202020204" pitchFamily="34" charset="0"/>
                        </a:rPr>
                        <a:t>Mgmt</a:t>
                      </a:r>
                      <a:r>
                        <a:rPr lang="en-US" sz="1200">
                          <a:latin typeface="Century Gothic" panose="020B0502020202020204" pitchFamily="34" charset="0"/>
                        </a:rPr>
                        <a:t>, Access Control, CCTV, Incident </a:t>
                      </a:r>
                      <a:r>
                        <a:rPr lang="en-US" sz="1200" err="1">
                          <a:latin typeface="Century Gothic" panose="020B0502020202020204" pitchFamily="34" charset="0"/>
                        </a:rPr>
                        <a:t>Mgmt</a:t>
                      </a:r>
                      <a:endParaRPr lang="en-US" sz="1200">
                        <a:latin typeface="Century Gothic" panose="020B0502020202020204" pitchFamily="34" charset="0"/>
                      </a:endParaRP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a:buNone/>
                      </a:pPr>
                      <a:r>
                        <a:rPr lang="en-US" sz="1200">
                          <a:latin typeface="Century Gothic" panose="020B0502020202020204" pitchFamily="34" charset="0"/>
                        </a:rPr>
                        <a:t>Phase 3</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235204831"/>
                  </a:ext>
                </a:extLst>
              </a:tr>
              <a:tr h="546207">
                <a:tc>
                  <a:txBody>
                    <a:bodyPr/>
                    <a:lstStyle/>
                    <a:p>
                      <a:pPr>
                        <a:buNone/>
                      </a:pPr>
                      <a:r>
                        <a:rPr lang="en-US" sz="1200" b="1">
                          <a:latin typeface="Century Gothic" panose="020B0502020202020204" pitchFamily="34" charset="0"/>
                        </a:rPr>
                        <a:t>Admin / General Services</a:t>
                      </a:r>
                      <a:endParaRPr lang="en-US" sz="1200">
                        <a:latin typeface="Century Gothic" panose="020B0502020202020204" pitchFamily="34" charset="0"/>
                      </a:endParaRPr>
                    </a:p>
                  </a:txBody>
                  <a:tcPr marL="46291" marR="46291" marT="23145" marB="23145" anchor="ctr">
                    <a:lnL w="12700" cap="flat" cmpd="sng" algn="ctr">
                      <a:solidFill>
                        <a:srgbClr val="FF0000"/>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Procurement, vehicles, inventory, guest rooms</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buNone/>
                      </a:pPr>
                      <a:r>
                        <a:rPr lang="en-US" sz="1200">
                          <a:latin typeface="Century Gothic" panose="020B0502020202020204" pitchFamily="34" charset="0"/>
                        </a:rPr>
                        <a:t>ERP (Procurement &amp; Assets), Adm</a:t>
                      </a: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r>
                        <a:rPr lang="en-US" sz="1200">
                          <a:latin typeface="Century Gothic" panose="020B0502020202020204" pitchFamily="34" charset="0"/>
                        </a:rPr>
                        <a:t>Phase 1 and 3</a:t>
                      </a:r>
                      <a:endParaRPr lang="en-NG" sz="1200">
                        <a:latin typeface="Century Gothic" panose="020B0502020202020204" pitchFamily="34" charset="0"/>
                      </a:endParaRPr>
                    </a:p>
                  </a:txBody>
                  <a:tcPr marL="46291" marR="46291" marT="23145" marB="23145" anchor="ctr">
                    <a:lnL w="12700" cap="flat" cmpd="sng" algn="ctr">
                      <a:solidFill>
                        <a:schemeClr val="bg1">
                          <a:lumMod val="95000"/>
                        </a:scheme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694764987"/>
                  </a:ext>
                </a:extLst>
              </a:tr>
            </a:tbl>
          </a:graphicData>
        </a:graphic>
      </p:graphicFrame>
    </p:spTree>
    <p:extLst>
      <p:ext uri="{BB962C8B-B14F-4D97-AF65-F5344CB8AC3E}">
        <p14:creationId xmlns:p14="http://schemas.microsoft.com/office/powerpoint/2010/main" val="159656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3A55-6C66-C760-5264-AF2AABDE7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26EE2-75C5-D631-D32F-59079A2B7330}"/>
              </a:ext>
            </a:extLst>
          </p:cNvPr>
          <p:cNvSpPr>
            <a:spLocks noGrp="1"/>
          </p:cNvSpPr>
          <p:nvPr>
            <p:ph type="title"/>
          </p:nvPr>
        </p:nvSpPr>
        <p:spPr>
          <a:xfrm>
            <a:off x="838200" y="732357"/>
            <a:ext cx="10515600" cy="604838"/>
          </a:xfrm>
        </p:spPr>
        <p:txBody>
          <a:bodyPr>
            <a:normAutofit/>
          </a:bodyPr>
          <a:lstStyle/>
          <a:p>
            <a:r>
              <a:rPr lang="en-US" sz="2800" b="1">
                <a:latin typeface="Century Gothic" panose="020B0502020202020204" pitchFamily="34" charset="0"/>
              </a:rPr>
              <a:t>Solutions-to-Department Mapping</a:t>
            </a:r>
          </a:p>
        </p:txBody>
      </p:sp>
      <p:graphicFrame>
        <p:nvGraphicFramePr>
          <p:cNvPr id="10" name="Table 9">
            <a:extLst>
              <a:ext uri="{FF2B5EF4-FFF2-40B4-BE49-F238E27FC236}">
                <a16:creationId xmlns:a16="http://schemas.microsoft.com/office/drawing/2014/main" id="{14BBB943-4753-FDA9-1793-C7DB8009533A}"/>
              </a:ext>
            </a:extLst>
          </p:cNvPr>
          <p:cNvGraphicFramePr>
            <a:graphicFrameLocks noGrp="1"/>
          </p:cNvGraphicFramePr>
          <p:nvPr>
            <p:extLst>
              <p:ext uri="{D42A27DB-BD31-4B8C-83A1-F6EECF244321}">
                <p14:modId xmlns:p14="http://schemas.microsoft.com/office/powerpoint/2010/main" val="314439509"/>
              </p:ext>
            </p:extLst>
          </p:nvPr>
        </p:nvGraphicFramePr>
        <p:xfrm>
          <a:off x="838200" y="1629916"/>
          <a:ext cx="10008870" cy="4107942"/>
        </p:xfrm>
        <a:graphic>
          <a:graphicData uri="http://schemas.openxmlformats.org/drawingml/2006/table">
            <a:tbl>
              <a:tblPr>
                <a:tableStyleId>{3B4B98B0-60AC-42C2-AFA5-B58CD77FA1E5}</a:tableStyleId>
              </a:tblPr>
              <a:tblGrid>
                <a:gridCol w="3819132">
                  <a:extLst>
                    <a:ext uri="{9D8B030D-6E8A-4147-A177-3AD203B41FA5}">
                      <a16:colId xmlns:a16="http://schemas.microsoft.com/office/drawing/2014/main" val="2382075842"/>
                    </a:ext>
                  </a:extLst>
                </a:gridCol>
                <a:gridCol w="6189738">
                  <a:extLst>
                    <a:ext uri="{9D8B030D-6E8A-4147-A177-3AD203B41FA5}">
                      <a16:colId xmlns:a16="http://schemas.microsoft.com/office/drawing/2014/main" val="3811512462"/>
                    </a:ext>
                  </a:extLst>
                </a:gridCol>
              </a:tblGrid>
              <a:tr h="684657">
                <a:tc>
                  <a:txBody>
                    <a:bodyPr/>
                    <a:lstStyle/>
                    <a:p>
                      <a:pPr algn="ctr">
                        <a:buNone/>
                      </a:pPr>
                      <a:r>
                        <a:rPr lang="en-US" b="1"/>
                        <a:t>Current Area</a:t>
                      </a:r>
                    </a:p>
                  </a:txBody>
                  <a:tcPr anchor="ctr">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buNone/>
                      </a:pPr>
                      <a:r>
                        <a:rPr lang="en-US" b="1"/>
                        <a:t>Proposed Replacement</a:t>
                      </a:r>
                    </a:p>
                  </a:txBody>
                  <a:tcPr anchor="ctr">
                    <a:lnL w="12700" cap="flat" cmpd="sng" algn="ctr">
                      <a:solidFill>
                        <a:srgbClr val="FF0000"/>
                      </a:solidFill>
                      <a:prstDash val="solid"/>
                      <a:round/>
                      <a:headEnd type="none" w="med" len="med"/>
                      <a:tailEnd type="none" w="med" len="med"/>
                    </a:lnL>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3949856342"/>
                  </a:ext>
                </a:extLst>
              </a:tr>
              <a:tr h="684657">
                <a:tc>
                  <a:txBody>
                    <a:bodyPr/>
                    <a:lstStyle/>
                    <a:p>
                      <a:pPr>
                        <a:buNone/>
                      </a:pPr>
                      <a:r>
                        <a:rPr lang="en-US"/>
                        <a:t>SAP B1 (Finance)</a:t>
                      </a:r>
                    </a:p>
                  </a:txBody>
                  <a:tcPr anchor="ctr">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tcPr>
                </a:tc>
                <a:tc>
                  <a:txBody>
                    <a:bodyPr/>
                    <a:lstStyle/>
                    <a:p>
                      <a:pPr algn="ctr">
                        <a:buNone/>
                      </a:pPr>
                      <a:r>
                        <a:rPr lang="fr-FR"/>
                        <a:t>Oracle Fusion ERP / Dynamics 365</a:t>
                      </a:r>
                    </a:p>
                  </a:txBody>
                  <a:tcPr anchor="ctr">
                    <a:lnL w="12700" cap="flat" cmpd="sng" algn="ctr">
                      <a:solidFill>
                        <a:srgbClr val="FF0000"/>
                      </a:solidFill>
                      <a:prstDash val="solid"/>
                      <a:round/>
                      <a:headEnd type="none" w="med" len="med"/>
                      <a:tailEnd type="none" w="med" len="med"/>
                    </a:lnL>
                    <a:lnT w="12700" cap="flat" cmpd="sng" algn="ctr">
                      <a:solidFill>
                        <a:srgbClr val="FF0000"/>
                      </a:solidFill>
                      <a:prstDash val="solid"/>
                      <a:round/>
                      <a:headEnd type="none" w="med" len="med"/>
                      <a:tailEnd type="none" w="med" len="med"/>
                    </a:lnT>
                  </a:tcPr>
                </a:tc>
                <a:extLst>
                  <a:ext uri="{0D108BD9-81ED-4DB2-BD59-A6C34878D82A}">
                    <a16:rowId xmlns:a16="http://schemas.microsoft.com/office/drawing/2014/main" val="339236691"/>
                  </a:ext>
                </a:extLst>
              </a:tr>
              <a:tr h="684657">
                <a:tc>
                  <a:txBody>
                    <a:bodyPr/>
                    <a:lstStyle/>
                    <a:p>
                      <a:pPr>
                        <a:buNone/>
                      </a:pPr>
                      <a:r>
                        <a:rPr lang="en-US"/>
                        <a:t>Spreadsheets</a:t>
                      </a:r>
                    </a:p>
                  </a:txBody>
                  <a:tcPr anchor="ctr">
                    <a:lnR w="12700" cap="flat" cmpd="sng" algn="ctr">
                      <a:solidFill>
                        <a:srgbClr val="FF0000"/>
                      </a:solidFill>
                      <a:prstDash val="solid"/>
                      <a:round/>
                      <a:headEnd type="none" w="med" len="med"/>
                      <a:tailEnd type="none" w="med" len="med"/>
                    </a:lnR>
                  </a:tcPr>
                </a:tc>
                <a:tc>
                  <a:txBody>
                    <a:bodyPr/>
                    <a:lstStyle/>
                    <a:p>
                      <a:pPr algn="ctr">
                        <a:buNone/>
                      </a:pPr>
                      <a:r>
                        <a:rPr lang="en-US"/>
                        <a:t>ERP + BI Dashboards</a:t>
                      </a:r>
                    </a:p>
                  </a:txBody>
                  <a:tcPr anchor="ctr">
                    <a:lnL w="12700" cap="flat" cmpd="sng" algn="ctr">
                      <a:solidFill>
                        <a:srgbClr val="FF0000"/>
                      </a:solidFill>
                      <a:prstDash val="solid"/>
                      <a:round/>
                      <a:headEnd type="none" w="med" len="med"/>
                      <a:tailEnd type="none" w="med" len="med"/>
                    </a:lnL>
                  </a:tcPr>
                </a:tc>
                <a:extLst>
                  <a:ext uri="{0D108BD9-81ED-4DB2-BD59-A6C34878D82A}">
                    <a16:rowId xmlns:a16="http://schemas.microsoft.com/office/drawing/2014/main" val="2088182236"/>
                  </a:ext>
                </a:extLst>
              </a:tr>
              <a:tr h="684657">
                <a:tc>
                  <a:txBody>
                    <a:bodyPr/>
                    <a:lstStyle/>
                    <a:p>
                      <a:pPr>
                        <a:buNone/>
                      </a:pPr>
                      <a:r>
                        <a:rPr lang="en-US"/>
                        <a:t>Manual Gate Logs</a:t>
                      </a:r>
                    </a:p>
                  </a:txBody>
                  <a:tcPr anchor="ctr">
                    <a:lnR w="12700" cap="flat" cmpd="sng" algn="ctr">
                      <a:solidFill>
                        <a:srgbClr val="FF0000"/>
                      </a:solidFill>
                      <a:prstDash val="solid"/>
                      <a:round/>
                      <a:headEnd type="none" w="med" len="med"/>
                      <a:tailEnd type="none" w="med" len="med"/>
                    </a:lnR>
                  </a:tcPr>
                </a:tc>
                <a:tc>
                  <a:txBody>
                    <a:bodyPr/>
                    <a:lstStyle/>
                    <a:p>
                      <a:pPr algn="ctr">
                        <a:buNone/>
                      </a:pPr>
                      <a:r>
                        <a:rPr lang="en-US"/>
                        <a:t>ANPR + VMS</a:t>
                      </a:r>
                    </a:p>
                  </a:txBody>
                  <a:tcPr anchor="ctr">
                    <a:lnL w="12700" cap="flat" cmpd="sng" algn="ctr">
                      <a:solidFill>
                        <a:srgbClr val="FF0000"/>
                      </a:solidFill>
                      <a:prstDash val="solid"/>
                      <a:round/>
                      <a:headEnd type="none" w="med" len="med"/>
                      <a:tailEnd type="none" w="med" len="med"/>
                    </a:lnL>
                  </a:tcPr>
                </a:tc>
                <a:extLst>
                  <a:ext uri="{0D108BD9-81ED-4DB2-BD59-A6C34878D82A}">
                    <a16:rowId xmlns:a16="http://schemas.microsoft.com/office/drawing/2014/main" val="3592500103"/>
                  </a:ext>
                </a:extLst>
              </a:tr>
              <a:tr h="684657">
                <a:tc>
                  <a:txBody>
                    <a:bodyPr/>
                    <a:lstStyle/>
                    <a:p>
                      <a:pPr>
                        <a:buNone/>
                      </a:pPr>
                      <a:r>
                        <a:rPr lang="en-US"/>
                        <a:t>Paper Records</a:t>
                      </a:r>
                    </a:p>
                  </a:txBody>
                  <a:tcPr anchor="ctr">
                    <a:lnR w="12700" cap="flat" cmpd="sng" algn="ctr">
                      <a:solidFill>
                        <a:srgbClr val="FF0000"/>
                      </a:solidFill>
                      <a:prstDash val="solid"/>
                      <a:round/>
                      <a:headEnd type="none" w="med" len="med"/>
                      <a:tailEnd type="none" w="med" len="med"/>
                    </a:lnR>
                  </a:tcPr>
                </a:tc>
                <a:tc>
                  <a:txBody>
                    <a:bodyPr/>
                    <a:lstStyle/>
                    <a:p>
                      <a:pPr algn="ctr">
                        <a:buNone/>
                      </a:pPr>
                      <a:r>
                        <a:rPr lang="en-US"/>
                        <a:t>DMS + ERP Records</a:t>
                      </a:r>
                    </a:p>
                  </a:txBody>
                  <a:tcPr anchor="ctr">
                    <a:lnL w="12700" cap="flat" cmpd="sng" algn="ctr">
                      <a:solidFill>
                        <a:srgbClr val="FF0000"/>
                      </a:solidFill>
                      <a:prstDash val="solid"/>
                      <a:round/>
                      <a:headEnd type="none" w="med" len="med"/>
                      <a:tailEnd type="none" w="med" len="med"/>
                    </a:lnL>
                  </a:tcPr>
                </a:tc>
                <a:extLst>
                  <a:ext uri="{0D108BD9-81ED-4DB2-BD59-A6C34878D82A}">
                    <a16:rowId xmlns:a16="http://schemas.microsoft.com/office/drawing/2014/main" val="2974157225"/>
                  </a:ext>
                </a:extLst>
              </a:tr>
              <a:tr h="684657">
                <a:tc>
                  <a:txBody>
                    <a:bodyPr/>
                    <a:lstStyle/>
                    <a:p>
                      <a:pPr>
                        <a:buNone/>
                      </a:pPr>
                      <a:r>
                        <a:rPr lang="en-US"/>
                        <a:t>Isolated CCTV</a:t>
                      </a:r>
                    </a:p>
                  </a:txBody>
                  <a:tcPr anchor="ctr">
                    <a:lnR w="12700" cap="flat" cmpd="sng" algn="ctr">
                      <a:solidFill>
                        <a:srgbClr val="FF0000"/>
                      </a:solidFill>
                      <a:prstDash val="solid"/>
                      <a:round/>
                      <a:headEnd type="none" w="med" len="med"/>
                      <a:tailEnd type="none" w="med" len="med"/>
                    </a:lnR>
                    <a:lnB w="12700" cap="flat" cmpd="sng" algn="ctr">
                      <a:solidFill>
                        <a:srgbClr val="FF0000"/>
                      </a:solidFill>
                      <a:prstDash val="solid"/>
                      <a:round/>
                      <a:headEnd type="none" w="med" len="med"/>
                      <a:tailEnd type="none" w="med" len="med"/>
                    </a:lnB>
                  </a:tcPr>
                </a:tc>
                <a:tc>
                  <a:txBody>
                    <a:bodyPr/>
                    <a:lstStyle/>
                    <a:p>
                      <a:pPr algn="ctr">
                        <a:buNone/>
                      </a:pPr>
                      <a:r>
                        <a:rPr lang="en-US"/>
                        <a:t>Unified Smart City Platform</a:t>
                      </a:r>
                    </a:p>
                  </a:txBody>
                  <a:tcPr anchor="ctr">
                    <a:lnL w="12700" cap="flat" cmpd="sng" algn="ctr">
                      <a:solidFill>
                        <a:srgbClr val="FF0000"/>
                      </a:solidFill>
                      <a:prstDash val="solid"/>
                      <a:round/>
                      <a:headEnd type="none" w="med" len="med"/>
                      <a:tailEnd type="none" w="med" len="med"/>
                    </a:lnL>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806389555"/>
                  </a:ext>
                </a:extLst>
              </a:tr>
            </a:tbl>
          </a:graphicData>
        </a:graphic>
      </p:graphicFrame>
    </p:spTree>
    <p:extLst>
      <p:ext uri="{BB962C8B-B14F-4D97-AF65-F5344CB8AC3E}">
        <p14:creationId xmlns:p14="http://schemas.microsoft.com/office/powerpoint/2010/main" val="1247872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8307-7C91-1EF9-D83A-BA7C0AB00F94}"/>
              </a:ext>
            </a:extLst>
          </p:cNvPr>
          <p:cNvSpPr>
            <a:spLocks noGrp="1"/>
          </p:cNvSpPr>
          <p:nvPr>
            <p:ph type="title"/>
          </p:nvPr>
        </p:nvSpPr>
        <p:spPr>
          <a:xfrm>
            <a:off x="900299" y="674254"/>
            <a:ext cx="5781361" cy="699355"/>
          </a:xfrm>
        </p:spPr>
        <p:txBody>
          <a:bodyPr>
            <a:normAutofit/>
          </a:bodyPr>
          <a:lstStyle/>
          <a:p>
            <a:r>
              <a:rPr lang="en-US" sz="2800" b="1">
                <a:latin typeface="Century Gothic" panose="020B0502020202020204" pitchFamily="34" charset="0"/>
              </a:rPr>
              <a:t>Proposed Implementation Plan</a:t>
            </a:r>
            <a:endParaRPr lang="en-NG" sz="2800" b="1">
              <a:latin typeface="Century Gothic" panose="020B0502020202020204" pitchFamily="34" charset="0"/>
            </a:endParaRPr>
          </a:p>
        </p:txBody>
      </p:sp>
      <p:sp>
        <p:nvSpPr>
          <p:cNvPr id="3" name="Content Placeholder 2">
            <a:extLst>
              <a:ext uri="{FF2B5EF4-FFF2-40B4-BE49-F238E27FC236}">
                <a16:creationId xmlns:a16="http://schemas.microsoft.com/office/drawing/2014/main" id="{09BA9F5C-3F4B-A601-8DC3-68289A1D169F}"/>
              </a:ext>
            </a:extLst>
          </p:cNvPr>
          <p:cNvSpPr>
            <a:spLocks noGrp="1"/>
          </p:cNvSpPr>
          <p:nvPr>
            <p:ph idx="1"/>
          </p:nvPr>
        </p:nvSpPr>
        <p:spPr>
          <a:xfrm>
            <a:off x="2825496" y="6073472"/>
            <a:ext cx="6541008" cy="332160"/>
          </a:xfrm>
        </p:spPr>
        <p:txBody>
          <a:bodyPr/>
          <a:lstStyle/>
          <a:p>
            <a:pPr marL="0" indent="0" algn="ctr">
              <a:buNone/>
            </a:pPr>
            <a:r>
              <a:rPr lang="en-US" sz="1600" i="1">
                <a:latin typeface="Century Gothic" panose="020B0502020202020204" pitchFamily="34" charset="0"/>
              </a:rPr>
              <a:t>A low‑risk, phased rollout minimizing disruption</a:t>
            </a:r>
          </a:p>
          <a:p>
            <a:pPr algn="ctr"/>
            <a:endParaRPr lang="en-NG"/>
          </a:p>
        </p:txBody>
      </p:sp>
      <p:grpSp>
        <p:nvGrpSpPr>
          <p:cNvPr id="4" name="Group 3">
            <a:extLst>
              <a:ext uri="{FF2B5EF4-FFF2-40B4-BE49-F238E27FC236}">
                <a16:creationId xmlns:a16="http://schemas.microsoft.com/office/drawing/2014/main" id="{394CF4F2-48C7-BCE9-3A30-D8BBC41C84D6}"/>
              </a:ext>
            </a:extLst>
          </p:cNvPr>
          <p:cNvGrpSpPr/>
          <p:nvPr/>
        </p:nvGrpSpPr>
        <p:grpSpPr>
          <a:xfrm>
            <a:off x="746645" y="1589538"/>
            <a:ext cx="10669254" cy="3678924"/>
            <a:chOff x="2347802" y="1499264"/>
            <a:chExt cx="9328707" cy="3282361"/>
          </a:xfrm>
        </p:grpSpPr>
        <p:sp>
          <p:nvSpPr>
            <p:cNvPr id="22" name="Forme libre 4">
              <a:extLst>
                <a:ext uri="{FF2B5EF4-FFF2-40B4-BE49-F238E27FC236}">
                  <a16:creationId xmlns:a16="http://schemas.microsoft.com/office/drawing/2014/main" id="{D38F3053-9AFE-3603-7C17-4BD2D9F7589F}"/>
                </a:ext>
              </a:extLst>
            </p:cNvPr>
            <p:cNvSpPr/>
            <p:nvPr/>
          </p:nvSpPr>
          <p:spPr>
            <a:xfrm>
              <a:off x="2373557" y="3041282"/>
              <a:ext cx="2566486" cy="1184630"/>
            </a:xfrm>
            <a:custGeom>
              <a:avLst/>
              <a:gdLst>
                <a:gd name="connsiteX0" fmla="*/ 1936029 w 1936028"/>
                <a:gd name="connsiteY0" fmla="*/ 0 h 893625"/>
                <a:gd name="connsiteX1" fmla="*/ 929799 w 1936028"/>
                <a:gd name="connsiteY1" fmla="*/ 0 h 893625"/>
                <a:gd name="connsiteX2" fmla="*/ 567412 w 1936028"/>
                <a:gd name="connsiteY2" fmla="*/ 175458 h 893625"/>
                <a:gd name="connsiteX3" fmla="*/ 0 w 1936028"/>
                <a:gd name="connsiteY3" fmla="*/ 893625 h 893625"/>
                <a:gd name="connsiteX4" fmla="*/ 1229990 w 1936028"/>
                <a:gd name="connsiteY4" fmla="*/ 893625 h 893625"/>
                <a:gd name="connsiteX5" fmla="*/ 1936029 w 1936028"/>
                <a:gd name="connsiteY5" fmla="*/ 0 h 89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36028" h="893625">
                  <a:moveTo>
                    <a:pt x="1936029" y="0"/>
                  </a:moveTo>
                  <a:lnTo>
                    <a:pt x="929799" y="0"/>
                  </a:lnTo>
                  <a:cubicBezTo>
                    <a:pt x="788471" y="0"/>
                    <a:pt x="654934" y="64729"/>
                    <a:pt x="567412" y="175458"/>
                  </a:cubicBezTo>
                  <a:lnTo>
                    <a:pt x="0" y="893625"/>
                  </a:lnTo>
                  <a:lnTo>
                    <a:pt x="1229990" y="893625"/>
                  </a:lnTo>
                  <a:lnTo>
                    <a:pt x="1936029" y="0"/>
                  </a:lnTo>
                  <a:close/>
                </a:path>
              </a:pathLst>
            </a:custGeom>
            <a:solidFill>
              <a:srgbClr val="FF0000"/>
            </a:solidFill>
            <a:ln w="14986" cap="flat">
              <a:noFill/>
              <a:prstDash val="solid"/>
              <a:miter/>
            </a:ln>
          </p:spPr>
          <p:txBody>
            <a:bodyPr rtlCol="0" anchor="ctr"/>
            <a:lstStyle/>
            <a:p>
              <a:endParaRPr lang="fr-FR"/>
            </a:p>
          </p:txBody>
        </p:sp>
        <p:sp>
          <p:nvSpPr>
            <p:cNvPr id="23" name="Forme libre 5">
              <a:extLst>
                <a:ext uri="{FF2B5EF4-FFF2-40B4-BE49-F238E27FC236}">
                  <a16:creationId xmlns:a16="http://schemas.microsoft.com/office/drawing/2014/main" id="{C54A21A8-77CE-81B1-1584-3D467A9C6502}"/>
                </a:ext>
              </a:extLst>
            </p:cNvPr>
            <p:cNvSpPr/>
            <p:nvPr/>
          </p:nvSpPr>
          <p:spPr>
            <a:xfrm>
              <a:off x="3990637" y="2744925"/>
              <a:ext cx="2917545" cy="1480986"/>
            </a:xfrm>
            <a:custGeom>
              <a:avLst/>
              <a:gdLst>
                <a:gd name="connsiteX0" fmla="*/ 2200849 w 2200849"/>
                <a:gd name="connsiteY0" fmla="*/ 150 h 1117181"/>
                <a:gd name="connsiteX1" fmla="*/ 1106343 w 2200849"/>
                <a:gd name="connsiteY1" fmla="*/ 150 h 1117181"/>
                <a:gd name="connsiteX2" fmla="*/ 743957 w 2200849"/>
                <a:gd name="connsiteY2" fmla="*/ 175608 h 1117181"/>
                <a:gd name="connsiteX3" fmla="*/ 0 w 2200849"/>
                <a:gd name="connsiteY3" fmla="*/ 1117182 h 1117181"/>
                <a:gd name="connsiteX4" fmla="*/ 1318112 w 2200849"/>
                <a:gd name="connsiteY4" fmla="*/ 1117182 h 1117181"/>
                <a:gd name="connsiteX5" fmla="*/ 2200699 w 2200849"/>
                <a:gd name="connsiteY5" fmla="*/ 0 h 111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0849" h="1117181">
                  <a:moveTo>
                    <a:pt x="2200849" y="150"/>
                  </a:moveTo>
                  <a:lnTo>
                    <a:pt x="1106343" y="150"/>
                  </a:lnTo>
                  <a:cubicBezTo>
                    <a:pt x="965016" y="150"/>
                    <a:pt x="831482" y="64880"/>
                    <a:pt x="743957" y="175608"/>
                  </a:cubicBezTo>
                  <a:lnTo>
                    <a:pt x="0" y="1117182"/>
                  </a:lnTo>
                  <a:lnTo>
                    <a:pt x="1318112" y="1117182"/>
                  </a:lnTo>
                  <a:lnTo>
                    <a:pt x="2200699" y="0"/>
                  </a:lnTo>
                  <a:close/>
                </a:path>
              </a:pathLst>
            </a:custGeom>
            <a:solidFill>
              <a:schemeClr val="bg2">
                <a:lumMod val="50000"/>
              </a:schemeClr>
            </a:solidFill>
            <a:ln w="14986" cap="flat">
              <a:noFill/>
              <a:prstDash val="solid"/>
              <a:miter/>
            </a:ln>
          </p:spPr>
          <p:txBody>
            <a:bodyPr rtlCol="0" anchor="ctr"/>
            <a:lstStyle/>
            <a:p>
              <a:endParaRPr lang="fr-FR"/>
            </a:p>
          </p:txBody>
        </p:sp>
        <p:sp>
          <p:nvSpPr>
            <p:cNvPr id="24" name="Forme libre 6">
              <a:extLst>
                <a:ext uri="{FF2B5EF4-FFF2-40B4-BE49-F238E27FC236}">
                  <a16:creationId xmlns:a16="http://schemas.microsoft.com/office/drawing/2014/main" id="{32DB26DE-9908-D203-AAAC-78DF5FE3D171}"/>
                </a:ext>
              </a:extLst>
            </p:cNvPr>
            <p:cNvSpPr/>
            <p:nvPr/>
          </p:nvSpPr>
          <p:spPr>
            <a:xfrm>
              <a:off x="5685993" y="2331776"/>
              <a:ext cx="3401718" cy="1894135"/>
            </a:xfrm>
            <a:custGeom>
              <a:avLst/>
              <a:gdLst>
                <a:gd name="connsiteX0" fmla="*/ 2566086 w 2566085"/>
                <a:gd name="connsiteY0" fmla="*/ 150 h 1428840"/>
                <a:gd name="connsiteX1" fmla="*/ 1383458 w 2566085"/>
                <a:gd name="connsiteY1" fmla="*/ 150 h 1428840"/>
                <a:gd name="connsiteX2" fmla="*/ 1021067 w 2566085"/>
                <a:gd name="connsiteY2" fmla="*/ 175608 h 1428840"/>
                <a:gd name="connsiteX3" fmla="*/ 0 w 2566085"/>
                <a:gd name="connsiteY3" fmla="*/ 1428841 h 1428840"/>
                <a:gd name="connsiteX4" fmla="*/ 1406385 w 2566085"/>
                <a:gd name="connsiteY4" fmla="*/ 1428841 h 1428840"/>
                <a:gd name="connsiteX5" fmla="*/ 2566086 w 2566085"/>
                <a:gd name="connsiteY5" fmla="*/ 0 h 1428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6085" h="1428840">
                  <a:moveTo>
                    <a:pt x="2566086" y="150"/>
                  </a:moveTo>
                  <a:lnTo>
                    <a:pt x="1383458" y="150"/>
                  </a:lnTo>
                  <a:cubicBezTo>
                    <a:pt x="1242127" y="150"/>
                    <a:pt x="1108593" y="64879"/>
                    <a:pt x="1021067" y="175608"/>
                  </a:cubicBezTo>
                  <a:lnTo>
                    <a:pt x="0" y="1428841"/>
                  </a:lnTo>
                  <a:lnTo>
                    <a:pt x="1406385" y="1428841"/>
                  </a:lnTo>
                  <a:lnTo>
                    <a:pt x="2566086" y="0"/>
                  </a:lnTo>
                  <a:close/>
                </a:path>
              </a:pathLst>
            </a:custGeom>
            <a:solidFill>
              <a:schemeClr val="bg1">
                <a:lumMod val="65000"/>
              </a:schemeClr>
            </a:solidFill>
            <a:ln w="14986" cap="flat">
              <a:noFill/>
              <a:prstDash val="solid"/>
              <a:miter/>
            </a:ln>
          </p:spPr>
          <p:txBody>
            <a:bodyPr rtlCol="0" anchor="ctr"/>
            <a:lstStyle/>
            <a:p>
              <a:endParaRPr lang="fr-FR"/>
            </a:p>
          </p:txBody>
        </p:sp>
        <p:sp>
          <p:nvSpPr>
            <p:cNvPr id="25" name="Forme libre 7">
              <a:extLst>
                <a:ext uri="{FF2B5EF4-FFF2-40B4-BE49-F238E27FC236}">
                  <a16:creationId xmlns:a16="http://schemas.microsoft.com/office/drawing/2014/main" id="{5433C9A1-61E2-8901-87A2-54AD768144F7}"/>
                </a:ext>
              </a:extLst>
            </p:cNvPr>
            <p:cNvSpPr/>
            <p:nvPr/>
          </p:nvSpPr>
          <p:spPr>
            <a:xfrm>
              <a:off x="7537107" y="1499264"/>
              <a:ext cx="4139402" cy="3282361"/>
            </a:xfrm>
            <a:custGeom>
              <a:avLst/>
              <a:gdLst>
                <a:gd name="connsiteX0" fmla="*/ 3122408 w 3122557"/>
                <a:gd name="connsiteY0" fmla="*/ 1238099 h 2476048"/>
                <a:gd name="connsiteX1" fmla="*/ 2033299 w 3122557"/>
                <a:gd name="connsiteY1" fmla="*/ 0 h 2476048"/>
                <a:gd name="connsiteX2" fmla="*/ 2033299 w 3122557"/>
                <a:gd name="connsiteY2" fmla="*/ 382833 h 2476048"/>
                <a:gd name="connsiteX3" fmla="*/ 1554909 w 3122557"/>
                <a:gd name="connsiteY3" fmla="*/ 382833 h 2476048"/>
                <a:gd name="connsiteX4" fmla="*/ 1192522 w 3122557"/>
                <a:gd name="connsiteY4" fmla="*/ 558291 h 2476048"/>
                <a:gd name="connsiteX5" fmla="*/ 0 w 3122557"/>
                <a:gd name="connsiteY5" fmla="*/ 2057556 h 2476048"/>
                <a:gd name="connsiteX6" fmla="*/ 2033449 w 3122557"/>
                <a:gd name="connsiteY6" fmla="*/ 2057556 h 2476048"/>
                <a:gd name="connsiteX7" fmla="*/ 2033449 w 3122557"/>
                <a:gd name="connsiteY7" fmla="*/ 2476049 h 2476048"/>
                <a:gd name="connsiteX8" fmla="*/ 3122558 w 3122557"/>
                <a:gd name="connsiteY8" fmla="*/ 1237949 h 247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557" h="2476048">
                  <a:moveTo>
                    <a:pt x="3122408" y="1238099"/>
                  </a:moveTo>
                  <a:lnTo>
                    <a:pt x="2033299" y="0"/>
                  </a:lnTo>
                  <a:lnTo>
                    <a:pt x="2033299" y="382833"/>
                  </a:lnTo>
                  <a:lnTo>
                    <a:pt x="1554909" y="382833"/>
                  </a:lnTo>
                  <a:cubicBezTo>
                    <a:pt x="1413582" y="382833"/>
                    <a:pt x="1280048" y="447562"/>
                    <a:pt x="1192522" y="558291"/>
                  </a:cubicBezTo>
                  <a:lnTo>
                    <a:pt x="0" y="2057556"/>
                  </a:lnTo>
                  <a:lnTo>
                    <a:pt x="2033449" y="2057556"/>
                  </a:lnTo>
                  <a:lnTo>
                    <a:pt x="2033449" y="2476049"/>
                  </a:lnTo>
                  <a:lnTo>
                    <a:pt x="3122558" y="1237949"/>
                  </a:lnTo>
                  <a:close/>
                </a:path>
              </a:pathLst>
            </a:custGeom>
            <a:solidFill>
              <a:schemeClr val="bg1">
                <a:lumMod val="75000"/>
              </a:schemeClr>
            </a:solidFill>
            <a:ln w="14986" cap="flat">
              <a:noFill/>
              <a:prstDash val="solid"/>
              <a:miter/>
            </a:ln>
          </p:spPr>
          <p:txBody>
            <a:bodyPr rtlCol="0" anchor="ctr"/>
            <a:lstStyle/>
            <a:p>
              <a:endParaRPr lang="fr-FR"/>
            </a:p>
          </p:txBody>
        </p:sp>
        <p:sp>
          <p:nvSpPr>
            <p:cNvPr id="26" name="ZoneTexte 8">
              <a:extLst>
                <a:ext uri="{FF2B5EF4-FFF2-40B4-BE49-F238E27FC236}">
                  <a16:creationId xmlns:a16="http://schemas.microsoft.com/office/drawing/2014/main" id="{8DEC35F0-7DC6-C490-0D66-C42D5C42FF52}"/>
                </a:ext>
              </a:extLst>
            </p:cNvPr>
            <p:cNvSpPr txBox="1"/>
            <p:nvPr/>
          </p:nvSpPr>
          <p:spPr>
            <a:xfrm>
              <a:off x="3236419" y="3108344"/>
              <a:ext cx="329655" cy="274601"/>
            </a:xfrm>
            <a:prstGeom prst="rect">
              <a:avLst/>
            </a:prstGeom>
            <a:noFill/>
          </p:spPr>
          <p:txBody>
            <a:bodyPr wrap="none" rtlCol="0" anchor="ctr">
              <a:spAutoFit/>
            </a:bodyPr>
            <a:lstStyle/>
            <a:p>
              <a:pPr algn="ctr"/>
              <a:r>
                <a:rPr lang="fr-FR" sz="1400" b="1">
                  <a:solidFill>
                    <a:schemeClr val="bg1"/>
                  </a:solidFill>
                </a:rPr>
                <a:t>01</a:t>
              </a:r>
            </a:p>
          </p:txBody>
        </p:sp>
        <p:sp>
          <p:nvSpPr>
            <p:cNvPr id="27" name="ZoneTexte 9">
              <a:extLst>
                <a:ext uri="{FF2B5EF4-FFF2-40B4-BE49-F238E27FC236}">
                  <a16:creationId xmlns:a16="http://schemas.microsoft.com/office/drawing/2014/main" id="{9D885A1B-6240-6F6E-2C21-36C19A276E6B}"/>
                </a:ext>
              </a:extLst>
            </p:cNvPr>
            <p:cNvSpPr txBox="1"/>
            <p:nvPr/>
          </p:nvSpPr>
          <p:spPr>
            <a:xfrm>
              <a:off x="5180201" y="2800567"/>
              <a:ext cx="329655" cy="274601"/>
            </a:xfrm>
            <a:prstGeom prst="rect">
              <a:avLst/>
            </a:prstGeom>
            <a:noFill/>
          </p:spPr>
          <p:txBody>
            <a:bodyPr wrap="none" rtlCol="0" anchor="ctr">
              <a:spAutoFit/>
            </a:bodyPr>
            <a:lstStyle/>
            <a:p>
              <a:pPr algn="ctr"/>
              <a:r>
                <a:rPr lang="fr-FR" sz="1400" b="1">
                  <a:solidFill>
                    <a:schemeClr val="bg1"/>
                  </a:solidFill>
                </a:rPr>
                <a:t>02</a:t>
              </a:r>
            </a:p>
          </p:txBody>
        </p:sp>
        <p:sp>
          <p:nvSpPr>
            <p:cNvPr id="28" name="ZoneTexte 10">
              <a:extLst>
                <a:ext uri="{FF2B5EF4-FFF2-40B4-BE49-F238E27FC236}">
                  <a16:creationId xmlns:a16="http://schemas.microsoft.com/office/drawing/2014/main" id="{CDA616A5-006B-1773-EA90-436902F0D9C7}"/>
                </a:ext>
              </a:extLst>
            </p:cNvPr>
            <p:cNvSpPr txBox="1"/>
            <p:nvPr/>
          </p:nvSpPr>
          <p:spPr>
            <a:xfrm>
              <a:off x="7228013" y="2363331"/>
              <a:ext cx="329655" cy="274601"/>
            </a:xfrm>
            <a:prstGeom prst="rect">
              <a:avLst/>
            </a:prstGeom>
            <a:noFill/>
          </p:spPr>
          <p:txBody>
            <a:bodyPr wrap="none" rtlCol="0" anchor="ctr">
              <a:spAutoFit/>
            </a:bodyPr>
            <a:lstStyle/>
            <a:p>
              <a:pPr algn="ctr"/>
              <a:r>
                <a:rPr lang="fr-FR" sz="1400" b="1">
                  <a:solidFill>
                    <a:schemeClr val="bg1"/>
                  </a:solidFill>
                </a:rPr>
                <a:t>03</a:t>
              </a:r>
            </a:p>
          </p:txBody>
        </p:sp>
        <p:sp>
          <p:nvSpPr>
            <p:cNvPr id="29" name="ZoneTexte 11">
              <a:extLst>
                <a:ext uri="{FF2B5EF4-FFF2-40B4-BE49-F238E27FC236}">
                  <a16:creationId xmlns:a16="http://schemas.microsoft.com/office/drawing/2014/main" id="{372D86F9-BD7A-9375-9055-E6C4A0777E7D}"/>
                </a:ext>
              </a:extLst>
            </p:cNvPr>
            <p:cNvSpPr txBox="1"/>
            <p:nvPr/>
          </p:nvSpPr>
          <p:spPr>
            <a:xfrm>
              <a:off x="9271515" y="2040587"/>
              <a:ext cx="329655" cy="274601"/>
            </a:xfrm>
            <a:prstGeom prst="rect">
              <a:avLst/>
            </a:prstGeom>
            <a:noFill/>
          </p:spPr>
          <p:txBody>
            <a:bodyPr wrap="none" rtlCol="0" anchor="ctr">
              <a:spAutoFit/>
            </a:bodyPr>
            <a:lstStyle/>
            <a:p>
              <a:pPr algn="ctr"/>
              <a:r>
                <a:rPr lang="fr-FR" sz="1400" b="1">
                  <a:solidFill>
                    <a:schemeClr val="bg1"/>
                  </a:solidFill>
                </a:rPr>
                <a:t>04</a:t>
              </a:r>
            </a:p>
          </p:txBody>
        </p:sp>
        <p:pic>
          <p:nvPicPr>
            <p:cNvPr id="30" name="Graphic 13" descr="Bullseye with solid fill">
              <a:extLst>
                <a:ext uri="{FF2B5EF4-FFF2-40B4-BE49-F238E27FC236}">
                  <a16:creationId xmlns:a16="http://schemas.microsoft.com/office/drawing/2014/main" id="{569678AA-D140-DF60-18C7-46325BD63D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47608" y="3292915"/>
              <a:ext cx="729773" cy="729773"/>
            </a:xfrm>
            <a:prstGeom prst="rect">
              <a:avLst/>
            </a:prstGeom>
          </p:spPr>
        </p:pic>
        <p:pic>
          <p:nvPicPr>
            <p:cNvPr id="31" name="Graphic 15" descr="Gears with solid fill">
              <a:extLst>
                <a:ext uri="{FF2B5EF4-FFF2-40B4-BE49-F238E27FC236}">
                  <a16:creationId xmlns:a16="http://schemas.microsoft.com/office/drawing/2014/main" id="{3FAA4D7F-FF85-C81A-58FE-CB7E963376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990" y="2637932"/>
              <a:ext cx="1429761" cy="1429761"/>
            </a:xfrm>
            <a:prstGeom prst="rect">
              <a:avLst/>
            </a:prstGeom>
          </p:spPr>
        </p:pic>
        <p:pic>
          <p:nvPicPr>
            <p:cNvPr id="32" name="Graphic 16" descr="Hourglass 30% with solid fill">
              <a:extLst>
                <a:ext uri="{FF2B5EF4-FFF2-40B4-BE49-F238E27FC236}">
                  <a16:creationId xmlns:a16="http://schemas.microsoft.com/office/drawing/2014/main" id="{D4D32765-C4D1-802A-DF3D-0616B5CB81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2734" y="3278916"/>
              <a:ext cx="768361" cy="768361"/>
            </a:xfrm>
            <a:prstGeom prst="rect">
              <a:avLst/>
            </a:prstGeom>
          </p:spPr>
        </p:pic>
        <p:pic>
          <p:nvPicPr>
            <p:cNvPr id="33" name="Graphic 19" descr="Eye with solid fill">
              <a:extLst>
                <a:ext uri="{FF2B5EF4-FFF2-40B4-BE49-F238E27FC236}">
                  <a16:creationId xmlns:a16="http://schemas.microsoft.com/office/drawing/2014/main" id="{9A24362E-C2C0-5362-956A-8445A45975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99426" y="3334400"/>
              <a:ext cx="733294" cy="733293"/>
            </a:xfrm>
            <a:prstGeom prst="rect">
              <a:avLst/>
            </a:prstGeom>
          </p:spPr>
        </p:pic>
        <p:sp>
          <p:nvSpPr>
            <p:cNvPr id="35" name="TextBox 34">
              <a:extLst>
                <a:ext uri="{FF2B5EF4-FFF2-40B4-BE49-F238E27FC236}">
                  <a16:creationId xmlns:a16="http://schemas.microsoft.com/office/drawing/2014/main" id="{79F891B5-B77B-E8A7-7291-F6A744E5915E}"/>
                </a:ext>
              </a:extLst>
            </p:cNvPr>
            <p:cNvSpPr txBox="1"/>
            <p:nvPr/>
          </p:nvSpPr>
          <p:spPr>
            <a:xfrm>
              <a:off x="2347802" y="4301089"/>
              <a:ext cx="1542338" cy="247140"/>
            </a:xfrm>
            <a:prstGeom prst="rect">
              <a:avLst/>
            </a:prstGeom>
            <a:noFill/>
          </p:spPr>
          <p:txBody>
            <a:bodyPr wrap="square" lIns="0" rIns="0" rtlCol="0" anchor="t">
              <a:spAutoFit/>
            </a:bodyPr>
            <a:lstStyle/>
            <a:p>
              <a:pPr algn="ctr"/>
              <a:r>
                <a:rPr lang="en-US" sz="1200" b="1">
                  <a:latin typeface="Century Gothic" panose="020B0502020202020204" pitchFamily="34" charset="0"/>
                </a:rPr>
                <a:t>Foundation &amp; Core ERP</a:t>
              </a:r>
            </a:p>
          </p:txBody>
        </p:sp>
        <p:sp>
          <p:nvSpPr>
            <p:cNvPr id="49" name="TextBox 36">
              <a:extLst>
                <a:ext uri="{FF2B5EF4-FFF2-40B4-BE49-F238E27FC236}">
                  <a16:creationId xmlns:a16="http://schemas.microsoft.com/office/drawing/2014/main" id="{E94ECA69-1119-0F66-EFC7-C474359FA39F}"/>
                </a:ext>
              </a:extLst>
            </p:cNvPr>
            <p:cNvSpPr txBox="1"/>
            <p:nvPr/>
          </p:nvSpPr>
          <p:spPr>
            <a:xfrm>
              <a:off x="4082079" y="4301089"/>
              <a:ext cx="1542337" cy="411901"/>
            </a:xfrm>
            <a:prstGeom prst="rect">
              <a:avLst/>
            </a:prstGeom>
            <a:noFill/>
          </p:spPr>
          <p:txBody>
            <a:bodyPr wrap="square" lIns="0" rIns="0" rtlCol="0" anchor="t">
              <a:spAutoFit/>
            </a:bodyPr>
            <a:lstStyle/>
            <a:p>
              <a:pPr algn="ctr"/>
              <a:r>
                <a:rPr lang="en-US" sz="1200" b="1">
                  <a:latin typeface="Century Gothic" panose="020B0502020202020204" pitchFamily="34" charset="0"/>
                </a:rPr>
                <a:t>Enterprise Services &amp; Portals</a:t>
              </a:r>
            </a:p>
          </p:txBody>
        </p:sp>
        <p:sp>
          <p:nvSpPr>
            <p:cNvPr id="52" name="TextBox 36">
              <a:extLst>
                <a:ext uri="{FF2B5EF4-FFF2-40B4-BE49-F238E27FC236}">
                  <a16:creationId xmlns:a16="http://schemas.microsoft.com/office/drawing/2014/main" id="{46CD70C0-C48C-A71F-D190-2D844FFDA5C9}"/>
                </a:ext>
              </a:extLst>
            </p:cNvPr>
            <p:cNvSpPr txBox="1"/>
            <p:nvPr/>
          </p:nvSpPr>
          <p:spPr>
            <a:xfrm>
              <a:off x="5790687" y="4301089"/>
              <a:ext cx="1746420" cy="411901"/>
            </a:xfrm>
            <a:prstGeom prst="rect">
              <a:avLst/>
            </a:prstGeom>
            <a:noFill/>
          </p:spPr>
          <p:txBody>
            <a:bodyPr wrap="square" lIns="0" rIns="0" rtlCol="0" anchor="t">
              <a:spAutoFit/>
            </a:bodyPr>
            <a:lstStyle/>
            <a:p>
              <a:pPr algn="ctr"/>
              <a:r>
                <a:rPr lang="en-US" sz="1200" b="1">
                  <a:latin typeface="Century Gothic" panose="020B0502020202020204" pitchFamily="34" charset="0"/>
                </a:rPr>
                <a:t>Smart Operations &amp; Security</a:t>
              </a:r>
            </a:p>
          </p:txBody>
        </p:sp>
        <p:sp>
          <p:nvSpPr>
            <p:cNvPr id="55" name="TextBox 36">
              <a:extLst>
                <a:ext uri="{FF2B5EF4-FFF2-40B4-BE49-F238E27FC236}">
                  <a16:creationId xmlns:a16="http://schemas.microsoft.com/office/drawing/2014/main" id="{E147251D-67E9-CE28-2560-DA3C9C2E7A3E}"/>
                </a:ext>
              </a:extLst>
            </p:cNvPr>
            <p:cNvSpPr txBox="1"/>
            <p:nvPr/>
          </p:nvSpPr>
          <p:spPr>
            <a:xfrm>
              <a:off x="7655052" y="4301089"/>
              <a:ext cx="2534705" cy="247140"/>
            </a:xfrm>
            <a:prstGeom prst="rect">
              <a:avLst/>
            </a:prstGeom>
            <a:noFill/>
          </p:spPr>
          <p:txBody>
            <a:bodyPr wrap="square" lIns="0" rIns="0" rtlCol="0" anchor="t">
              <a:spAutoFit/>
            </a:bodyPr>
            <a:lstStyle/>
            <a:p>
              <a:pPr algn="ctr"/>
              <a:r>
                <a:rPr lang="en-US" sz="1200" b="1">
                  <a:latin typeface="Century Gothic" panose="020B0502020202020204" pitchFamily="34" charset="0"/>
                </a:rPr>
                <a:t>Optimization &amp; Advanced Analytics</a:t>
              </a:r>
            </a:p>
          </p:txBody>
        </p:sp>
      </p:grpSp>
    </p:spTree>
    <p:extLst>
      <p:ext uri="{BB962C8B-B14F-4D97-AF65-F5344CB8AC3E}">
        <p14:creationId xmlns:p14="http://schemas.microsoft.com/office/powerpoint/2010/main" val="36887168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ACB28-B106-B360-1392-769769A388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B44877-CD5D-E019-09DF-6ED418AF46F2}"/>
              </a:ext>
            </a:extLst>
          </p:cNvPr>
          <p:cNvSpPr>
            <a:spLocks noGrp="1"/>
          </p:cNvSpPr>
          <p:nvPr>
            <p:ph idx="1"/>
          </p:nvPr>
        </p:nvSpPr>
        <p:spPr>
          <a:xfrm>
            <a:off x="1116330" y="1598616"/>
            <a:ext cx="3002280" cy="2997263"/>
          </a:xfrm>
        </p:spPr>
        <p:txBody>
          <a:bodyPr>
            <a:normAutofit lnSpcReduction="10000"/>
          </a:bodyPr>
          <a:lstStyle/>
          <a:p>
            <a:pPr marL="0" indent="0">
              <a:buNone/>
            </a:pPr>
            <a:r>
              <a:rPr lang="en-US" sz="2000" b="1">
                <a:latin typeface="Century Gothic" panose="020B0502020202020204" pitchFamily="34" charset="0"/>
              </a:rPr>
              <a:t>Phase 1 </a:t>
            </a:r>
            <a:endParaRPr lang="en-US" sz="1200" b="1">
              <a:latin typeface="Century Gothic" panose="020B0502020202020204" pitchFamily="34" charset="0"/>
            </a:endParaRPr>
          </a:p>
          <a:p>
            <a:pPr marL="0" indent="0">
              <a:buNone/>
            </a:pPr>
            <a:r>
              <a:rPr lang="en-US" sz="1200" b="1">
                <a:latin typeface="Century Gothic" panose="020B0502020202020204" pitchFamily="34" charset="0"/>
              </a:rPr>
              <a:t>Foundation (0–5 Months)</a:t>
            </a:r>
          </a:p>
          <a:p>
            <a:pPr marL="0" indent="0">
              <a:buNone/>
            </a:pPr>
            <a:r>
              <a:rPr lang="en-US" sz="1000" b="1">
                <a:latin typeface="Century Gothic" panose="020B0502020202020204" pitchFamily="34" charset="0"/>
              </a:rPr>
              <a:t>Software:</a:t>
            </a:r>
            <a:endParaRPr lang="en-US" sz="1000">
              <a:latin typeface="Century Gothic" panose="020B0502020202020204" pitchFamily="34" charset="0"/>
            </a:endParaRPr>
          </a:p>
          <a:p>
            <a:r>
              <a:rPr lang="en-US" sz="1000">
                <a:latin typeface="Century Gothic" panose="020B0502020202020204" pitchFamily="34" charset="0"/>
              </a:rPr>
              <a:t>ERP Core (Finance, Procurement, HR)</a:t>
            </a:r>
          </a:p>
          <a:p>
            <a:r>
              <a:rPr lang="en-US" sz="1000">
                <a:latin typeface="Century Gothic" panose="020B0502020202020204" pitchFamily="34" charset="0"/>
              </a:rPr>
              <a:t>DMS deployment</a:t>
            </a:r>
          </a:p>
          <a:p>
            <a:r>
              <a:rPr lang="en-US" sz="1000">
                <a:latin typeface="Century Gothic" panose="020B0502020202020204" pitchFamily="34" charset="0"/>
              </a:rPr>
              <a:t>Identity &amp; Access Management</a:t>
            </a:r>
          </a:p>
          <a:p>
            <a:r>
              <a:rPr lang="en-US" sz="1000">
                <a:latin typeface="Century Gothic" panose="020B0502020202020204" pitchFamily="34" charset="0"/>
              </a:rPr>
              <a:t>Construction monitoring tools</a:t>
            </a:r>
          </a:p>
          <a:p>
            <a:pPr marL="0" indent="0">
              <a:buNone/>
            </a:pPr>
            <a:endParaRPr lang="en-US" sz="1000" b="1">
              <a:latin typeface="Century Gothic" panose="020B0502020202020204" pitchFamily="34" charset="0"/>
            </a:endParaRPr>
          </a:p>
          <a:p>
            <a:pPr marL="0" indent="0">
              <a:buNone/>
            </a:pPr>
            <a:r>
              <a:rPr lang="en-US" sz="1000" b="1">
                <a:latin typeface="Century Gothic" panose="020B0502020202020204" pitchFamily="34" charset="0"/>
              </a:rPr>
              <a:t>Hardware / Infrastructure:</a:t>
            </a:r>
            <a:endParaRPr lang="en-US" sz="1000">
              <a:latin typeface="Century Gothic" panose="020B0502020202020204" pitchFamily="34" charset="0"/>
            </a:endParaRPr>
          </a:p>
          <a:p>
            <a:r>
              <a:rPr lang="en-US" sz="1000">
                <a:latin typeface="Century Gothic" panose="020B0502020202020204" pitchFamily="34" charset="0"/>
              </a:rPr>
              <a:t>Cloud environment setup</a:t>
            </a:r>
          </a:p>
          <a:p>
            <a:r>
              <a:rPr lang="en-US" sz="1000">
                <a:latin typeface="Century Gothic" panose="020B0502020202020204" pitchFamily="34" charset="0"/>
              </a:rPr>
              <a:t>Network &amp; security baseline</a:t>
            </a:r>
          </a:p>
          <a:p>
            <a:pPr marL="0" indent="0">
              <a:buNone/>
            </a:pPr>
            <a:endParaRPr lang="en-US" sz="1000" b="1">
              <a:latin typeface="Century Gothic" panose="020B0502020202020204" pitchFamily="34" charset="0"/>
            </a:endParaRPr>
          </a:p>
        </p:txBody>
      </p:sp>
      <p:sp>
        <p:nvSpPr>
          <p:cNvPr id="4" name="Arrow: Pentagon 3">
            <a:extLst>
              <a:ext uri="{FF2B5EF4-FFF2-40B4-BE49-F238E27FC236}">
                <a16:creationId xmlns:a16="http://schemas.microsoft.com/office/drawing/2014/main" id="{B9A52037-51CA-5959-05D7-D9894DB554E7}"/>
              </a:ext>
            </a:extLst>
          </p:cNvPr>
          <p:cNvSpPr/>
          <p:nvPr/>
        </p:nvSpPr>
        <p:spPr>
          <a:xfrm>
            <a:off x="4232148" y="1396937"/>
            <a:ext cx="253494" cy="3408433"/>
          </a:xfrm>
          <a:prstGeom prst="homePlat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Content Placeholder 2">
            <a:extLst>
              <a:ext uri="{FF2B5EF4-FFF2-40B4-BE49-F238E27FC236}">
                <a16:creationId xmlns:a16="http://schemas.microsoft.com/office/drawing/2014/main" id="{DCE17D04-2BDD-5D9F-A7ED-DAC33F5A2220}"/>
              </a:ext>
            </a:extLst>
          </p:cNvPr>
          <p:cNvSpPr txBox="1">
            <a:spLocks/>
          </p:cNvSpPr>
          <p:nvPr/>
        </p:nvSpPr>
        <p:spPr>
          <a:xfrm>
            <a:off x="4661661" y="1598614"/>
            <a:ext cx="2929131" cy="3098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latin typeface="Century Gothic" panose="020B0502020202020204" pitchFamily="34" charset="0"/>
              </a:rPr>
              <a:t>Phase 2 </a:t>
            </a:r>
            <a:endParaRPr lang="en-US" sz="1200" b="1">
              <a:latin typeface="Century Gothic" panose="020B0502020202020204" pitchFamily="34" charset="0"/>
            </a:endParaRPr>
          </a:p>
          <a:p>
            <a:pPr marL="0" indent="0">
              <a:buNone/>
            </a:pPr>
            <a:r>
              <a:rPr lang="en-US" sz="1200" b="1">
                <a:latin typeface="Century Gothic" panose="020B0502020202020204" pitchFamily="34" charset="0"/>
              </a:rPr>
              <a:t> Enterprise Operations (5–11 Months)</a:t>
            </a:r>
          </a:p>
          <a:p>
            <a:pPr marL="0" indent="0">
              <a:buNone/>
            </a:pPr>
            <a:r>
              <a:rPr lang="en-US" sz="1000" b="1">
                <a:latin typeface="Century Gothic" panose="020B0502020202020204" pitchFamily="34" charset="0"/>
              </a:rPr>
              <a:t>Software:</a:t>
            </a:r>
            <a:endParaRPr lang="en-US" sz="1000">
              <a:latin typeface="Century Gothic" panose="020B0502020202020204" pitchFamily="34" charset="0"/>
            </a:endParaRPr>
          </a:p>
          <a:p>
            <a:r>
              <a:rPr lang="en-US" sz="1000">
                <a:latin typeface="Century Gothic" panose="020B0502020202020204" pitchFamily="34" charset="0"/>
              </a:rPr>
              <a:t>Investor &amp; Enterprise Portal</a:t>
            </a:r>
          </a:p>
          <a:p>
            <a:r>
              <a:rPr lang="en-US" sz="1000">
                <a:latin typeface="Century Gothic" panose="020B0502020202020204" pitchFamily="34" charset="0"/>
              </a:rPr>
              <a:t>Legal contract management</a:t>
            </a:r>
          </a:p>
          <a:p>
            <a:pPr lvl="1"/>
            <a:r>
              <a:rPr lang="en-US" sz="900">
                <a:latin typeface="Century Gothic" panose="020B0502020202020204" pitchFamily="34" charset="0"/>
              </a:rPr>
              <a:t>Permit &amp; license workflows</a:t>
            </a:r>
          </a:p>
          <a:p>
            <a:r>
              <a:rPr lang="en-US" sz="1000">
                <a:latin typeface="Century Gothic" panose="020B0502020202020204" pitchFamily="34" charset="0"/>
              </a:rPr>
              <a:t>Utility metering integration</a:t>
            </a:r>
          </a:p>
          <a:p>
            <a:pPr marL="0" indent="0">
              <a:buNone/>
            </a:pPr>
            <a:endParaRPr lang="en-US" sz="1000" b="1">
              <a:latin typeface="Century Gothic" panose="020B0502020202020204" pitchFamily="34" charset="0"/>
            </a:endParaRPr>
          </a:p>
          <a:p>
            <a:pPr marL="0" indent="0">
              <a:buNone/>
            </a:pPr>
            <a:r>
              <a:rPr lang="en-US" sz="1000" b="1">
                <a:latin typeface="Century Gothic" panose="020B0502020202020204" pitchFamily="34" charset="0"/>
              </a:rPr>
              <a:t>Hardware:</a:t>
            </a:r>
            <a:endParaRPr lang="en-US" sz="1000">
              <a:latin typeface="Century Gothic" panose="020B0502020202020204" pitchFamily="34" charset="0"/>
            </a:endParaRPr>
          </a:p>
          <a:p>
            <a:r>
              <a:rPr lang="en-US" sz="1000">
                <a:latin typeface="Century Gothic" panose="020B0502020202020204" pitchFamily="34" charset="0"/>
              </a:rPr>
              <a:t>Smart meters rollout (priority enterprises)</a:t>
            </a:r>
          </a:p>
        </p:txBody>
      </p:sp>
      <p:sp>
        <p:nvSpPr>
          <p:cNvPr id="6" name="Arrow: Pentagon 5">
            <a:extLst>
              <a:ext uri="{FF2B5EF4-FFF2-40B4-BE49-F238E27FC236}">
                <a16:creationId xmlns:a16="http://schemas.microsoft.com/office/drawing/2014/main" id="{8ED61328-C30B-DFCE-2E9F-A2C007B81F08}"/>
              </a:ext>
            </a:extLst>
          </p:cNvPr>
          <p:cNvSpPr/>
          <p:nvPr/>
        </p:nvSpPr>
        <p:spPr>
          <a:xfrm flipH="1">
            <a:off x="7767827" y="1396935"/>
            <a:ext cx="253494" cy="3408433"/>
          </a:xfrm>
          <a:prstGeom prst="homePlat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Content Placeholder 2">
            <a:extLst>
              <a:ext uri="{FF2B5EF4-FFF2-40B4-BE49-F238E27FC236}">
                <a16:creationId xmlns:a16="http://schemas.microsoft.com/office/drawing/2014/main" id="{4780630A-4942-F224-4FE4-53901D1C245D}"/>
              </a:ext>
            </a:extLst>
          </p:cNvPr>
          <p:cNvSpPr txBox="1">
            <a:spLocks/>
          </p:cNvSpPr>
          <p:nvPr/>
        </p:nvSpPr>
        <p:spPr>
          <a:xfrm>
            <a:off x="8134856" y="1598614"/>
            <a:ext cx="2975867" cy="32131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a:latin typeface="Century Gothic" panose="020B0502020202020204" pitchFamily="34" charset="0"/>
              </a:rPr>
              <a:t>Phase 3 </a:t>
            </a:r>
            <a:endParaRPr lang="en-US" sz="1200" b="1">
              <a:latin typeface="Century Gothic" panose="020B0502020202020204" pitchFamily="34" charset="0"/>
            </a:endParaRPr>
          </a:p>
          <a:p>
            <a:pPr marL="0" indent="0">
              <a:buNone/>
            </a:pPr>
            <a:r>
              <a:rPr lang="en-US" sz="1200" b="1">
                <a:latin typeface="Century Gothic" panose="020B0502020202020204" pitchFamily="34" charset="0"/>
              </a:rPr>
              <a:t>Smart Security &amp; Field Operations (12–15 Months)</a:t>
            </a:r>
          </a:p>
          <a:p>
            <a:pPr marL="0" indent="0">
              <a:buNone/>
            </a:pPr>
            <a:r>
              <a:rPr lang="en-US" sz="1000" b="1">
                <a:latin typeface="Century Gothic" panose="020B0502020202020204" pitchFamily="34" charset="0"/>
              </a:rPr>
              <a:t>Software:</a:t>
            </a:r>
            <a:endParaRPr lang="en-US" sz="1000">
              <a:latin typeface="Century Gothic" panose="020B0502020202020204" pitchFamily="34" charset="0"/>
            </a:endParaRPr>
          </a:p>
          <a:p>
            <a:r>
              <a:rPr lang="en-US" sz="1000">
                <a:latin typeface="Century Gothic" panose="020B0502020202020204" pitchFamily="34" charset="0"/>
              </a:rPr>
              <a:t>Visitor &amp; Vehicle Management</a:t>
            </a:r>
          </a:p>
          <a:p>
            <a:r>
              <a:rPr lang="en-US" sz="1000">
                <a:latin typeface="Century Gothic" panose="020B0502020202020204" pitchFamily="34" charset="0"/>
              </a:rPr>
              <a:t>Incident Management System</a:t>
            </a:r>
          </a:p>
          <a:p>
            <a:pPr marL="0" indent="0">
              <a:buNone/>
            </a:pPr>
            <a:endParaRPr lang="en-US" sz="1000" b="1">
              <a:latin typeface="Century Gothic" panose="020B0502020202020204" pitchFamily="34" charset="0"/>
            </a:endParaRPr>
          </a:p>
          <a:p>
            <a:pPr marL="0" indent="0">
              <a:buNone/>
            </a:pPr>
            <a:r>
              <a:rPr lang="en-US" sz="1000" b="1">
                <a:latin typeface="Century Gothic" panose="020B0502020202020204" pitchFamily="34" charset="0"/>
              </a:rPr>
              <a:t>Hardware:</a:t>
            </a:r>
            <a:endParaRPr lang="en-US" sz="1000">
              <a:latin typeface="Century Gothic" panose="020B0502020202020204" pitchFamily="34" charset="0"/>
            </a:endParaRPr>
          </a:p>
          <a:p>
            <a:r>
              <a:rPr lang="en-US" sz="1000">
                <a:latin typeface="Century Gothic" panose="020B0502020202020204" pitchFamily="34" charset="0"/>
              </a:rPr>
              <a:t>ANPR cameras</a:t>
            </a:r>
          </a:p>
          <a:p>
            <a:r>
              <a:rPr lang="en-US" sz="1000">
                <a:latin typeface="Century Gothic" panose="020B0502020202020204" pitchFamily="34" charset="0"/>
              </a:rPr>
              <a:t>CCTV expansion</a:t>
            </a:r>
          </a:p>
          <a:p>
            <a:r>
              <a:rPr lang="en-US" sz="1000">
                <a:latin typeface="Century Gothic" panose="020B0502020202020204" pitchFamily="34" charset="0"/>
              </a:rPr>
              <a:t>Biometric access devices</a:t>
            </a:r>
          </a:p>
        </p:txBody>
      </p:sp>
      <p:sp>
        <p:nvSpPr>
          <p:cNvPr id="9" name="Arrow: Pentagon 8">
            <a:extLst>
              <a:ext uri="{FF2B5EF4-FFF2-40B4-BE49-F238E27FC236}">
                <a16:creationId xmlns:a16="http://schemas.microsoft.com/office/drawing/2014/main" id="{A390D0C2-2852-5C6B-4FED-A26EB0BDEDFF}"/>
              </a:ext>
            </a:extLst>
          </p:cNvPr>
          <p:cNvSpPr/>
          <p:nvPr/>
        </p:nvSpPr>
        <p:spPr>
          <a:xfrm rot="5400000">
            <a:off x="5963134" y="-32474"/>
            <a:ext cx="265732" cy="9959340"/>
          </a:xfrm>
          <a:prstGeom prst="homePlate">
            <a:avLst>
              <a:gd name="adj" fmla="val 10000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0" name="Content Placeholder 2">
            <a:extLst>
              <a:ext uri="{FF2B5EF4-FFF2-40B4-BE49-F238E27FC236}">
                <a16:creationId xmlns:a16="http://schemas.microsoft.com/office/drawing/2014/main" id="{F38F0E6D-9025-2EB5-9810-98A3B4EB320B}"/>
              </a:ext>
            </a:extLst>
          </p:cNvPr>
          <p:cNvSpPr txBox="1">
            <a:spLocks/>
          </p:cNvSpPr>
          <p:nvPr/>
        </p:nvSpPr>
        <p:spPr>
          <a:xfrm>
            <a:off x="3335780" y="5869289"/>
            <a:ext cx="2651762" cy="657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latin typeface="Century Gothic" panose="020B0502020202020204" pitchFamily="34" charset="0"/>
              </a:rPr>
              <a:t>Advanced analytics &amp; AI insights</a:t>
            </a:r>
          </a:p>
          <a:p>
            <a:r>
              <a:rPr lang="en-US" sz="1000">
                <a:latin typeface="Century Gothic" panose="020B0502020202020204" pitchFamily="34" charset="0"/>
              </a:rPr>
              <a:t>Performance optimization</a:t>
            </a:r>
          </a:p>
        </p:txBody>
      </p:sp>
      <p:sp>
        <p:nvSpPr>
          <p:cNvPr id="11" name="Content Placeholder 2">
            <a:extLst>
              <a:ext uri="{FF2B5EF4-FFF2-40B4-BE49-F238E27FC236}">
                <a16:creationId xmlns:a16="http://schemas.microsoft.com/office/drawing/2014/main" id="{CAF9A5C5-C5C0-687C-6266-41E62A709053}"/>
              </a:ext>
            </a:extLst>
          </p:cNvPr>
          <p:cNvSpPr txBox="1">
            <a:spLocks/>
          </p:cNvSpPr>
          <p:nvPr/>
        </p:nvSpPr>
        <p:spPr>
          <a:xfrm>
            <a:off x="3630166" y="5211951"/>
            <a:ext cx="4931667" cy="657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b="1">
                <a:latin typeface="Century Gothic" panose="020B0502020202020204" pitchFamily="34" charset="0"/>
              </a:rPr>
              <a:t>Phase 4 </a:t>
            </a:r>
          </a:p>
          <a:p>
            <a:pPr marL="0" indent="0" algn="ctr">
              <a:buNone/>
            </a:pPr>
            <a:r>
              <a:rPr lang="en-US" sz="1200" b="1">
                <a:latin typeface="Century Gothic" panose="020B0502020202020204" pitchFamily="34" charset="0"/>
              </a:rPr>
              <a:t>Optimization &amp; Intelligence (16–18 Months)</a:t>
            </a:r>
          </a:p>
        </p:txBody>
      </p:sp>
      <p:sp>
        <p:nvSpPr>
          <p:cNvPr id="12" name="Content Placeholder 2">
            <a:extLst>
              <a:ext uri="{FF2B5EF4-FFF2-40B4-BE49-F238E27FC236}">
                <a16:creationId xmlns:a16="http://schemas.microsoft.com/office/drawing/2014/main" id="{A3BEC75D-148F-E49C-9D84-86C848CE9372}"/>
              </a:ext>
            </a:extLst>
          </p:cNvPr>
          <p:cNvSpPr txBox="1">
            <a:spLocks/>
          </p:cNvSpPr>
          <p:nvPr/>
        </p:nvSpPr>
        <p:spPr>
          <a:xfrm>
            <a:off x="6402067" y="5869289"/>
            <a:ext cx="2993393" cy="590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latin typeface="Century Gothic" panose="020B0502020202020204" pitchFamily="34" charset="0"/>
              </a:rPr>
              <a:t>Regulatory integrations</a:t>
            </a:r>
          </a:p>
          <a:p>
            <a:r>
              <a:rPr lang="en-US" sz="1000">
                <a:latin typeface="Century Gothic" panose="020B0502020202020204" pitchFamily="34" charset="0"/>
              </a:rPr>
              <a:t>Continuous improvement &amp; training</a:t>
            </a:r>
          </a:p>
        </p:txBody>
      </p:sp>
      <p:sp>
        <p:nvSpPr>
          <p:cNvPr id="13" name="Arrow: Pentagon 12">
            <a:extLst>
              <a:ext uri="{FF2B5EF4-FFF2-40B4-BE49-F238E27FC236}">
                <a16:creationId xmlns:a16="http://schemas.microsoft.com/office/drawing/2014/main" id="{0A528A6C-CD75-32D9-B6BF-1272DAB6BEB9}"/>
              </a:ext>
            </a:extLst>
          </p:cNvPr>
          <p:cNvSpPr/>
          <p:nvPr/>
        </p:nvSpPr>
        <p:spPr>
          <a:xfrm rot="16200000" flipV="1">
            <a:off x="6090134" y="-3635974"/>
            <a:ext cx="265732" cy="9959340"/>
          </a:xfrm>
          <a:prstGeom prst="homePlate">
            <a:avLst>
              <a:gd name="adj" fmla="val 100000"/>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5" name="Title 1">
            <a:extLst>
              <a:ext uri="{FF2B5EF4-FFF2-40B4-BE49-F238E27FC236}">
                <a16:creationId xmlns:a16="http://schemas.microsoft.com/office/drawing/2014/main" id="{D2B3D181-107F-8A79-1C38-8BA076C14EA9}"/>
              </a:ext>
            </a:extLst>
          </p:cNvPr>
          <p:cNvSpPr>
            <a:spLocks noGrp="1"/>
          </p:cNvSpPr>
          <p:nvPr>
            <p:ph type="title"/>
          </p:nvPr>
        </p:nvSpPr>
        <p:spPr>
          <a:xfrm>
            <a:off x="900299" y="674255"/>
            <a:ext cx="8952361" cy="504230"/>
          </a:xfrm>
        </p:spPr>
        <p:txBody>
          <a:bodyPr>
            <a:normAutofit fontScale="90000"/>
          </a:bodyPr>
          <a:lstStyle/>
          <a:p>
            <a:r>
              <a:rPr lang="en-US" sz="2800" b="1">
                <a:latin typeface="Century Gothic" panose="020B0502020202020204" pitchFamily="34" charset="0"/>
              </a:rPr>
              <a:t>Proposed Implementation Plan – Phased Approach</a:t>
            </a:r>
            <a:endParaRPr lang="en-NG" sz="2800" b="1">
              <a:latin typeface="Century Gothic" panose="020B0502020202020204" pitchFamily="34" charset="0"/>
            </a:endParaRPr>
          </a:p>
        </p:txBody>
      </p:sp>
    </p:spTree>
    <p:extLst>
      <p:ext uri="{BB962C8B-B14F-4D97-AF65-F5344CB8AC3E}">
        <p14:creationId xmlns:p14="http://schemas.microsoft.com/office/powerpoint/2010/main" val="848971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BE0F4C-BA64-479C-1DDF-16C9EE24F20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3AB7701-3E69-A48D-0DBB-CA277B791B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6" name="Content Placeholder 5">
            <a:extLst>
              <a:ext uri="{FF2B5EF4-FFF2-40B4-BE49-F238E27FC236}">
                <a16:creationId xmlns:a16="http://schemas.microsoft.com/office/drawing/2014/main" id="{FDF9E3F2-EF1C-C0E6-ACF1-DAB4D76C0D3A}"/>
              </a:ext>
            </a:extLst>
          </p:cNvPr>
          <p:cNvSpPr>
            <a:spLocks noGrp="1"/>
          </p:cNvSpPr>
          <p:nvPr>
            <p:ph idx="1"/>
          </p:nvPr>
        </p:nvSpPr>
        <p:spPr>
          <a:xfrm>
            <a:off x="868680" y="2870525"/>
            <a:ext cx="3066140" cy="878515"/>
          </a:xfrm>
        </p:spPr>
        <p:txBody>
          <a:bodyPr>
            <a:noAutofit/>
          </a:bodyPr>
          <a:lstStyle/>
          <a:p>
            <a:pPr marL="0" indent="0" algn="ctr">
              <a:buNone/>
            </a:pPr>
            <a:r>
              <a:rPr lang="en-US" b="1">
                <a:latin typeface="Century Gothic" panose="020B0502020202020204" pitchFamily="34" charset="0"/>
              </a:rPr>
              <a:t>Solution Architecture</a:t>
            </a:r>
            <a:endParaRPr lang="en-NG" b="1">
              <a:latin typeface="Century Gothic" panose="020B0502020202020204" pitchFamily="34" charset="0"/>
            </a:endParaRPr>
          </a:p>
        </p:txBody>
      </p:sp>
      <p:pic>
        <p:nvPicPr>
          <p:cNvPr id="12" name="Picture 11">
            <a:extLst>
              <a:ext uri="{FF2B5EF4-FFF2-40B4-BE49-F238E27FC236}">
                <a16:creationId xmlns:a16="http://schemas.microsoft.com/office/drawing/2014/main" id="{4EC4DD76-62D5-2180-22A6-A2DD25D438B1}"/>
              </a:ext>
            </a:extLst>
          </p:cNvPr>
          <p:cNvPicPr>
            <a:picLocks noChangeAspect="1"/>
          </p:cNvPicPr>
          <p:nvPr/>
        </p:nvPicPr>
        <p:blipFill>
          <a:blip r:embed="rId3"/>
          <a:srcRect l="14667" r="10963"/>
          <a:stretch>
            <a:fillRect/>
          </a:stretch>
        </p:blipFill>
        <p:spPr>
          <a:xfrm>
            <a:off x="4541520" y="8313"/>
            <a:ext cx="7650480" cy="6858000"/>
          </a:xfrm>
          <a:prstGeom prst="rect">
            <a:avLst/>
          </a:prstGeom>
        </p:spPr>
      </p:pic>
    </p:spTree>
    <p:extLst>
      <p:ext uri="{BB962C8B-B14F-4D97-AF65-F5344CB8AC3E}">
        <p14:creationId xmlns:p14="http://schemas.microsoft.com/office/powerpoint/2010/main" val="193723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DD83EA-B361-0D88-E6D3-02E0AB91426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D08572-5AE6-A379-BC3C-6893EF1E7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0B9112D-3B8D-4051-6E25-17ECA921B5DE}"/>
              </a:ext>
            </a:extLst>
          </p:cNvPr>
          <p:cNvSpPr>
            <a:spLocks noGrp="1"/>
          </p:cNvSpPr>
          <p:nvPr>
            <p:ph type="title"/>
          </p:nvPr>
        </p:nvSpPr>
        <p:spPr>
          <a:xfrm>
            <a:off x="479394" y="1070800"/>
            <a:ext cx="3939688" cy="5589346"/>
          </a:xfrm>
          <a:ln>
            <a:solidFill>
              <a:srgbClr val="FF0000"/>
            </a:solidFill>
          </a:ln>
        </p:spPr>
        <p:txBody>
          <a:bodyPr>
            <a:normAutofit/>
          </a:bodyPr>
          <a:lstStyle/>
          <a:p>
            <a:pPr algn="r"/>
            <a:r>
              <a:rPr lang="en-US" sz="2800" b="1">
                <a:latin typeface="Century Gothic" panose="020B0502020202020204" pitchFamily="34" charset="0"/>
              </a:rPr>
              <a:t>High-Level Solution Components</a:t>
            </a:r>
            <a:endParaRPr lang="en-NG" sz="2800" b="1">
              <a:latin typeface="Century Gothic" panose="020B0502020202020204" pitchFamily="34" charset="0"/>
            </a:endParaRPr>
          </a:p>
        </p:txBody>
      </p:sp>
      <p:cxnSp>
        <p:nvCxnSpPr>
          <p:cNvPr id="11" name="Straight Connector 10">
            <a:extLst>
              <a:ext uri="{FF2B5EF4-FFF2-40B4-BE49-F238E27FC236}">
                <a16:creationId xmlns:a16="http://schemas.microsoft.com/office/drawing/2014/main" id="{9377ECCA-3E4F-CBCF-C083-E3A5E61886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D8CDA6F-D507-7BA8-1B8D-4C33B6815A2A}"/>
              </a:ext>
            </a:extLst>
          </p:cNvPr>
          <p:cNvGraphicFramePr>
            <a:graphicFrameLocks noGrp="1"/>
          </p:cNvGraphicFramePr>
          <p:nvPr>
            <p:ph idx="1"/>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6B5937BD-D528-8BA8-5C6B-4EBA1C241E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2571793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516D-FE4B-2E45-E955-4AA4043F2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7783E-1866-3796-F0CC-D5AE195EEEC0}"/>
              </a:ext>
            </a:extLst>
          </p:cNvPr>
          <p:cNvSpPr>
            <a:spLocks noGrp="1"/>
          </p:cNvSpPr>
          <p:nvPr>
            <p:ph type="title"/>
          </p:nvPr>
        </p:nvSpPr>
        <p:spPr>
          <a:xfrm>
            <a:off x="637309" y="605790"/>
            <a:ext cx="6668655" cy="605790"/>
          </a:xfrm>
        </p:spPr>
        <p:txBody>
          <a:bodyPr>
            <a:normAutofit/>
          </a:bodyPr>
          <a:lstStyle/>
          <a:p>
            <a:r>
              <a:rPr lang="en-US" sz="2800" b="1">
                <a:latin typeface="Century Gothic" panose="020B0502020202020204" pitchFamily="34" charset="0"/>
              </a:rPr>
              <a:t>Solution Architecture (High Level)</a:t>
            </a:r>
            <a:endParaRPr lang="en-NG" sz="2800" b="1">
              <a:latin typeface="Century Gothic" panose="020B0502020202020204" pitchFamily="34" charset="0"/>
            </a:endParaRPr>
          </a:p>
        </p:txBody>
      </p:sp>
      <p:pic>
        <p:nvPicPr>
          <p:cNvPr id="6" name="Picture 5">
            <a:extLst>
              <a:ext uri="{FF2B5EF4-FFF2-40B4-BE49-F238E27FC236}">
                <a16:creationId xmlns:a16="http://schemas.microsoft.com/office/drawing/2014/main" id="{8C29ABF0-1609-2BE3-FF18-BD8A1CF12E92}"/>
              </a:ext>
            </a:extLst>
          </p:cNvPr>
          <p:cNvPicPr>
            <a:picLocks noChangeAspect="1"/>
          </p:cNvPicPr>
          <p:nvPr/>
        </p:nvPicPr>
        <p:blipFill>
          <a:blip r:embed="rId2"/>
          <a:srcRect t="1779" b="17333"/>
          <a:stretch>
            <a:fillRect/>
          </a:stretch>
        </p:blipFill>
        <p:spPr>
          <a:xfrm>
            <a:off x="529042" y="1306629"/>
            <a:ext cx="11133916" cy="4456497"/>
          </a:xfrm>
          <a:prstGeom prst="rect">
            <a:avLst/>
          </a:prstGeom>
        </p:spPr>
      </p:pic>
    </p:spTree>
    <p:extLst>
      <p:ext uri="{BB962C8B-B14F-4D97-AF65-F5344CB8AC3E}">
        <p14:creationId xmlns:p14="http://schemas.microsoft.com/office/powerpoint/2010/main" val="3807318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6789-1827-0B7A-A7AA-F7C169C1A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0F572-BF99-70CA-DB41-7D2BD42C7E47}"/>
              </a:ext>
            </a:extLst>
          </p:cNvPr>
          <p:cNvSpPr>
            <a:spLocks noGrp="1"/>
          </p:cNvSpPr>
          <p:nvPr>
            <p:ph type="title"/>
          </p:nvPr>
        </p:nvSpPr>
        <p:spPr>
          <a:xfrm>
            <a:off x="838200" y="605790"/>
            <a:ext cx="10515600" cy="605790"/>
          </a:xfrm>
        </p:spPr>
        <p:txBody>
          <a:bodyPr>
            <a:normAutofit/>
          </a:bodyPr>
          <a:lstStyle/>
          <a:p>
            <a:r>
              <a:rPr lang="en-US" sz="2400" b="1">
                <a:latin typeface="Century Gothic" panose="020B0502020202020204" pitchFamily="34" charset="0"/>
              </a:rPr>
              <a:t>Component Description (A)</a:t>
            </a:r>
            <a:endParaRPr lang="en-NG" sz="2400" b="1">
              <a:latin typeface="Century Gothic" panose="020B0502020202020204" pitchFamily="34" charset="0"/>
            </a:endParaRPr>
          </a:p>
        </p:txBody>
      </p:sp>
      <p:grpSp>
        <p:nvGrpSpPr>
          <p:cNvPr id="63" name="Group 62">
            <a:extLst>
              <a:ext uri="{FF2B5EF4-FFF2-40B4-BE49-F238E27FC236}">
                <a16:creationId xmlns:a16="http://schemas.microsoft.com/office/drawing/2014/main" id="{EF9378DF-0452-30FB-DF35-2B5B518F128F}"/>
              </a:ext>
            </a:extLst>
          </p:cNvPr>
          <p:cNvGrpSpPr/>
          <p:nvPr/>
        </p:nvGrpSpPr>
        <p:grpSpPr>
          <a:xfrm>
            <a:off x="561324" y="1530625"/>
            <a:ext cx="11069352" cy="4721585"/>
            <a:chOff x="578469" y="1159351"/>
            <a:chExt cx="11069352" cy="4721585"/>
          </a:xfrm>
        </p:grpSpPr>
        <p:sp>
          <p:nvSpPr>
            <p:cNvPr id="8" name="Forme libre 70">
              <a:extLst>
                <a:ext uri="{FF2B5EF4-FFF2-40B4-BE49-F238E27FC236}">
                  <a16:creationId xmlns:a16="http://schemas.microsoft.com/office/drawing/2014/main" id="{55B5982E-05B3-DCD8-36DB-A992842F62E9}"/>
                </a:ext>
              </a:extLst>
            </p:cNvPr>
            <p:cNvSpPr/>
            <p:nvPr/>
          </p:nvSpPr>
          <p:spPr>
            <a:xfrm>
              <a:off x="6019870" y="1159351"/>
              <a:ext cx="2106832" cy="2023033"/>
            </a:xfrm>
            <a:custGeom>
              <a:avLst/>
              <a:gdLst>
                <a:gd name="connsiteX0" fmla="*/ 0 w 802338"/>
                <a:gd name="connsiteY0" fmla="*/ 770426 h 770425"/>
                <a:gd name="connsiteX1" fmla="*/ 802338 w 802338"/>
                <a:gd name="connsiteY1" fmla="*/ 187577 h 770425"/>
                <a:gd name="connsiteX2" fmla="*/ 789409 w 802338"/>
                <a:gd name="connsiteY2" fmla="*/ 167779 h 770425"/>
                <a:gd name="connsiteX3" fmla="*/ 246329 w 802338"/>
                <a:gd name="connsiteY3" fmla="*/ 12321 h 770425"/>
                <a:gd name="connsiteX4" fmla="*/ 0 w 802338"/>
                <a:gd name="connsiteY4" fmla="*/ 770358 h 770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338" h="770425">
                  <a:moveTo>
                    <a:pt x="0" y="770426"/>
                  </a:moveTo>
                  <a:lnTo>
                    <a:pt x="802338" y="187577"/>
                  </a:lnTo>
                  <a:cubicBezTo>
                    <a:pt x="798188" y="180842"/>
                    <a:pt x="793901" y="174243"/>
                    <a:pt x="789409" y="167779"/>
                  </a:cubicBezTo>
                  <a:cubicBezTo>
                    <a:pt x="661346" y="-14620"/>
                    <a:pt x="438834" y="-13328"/>
                    <a:pt x="246329" y="12321"/>
                  </a:cubicBezTo>
                  <a:lnTo>
                    <a:pt x="0" y="770358"/>
                  </a:lnTo>
                  <a:close/>
                </a:path>
              </a:pathLst>
            </a:custGeom>
            <a:solidFill>
              <a:schemeClr val="bg1">
                <a:lumMod val="50000"/>
                <a:alpha val="9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9" name="Forme libre 71">
              <a:extLst>
                <a:ext uri="{FF2B5EF4-FFF2-40B4-BE49-F238E27FC236}">
                  <a16:creationId xmlns:a16="http://schemas.microsoft.com/office/drawing/2014/main" id="{98245999-40EC-7644-9F04-AB3A4DF19DAF}"/>
                </a:ext>
              </a:extLst>
            </p:cNvPr>
            <p:cNvSpPr/>
            <p:nvPr/>
          </p:nvSpPr>
          <p:spPr>
            <a:xfrm>
              <a:off x="5403958" y="1202783"/>
              <a:ext cx="1183943" cy="1957452"/>
            </a:xfrm>
            <a:custGeom>
              <a:avLst/>
              <a:gdLst>
                <a:gd name="connsiteX0" fmla="*/ 208631 w 450877"/>
                <a:gd name="connsiteY0" fmla="*/ 745450 h 745450"/>
                <a:gd name="connsiteX1" fmla="*/ 450877 w 450877"/>
                <a:gd name="connsiteY1" fmla="*/ 0 h 745450"/>
                <a:gd name="connsiteX2" fmla="*/ 0 w 450877"/>
                <a:gd name="connsiteY2" fmla="*/ 103412 h 745450"/>
                <a:gd name="connsiteX3" fmla="*/ 208631 w 450877"/>
                <a:gd name="connsiteY3" fmla="*/ 745382 h 745450"/>
              </a:gdLst>
              <a:ahLst/>
              <a:cxnLst>
                <a:cxn ang="0">
                  <a:pos x="connsiteX0" y="connsiteY0"/>
                </a:cxn>
                <a:cxn ang="0">
                  <a:pos x="connsiteX1" y="connsiteY1"/>
                </a:cxn>
                <a:cxn ang="0">
                  <a:pos x="connsiteX2" y="connsiteY2"/>
                </a:cxn>
                <a:cxn ang="0">
                  <a:pos x="connsiteX3" y="connsiteY3"/>
                </a:cxn>
              </a:cxnLst>
              <a:rect l="l" t="t" r="r" b="b"/>
              <a:pathLst>
                <a:path w="450877" h="745450">
                  <a:moveTo>
                    <a:pt x="208631" y="745450"/>
                  </a:moveTo>
                  <a:lnTo>
                    <a:pt x="450877" y="0"/>
                  </a:lnTo>
                  <a:cubicBezTo>
                    <a:pt x="298861" y="22247"/>
                    <a:pt x="147117" y="54427"/>
                    <a:pt x="0" y="103412"/>
                  </a:cubicBezTo>
                  <a:lnTo>
                    <a:pt x="208631" y="745382"/>
                  </a:lnTo>
                  <a:close/>
                </a:path>
              </a:pathLst>
            </a:custGeom>
            <a:solidFill>
              <a:schemeClr val="bg1">
                <a:lumMod val="65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1" name="Forme libre 72">
              <a:extLst>
                <a:ext uri="{FF2B5EF4-FFF2-40B4-BE49-F238E27FC236}">
                  <a16:creationId xmlns:a16="http://schemas.microsoft.com/office/drawing/2014/main" id="{B78C41BF-2A24-DD6A-84C1-C9A64527DDAA}"/>
                </a:ext>
              </a:extLst>
            </p:cNvPr>
            <p:cNvSpPr/>
            <p:nvPr/>
          </p:nvSpPr>
          <p:spPr>
            <a:xfrm>
              <a:off x="6061863" y="1714611"/>
              <a:ext cx="2295359" cy="1525836"/>
            </a:xfrm>
            <a:custGeom>
              <a:avLst/>
              <a:gdLst>
                <a:gd name="connsiteX0" fmla="*/ 870113 w 874134"/>
                <a:gd name="connsiteY0" fmla="*/ 285403 h 581079"/>
                <a:gd name="connsiteX1" fmla="*/ 799888 w 874134"/>
                <a:gd name="connsiteY1" fmla="*/ 0 h 581079"/>
                <a:gd name="connsiteX2" fmla="*/ 0 w 874134"/>
                <a:gd name="connsiteY2" fmla="*/ 581079 h 581079"/>
                <a:gd name="connsiteX3" fmla="*/ 863376 w 874134"/>
                <a:gd name="connsiteY3" fmla="*/ 581079 h 581079"/>
                <a:gd name="connsiteX4" fmla="*/ 870113 w 874134"/>
                <a:gd name="connsiteY4" fmla="*/ 285471 h 581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134" h="581079">
                  <a:moveTo>
                    <a:pt x="870113" y="285403"/>
                  </a:moveTo>
                  <a:cubicBezTo>
                    <a:pt x="862899" y="186209"/>
                    <a:pt x="844867" y="84906"/>
                    <a:pt x="799888" y="0"/>
                  </a:cubicBezTo>
                  <a:lnTo>
                    <a:pt x="0" y="581079"/>
                  </a:lnTo>
                  <a:lnTo>
                    <a:pt x="863376" y="581079"/>
                  </a:lnTo>
                  <a:cubicBezTo>
                    <a:pt x="874807" y="482974"/>
                    <a:pt x="877257" y="383780"/>
                    <a:pt x="870113" y="285471"/>
                  </a:cubicBezTo>
                  <a:close/>
                </a:path>
              </a:pathLst>
            </a:custGeom>
            <a:solidFill>
              <a:schemeClr val="bg1">
                <a:lumMod val="65000"/>
                <a:alpha val="8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2" name="Forme libre 73">
              <a:extLst>
                <a:ext uri="{FF2B5EF4-FFF2-40B4-BE49-F238E27FC236}">
                  <a16:creationId xmlns:a16="http://schemas.microsoft.com/office/drawing/2014/main" id="{B358BED0-1EA4-2843-6063-A386AFD75340}"/>
                </a:ext>
              </a:extLst>
            </p:cNvPr>
            <p:cNvSpPr/>
            <p:nvPr/>
          </p:nvSpPr>
          <p:spPr>
            <a:xfrm>
              <a:off x="6061863" y="3311907"/>
              <a:ext cx="2258531" cy="1343792"/>
            </a:xfrm>
            <a:custGeom>
              <a:avLst/>
              <a:gdLst>
                <a:gd name="connsiteX0" fmla="*/ 0 w 860109"/>
                <a:gd name="connsiteY0" fmla="*/ 0 h 511752"/>
                <a:gd name="connsiteX1" fmla="*/ 704486 w 860109"/>
                <a:gd name="connsiteY1" fmla="*/ 511753 h 511752"/>
                <a:gd name="connsiteX2" fmla="*/ 784918 w 860109"/>
                <a:gd name="connsiteY2" fmla="*/ 314658 h 511752"/>
                <a:gd name="connsiteX3" fmla="*/ 860109 w 860109"/>
                <a:gd name="connsiteY3" fmla="*/ 0 h 511752"/>
                <a:gd name="connsiteX4" fmla="*/ 0 w 860109"/>
                <a:gd name="connsiteY4" fmla="*/ 0 h 51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0109" h="511752">
                  <a:moveTo>
                    <a:pt x="0" y="0"/>
                  </a:moveTo>
                  <a:lnTo>
                    <a:pt x="704486" y="511753"/>
                  </a:lnTo>
                  <a:cubicBezTo>
                    <a:pt x="735516" y="446712"/>
                    <a:pt x="762055" y="379698"/>
                    <a:pt x="784918" y="314658"/>
                  </a:cubicBezTo>
                  <a:cubicBezTo>
                    <a:pt x="820574" y="213083"/>
                    <a:pt x="845751" y="107358"/>
                    <a:pt x="860109" y="0"/>
                  </a:cubicBezTo>
                  <a:lnTo>
                    <a:pt x="0" y="0"/>
                  </a:lnTo>
                  <a:close/>
                </a:path>
              </a:pathLst>
            </a:custGeom>
            <a:solidFill>
              <a:schemeClr val="bg1">
                <a:lumMod val="75000"/>
                <a:alpha val="7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3" name="Forme libre 74">
              <a:extLst>
                <a:ext uri="{FF2B5EF4-FFF2-40B4-BE49-F238E27FC236}">
                  <a16:creationId xmlns:a16="http://schemas.microsoft.com/office/drawing/2014/main" id="{A6143902-6CEB-E61E-B59E-FC291E35813D}"/>
                </a:ext>
              </a:extLst>
            </p:cNvPr>
            <p:cNvSpPr/>
            <p:nvPr/>
          </p:nvSpPr>
          <p:spPr>
            <a:xfrm>
              <a:off x="4284517" y="1497731"/>
              <a:ext cx="1599197" cy="1684653"/>
            </a:xfrm>
            <a:custGeom>
              <a:avLst/>
              <a:gdLst>
                <a:gd name="connsiteX0" fmla="*/ 609018 w 609017"/>
                <a:gd name="connsiteY0" fmla="*/ 641562 h 641561"/>
                <a:gd name="connsiteX1" fmla="*/ 400523 w 609017"/>
                <a:gd name="connsiteY1" fmla="*/ 0 h 641561"/>
                <a:gd name="connsiteX2" fmla="*/ 220812 w 609017"/>
                <a:gd name="connsiteY2" fmla="*/ 72864 h 641561"/>
                <a:gd name="connsiteX3" fmla="*/ 0 w 609017"/>
                <a:gd name="connsiteY3" fmla="*/ 199204 h 641561"/>
                <a:gd name="connsiteX4" fmla="*/ 608950 w 609017"/>
                <a:gd name="connsiteY4" fmla="*/ 641562 h 641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017" h="641561">
                  <a:moveTo>
                    <a:pt x="609018" y="641562"/>
                  </a:moveTo>
                  <a:lnTo>
                    <a:pt x="400523" y="0"/>
                  </a:lnTo>
                  <a:cubicBezTo>
                    <a:pt x="339689" y="21159"/>
                    <a:pt x="279672" y="45242"/>
                    <a:pt x="220812" y="72864"/>
                  </a:cubicBezTo>
                  <a:cubicBezTo>
                    <a:pt x="150519" y="105861"/>
                    <a:pt x="69884" y="146205"/>
                    <a:pt x="0" y="199204"/>
                  </a:cubicBezTo>
                  <a:lnTo>
                    <a:pt x="608950" y="641562"/>
                  </a:lnTo>
                  <a:close/>
                </a:path>
              </a:pathLst>
            </a:custGeom>
            <a:solidFill>
              <a:schemeClr val="bg1">
                <a:lumMod val="75000"/>
                <a:alpha val="9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4" name="Forme libre 75">
              <a:extLst>
                <a:ext uri="{FF2B5EF4-FFF2-40B4-BE49-F238E27FC236}">
                  <a16:creationId xmlns:a16="http://schemas.microsoft.com/office/drawing/2014/main" id="{3F511766-477E-AC99-82F7-B4812F9A6A03}"/>
                </a:ext>
              </a:extLst>
            </p:cNvPr>
            <p:cNvSpPr/>
            <p:nvPr/>
          </p:nvSpPr>
          <p:spPr>
            <a:xfrm>
              <a:off x="4527882" y="3369789"/>
              <a:ext cx="1355834" cy="1754328"/>
            </a:xfrm>
            <a:custGeom>
              <a:avLst/>
              <a:gdLst>
                <a:gd name="connsiteX0" fmla="*/ 516338 w 516338"/>
                <a:gd name="connsiteY0" fmla="*/ 0 h 668095"/>
                <a:gd name="connsiteX1" fmla="*/ 0 w 516338"/>
                <a:gd name="connsiteY1" fmla="*/ 375072 h 668095"/>
                <a:gd name="connsiteX2" fmla="*/ 50763 w 516338"/>
                <a:gd name="connsiteY2" fmla="*/ 435759 h 668095"/>
                <a:gd name="connsiteX3" fmla="*/ 299202 w 516338"/>
                <a:gd name="connsiteY3" fmla="*/ 668095 h 668095"/>
                <a:gd name="connsiteX4" fmla="*/ 516270 w 516338"/>
                <a:gd name="connsiteY4" fmla="*/ 0 h 668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338" h="668095">
                  <a:moveTo>
                    <a:pt x="516338" y="0"/>
                  </a:moveTo>
                  <a:lnTo>
                    <a:pt x="0" y="375072"/>
                  </a:lnTo>
                  <a:cubicBezTo>
                    <a:pt x="17148" y="396367"/>
                    <a:pt x="34228" y="416709"/>
                    <a:pt x="50763" y="435759"/>
                  </a:cubicBezTo>
                  <a:cubicBezTo>
                    <a:pt x="122756" y="518760"/>
                    <a:pt x="207066" y="598837"/>
                    <a:pt x="299202" y="668095"/>
                  </a:cubicBezTo>
                  <a:lnTo>
                    <a:pt x="516270" y="0"/>
                  </a:lnTo>
                  <a:close/>
                </a:path>
              </a:pathLst>
            </a:custGeom>
            <a:solidFill>
              <a:srgbClr val="FF0000">
                <a:alpha val="60000"/>
              </a:srgb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5" name="Forme libre 76">
              <a:extLst>
                <a:ext uri="{FF2B5EF4-FFF2-40B4-BE49-F238E27FC236}">
                  <a16:creationId xmlns:a16="http://schemas.microsoft.com/office/drawing/2014/main" id="{0BB85674-95CE-E810-5EDE-18EF647EF9C8}"/>
                </a:ext>
              </a:extLst>
            </p:cNvPr>
            <p:cNvSpPr/>
            <p:nvPr/>
          </p:nvSpPr>
          <p:spPr>
            <a:xfrm>
              <a:off x="5374296" y="3391941"/>
              <a:ext cx="1327065" cy="2306708"/>
            </a:xfrm>
            <a:custGeom>
              <a:avLst/>
              <a:gdLst>
                <a:gd name="connsiteX0" fmla="*/ 219927 w 505382"/>
                <a:gd name="connsiteY0" fmla="*/ 0 h 878456"/>
                <a:gd name="connsiteX1" fmla="*/ 0 w 505382"/>
                <a:gd name="connsiteY1" fmla="*/ 676668 h 878456"/>
                <a:gd name="connsiteX2" fmla="*/ 429783 w 505382"/>
                <a:gd name="connsiteY2" fmla="*/ 870769 h 878456"/>
                <a:gd name="connsiteX3" fmla="*/ 505383 w 505382"/>
                <a:gd name="connsiteY3" fmla="*/ 878457 h 878456"/>
                <a:gd name="connsiteX4" fmla="*/ 219859 w 505382"/>
                <a:gd name="connsiteY4" fmla="*/ 0 h 878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82" h="878456">
                  <a:moveTo>
                    <a:pt x="219927" y="0"/>
                  </a:moveTo>
                  <a:lnTo>
                    <a:pt x="0" y="676668"/>
                  </a:lnTo>
                  <a:cubicBezTo>
                    <a:pt x="132487" y="772256"/>
                    <a:pt x="279944" y="844576"/>
                    <a:pt x="429783" y="870769"/>
                  </a:cubicBezTo>
                  <a:cubicBezTo>
                    <a:pt x="455029" y="875191"/>
                    <a:pt x="480342" y="877913"/>
                    <a:pt x="505383" y="878457"/>
                  </a:cubicBezTo>
                  <a:lnTo>
                    <a:pt x="219859" y="0"/>
                  </a:lnTo>
                  <a:close/>
                </a:path>
              </a:pathLst>
            </a:custGeom>
            <a:solidFill>
              <a:schemeClr val="bg1">
                <a:lumMod val="85000"/>
                <a:alpha val="5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6" name="Forme libre 77">
              <a:extLst>
                <a:ext uri="{FF2B5EF4-FFF2-40B4-BE49-F238E27FC236}">
                  <a16:creationId xmlns:a16="http://schemas.microsoft.com/office/drawing/2014/main" id="{C80F784B-3D8D-51D4-724A-C603978AB3EE}"/>
                </a:ext>
              </a:extLst>
            </p:cNvPr>
            <p:cNvSpPr/>
            <p:nvPr/>
          </p:nvSpPr>
          <p:spPr>
            <a:xfrm>
              <a:off x="3834777" y="2066905"/>
              <a:ext cx="2006768" cy="1173363"/>
            </a:xfrm>
            <a:custGeom>
              <a:avLst/>
              <a:gdLst>
                <a:gd name="connsiteX0" fmla="*/ 149158 w 764231"/>
                <a:gd name="connsiteY0" fmla="*/ 0 h 446848"/>
                <a:gd name="connsiteX1" fmla="*/ 136 w 764231"/>
                <a:gd name="connsiteY1" fmla="*/ 277035 h 446848"/>
                <a:gd name="connsiteX2" fmla="*/ 23884 w 764231"/>
                <a:gd name="connsiteY2" fmla="*/ 446848 h 446848"/>
                <a:gd name="connsiteX3" fmla="*/ 764232 w 764231"/>
                <a:gd name="connsiteY3" fmla="*/ 446848 h 446848"/>
                <a:gd name="connsiteX4" fmla="*/ 149090 w 764231"/>
                <a:gd name="connsiteY4" fmla="*/ 0 h 446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231" h="446848">
                  <a:moveTo>
                    <a:pt x="149158" y="0"/>
                  </a:moveTo>
                  <a:cubicBezTo>
                    <a:pt x="66141" y="68851"/>
                    <a:pt x="3130" y="157771"/>
                    <a:pt x="136" y="277035"/>
                  </a:cubicBezTo>
                  <a:cubicBezTo>
                    <a:pt x="-1225" y="333367"/>
                    <a:pt x="7689" y="390380"/>
                    <a:pt x="23884" y="446848"/>
                  </a:cubicBezTo>
                  <a:lnTo>
                    <a:pt x="764232" y="446848"/>
                  </a:lnTo>
                  <a:cubicBezTo>
                    <a:pt x="764232" y="446848"/>
                    <a:pt x="149090" y="0"/>
                    <a:pt x="149090" y="0"/>
                  </a:cubicBezTo>
                  <a:close/>
                </a:path>
              </a:pathLst>
            </a:custGeom>
            <a:solidFill>
              <a:schemeClr val="bg1">
                <a:lumMod val="85000"/>
                <a:alpha val="8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7" name="Forme libre 78">
              <a:extLst>
                <a:ext uri="{FF2B5EF4-FFF2-40B4-BE49-F238E27FC236}">
                  <a16:creationId xmlns:a16="http://schemas.microsoft.com/office/drawing/2014/main" id="{EE1DF1C3-0090-D753-C6EA-265BD522555B}"/>
                </a:ext>
              </a:extLst>
            </p:cNvPr>
            <p:cNvSpPr/>
            <p:nvPr/>
          </p:nvSpPr>
          <p:spPr>
            <a:xfrm>
              <a:off x="6019870" y="3369789"/>
              <a:ext cx="1860074" cy="2328145"/>
            </a:xfrm>
            <a:custGeom>
              <a:avLst/>
              <a:gdLst>
                <a:gd name="connsiteX0" fmla="*/ 0 w 708366"/>
                <a:gd name="connsiteY0" fmla="*/ 0 h 886620"/>
                <a:gd name="connsiteX1" fmla="*/ 288110 w 708366"/>
                <a:gd name="connsiteY1" fmla="*/ 886621 h 886620"/>
                <a:gd name="connsiteX2" fmla="*/ 512460 w 708366"/>
                <a:gd name="connsiteY2" fmla="*/ 793210 h 886620"/>
                <a:gd name="connsiteX3" fmla="*/ 708366 w 708366"/>
                <a:gd name="connsiteY3" fmla="*/ 514542 h 886620"/>
                <a:gd name="connsiteX4" fmla="*/ 0 w 708366"/>
                <a:gd name="connsiteY4" fmla="*/ 0 h 88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366" h="886620">
                  <a:moveTo>
                    <a:pt x="0" y="0"/>
                  </a:moveTo>
                  <a:lnTo>
                    <a:pt x="288110" y="886621"/>
                  </a:lnTo>
                  <a:cubicBezTo>
                    <a:pt x="368541" y="883219"/>
                    <a:pt x="445842" y="856414"/>
                    <a:pt x="512460" y="793210"/>
                  </a:cubicBezTo>
                  <a:cubicBezTo>
                    <a:pt x="591871" y="717828"/>
                    <a:pt x="656106" y="619383"/>
                    <a:pt x="708366" y="514542"/>
                  </a:cubicBezTo>
                  <a:lnTo>
                    <a:pt x="0" y="0"/>
                  </a:lnTo>
                  <a:close/>
                </a:path>
              </a:pathLst>
            </a:custGeom>
            <a:solidFill>
              <a:schemeClr val="bg1">
                <a:lumMod val="85000"/>
                <a:alpha val="6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8" name="Forme libre 79">
              <a:extLst>
                <a:ext uri="{FF2B5EF4-FFF2-40B4-BE49-F238E27FC236}">
                  <a16:creationId xmlns:a16="http://schemas.microsoft.com/office/drawing/2014/main" id="{DEF2CDC5-1AD2-162D-881B-C3AD1C72CEB1}"/>
                </a:ext>
              </a:extLst>
            </p:cNvPr>
            <p:cNvSpPr/>
            <p:nvPr/>
          </p:nvSpPr>
          <p:spPr>
            <a:xfrm>
              <a:off x="3919653" y="3311907"/>
              <a:ext cx="1922074" cy="986674"/>
            </a:xfrm>
            <a:custGeom>
              <a:avLst/>
              <a:gdLst>
                <a:gd name="connsiteX0" fmla="*/ 731978 w 731977"/>
                <a:gd name="connsiteY0" fmla="*/ 0 h 375752"/>
                <a:gd name="connsiteX1" fmla="*/ 0 w 731977"/>
                <a:gd name="connsiteY1" fmla="*/ 0 h 375752"/>
                <a:gd name="connsiteX2" fmla="*/ 214687 w 731977"/>
                <a:gd name="connsiteY2" fmla="*/ 375752 h 375752"/>
                <a:gd name="connsiteX3" fmla="*/ 731978 w 731977"/>
                <a:gd name="connsiteY3" fmla="*/ 0 h 375752"/>
              </a:gdLst>
              <a:ahLst/>
              <a:cxnLst>
                <a:cxn ang="0">
                  <a:pos x="connsiteX0" y="connsiteY0"/>
                </a:cxn>
                <a:cxn ang="0">
                  <a:pos x="connsiteX1" y="connsiteY1"/>
                </a:cxn>
                <a:cxn ang="0">
                  <a:pos x="connsiteX2" y="connsiteY2"/>
                </a:cxn>
                <a:cxn ang="0">
                  <a:pos x="connsiteX3" y="connsiteY3"/>
                </a:cxn>
              </a:cxnLst>
              <a:rect l="l" t="t" r="r" b="b"/>
              <a:pathLst>
                <a:path w="731977" h="375752">
                  <a:moveTo>
                    <a:pt x="731978" y="0"/>
                  </a:moveTo>
                  <a:lnTo>
                    <a:pt x="0" y="0"/>
                  </a:lnTo>
                  <a:cubicBezTo>
                    <a:pt x="44843" y="136204"/>
                    <a:pt x="129969" y="267782"/>
                    <a:pt x="214687" y="375752"/>
                  </a:cubicBezTo>
                  <a:lnTo>
                    <a:pt x="731978" y="0"/>
                  </a:lnTo>
                  <a:close/>
                </a:path>
              </a:pathLst>
            </a:custGeom>
            <a:solidFill>
              <a:schemeClr val="bg1">
                <a:lumMod val="95000"/>
                <a:alpha val="7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9" name="Forme libre 66">
              <a:extLst>
                <a:ext uri="{FF2B5EF4-FFF2-40B4-BE49-F238E27FC236}">
                  <a16:creationId xmlns:a16="http://schemas.microsoft.com/office/drawing/2014/main" id="{4FFC6C77-3CA7-9E3D-9123-8C6EB732426A}"/>
                </a:ext>
              </a:extLst>
            </p:cNvPr>
            <p:cNvSpPr/>
            <p:nvPr/>
          </p:nvSpPr>
          <p:spPr>
            <a:xfrm>
              <a:off x="4841736" y="2170333"/>
              <a:ext cx="2231148" cy="2227094"/>
            </a:xfrm>
            <a:custGeom>
              <a:avLst/>
              <a:gdLst>
                <a:gd name="connsiteX0" fmla="*/ 446284 w 849681"/>
                <a:gd name="connsiteY0" fmla="*/ 839205 h 848137"/>
                <a:gd name="connsiteX1" fmla="*/ 611365 w 849681"/>
                <a:gd name="connsiteY1" fmla="*/ 812536 h 848137"/>
                <a:gd name="connsiteX2" fmla="*/ 776855 w 849681"/>
                <a:gd name="connsiteY2" fmla="*/ 579655 h 848137"/>
                <a:gd name="connsiteX3" fmla="*/ 849460 w 849681"/>
                <a:gd name="connsiteY3" fmla="*/ 269691 h 848137"/>
                <a:gd name="connsiteX4" fmla="*/ 818023 w 849681"/>
                <a:gd name="connsiteY4" fmla="*/ 103008 h 848137"/>
                <a:gd name="connsiteX5" fmla="*/ 546857 w 849681"/>
                <a:gd name="connsiteY5" fmla="*/ 1093 h 848137"/>
                <a:gd name="connsiteX6" fmla="*/ 214177 w 849681"/>
                <a:gd name="connsiteY6" fmla="*/ 61167 h 848137"/>
                <a:gd name="connsiteX7" fmla="*/ 1804 w 849681"/>
                <a:gd name="connsiteY7" fmla="*/ 249825 h 848137"/>
                <a:gd name="connsiteX8" fmla="*/ 124219 w 849681"/>
                <a:gd name="connsiteY8" fmla="*/ 587343 h 848137"/>
                <a:gd name="connsiteX9" fmla="*/ 446284 w 849681"/>
                <a:gd name="connsiteY9" fmla="*/ 839205 h 84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9681" h="848137">
                  <a:moveTo>
                    <a:pt x="446284" y="839205"/>
                  </a:moveTo>
                  <a:cubicBezTo>
                    <a:pt x="502422" y="854785"/>
                    <a:pt x="560466" y="852404"/>
                    <a:pt x="611365" y="812536"/>
                  </a:cubicBezTo>
                  <a:cubicBezTo>
                    <a:pt x="683426" y="756067"/>
                    <a:pt x="737388" y="664902"/>
                    <a:pt x="776855" y="579655"/>
                  </a:cubicBezTo>
                  <a:cubicBezTo>
                    <a:pt x="821493" y="483182"/>
                    <a:pt x="846671" y="376437"/>
                    <a:pt x="849460" y="269691"/>
                  </a:cubicBezTo>
                  <a:cubicBezTo>
                    <a:pt x="850957" y="211726"/>
                    <a:pt x="845310" y="151652"/>
                    <a:pt x="818023" y="103008"/>
                  </a:cubicBezTo>
                  <a:cubicBezTo>
                    <a:pt x="761680" y="2793"/>
                    <a:pt x="645252" y="-3602"/>
                    <a:pt x="546857" y="1093"/>
                  </a:cubicBezTo>
                  <a:cubicBezTo>
                    <a:pt x="434853" y="6467"/>
                    <a:pt x="321963" y="22523"/>
                    <a:pt x="214177" y="61167"/>
                  </a:cubicBezTo>
                  <a:cubicBezTo>
                    <a:pt x="129867" y="91374"/>
                    <a:pt x="15481" y="138657"/>
                    <a:pt x="1804" y="249825"/>
                  </a:cubicBezTo>
                  <a:cubicBezTo>
                    <a:pt x="-12622" y="367048"/>
                    <a:pt x="62365" y="499647"/>
                    <a:pt x="124219" y="587343"/>
                  </a:cubicBezTo>
                  <a:cubicBezTo>
                    <a:pt x="202405" y="698238"/>
                    <a:pt x="319105" y="803827"/>
                    <a:pt x="446284" y="839205"/>
                  </a:cubicBezTo>
                  <a:close/>
                </a:path>
              </a:pathLst>
            </a:custGeom>
            <a:solidFill>
              <a:srgbClr val="FFFFFF"/>
            </a:solidFill>
            <a:ln w="6804" cap="flat">
              <a:noFill/>
              <a:prstDash val="solid"/>
              <a:miter/>
            </a:ln>
          </p:spPr>
          <p:txBody>
            <a:bodyPr rtlCol="0" anchor="ctr"/>
            <a:lstStyle/>
            <a:p>
              <a:endParaRPr lang="fr-FR" sz="1200">
                <a:latin typeface="Century Gothic" panose="020B0502020202020204" pitchFamily="34" charset="0"/>
              </a:endParaRPr>
            </a:p>
          </p:txBody>
        </p:sp>
        <p:sp>
          <p:nvSpPr>
            <p:cNvPr id="20" name="Freeform: Shape 19">
              <a:extLst>
                <a:ext uri="{FF2B5EF4-FFF2-40B4-BE49-F238E27FC236}">
                  <a16:creationId xmlns:a16="http://schemas.microsoft.com/office/drawing/2014/main" id="{7FBD4BC0-B5E8-A743-F287-5628949F0251}"/>
                </a:ext>
              </a:extLst>
            </p:cNvPr>
            <p:cNvSpPr/>
            <p:nvPr/>
          </p:nvSpPr>
          <p:spPr>
            <a:xfrm>
              <a:off x="4956072" y="2282090"/>
              <a:ext cx="1991513" cy="1988158"/>
            </a:xfrm>
            <a:custGeom>
              <a:avLst/>
              <a:gdLst>
                <a:gd name="connsiteX0" fmla="*/ 1591984 w 1991513"/>
                <a:gd name="connsiteY0" fmla="*/ 1003913 h 1988158"/>
                <a:gd name="connsiteX1" fmla="*/ 1685612 w 1991513"/>
                <a:gd name="connsiteY1" fmla="*/ 1275817 h 1988158"/>
                <a:gd name="connsiteX2" fmla="*/ 1590375 w 1991513"/>
                <a:gd name="connsiteY2" fmla="*/ 1569336 h 1988158"/>
                <a:gd name="connsiteX3" fmla="*/ 1493887 w 1991513"/>
                <a:gd name="connsiteY3" fmla="*/ 1277602 h 1988158"/>
                <a:gd name="connsiteX4" fmla="*/ 1591984 w 1991513"/>
                <a:gd name="connsiteY4" fmla="*/ 1003913 h 1988158"/>
                <a:gd name="connsiteX5" fmla="*/ 1030206 w 1991513"/>
                <a:gd name="connsiteY5" fmla="*/ 860636 h 1988158"/>
                <a:gd name="connsiteX6" fmla="*/ 864926 w 1991513"/>
                <a:gd name="connsiteY6" fmla="*/ 936563 h 1988158"/>
                <a:gd name="connsiteX7" fmla="*/ 864926 w 1991513"/>
                <a:gd name="connsiteY7" fmla="*/ 1088590 h 1988158"/>
                <a:gd name="connsiteX8" fmla="*/ 961238 w 1991513"/>
                <a:gd name="connsiteY8" fmla="*/ 1096809 h 1988158"/>
                <a:gd name="connsiteX9" fmla="*/ 961238 w 1991513"/>
                <a:gd name="connsiteY9" fmla="*/ 1712611 h 1988158"/>
                <a:gd name="connsiteX10" fmla="*/ 1195132 w 1991513"/>
                <a:gd name="connsiteY10" fmla="*/ 1712611 h 1988158"/>
                <a:gd name="connsiteX11" fmla="*/ 1195310 w 1991513"/>
                <a:gd name="connsiteY11" fmla="*/ 1712611 h 1988158"/>
                <a:gd name="connsiteX12" fmla="*/ 1195310 w 1991513"/>
                <a:gd name="connsiteY12" fmla="*/ 860636 h 1988158"/>
                <a:gd name="connsiteX13" fmla="*/ 1459773 w 1991513"/>
                <a:gd name="connsiteY13" fmla="*/ 2199 h 1988158"/>
                <a:gd name="connsiteX14" fmla="*/ 1917360 w 1991513"/>
                <a:gd name="connsiteY14" fmla="*/ 241441 h 1988158"/>
                <a:gd name="connsiteX15" fmla="*/ 1990979 w 1991513"/>
                <a:gd name="connsiteY15" fmla="*/ 632143 h 1988158"/>
                <a:gd name="connsiteX16" fmla="*/ 1909141 w 1991513"/>
                <a:gd name="connsiteY16" fmla="*/ 1128072 h 1988158"/>
                <a:gd name="connsiteX17" fmla="*/ 1592877 w 1991513"/>
                <a:gd name="connsiteY17" fmla="*/ 845629 h 1988158"/>
                <a:gd name="connsiteX18" fmla="*/ 1258383 w 1991513"/>
                <a:gd name="connsiteY18" fmla="*/ 1277421 h 1988158"/>
                <a:gd name="connsiteX19" fmla="*/ 1589124 w 1991513"/>
                <a:gd name="connsiteY19" fmla="*/ 1727797 h 1988158"/>
                <a:gd name="connsiteX20" fmla="*/ 1604848 w 1991513"/>
                <a:gd name="connsiteY20" fmla="*/ 1727437 h 1988158"/>
                <a:gd name="connsiteX21" fmla="*/ 1433135 w 1991513"/>
                <a:gd name="connsiteY21" fmla="*/ 1904657 h 1988158"/>
                <a:gd name="connsiteX22" fmla="*/ 1046111 w 1991513"/>
                <a:gd name="connsiteY22" fmla="*/ 1967184 h 1988158"/>
                <a:gd name="connsiteX23" fmla="*/ 291183 w 1991513"/>
                <a:gd name="connsiteY23" fmla="*/ 1376750 h 1988158"/>
                <a:gd name="connsiteX24" fmla="*/ 4220 w 1991513"/>
                <a:gd name="connsiteY24" fmla="*/ 585516 h 1988158"/>
                <a:gd name="connsiteX25" fmla="*/ 502026 w 1991513"/>
                <a:gd name="connsiteY25" fmla="*/ 143362 h 1988158"/>
                <a:gd name="connsiteX26" fmla="*/ 1281793 w 1991513"/>
                <a:gd name="connsiteY26" fmla="*/ 2587 h 1988158"/>
                <a:gd name="connsiteX27" fmla="*/ 1459773 w 1991513"/>
                <a:gd name="connsiteY27" fmla="*/ 2199 h 198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91513" h="1988158">
                  <a:moveTo>
                    <a:pt x="1591984" y="1003913"/>
                  </a:moveTo>
                  <a:cubicBezTo>
                    <a:pt x="1664705" y="1003913"/>
                    <a:pt x="1685612" y="1074300"/>
                    <a:pt x="1685612" y="1275817"/>
                  </a:cubicBezTo>
                  <a:cubicBezTo>
                    <a:pt x="1685612" y="1477331"/>
                    <a:pt x="1669531" y="1569336"/>
                    <a:pt x="1590375" y="1569336"/>
                  </a:cubicBezTo>
                  <a:cubicBezTo>
                    <a:pt x="1514970" y="1569336"/>
                    <a:pt x="1493887" y="1482690"/>
                    <a:pt x="1493887" y="1277602"/>
                  </a:cubicBezTo>
                  <a:cubicBezTo>
                    <a:pt x="1493887" y="1072514"/>
                    <a:pt x="1521761" y="1003913"/>
                    <a:pt x="1591984" y="1003913"/>
                  </a:cubicBezTo>
                  <a:close/>
                  <a:moveTo>
                    <a:pt x="1030206" y="860636"/>
                  </a:moveTo>
                  <a:cubicBezTo>
                    <a:pt x="994295" y="899937"/>
                    <a:pt x="933186" y="932272"/>
                    <a:pt x="864926" y="936563"/>
                  </a:cubicBezTo>
                  <a:lnTo>
                    <a:pt x="864926" y="1088590"/>
                  </a:lnTo>
                  <a:cubicBezTo>
                    <a:pt x="881903" y="1091628"/>
                    <a:pt x="932469" y="1095916"/>
                    <a:pt x="961238" y="1096809"/>
                  </a:cubicBezTo>
                  <a:lnTo>
                    <a:pt x="961238" y="1712611"/>
                  </a:lnTo>
                  <a:lnTo>
                    <a:pt x="1195132" y="1712611"/>
                  </a:lnTo>
                  <a:lnTo>
                    <a:pt x="1195310" y="1712611"/>
                  </a:lnTo>
                  <a:lnTo>
                    <a:pt x="1195310" y="860636"/>
                  </a:lnTo>
                  <a:close/>
                  <a:moveTo>
                    <a:pt x="1459773" y="2199"/>
                  </a:moveTo>
                  <a:cubicBezTo>
                    <a:pt x="1639993" y="12759"/>
                    <a:pt x="1818327" y="65248"/>
                    <a:pt x="1917360" y="241441"/>
                  </a:cubicBezTo>
                  <a:cubicBezTo>
                    <a:pt x="1981332" y="355416"/>
                    <a:pt x="1994553" y="496370"/>
                    <a:pt x="1990979" y="632143"/>
                  </a:cubicBezTo>
                  <a:cubicBezTo>
                    <a:pt x="1986688" y="799894"/>
                    <a:pt x="1958639" y="967648"/>
                    <a:pt x="1909141" y="1128072"/>
                  </a:cubicBezTo>
                  <a:cubicBezTo>
                    <a:pt x="1876444" y="949781"/>
                    <a:pt x="1774773" y="845629"/>
                    <a:pt x="1592877" y="845629"/>
                  </a:cubicBezTo>
                  <a:cubicBezTo>
                    <a:pt x="1361126" y="845629"/>
                    <a:pt x="1258383" y="1014451"/>
                    <a:pt x="1258383" y="1277421"/>
                  </a:cubicBezTo>
                  <a:cubicBezTo>
                    <a:pt x="1258383" y="1540394"/>
                    <a:pt x="1348619" y="1727797"/>
                    <a:pt x="1589124" y="1727797"/>
                  </a:cubicBezTo>
                  <a:cubicBezTo>
                    <a:pt x="1594484" y="1727797"/>
                    <a:pt x="1599667" y="1727618"/>
                    <a:pt x="1604848" y="1727437"/>
                  </a:cubicBezTo>
                  <a:cubicBezTo>
                    <a:pt x="1553208" y="1794609"/>
                    <a:pt x="1496211" y="1855172"/>
                    <a:pt x="1433135" y="1904657"/>
                  </a:cubicBezTo>
                  <a:cubicBezTo>
                    <a:pt x="1313776" y="1998090"/>
                    <a:pt x="1177798" y="2003807"/>
                    <a:pt x="1046111" y="1967184"/>
                  </a:cubicBezTo>
                  <a:cubicBezTo>
                    <a:pt x="748070" y="1884293"/>
                    <a:pt x="474510" y="1636684"/>
                    <a:pt x="291183" y="1376750"/>
                  </a:cubicBezTo>
                  <a:cubicBezTo>
                    <a:pt x="146093" y="1171126"/>
                    <a:pt x="-29552" y="860279"/>
                    <a:pt x="4220" y="585516"/>
                  </a:cubicBezTo>
                  <a:cubicBezTo>
                    <a:pt x="36382" y="325048"/>
                    <a:pt x="304404" y="214284"/>
                    <a:pt x="502026" y="143362"/>
                  </a:cubicBezTo>
                  <a:cubicBezTo>
                    <a:pt x="754682" y="52788"/>
                    <a:pt x="1019309" y="15091"/>
                    <a:pt x="1281793" y="2587"/>
                  </a:cubicBezTo>
                  <a:cubicBezTo>
                    <a:pt x="1339418" y="-183"/>
                    <a:pt x="1399700" y="-1321"/>
                    <a:pt x="1459773" y="2199"/>
                  </a:cubicBezTo>
                  <a:close/>
                </a:path>
              </a:pathLst>
            </a:custGeom>
            <a:solidFill>
              <a:srgbClr val="FF0000"/>
            </a:solidFill>
            <a:ln w="6804" cap="flat">
              <a:noFill/>
              <a:prstDash val="solid"/>
              <a:miter/>
            </a:ln>
          </p:spPr>
          <p:txBody>
            <a:bodyPr wrap="square" rtlCol="0" anchor="ctr">
              <a:noAutofit/>
            </a:bodyPr>
            <a:lstStyle/>
            <a:p>
              <a:endParaRPr lang="fr-FR" sz="1200">
                <a:latin typeface="Century Gothic" panose="020B0502020202020204" pitchFamily="34" charset="0"/>
              </a:endParaRPr>
            </a:p>
          </p:txBody>
        </p:sp>
        <p:pic>
          <p:nvPicPr>
            <p:cNvPr id="21" name="Graphique 82" descr="Bar graph with upward trend contour">
              <a:extLst>
                <a:ext uri="{FF2B5EF4-FFF2-40B4-BE49-F238E27FC236}">
                  <a16:creationId xmlns:a16="http://schemas.microsoft.com/office/drawing/2014/main" id="{798ED464-5591-E9AF-40AD-FAC5C6DC52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13920" y="3467414"/>
              <a:ext cx="554375" cy="554375"/>
            </a:xfrm>
            <a:prstGeom prst="rect">
              <a:avLst/>
            </a:prstGeom>
          </p:spPr>
        </p:pic>
        <p:pic>
          <p:nvPicPr>
            <p:cNvPr id="22" name="Graphique 84" descr="Briefcase contour">
              <a:extLst>
                <a:ext uri="{FF2B5EF4-FFF2-40B4-BE49-F238E27FC236}">
                  <a16:creationId xmlns:a16="http://schemas.microsoft.com/office/drawing/2014/main" id="{0CCCCF5D-3F65-AAC8-05BB-037FB2F3B6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20745" y="2386552"/>
              <a:ext cx="554375" cy="554375"/>
            </a:xfrm>
            <a:prstGeom prst="rect">
              <a:avLst/>
            </a:prstGeom>
          </p:spPr>
        </p:pic>
        <p:pic>
          <p:nvPicPr>
            <p:cNvPr id="23" name="Graphique 86" descr="Bullseye contour">
              <a:extLst>
                <a:ext uri="{FF2B5EF4-FFF2-40B4-BE49-F238E27FC236}">
                  <a16:creationId xmlns:a16="http://schemas.microsoft.com/office/drawing/2014/main" id="{E739F4B9-FA6C-1001-373D-5D344C168D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2926" y="1502877"/>
              <a:ext cx="554375" cy="554375"/>
            </a:xfrm>
            <a:prstGeom prst="rect">
              <a:avLst/>
            </a:prstGeom>
          </p:spPr>
        </p:pic>
        <p:pic>
          <p:nvPicPr>
            <p:cNvPr id="24" name="Graphique 88" descr="Database contour">
              <a:extLst>
                <a:ext uri="{FF2B5EF4-FFF2-40B4-BE49-F238E27FC236}">
                  <a16:creationId xmlns:a16="http://schemas.microsoft.com/office/drawing/2014/main" id="{6F7D9A87-C033-F4E2-76D0-ADDA607A0F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43032" y="4503069"/>
              <a:ext cx="554375" cy="554375"/>
            </a:xfrm>
            <a:prstGeom prst="rect">
              <a:avLst/>
            </a:prstGeom>
          </p:spPr>
        </p:pic>
        <p:pic>
          <p:nvPicPr>
            <p:cNvPr id="25" name="Graphique 90" descr="Delivery contour">
              <a:extLst>
                <a:ext uri="{FF2B5EF4-FFF2-40B4-BE49-F238E27FC236}">
                  <a16:creationId xmlns:a16="http://schemas.microsoft.com/office/drawing/2014/main" id="{94F8CB89-BA66-6652-65C7-B4C6A158CD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16439" y="3418802"/>
              <a:ext cx="554375" cy="554375"/>
            </a:xfrm>
            <a:prstGeom prst="rect">
              <a:avLst/>
            </a:prstGeom>
          </p:spPr>
        </p:pic>
        <p:pic>
          <p:nvPicPr>
            <p:cNvPr id="26" name="Graphique 92" descr="Lock contour">
              <a:extLst>
                <a:ext uri="{FF2B5EF4-FFF2-40B4-BE49-F238E27FC236}">
                  <a16:creationId xmlns:a16="http://schemas.microsoft.com/office/drawing/2014/main" id="{48C292C6-6CE1-DA17-4283-5EA564B6DAA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82958" y="4105972"/>
              <a:ext cx="554375" cy="554375"/>
            </a:xfrm>
            <a:prstGeom prst="rect">
              <a:avLst/>
            </a:prstGeom>
          </p:spPr>
        </p:pic>
        <p:pic>
          <p:nvPicPr>
            <p:cNvPr id="27" name="Graphique 94" descr="Gears contour">
              <a:extLst>
                <a:ext uri="{FF2B5EF4-FFF2-40B4-BE49-F238E27FC236}">
                  <a16:creationId xmlns:a16="http://schemas.microsoft.com/office/drawing/2014/main" id="{ABC216DD-C362-A2AD-D9F4-E1E8BAFC69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62261" y="4655699"/>
              <a:ext cx="554375" cy="554375"/>
            </a:xfrm>
            <a:prstGeom prst="rect">
              <a:avLst/>
            </a:prstGeom>
          </p:spPr>
        </p:pic>
        <p:pic>
          <p:nvPicPr>
            <p:cNvPr id="28" name="Graphique 96" descr="Hourglass 30% contour">
              <a:extLst>
                <a:ext uri="{FF2B5EF4-FFF2-40B4-BE49-F238E27FC236}">
                  <a16:creationId xmlns:a16="http://schemas.microsoft.com/office/drawing/2014/main" id="{D3F636EA-AE62-8A37-B2EF-F86FF3AF29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56432" y="2494768"/>
              <a:ext cx="554375" cy="554375"/>
            </a:xfrm>
            <a:prstGeom prst="rect">
              <a:avLst/>
            </a:prstGeom>
          </p:spPr>
        </p:pic>
        <p:pic>
          <p:nvPicPr>
            <p:cNvPr id="29" name="Graphique 98" descr="Lightbulb contour">
              <a:extLst>
                <a:ext uri="{FF2B5EF4-FFF2-40B4-BE49-F238E27FC236}">
                  <a16:creationId xmlns:a16="http://schemas.microsoft.com/office/drawing/2014/main" id="{AA7E492A-09D6-AD7C-11A7-D3C64EE9A6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62261" y="1499578"/>
              <a:ext cx="554375" cy="554375"/>
            </a:xfrm>
            <a:prstGeom prst="rect">
              <a:avLst/>
            </a:prstGeom>
          </p:spPr>
        </p:pic>
        <p:pic>
          <p:nvPicPr>
            <p:cNvPr id="30" name="Graphique 100" descr="Magnifying glass contour">
              <a:extLst>
                <a:ext uri="{FF2B5EF4-FFF2-40B4-BE49-F238E27FC236}">
                  <a16:creationId xmlns:a16="http://schemas.microsoft.com/office/drawing/2014/main" id="{DC9DE8FC-5643-9654-B2A9-F0A96B421D9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20431" y="1758291"/>
              <a:ext cx="554375" cy="554375"/>
            </a:xfrm>
            <a:prstGeom prst="rect">
              <a:avLst/>
            </a:prstGeom>
          </p:spPr>
        </p:pic>
        <p:grpSp>
          <p:nvGrpSpPr>
            <p:cNvPr id="31" name="Group 30">
              <a:extLst>
                <a:ext uri="{FF2B5EF4-FFF2-40B4-BE49-F238E27FC236}">
                  <a16:creationId xmlns:a16="http://schemas.microsoft.com/office/drawing/2014/main" id="{9009FFE2-FDBE-C6FF-8D8D-7B7AD79EB7E5}"/>
                </a:ext>
              </a:extLst>
            </p:cNvPr>
            <p:cNvGrpSpPr/>
            <p:nvPr/>
          </p:nvGrpSpPr>
          <p:grpSpPr>
            <a:xfrm>
              <a:off x="8721741" y="2354772"/>
              <a:ext cx="2926080" cy="649962"/>
              <a:chOff x="8927481" y="2396334"/>
              <a:chExt cx="2926080" cy="649962"/>
            </a:xfrm>
          </p:grpSpPr>
          <p:sp>
            <p:nvSpPr>
              <p:cNvPr id="59" name="TextBox 58">
                <a:extLst>
                  <a:ext uri="{FF2B5EF4-FFF2-40B4-BE49-F238E27FC236}">
                    <a16:creationId xmlns:a16="http://schemas.microsoft.com/office/drawing/2014/main" id="{7BFA5FA0-F623-F9DA-24D4-3AFF9BAE96A5}"/>
                  </a:ext>
                </a:extLst>
              </p:cNvPr>
              <p:cNvSpPr txBox="1"/>
              <p:nvPr/>
            </p:nvSpPr>
            <p:spPr>
              <a:xfrm>
                <a:off x="8927481" y="2396334"/>
                <a:ext cx="2926080" cy="307777"/>
              </a:xfrm>
              <a:prstGeom prst="rect">
                <a:avLst/>
              </a:prstGeom>
              <a:noFill/>
            </p:spPr>
            <p:txBody>
              <a:bodyPr wrap="square" lIns="0" rIns="0" rtlCol="0" anchor="b">
                <a:spAutoFit/>
              </a:bodyPr>
              <a:lstStyle/>
              <a:p>
                <a:r>
                  <a:rPr lang="en-US" sz="1400" b="1" noProof="1">
                    <a:latin typeface="Century Gothic" panose="020B0502020202020204" pitchFamily="34" charset="0"/>
                  </a:rPr>
                  <a:t>Records Mgmt: </a:t>
                </a:r>
              </a:p>
            </p:txBody>
          </p:sp>
          <p:sp>
            <p:nvSpPr>
              <p:cNvPr id="60" name="TextBox 59">
                <a:extLst>
                  <a:ext uri="{FF2B5EF4-FFF2-40B4-BE49-F238E27FC236}">
                    <a16:creationId xmlns:a16="http://schemas.microsoft.com/office/drawing/2014/main" id="{909F3FEB-9C93-8AE4-C29F-5BE88438F661}"/>
                  </a:ext>
                </a:extLst>
              </p:cNvPr>
              <p:cNvSpPr txBox="1"/>
              <p:nvPr/>
            </p:nvSpPr>
            <p:spPr>
              <a:xfrm>
                <a:off x="8927481" y="264618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Handles document storage, retention, and compliance.</a:t>
                </a:r>
              </a:p>
            </p:txBody>
          </p:sp>
        </p:grpSp>
        <p:grpSp>
          <p:nvGrpSpPr>
            <p:cNvPr id="32" name="Group 31">
              <a:extLst>
                <a:ext uri="{FF2B5EF4-FFF2-40B4-BE49-F238E27FC236}">
                  <a16:creationId xmlns:a16="http://schemas.microsoft.com/office/drawing/2014/main" id="{425FA910-7777-E7C0-5502-6021FE43967D}"/>
                </a:ext>
              </a:extLst>
            </p:cNvPr>
            <p:cNvGrpSpPr/>
            <p:nvPr/>
          </p:nvGrpSpPr>
          <p:grpSpPr>
            <a:xfrm>
              <a:off x="7922496" y="5200197"/>
              <a:ext cx="2926080" cy="680739"/>
              <a:chOff x="8927481" y="5200197"/>
              <a:chExt cx="2926080" cy="680739"/>
            </a:xfrm>
          </p:grpSpPr>
          <p:sp>
            <p:nvSpPr>
              <p:cNvPr id="57" name="TextBox 56">
                <a:extLst>
                  <a:ext uri="{FF2B5EF4-FFF2-40B4-BE49-F238E27FC236}">
                    <a16:creationId xmlns:a16="http://schemas.microsoft.com/office/drawing/2014/main" id="{59C2F5EF-7AD7-AB95-1671-9F2B98207D9B}"/>
                  </a:ext>
                </a:extLst>
              </p:cNvPr>
              <p:cNvSpPr txBox="1"/>
              <p:nvPr/>
            </p:nvSpPr>
            <p:spPr>
              <a:xfrm>
                <a:off x="8927481" y="5200197"/>
                <a:ext cx="2926080" cy="338554"/>
              </a:xfrm>
              <a:prstGeom prst="rect">
                <a:avLst/>
              </a:prstGeom>
              <a:noFill/>
            </p:spPr>
            <p:txBody>
              <a:bodyPr wrap="square" lIns="0" rIns="0" rtlCol="0" anchor="b">
                <a:spAutoFit/>
              </a:bodyPr>
              <a:lstStyle/>
              <a:p>
                <a:r>
                  <a:rPr lang="en-US" sz="1600" b="1" noProof="1">
                    <a:latin typeface="Century Gothic" panose="020B0502020202020204" pitchFamily="34" charset="0"/>
                  </a:rPr>
                  <a:t>AWS Lambda</a:t>
                </a:r>
              </a:p>
            </p:txBody>
          </p:sp>
          <p:sp>
            <p:nvSpPr>
              <p:cNvPr id="58" name="TextBox 57">
                <a:extLst>
                  <a:ext uri="{FF2B5EF4-FFF2-40B4-BE49-F238E27FC236}">
                    <a16:creationId xmlns:a16="http://schemas.microsoft.com/office/drawing/2014/main" id="{B572181E-95B5-E7CE-2DFE-94BFEE1B2AAF}"/>
                  </a:ext>
                </a:extLst>
              </p:cNvPr>
              <p:cNvSpPr txBox="1"/>
              <p:nvPr/>
            </p:nvSpPr>
            <p:spPr>
              <a:xfrm>
                <a:off x="8927481" y="548082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Serverless compute for running code in response to events.</a:t>
                </a:r>
              </a:p>
            </p:txBody>
          </p:sp>
        </p:grpSp>
        <p:grpSp>
          <p:nvGrpSpPr>
            <p:cNvPr id="33" name="Group 32">
              <a:extLst>
                <a:ext uri="{FF2B5EF4-FFF2-40B4-BE49-F238E27FC236}">
                  <a16:creationId xmlns:a16="http://schemas.microsoft.com/office/drawing/2014/main" id="{BA895C05-A8DC-0B3A-A30C-7FB2DBEB8494}"/>
                </a:ext>
              </a:extLst>
            </p:cNvPr>
            <p:cNvGrpSpPr/>
            <p:nvPr/>
          </p:nvGrpSpPr>
          <p:grpSpPr>
            <a:xfrm>
              <a:off x="578469" y="2354772"/>
              <a:ext cx="2926080" cy="649962"/>
              <a:chOff x="338440" y="2396334"/>
              <a:chExt cx="2926080" cy="649962"/>
            </a:xfrm>
          </p:grpSpPr>
          <p:sp>
            <p:nvSpPr>
              <p:cNvPr id="55" name="TextBox 54">
                <a:extLst>
                  <a:ext uri="{FF2B5EF4-FFF2-40B4-BE49-F238E27FC236}">
                    <a16:creationId xmlns:a16="http://schemas.microsoft.com/office/drawing/2014/main" id="{957A84D8-B3CA-CA7B-386C-708594B5DF60}"/>
                  </a:ext>
                </a:extLst>
              </p:cNvPr>
              <p:cNvSpPr txBox="1"/>
              <p:nvPr/>
            </p:nvSpPr>
            <p:spPr>
              <a:xfrm>
                <a:off x="338440" y="2396334"/>
                <a:ext cx="2926080" cy="307777"/>
              </a:xfrm>
              <a:prstGeom prst="rect">
                <a:avLst/>
              </a:prstGeom>
              <a:noFill/>
            </p:spPr>
            <p:txBody>
              <a:bodyPr wrap="square" lIns="0" rIns="0" rtlCol="0" anchor="b">
                <a:spAutoFit/>
              </a:bodyPr>
              <a:lstStyle/>
              <a:p>
                <a:pPr algn="r"/>
                <a:r>
                  <a:rPr lang="en-US" sz="1400" b="1">
                    <a:latin typeface="Century Gothic" panose="020B0502020202020204" pitchFamily="34" charset="0"/>
                  </a:rPr>
                  <a:t>Utility Provider</a:t>
                </a:r>
              </a:p>
            </p:txBody>
          </p:sp>
          <p:sp>
            <p:nvSpPr>
              <p:cNvPr id="56" name="TextBox 55">
                <a:extLst>
                  <a:ext uri="{FF2B5EF4-FFF2-40B4-BE49-F238E27FC236}">
                    <a16:creationId xmlns:a16="http://schemas.microsoft.com/office/drawing/2014/main" id="{80F3CCC9-06BA-D7C6-4823-78FAFB5DB88F}"/>
                  </a:ext>
                </a:extLst>
              </p:cNvPr>
              <p:cNvSpPr txBox="1"/>
              <p:nvPr/>
            </p:nvSpPr>
            <p:spPr>
              <a:xfrm>
                <a:off x="338440" y="264618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External entity that supplies utilities, interacts with the platform for metering and billing.</a:t>
                </a:r>
              </a:p>
            </p:txBody>
          </p:sp>
        </p:grpSp>
        <p:grpSp>
          <p:nvGrpSpPr>
            <p:cNvPr id="34" name="Group 33">
              <a:extLst>
                <a:ext uri="{FF2B5EF4-FFF2-40B4-BE49-F238E27FC236}">
                  <a16:creationId xmlns:a16="http://schemas.microsoft.com/office/drawing/2014/main" id="{4B5C29A1-AEF0-73B0-A2A8-50A53A539BB7}"/>
                </a:ext>
              </a:extLst>
            </p:cNvPr>
            <p:cNvGrpSpPr/>
            <p:nvPr/>
          </p:nvGrpSpPr>
          <p:grpSpPr>
            <a:xfrm>
              <a:off x="2337876" y="5230974"/>
              <a:ext cx="2926080" cy="649962"/>
              <a:chOff x="338440" y="5230974"/>
              <a:chExt cx="2926080" cy="649962"/>
            </a:xfrm>
          </p:grpSpPr>
          <p:sp>
            <p:nvSpPr>
              <p:cNvPr id="53" name="TextBox 52">
                <a:extLst>
                  <a:ext uri="{FF2B5EF4-FFF2-40B4-BE49-F238E27FC236}">
                    <a16:creationId xmlns:a16="http://schemas.microsoft.com/office/drawing/2014/main" id="{41D02E83-D6FD-1ECC-59BD-6FD9BDAB5699}"/>
                  </a:ext>
                </a:extLst>
              </p:cNvPr>
              <p:cNvSpPr txBox="1"/>
              <p:nvPr/>
            </p:nvSpPr>
            <p:spPr>
              <a:xfrm>
                <a:off x="338440" y="5230974"/>
                <a:ext cx="2926080" cy="307777"/>
              </a:xfrm>
              <a:prstGeom prst="rect">
                <a:avLst/>
              </a:prstGeom>
              <a:noFill/>
            </p:spPr>
            <p:txBody>
              <a:bodyPr wrap="square" lIns="0" rIns="0" rtlCol="0" anchor="b">
                <a:spAutoFit/>
              </a:bodyPr>
              <a:lstStyle/>
              <a:p>
                <a:pPr algn="r"/>
                <a:r>
                  <a:rPr lang="en-US" sz="1400" b="1">
                    <a:latin typeface="Century Gothic" panose="020B0502020202020204" pitchFamily="34" charset="0"/>
                  </a:rPr>
                  <a:t>AWS S3</a:t>
                </a:r>
              </a:p>
            </p:txBody>
          </p:sp>
          <p:sp>
            <p:nvSpPr>
              <p:cNvPr id="54" name="TextBox 53">
                <a:extLst>
                  <a:ext uri="{FF2B5EF4-FFF2-40B4-BE49-F238E27FC236}">
                    <a16:creationId xmlns:a16="http://schemas.microsoft.com/office/drawing/2014/main" id="{F5A74868-732A-36F5-903E-C4C5D3AB9E10}"/>
                  </a:ext>
                </a:extLst>
              </p:cNvPr>
              <p:cNvSpPr txBox="1"/>
              <p:nvPr/>
            </p:nvSpPr>
            <p:spPr>
              <a:xfrm>
                <a:off x="338440" y="548082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Scalable object storage for documents and backups.</a:t>
                </a:r>
              </a:p>
            </p:txBody>
          </p:sp>
        </p:grpSp>
        <p:grpSp>
          <p:nvGrpSpPr>
            <p:cNvPr id="35" name="Group 34">
              <a:extLst>
                <a:ext uri="{FF2B5EF4-FFF2-40B4-BE49-F238E27FC236}">
                  <a16:creationId xmlns:a16="http://schemas.microsoft.com/office/drawing/2014/main" id="{3614C47B-E493-057C-1C8A-C49EEDE348C7}"/>
                </a:ext>
              </a:extLst>
            </p:cNvPr>
            <p:cNvGrpSpPr/>
            <p:nvPr/>
          </p:nvGrpSpPr>
          <p:grpSpPr>
            <a:xfrm>
              <a:off x="8643697" y="1396038"/>
              <a:ext cx="2926080" cy="649962"/>
              <a:chOff x="8927481" y="1451454"/>
              <a:chExt cx="2926080" cy="649962"/>
            </a:xfrm>
          </p:grpSpPr>
          <p:sp>
            <p:nvSpPr>
              <p:cNvPr id="51" name="TextBox 50">
                <a:extLst>
                  <a:ext uri="{FF2B5EF4-FFF2-40B4-BE49-F238E27FC236}">
                    <a16:creationId xmlns:a16="http://schemas.microsoft.com/office/drawing/2014/main" id="{D60819C8-9A48-3EB5-391C-39C94F52935B}"/>
                  </a:ext>
                </a:extLst>
              </p:cNvPr>
              <p:cNvSpPr txBox="1"/>
              <p:nvPr/>
            </p:nvSpPr>
            <p:spPr>
              <a:xfrm>
                <a:off x="8927481" y="1451454"/>
                <a:ext cx="2926080" cy="307777"/>
              </a:xfrm>
              <a:prstGeom prst="rect">
                <a:avLst/>
              </a:prstGeom>
              <a:noFill/>
            </p:spPr>
            <p:txBody>
              <a:bodyPr wrap="square" lIns="0" rIns="0" rtlCol="0" anchor="b">
                <a:spAutoFit/>
              </a:bodyPr>
              <a:lstStyle/>
              <a:p>
                <a:r>
                  <a:rPr lang="en-US" sz="1400" b="1" noProof="1">
                    <a:latin typeface="Century Gothic" panose="020B0502020202020204" pitchFamily="34" charset="0"/>
                  </a:rPr>
                  <a:t>Utility &amp; Metering</a:t>
                </a:r>
              </a:p>
            </p:txBody>
          </p:sp>
          <p:sp>
            <p:nvSpPr>
              <p:cNvPr id="52" name="TextBox 51">
                <a:extLst>
                  <a:ext uri="{FF2B5EF4-FFF2-40B4-BE49-F238E27FC236}">
                    <a16:creationId xmlns:a16="http://schemas.microsoft.com/office/drawing/2014/main" id="{680AEA08-A46A-AA1B-A010-9BBFFEF96875}"/>
                  </a:ext>
                </a:extLst>
              </p:cNvPr>
              <p:cNvSpPr txBox="1"/>
              <p:nvPr/>
            </p:nvSpPr>
            <p:spPr>
              <a:xfrm>
                <a:off x="8927481" y="170130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Monitors and manages utility consumption and billing.</a:t>
                </a:r>
              </a:p>
            </p:txBody>
          </p:sp>
        </p:grpSp>
        <p:grpSp>
          <p:nvGrpSpPr>
            <p:cNvPr id="36" name="Group 35">
              <a:extLst>
                <a:ext uri="{FF2B5EF4-FFF2-40B4-BE49-F238E27FC236}">
                  <a16:creationId xmlns:a16="http://schemas.microsoft.com/office/drawing/2014/main" id="{D1501602-6113-C2B0-3563-893E79EE3D18}"/>
                </a:ext>
              </a:extLst>
            </p:cNvPr>
            <p:cNvGrpSpPr/>
            <p:nvPr/>
          </p:nvGrpSpPr>
          <p:grpSpPr>
            <a:xfrm>
              <a:off x="1104440" y="1396038"/>
              <a:ext cx="2926080" cy="649962"/>
              <a:chOff x="338440" y="1451454"/>
              <a:chExt cx="2926080" cy="649962"/>
            </a:xfrm>
          </p:grpSpPr>
          <p:sp>
            <p:nvSpPr>
              <p:cNvPr id="49" name="TextBox 48">
                <a:extLst>
                  <a:ext uri="{FF2B5EF4-FFF2-40B4-BE49-F238E27FC236}">
                    <a16:creationId xmlns:a16="http://schemas.microsoft.com/office/drawing/2014/main" id="{22FC8153-2FBC-16C7-E902-CFAEC2FD4A1D}"/>
                  </a:ext>
                </a:extLst>
              </p:cNvPr>
              <p:cNvSpPr txBox="1"/>
              <p:nvPr/>
            </p:nvSpPr>
            <p:spPr>
              <a:xfrm>
                <a:off x="338440" y="1451454"/>
                <a:ext cx="2926080" cy="307777"/>
              </a:xfrm>
              <a:prstGeom prst="rect">
                <a:avLst/>
              </a:prstGeom>
              <a:noFill/>
            </p:spPr>
            <p:txBody>
              <a:bodyPr wrap="square" lIns="0" rIns="0" rtlCol="0" anchor="b">
                <a:spAutoFit/>
              </a:bodyPr>
              <a:lstStyle/>
              <a:p>
                <a:pPr algn="r"/>
                <a:r>
                  <a:rPr lang="en-US" sz="1400" b="1" noProof="1">
                    <a:latin typeface="Century Gothic" panose="020B0502020202020204" pitchFamily="34" charset="0"/>
                  </a:rPr>
                  <a:t>External Systems</a:t>
                </a:r>
              </a:p>
            </p:txBody>
          </p:sp>
          <p:sp>
            <p:nvSpPr>
              <p:cNvPr id="50" name="TextBox 49">
                <a:extLst>
                  <a:ext uri="{FF2B5EF4-FFF2-40B4-BE49-F238E27FC236}">
                    <a16:creationId xmlns:a16="http://schemas.microsoft.com/office/drawing/2014/main" id="{DDF79441-72FA-44AD-ED6E-6E13146B68A5}"/>
                  </a:ext>
                </a:extLst>
              </p:cNvPr>
              <p:cNvSpPr txBox="1"/>
              <p:nvPr/>
            </p:nvSpPr>
            <p:spPr>
              <a:xfrm>
                <a:off x="338440" y="170130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Third-party applications or legacy systems that integrate with the platform.</a:t>
                </a:r>
              </a:p>
            </p:txBody>
          </p:sp>
        </p:grpSp>
        <p:grpSp>
          <p:nvGrpSpPr>
            <p:cNvPr id="37" name="Group 36">
              <a:extLst>
                <a:ext uri="{FF2B5EF4-FFF2-40B4-BE49-F238E27FC236}">
                  <a16:creationId xmlns:a16="http://schemas.microsoft.com/office/drawing/2014/main" id="{2189D710-BE7E-A7FB-56FA-FBB792A8D79E}"/>
                </a:ext>
              </a:extLst>
            </p:cNvPr>
            <p:cNvGrpSpPr/>
            <p:nvPr/>
          </p:nvGrpSpPr>
          <p:grpSpPr>
            <a:xfrm>
              <a:off x="700448" y="3313506"/>
              <a:ext cx="2926080" cy="649962"/>
              <a:chOff x="338440" y="3341214"/>
              <a:chExt cx="2926080" cy="649962"/>
            </a:xfrm>
          </p:grpSpPr>
          <p:sp>
            <p:nvSpPr>
              <p:cNvPr id="47" name="TextBox 46">
                <a:extLst>
                  <a:ext uri="{FF2B5EF4-FFF2-40B4-BE49-F238E27FC236}">
                    <a16:creationId xmlns:a16="http://schemas.microsoft.com/office/drawing/2014/main" id="{588A3856-28B1-7A8F-9725-5FCCDC05918A}"/>
                  </a:ext>
                </a:extLst>
              </p:cNvPr>
              <p:cNvSpPr txBox="1"/>
              <p:nvPr/>
            </p:nvSpPr>
            <p:spPr>
              <a:xfrm>
                <a:off x="338440" y="3341214"/>
                <a:ext cx="2926080" cy="307777"/>
              </a:xfrm>
              <a:prstGeom prst="rect">
                <a:avLst/>
              </a:prstGeom>
              <a:noFill/>
            </p:spPr>
            <p:txBody>
              <a:bodyPr wrap="square" lIns="0" rIns="0" rtlCol="0" anchor="b">
                <a:spAutoFit/>
              </a:bodyPr>
              <a:lstStyle/>
              <a:p>
                <a:pPr algn="r"/>
                <a:r>
                  <a:rPr lang="en-US" sz="1400" b="1">
                    <a:latin typeface="Century Gothic" panose="020B0502020202020204" pitchFamily="34" charset="0"/>
                  </a:rPr>
                  <a:t>AWS </a:t>
                </a:r>
                <a:r>
                  <a:rPr lang="en-US" sz="1400" b="1" err="1">
                    <a:latin typeface="Century Gothic" panose="020B0502020202020204" pitchFamily="34" charset="0"/>
                  </a:rPr>
                  <a:t>QuickSight</a:t>
                </a:r>
                <a:endParaRPr lang="en-US" sz="1400" b="1">
                  <a:latin typeface="Century Gothic" panose="020B0502020202020204" pitchFamily="34" charset="0"/>
                </a:endParaRPr>
              </a:p>
            </p:txBody>
          </p:sp>
          <p:sp>
            <p:nvSpPr>
              <p:cNvPr id="48" name="TextBox 47">
                <a:extLst>
                  <a:ext uri="{FF2B5EF4-FFF2-40B4-BE49-F238E27FC236}">
                    <a16:creationId xmlns:a16="http://schemas.microsoft.com/office/drawing/2014/main" id="{8F66F6BE-843A-D12E-BF61-824EE95A10EA}"/>
                  </a:ext>
                </a:extLst>
              </p:cNvPr>
              <p:cNvSpPr txBox="1"/>
              <p:nvPr/>
            </p:nvSpPr>
            <p:spPr>
              <a:xfrm>
                <a:off x="338440" y="359106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Business intelligence tool for data visualization and reporting.</a:t>
                </a:r>
              </a:p>
            </p:txBody>
          </p:sp>
        </p:grpSp>
        <p:grpSp>
          <p:nvGrpSpPr>
            <p:cNvPr id="38" name="Group 37">
              <a:extLst>
                <a:ext uri="{FF2B5EF4-FFF2-40B4-BE49-F238E27FC236}">
                  <a16:creationId xmlns:a16="http://schemas.microsoft.com/office/drawing/2014/main" id="{E9642EDB-9292-35EE-56D3-08932000D192}"/>
                </a:ext>
              </a:extLst>
            </p:cNvPr>
            <p:cNvGrpSpPr/>
            <p:nvPr/>
          </p:nvGrpSpPr>
          <p:grpSpPr>
            <a:xfrm>
              <a:off x="8695115" y="3313506"/>
              <a:ext cx="2926080" cy="649962"/>
              <a:chOff x="8927481" y="3341214"/>
              <a:chExt cx="2926080" cy="649962"/>
            </a:xfrm>
          </p:grpSpPr>
          <p:sp>
            <p:nvSpPr>
              <p:cNvPr id="45" name="TextBox 44">
                <a:extLst>
                  <a:ext uri="{FF2B5EF4-FFF2-40B4-BE49-F238E27FC236}">
                    <a16:creationId xmlns:a16="http://schemas.microsoft.com/office/drawing/2014/main" id="{8964E0F0-1289-2AFC-A8A9-164D0B378A14}"/>
                  </a:ext>
                </a:extLst>
              </p:cNvPr>
              <p:cNvSpPr txBox="1"/>
              <p:nvPr/>
            </p:nvSpPr>
            <p:spPr>
              <a:xfrm>
                <a:off x="8927481" y="3341214"/>
                <a:ext cx="2926080" cy="307777"/>
              </a:xfrm>
              <a:prstGeom prst="rect">
                <a:avLst/>
              </a:prstGeom>
              <a:noFill/>
            </p:spPr>
            <p:txBody>
              <a:bodyPr wrap="square" lIns="0" rIns="0" rtlCol="0" anchor="b">
                <a:spAutoFit/>
              </a:bodyPr>
              <a:lstStyle/>
              <a:p>
                <a:r>
                  <a:rPr lang="en-US" sz="1400" b="1" noProof="1">
                    <a:latin typeface="Century Gothic" panose="020B0502020202020204" pitchFamily="34" charset="0"/>
                  </a:rPr>
                  <a:t>Integration &amp; API Layer</a:t>
                </a:r>
              </a:p>
            </p:txBody>
          </p:sp>
          <p:sp>
            <p:nvSpPr>
              <p:cNvPr id="46" name="TextBox 45">
                <a:extLst>
                  <a:ext uri="{FF2B5EF4-FFF2-40B4-BE49-F238E27FC236}">
                    <a16:creationId xmlns:a16="http://schemas.microsoft.com/office/drawing/2014/main" id="{189347AA-E1A4-C59D-48BD-7826C585ACF6}"/>
                  </a:ext>
                </a:extLst>
              </p:cNvPr>
              <p:cNvSpPr txBox="1"/>
              <p:nvPr/>
            </p:nvSpPr>
            <p:spPr>
              <a:xfrm>
                <a:off x="8927481" y="359106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Enables seamless data exchange between modules and external systems via APIs.</a:t>
                </a:r>
              </a:p>
            </p:txBody>
          </p:sp>
        </p:grpSp>
        <p:grpSp>
          <p:nvGrpSpPr>
            <p:cNvPr id="39" name="Group 38">
              <a:extLst>
                <a:ext uri="{FF2B5EF4-FFF2-40B4-BE49-F238E27FC236}">
                  <a16:creationId xmlns:a16="http://schemas.microsoft.com/office/drawing/2014/main" id="{69BD3809-4947-35ED-8090-D3C6D6E7FF6D}"/>
                </a:ext>
              </a:extLst>
            </p:cNvPr>
            <p:cNvGrpSpPr/>
            <p:nvPr/>
          </p:nvGrpSpPr>
          <p:grpSpPr>
            <a:xfrm>
              <a:off x="1253442" y="4272240"/>
              <a:ext cx="2926080" cy="496073"/>
              <a:chOff x="338440" y="4286094"/>
              <a:chExt cx="2926080" cy="496073"/>
            </a:xfrm>
          </p:grpSpPr>
          <p:sp>
            <p:nvSpPr>
              <p:cNvPr id="43" name="TextBox 42">
                <a:extLst>
                  <a:ext uri="{FF2B5EF4-FFF2-40B4-BE49-F238E27FC236}">
                    <a16:creationId xmlns:a16="http://schemas.microsoft.com/office/drawing/2014/main" id="{E773CB84-9726-5148-BF70-C9A4968C5E25}"/>
                  </a:ext>
                </a:extLst>
              </p:cNvPr>
              <p:cNvSpPr txBox="1"/>
              <p:nvPr/>
            </p:nvSpPr>
            <p:spPr>
              <a:xfrm>
                <a:off x="338440" y="4286094"/>
                <a:ext cx="2926080" cy="307777"/>
              </a:xfrm>
              <a:prstGeom prst="rect">
                <a:avLst/>
              </a:prstGeom>
              <a:noFill/>
            </p:spPr>
            <p:txBody>
              <a:bodyPr wrap="square" lIns="0" rIns="0" rtlCol="0" anchor="b">
                <a:spAutoFit/>
              </a:bodyPr>
              <a:lstStyle/>
              <a:p>
                <a:pPr algn="r"/>
                <a:r>
                  <a:rPr lang="en-US" sz="1400" b="1">
                    <a:latin typeface="Century Gothic" panose="020B0502020202020204" pitchFamily="34" charset="0"/>
                  </a:rPr>
                  <a:t>AWS Cognito</a:t>
                </a:r>
              </a:p>
            </p:txBody>
          </p:sp>
          <p:sp>
            <p:nvSpPr>
              <p:cNvPr id="44" name="TextBox 43">
                <a:extLst>
                  <a:ext uri="{FF2B5EF4-FFF2-40B4-BE49-F238E27FC236}">
                    <a16:creationId xmlns:a16="http://schemas.microsoft.com/office/drawing/2014/main" id="{1A02E3AF-143A-195E-96FB-7EBB14D93BBD}"/>
                  </a:ext>
                </a:extLst>
              </p:cNvPr>
              <p:cNvSpPr txBox="1"/>
              <p:nvPr/>
            </p:nvSpPr>
            <p:spPr>
              <a:xfrm>
                <a:off x="338440" y="4535946"/>
                <a:ext cx="2926080" cy="246221"/>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User authentication and authorization service.</a:t>
                </a:r>
              </a:p>
            </p:txBody>
          </p:sp>
        </p:grpSp>
        <p:grpSp>
          <p:nvGrpSpPr>
            <p:cNvPr id="40" name="Group 39">
              <a:extLst>
                <a:ext uri="{FF2B5EF4-FFF2-40B4-BE49-F238E27FC236}">
                  <a16:creationId xmlns:a16="http://schemas.microsoft.com/office/drawing/2014/main" id="{82B0E991-F3A4-FAF4-3A82-DD830E561960}"/>
                </a:ext>
              </a:extLst>
            </p:cNvPr>
            <p:cNvGrpSpPr/>
            <p:nvPr/>
          </p:nvGrpSpPr>
          <p:grpSpPr>
            <a:xfrm>
              <a:off x="8432812" y="4272240"/>
              <a:ext cx="2926080" cy="649962"/>
              <a:chOff x="8927481" y="4286094"/>
              <a:chExt cx="2926080" cy="649962"/>
            </a:xfrm>
          </p:grpSpPr>
          <p:sp>
            <p:nvSpPr>
              <p:cNvPr id="41" name="TextBox 40">
                <a:extLst>
                  <a:ext uri="{FF2B5EF4-FFF2-40B4-BE49-F238E27FC236}">
                    <a16:creationId xmlns:a16="http://schemas.microsoft.com/office/drawing/2014/main" id="{8004E69A-499C-5BF1-DE67-CDDC532894B1}"/>
                  </a:ext>
                </a:extLst>
              </p:cNvPr>
              <p:cNvSpPr txBox="1"/>
              <p:nvPr/>
            </p:nvSpPr>
            <p:spPr>
              <a:xfrm>
                <a:off x="8927481" y="4286094"/>
                <a:ext cx="2926080" cy="307777"/>
              </a:xfrm>
              <a:prstGeom prst="rect">
                <a:avLst/>
              </a:prstGeom>
              <a:noFill/>
            </p:spPr>
            <p:txBody>
              <a:bodyPr wrap="square" lIns="0" rIns="0" rtlCol="0" anchor="b">
                <a:spAutoFit/>
              </a:bodyPr>
              <a:lstStyle/>
              <a:p>
                <a:r>
                  <a:rPr lang="en-US" sz="1400" b="1" noProof="1">
                    <a:latin typeface="Century Gothic" panose="020B0502020202020204" pitchFamily="34" charset="0"/>
                  </a:rPr>
                  <a:t>AWS RDS</a:t>
                </a:r>
              </a:p>
            </p:txBody>
          </p:sp>
          <p:sp>
            <p:nvSpPr>
              <p:cNvPr id="42" name="TextBox 41">
                <a:extLst>
                  <a:ext uri="{FF2B5EF4-FFF2-40B4-BE49-F238E27FC236}">
                    <a16:creationId xmlns:a16="http://schemas.microsoft.com/office/drawing/2014/main" id="{5BEA1BC5-2B62-9755-79B4-3192F974ACC7}"/>
                  </a:ext>
                </a:extLst>
              </p:cNvPr>
              <p:cNvSpPr txBox="1"/>
              <p:nvPr/>
            </p:nvSpPr>
            <p:spPr>
              <a:xfrm>
                <a:off x="8927481" y="453594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Managed relational database service for storing application data</a:t>
                </a:r>
              </a:p>
            </p:txBody>
          </p:sp>
        </p:grpSp>
        <p:sp>
          <p:nvSpPr>
            <p:cNvPr id="62" name="Oval 61">
              <a:extLst>
                <a:ext uri="{FF2B5EF4-FFF2-40B4-BE49-F238E27FC236}">
                  <a16:creationId xmlns:a16="http://schemas.microsoft.com/office/drawing/2014/main" id="{EEA81E27-63A9-889A-ACCB-704B4ACA766E}"/>
                </a:ext>
              </a:extLst>
            </p:cNvPr>
            <p:cNvSpPr/>
            <p:nvPr/>
          </p:nvSpPr>
          <p:spPr>
            <a:xfrm rot="644794">
              <a:off x="5555055" y="2718240"/>
              <a:ext cx="1290102" cy="143603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grpSp>
    </p:spTree>
    <p:extLst>
      <p:ext uri="{BB962C8B-B14F-4D97-AF65-F5344CB8AC3E}">
        <p14:creationId xmlns:p14="http://schemas.microsoft.com/office/powerpoint/2010/main" val="686796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2E46-D906-115F-BE1C-145DA37E8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772DF-FFEB-A5C5-DD2E-9734BDEEE09A}"/>
              </a:ext>
            </a:extLst>
          </p:cNvPr>
          <p:cNvSpPr>
            <a:spLocks noGrp="1"/>
          </p:cNvSpPr>
          <p:nvPr>
            <p:ph type="title"/>
          </p:nvPr>
        </p:nvSpPr>
        <p:spPr>
          <a:xfrm>
            <a:off x="838200" y="605790"/>
            <a:ext cx="10515600" cy="605790"/>
          </a:xfrm>
        </p:spPr>
        <p:txBody>
          <a:bodyPr>
            <a:normAutofit/>
          </a:bodyPr>
          <a:lstStyle/>
          <a:p>
            <a:r>
              <a:rPr lang="en-US" sz="2400" b="1">
                <a:latin typeface="Century Gothic" panose="020B0502020202020204" pitchFamily="34" charset="0"/>
              </a:rPr>
              <a:t>Component Description (B)</a:t>
            </a:r>
            <a:endParaRPr lang="en-NG" sz="2400" b="1">
              <a:latin typeface="Century Gothic" panose="020B0502020202020204" pitchFamily="34" charset="0"/>
            </a:endParaRPr>
          </a:p>
        </p:txBody>
      </p:sp>
      <p:grpSp>
        <p:nvGrpSpPr>
          <p:cNvPr id="47" name="Group 46">
            <a:extLst>
              <a:ext uri="{FF2B5EF4-FFF2-40B4-BE49-F238E27FC236}">
                <a16:creationId xmlns:a16="http://schemas.microsoft.com/office/drawing/2014/main" id="{67CBF745-33A5-941C-27C4-86F0AE27A814}"/>
              </a:ext>
            </a:extLst>
          </p:cNvPr>
          <p:cNvGrpSpPr/>
          <p:nvPr/>
        </p:nvGrpSpPr>
        <p:grpSpPr>
          <a:xfrm>
            <a:off x="861463" y="1509092"/>
            <a:ext cx="10774490" cy="4639990"/>
            <a:chOff x="861463" y="1490620"/>
            <a:chExt cx="10774490" cy="4639990"/>
          </a:xfrm>
        </p:grpSpPr>
        <p:sp>
          <p:nvSpPr>
            <p:cNvPr id="5" name="Forme libre 41">
              <a:extLst>
                <a:ext uri="{FF2B5EF4-FFF2-40B4-BE49-F238E27FC236}">
                  <a16:creationId xmlns:a16="http://schemas.microsoft.com/office/drawing/2014/main" id="{D6DD03BE-EF5A-724D-AD7F-4A77F194199D}"/>
                </a:ext>
              </a:extLst>
            </p:cNvPr>
            <p:cNvSpPr/>
            <p:nvPr/>
          </p:nvSpPr>
          <p:spPr>
            <a:xfrm>
              <a:off x="5263944" y="1509243"/>
              <a:ext cx="1517898" cy="2004615"/>
            </a:xfrm>
            <a:custGeom>
              <a:avLst/>
              <a:gdLst>
                <a:gd name="connsiteX0" fmla="*/ 261775 w 578056"/>
                <a:gd name="connsiteY0" fmla="*/ 763411 h 763411"/>
                <a:gd name="connsiteX1" fmla="*/ 578057 w 578056"/>
                <a:gd name="connsiteY1" fmla="*/ 0 h 763411"/>
                <a:gd name="connsiteX2" fmla="*/ 508513 w 578056"/>
                <a:gd name="connsiteY2" fmla="*/ 8844 h 763411"/>
                <a:gd name="connsiteX3" fmla="*/ 0 w 578056"/>
                <a:gd name="connsiteY3" fmla="*/ 131510 h 763411"/>
                <a:gd name="connsiteX4" fmla="*/ 261775 w 578056"/>
                <a:gd name="connsiteY4" fmla="*/ 763411 h 763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056" h="763411">
                  <a:moveTo>
                    <a:pt x="261775" y="763411"/>
                  </a:moveTo>
                  <a:lnTo>
                    <a:pt x="578057" y="0"/>
                  </a:lnTo>
                  <a:cubicBezTo>
                    <a:pt x="554512" y="2517"/>
                    <a:pt x="531241" y="5579"/>
                    <a:pt x="508513" y="8844"/>
                  </a:cubicBezTo>
                  <a:cubicBezTo>
                    <a:pt x="336627" y="33745"/>
                    <a:pt x="165013" y="71368"/>
                    <a:pt x="0" y="131510"/>
                  </a:cubicBezTo>
                  <a:lnTo>
                    <a:pt x="261775" y="763411"/>
                  </a:lnTo>
                  <a:close/>
                </a:path>
              </a:pathLst>
            </a:custGeom>
            <a:solidFill>
              <a:srgbClr val="FF0000"/>
            </a:solidFill>
            <a:ln w="6804" cap="flat">
              <a:noFill/>
              <a:prstDash val="solid"/>
              <a:miter/>
            </a:ln>
          </p:spPr>
          <p:txBody>
            <a:bodyPr rtlCol="0" anchor="ctr"/>
            <a:lstStyle/>
            <a:p>
              <a:endParaRPr lang="fr-FR" sz="1200">
                <a:latin typeface="Century Gothic" panose="020B0502020202020204" pitchFamily="34" charset="0"/>
              </a:endParaRPr>
            </a:p>
          </p:txBody>
        </p:sp>
        <p:sp>
          <p:nvSpPr>
            <p:cNvPr id="6" name="Forme libre 42">
              <a:extLst>
                <a:ext uri="{FF2B5EF4-FFF2-40B4-BE49-F238E27FC236}">
                  <a16:creationId xmlns:a16="http://schemas.microsoft.com/office/drawing/2014/main" id="{972D4A61-B63A-A9BB-D19E-1DCB54527EED}"/>
                </a:ext>
              </a:extLst>
            </p:cNvPr>
            <p:cNvSpPr/>
            <p:nvPr/>
          </p:nvSpPr>
          <p:spPr>
            <a:xfrm>
              <a:off x="6044961" y="2659561"/>
              <a:ext cx="2311857" cy="1808458"/>
            </a:xfrm>
            <a:custGeom>
              <a:avLst/>
              <a:gdLst>
                <a:gd name="connsiteX0" fmla="*/ 791314 w 880417"/>
                <a:gd name="connsiteY0" fmla="*/ 688709 h 688709"/>
                <a:gd name="connsiteX1" fmla="*/ 876372 w 880417"/>
                <a:gd name="connsiteY1" fmla="*/ 51706 h 688709"/>
                <a:gd name="connsiteX2" fmla="*/ 871541 w 880417"/>
                <a:gd name="connsiteY2" fmla="*/ 0 h 688709"/>
                <a:gd name="connsiteX3" fmla="*/ 0 w 880417"/>
                <a:gd name="connsiteY3" fmla="*/ 360989 h 688709"/>
                <a:gd name="connsiteX4" fmla="*/ 791382 w 880417"/>
                <a:gd name="connsiteY4" fmla="*/ 688709 h 688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417" h="688709">
                  <a:moveTo>
                    <a:pt x="791314" y="688709"/>
                  </a:moveTo>
                  <a:cubicBezTo>
                    <a:pt x="862287" y="486104"/>
                    <a:pt x="891955" y="266762"/>
                    <a:pt x="876372" y="51706"/>
                  </a:cubicBezTo>
                  <a:cubicBezTo>
                    <a:pt x="875148" y="34493"/>
                    <a:pt x="873515" y="17212"/>
                    <a:pt x="871541" y="0"/>
                  </a:cubicBezTo>
                  <a:lnTo>
                    <a:pt x="0" y="360989"/>
                  </a:lnTo>
                  <a:lnTo>
                    <a:pt x="791382" y="688709"/>
                  </a:lnTo>
                  <a:close/>
                </a:path>
              </a:pathLst>
            </a:custGeom>
            <a:solidFill>
              <a:schemeClr val="tx1">
                <a:lumMod val="50000"/>
                <a:lumOff val="50000"/>
                <a:alpha val="8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7" name="Forme libre 43">
              <a:extLst>
                <a:ext uri="{FF2B5EF4-FFF2-40B4-BE49-F238E27FC236}">
                  <a16:creationId xmlns:a16="http://schemas.microsoft.com/office/drawing/2014/main" id="{301D4505-EEC5-FC22-1E46-2C61B7304FE0}"/>
                </a:ext>
              </a:extLst>
            </p:cNvPr>
            <p:cNvSpPr/>
            <p:nvPr/>
          </p:nvSpPr>
          <p:spPr>
            <a:xfrm>
              <a:off x="6017623" y="1490620"/>
              <a:ext cx="2306598" cy="2050570"/>
            </a:xfrm>
            <a:custGeom>
              <a:avLst/>
              <a:gdLst>
                <a:gd name="connsiteX0" fmla="*/ 321792 w 878414"/>
                <a:gd name="connsiteY0" fmla="*/ 4099 h 780912"/>
                <a:gd name="connsiteX1" fmla="*/ 0 w 878414"/>
                <a:gd name="connsiteY1" fmla="*/ 780912 h 780912"/>
                <a:gd name="connsiteX2" fmla="*/ 878414 w 878414"/>
                <a:gd name="connsiteY2" fmla="*/ 417134 h 780912"/>
                <a:gd name="connsiteX3" fmla="*/ 790158 w 878414"/>
                <a:gd name="connsiteY3" fmla="*/ 167789 h 780912"/>
                <a:gd name="connsiteX4" fmla="*/ 321792 w 878414"/>
                <a:gd name="connsiteY4" fmla="*/ 4031 h 780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14" h="780912">
                  <a:moveTo>
                    <a:pt x="321792" y="4099"/>
                  </a:moveTo>
                  <a:lnTo>
                    <a:pt x="0" y="780912"/>
                  </a:lnTo>
                  <a:lnTo>
                    <a:pt x="878414" y="417134"/>
                  </a:lnTo>
                  <a:cubicBezTo>
                    <a:pt x="865553" y="326989"/>
                    <a:pt x="840308" y="239225"/>
                    <a:pt x="790158" y="167789"/>
                  </a:cubicBezTo>
                  <a:cubicBezTo>
                    <a:pt x="678357" y="8589"/>
                    <a:pt x="494699" y="-10665"/>
                    <a:pt x="321792" y="4031"/>
                  </a:cubicBezTo>
                  <a:close/>
                </a:path>
              </a:pathLst>
            </a:custGeom>
            <a:solidFill>
              <a:schemeClr val="tx1">
                <a:lumMod val="65000"/>
                <a:lumOff val="35000"/>
                <a:alpha val="9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8" name="Forme libre 44">
              <a:extLst>
                <a:ext uri="{FF2B5EF4-FFF2-40B4-BE49-F238E27FC236}">
                  <a16:creationId xmlns:a16="http://schemas.microsoft.com/office/drawing/2014/main" id="{B232AD9E-9BA3-1A8B-3F9A-739F8587D11B}"/>
                </a:ext>
              </a:extLst>
            </p:cNvPr>
            <p:cNvSpPr/>
            <p:nvPr/>
          </p:nvSpPr>
          <p:spPr>
            <a:xfrm>
              <a:off x="3938664" y="1879582"/>
              <a:ext cx="1946552" cy="1661609"/>
            </a:xfrm>
            <a:custGeom>
              <a:avLst/>
              <a:gdLst>
                <a:gd name="connsiteX0" fmla="*/ 741300 w 741299"/>
                <a:gd name="connsiteY0" fmla="*/ 632785 h 632785"/>
                <a:gd name="connsiteX1" fmla="*/ 479116 w 741299"/>
                <a:gd name="connsiteY1" fmla="*/ 0 h 632785"/>
                <a:gd name="connsiteX2" fmla="*/ 352345 w 741299"/>
                <a:gd name="connsiteY2" fmla="*/ 53611 h 632785"/>
                <a:gd name="connsiteX3" fmla="*/ 0 w 741299"/>
                <a:gd name="connsiteY3" fmla="*/ 325815 h 632785"/>
                <a:gd name="connsiteX4" fmla="*/ 741232 w 741299"/>
                <a:gd name="connsiteY4" fmla="*/ 632785 h 632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299" h="632785">
                  <a:moveTo>
                    <a:pt x="741300" y="632785"/>
                  </a:moveTo>
                  <a:lnTo>
                    <a:pt x="479116" y="0"/>
                  </a:lnTo>
                  <a:cubicBezTo>
                    <a:pt x="436383" y="16260"/>
                    <a:pt x="394058" y="34017"/>
                    <a:pt x="352345" y="53611"/>
                  </a:cubicBezTo>
                  <a:cubicBezTo>
                    <a:pt x="228432" y="111848"/>
                    <a:pt x="72061" y="192809"/>
                    <a:pt x="0" y="325815"/>
                  </a:cubicBezTo>
                  <a:lnTo>
                    <a:pt x="741232" y="632785"/>
                  </a:lnTo>
                  <a:close/>
                </a:path>
              </a:pathLst>
            </a:custGeom>
            <a:solidFill>
              <a:schemeClr val="bg1">
                <a:lumMod val="95000"/>
                <a:alpha val="9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9" name="Forme libre 45">
              <a:extLst>
                <a:ext uri="{FF2B5EF4-FFF2-40B4-BE49-F238E27FC236}">
                  <a16:creationId xmlns:a16="http://schemas.microsoft.com/office/drawing/2014/main" id="{8F41FF6E-19A0-F042-89EB-C7D7240B3CAB}"/>
                </a:ext>
              </a:extLst>
            </p:cNvPr>
            <p:cNvSpPr/>
            <p:nvPr/>
          </p:nvSpPr>
          <p:spPr>
            <a:xfrm>
              <a:off x="3834302" y="2799622"/>
              <a:ext cx="2023401" cy="1480637"/>
            </a:xfrm>
            <a:custGeom>
              <a:avLst/>
              <a:gdLst>
                <a:gd name="connsiteX0" fmla="*/ 27837 w 770565"/>
                <a:gd name="connsiteY0" fmla="*/ 0 h 563866"/>
                <a:gd name="connsiteX1" fmla="*/ 141 w 770565"/>
                <a:gd name="connsiteY1" fmla="*/ 124162 h 563866"/>
                <a:gd name="connsiteX2" fmla="*/ 151885 w 770565"/>
                <a:gd name="connsiteY2" fmla="*/ 563867 h 563866"/>
                <a:gd name="connsiteX3" fmla="*/ 770565 w 770565"/>
                <a:gd name="connsiteY3" fmla="*/ 307650 h 563866"/>
                <a:gd name="connsiteX4" fmla="*/ 27837 w 770565"/>
                <a:gd name="connsiteY4" fmla="*/ 0 h 563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565" h="563866">
                  <a:moveTo>
                    <a:pt x="27837" y="0"/>
                  </a:moveTo>
                  <a:cubicBezTo>
                    <a:pt x="11369" y="37351"/>
                    <a:pt x="1298" y="78511"/>
                    <a:pt x="141" y="124162"/>
                  </a:cubicBezTo>
                  <a:cubicBezTo>
                    <a:pt x="-3534" y="273769"/>
                    <a:pt x="65058" y="428615"/>
                    <a:pt x="151885" y="563867"/>
                  </a:cubicBezTo>
                  <a:lnTo>
                    <a:pt x="770565" y="307650"/>
                  </a:lnTo>
                  <a:lnTo>
                    <a:pt x="27837" y="0"/>
                  </a:lnTo>
                  <a:close/>
                </a:path>
              </a:pathLst>
            </a:custGeom>
            <a:solidFill>
              <a:schemeClr val="bg1">
                <a:lumMod val="85000"/>
                <a:alpha val="8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0" name="Forme libre 46">
              <a:extLst>
                <a:ext uri="{FF2B5EF4-FFF2-40B4-BE49-F238E27FC236}">
                  <a16:creationId xmlns:a16="http://schemas.microsoft.com/office/drawing/2014/main" id="{FF133352-02E7-D3CA-2528-3549D4F8ED5A}"/>
                </a:ext>
              </a:extLst>
            </p:cNvPr>
            <p:cNvSpPr/>
            <p:nvPr/>
          </p:nvSpPr>
          <p:spPr>
            <a:xfrm>
              <a:off x="6017445" y="3673390"/>
              <a:ext cx="2081280" cy="2326003"/>
            </a:xfrm>
            <a:custGeom>
              <a:avLst/>
              <a:gdLst>
                <a:gd name="connsiteX0" fmla="*/ 0 w 792607"/>
                <a:gd name="connsiteY0" fmla="*/ 68 h 885804"/>
                <a:gd name="connsiteX1" fmla="*/ 366908 w 792607"/>
                <a:gd name="connsiteY1" fmla="*/ 885805 h 885804"/>
                <a:gd name="connsiteX2" fmla="*/ 513208 w 792607"/>
                <a:gd name="connsiteY2" fmla="*/ 803755 h 885804"/>
                <a:gd name="connsiteX3" fmla="*/ 792607 w 792607"/>
                <a:gd name="connsiteY3" fmla="*/ 328265 h 885804"/>
                <a:gd name="connsiteX4" fmla="*/ 0 w 792607"/>
                <a:gd name="connsiteY4" fmla="*/ 0 h 88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07" h="885804">
                  <a:moveTo>
                    <a:pt x="0" y="68"/>
                  </a:moveTo>
                  <a:lnTo>
                    <a:pt x="366908" y="885805"/>
                  </a:lnTo>
                  <a:cubicBezTo>
                    <a:pt x="418963" y="872266"/>
                    <a:pt x="468501" y="846209"/>
                    <a:pt x="513208" y="803755"/>
                  </a:cubicBezTo>
                  <a:cubicBezTo>
                    <a:pt x="641476" y="681974"/>
                    <a:pt x="730140" y="500187"/>
                    <a:pt x="792607" y="328265"/>
                  </a:cubicBezTo>
                  <a:lnTo>
                    <a:pt x="0" y="0"/>
                  </a:lnTo>
                  <a:close/>
                </a:path>
              </a:pathLst>
            </a:custGeom>
            <a:solidFill>
              <a:schemeClr val="bg1">
                <a:lumMod val="50000"/>
                <a:alpha val="7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1" name="Forme libre 47">
              <a:extLst>
                <a:ext uri="{FF2B5EF4-FFF2-40B4-BE49-F238E27FC236}">
                  <a16:creationId xmlns:a16="http://schemas.microsoft.com/office/drawing/2014/main" id="{9230CF78-A2FF-C24C-94DA-46D4684777AF}"/>
                </a:ext>
              </a:extLst>
            </p:cNvPr>
            <p:cNvSpPr/>
            <p:nvPr/>
          </p:nvSpPr>
          <p:spPr>
            <a:xfrm>
              <a:off x="5245897" y="3700904"/>
              <a:ext cx="1664059" cy="2329416"/>
            </a:xfrm>
            <a:custGeom>
              <a:avLst/>
              <a:gdLst>
                <a:gd name="connsiteX0" fmla="*/ 268648 w 633718"/>
                <a:gd name="connsiteY0" fmla="*/ 0 h 887104"/>
                <a:gd name="connsiteX1" fmla="*/ 0 w 633718"/>
                <a:gd name="connsiteY1" fmla="*/ 648433 h 887104"/>
                <a:gd name="connsiteX2" fmla="*/ 478505 w 633718"/>
                <a:gd name="connsiteY2" fmla="*/ 879273 h 887104"/>
                <a:gd name="connsiteX3" fmla="*/ 633719 w 633718"/>
                <a:gd name="connsiteY3" fmla="*/ 881178 h 887104"/>
                <a:gd name="connsiteX4" fmla="*/ 268648 w 633718"/>
                <a:gd name="connsiteY4" fmla="*/ 0 h 88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718" h="887104">
                  <a:moveTo>
                    <a:pt x="268648" y="0"/>
                  </a:moveTo>
                  <a:lnTo>
                    <a:pt x="0" y="648433"/>
                  </a:lnTo>
                  <a:cubicBezTo>
                    <a:pt x="144531" y="761982"/>
                    <a:pt x="310021" y="849815"/>
                    <a:pt x="478505" y="879273"/>
                  </a:cubicBezTo>
                  <a:cubicBezTo>
                    <a:pt x="530900" y="888458"/>
                    <a:pt x="583297" y="890159"/>
                    <a:pt x="633719" y="881178"/>
                  </a:cubicBezTo>
                  <a:lnTo>
                    <a:pt x="268648" y="0"/>
                  </a:lnTo>
                  <a:close/>
                </a:path>
              </a:pathLst>
            </a:custGeom>
            <a:solidFill>
              <a:schemeClr val="bg1">
                <a:lumMod val="65000"/>
                <a:alpha val="5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2" name="Forme libre 48">
              <a:extLst>
                <a:ext uri="{FF2B5EF4-FFF2-40B4-BE49-F238E27FC236}">
                  <a16:creationId xmlns:a16="http://schemas.microsoft.com/office/drawing/2014/main" id="{CB6E1B81-6C4E-871B-FABA-9F28F62A97FC}"/>
                </a:ext>
              </a:extLst>
            </p:cNvPr>
            <p:cNvSpPr/>
            <p:nvPr/>
          </p:nvSpPr>
          <p:spPr>
            <a:xfrm>
              <a:off x="4273158" y="3673571"/>
              <a:ext cx="1612061" cy="1683582"/>
            </a:xfrm>
            <a:custGeom>
              <a:avLst/>
              <a:gdLst>
                <a:gd name="connsiteX0" fmla="*/ 348330 w 613916"/>
                <a:gd name="connsiteY0" fmla="*/ 641086 h 641153"/>
                <a:gd name="connsiteX1" fmla="*/ 613917 w 613916"/>
                <a:gd name="connsiteY1" fmla="*/ 0 h 641153"/>
                <a:gd name="connsiteX2" fmla="*/ 0 w 613916"/>
                <a:gd name="connsiteY2" fmla="*/ 254244 h 641153"/>
                <a:gd name="connsiteX3" fmla="*/ 147661 w 613916"/>
                <a:gd name="connsiteY3" fmla="*/ 446236 h 641153"/>
                <a:gd name="connsiteX4" fmla="*/ 348330 w 613916"/>
                <a:gd name="connsiteY4" fmla="*/ 641154 h 641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916" h="641153">
                  <a:moveTo>
                    <a:pt x="348330" y="641086"/>
                  </a:moveTo>
                  <a:lnTo>
                    <a:pt x="613917" y="0"/>
                  </a:lnTo>
                  <a:lnTo>
                    <a:pt x="0" y="254244"/>
                  </a:lnTo>
                  <a:cubicBezTo>
                    <a:pt x="47633" y="325611"/>
                    <a:pt x="99689" y="390924"/>
                    <a:pt x="147661" y="446236"/>
                  </a:cubicBezTo>
                  <a:cubicBezTo>
                    <a:pt x="207066" y="514678"/>
                    <a:pt x="274772" y="581079"/>
                    <a:pt x="348330" y="641154"/>
                  </a:cubicBezTo>
                  <a:close/>
                </a:path>
              </a:pathLst>
            </a:custGeom>
            <a:solidFill>
              <a:schemeClr val="bg1">
                <a:lumMod val="75000"/>
                <a:alpha val="70000"/>
              </a:schemeClr>
            </a:solidFill>
            <a:ln w="6804" cap="flat">
              <a:noFill/>
              <a:prstDash val="solid"/>
              <a:miter/>
            </a:ln>
          </p:spPr>
          <p:txBody>
            <a:bodyPr rtlCol="0" anchor="ctr"/>
            <a:lstStyle/>
            <a:p>
              <a:endParaRPr lang="fr-FR" sz="1200">
                <a:latin typeface="Century Gothic" panose="020B0502020202020204" pitchFamily="34" charset="0"/>
              </a:endParaRPr>
            </a:p>
          </p:txBody>
        </p:sp>
        <p:sp>
          <p:nvSpPr>
            <p:cNvPr id="13" name="Forme libre 36">
              <a:extLst>
                <a:ext uri="{FF2B5EF4-FFF2-40B4-BE49-F238E27FC236}">
                  <a16:creationId xmlns:a16="http://schemas.microsoft.com/office/drawing/2014/main" id="{EBE44797-8A11-75C1-A1BF-12EC93F1B420}"/>
                </a:ext>
              </a:extLst>
            </p:cNvPr>
            <p:cNvSpPr/>
            <p:nvPr/>
          </p:nvSpPr>
          <p:spPr>
            <a:xfrm>
              <a:off x="4841272" y="2501626"/>
              <a:ext cx="2231151" cy="2227094"/>
            </a:xfrm>
            <a:custGeom>
              <a:avLst/>
              <a:gdLst>
                <a:gd name="connsiteX0" fmla="*/ 446285 w 849682"/>
                <a:gd name="connsiteY0" fmla="*/ 839205 h 848137"/>
                <a:gd name="connsiteX1" fmla="*/ 611366 w 849682"/>
                <a:gd name="connsiteY1" fmla="*/ 812536 h 848137"/>
                <a:gd name="connsiteX2" fmla="*/ 776855 w 849682"/>
                <a:gd name="connsiteY2" fmla="*/ 579655 h 848137"/>
                <a:gd name="connsiteX3" fmla="*/ 849461 w 849682"/>
                <a:gd name="connsiteY3" fmla="*/ 269691 h 848137"/>
                <a:gd name="connsiteX4" fmla="*/ 818024 w 849682"/>
                <a:gd name="connsiteY4" fmla="*/ 103008 h 848137"/>
                <a:gd name="connsiteX5" fmla="*/ 546858 w 849682"/>
                <a:gd name="connsiteY5" fmla="*/ 1093 h 848137"/>
                <a:gd name="connsiteX6" fmla="*/ 214178 w 849682"/>
                <a:gd name="connsiteY6" fmla="*/ 61167 h 848137"/>
                <a:gd name="connsiteX7" fmla="*/ 1804 w 849682"/>
                <a:gd name="connsiteY7" fmla="*/ 249825 h 848137"/>
                <a:gd name="connsiteX8" fmla="*/ 124219 w 849682"/>
                <a:gd name="connsiteY8" fmla="*/ 587343 h 848137"/>
                <a:gd name="connsiteX9" fmla="*/ 446285 w 849682"/>
                <a:gd name="connsiteY9" fmla="*/ 839205 h 84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9682" h="848137">
                  <a:moveTo>
                    <a:pt x="446285" y="839205"/>
                  </a:moveTo>
                  <a:cubicBezTo>
                    <a:pt x="502423" y="854785"/>
                    <a:pt x="560467" y="852404"/>
                    <a:pt x="611366" y="812536"/>
                  </a:cubicBezTo>
                  <a:cubicBezTo>
                    <a:pt x="683427" y="756067"/>
                    <a:pt x="737389" y="664902"/>
                    <a:pt x="776855" y="579655"/>
                  </a:cubicBezTo>
                  <a:cubicBezTo>
                    <a:pt x="821494" y="483182"/>
                    <a:pt x="846671" y="376437"/>
                    <a:pt x="849461" y="269691"/>
                  </a:cubicBezTo>
                  <a:cubicBezTo>
                    <a:pt x="850958" y="211726"/>
                    <a:pt x="845311" y="151652"/>
                    <a:pt x="818024" y="103008"/>
                  </a:cubicBezTo>
                  <a:cubicBezTo>
                    <a:pt x="761681" y="2793"/>
                    <a:pt x="645253" y="-3602"/>
                    <a:pt x="546858" y="1093"/>
                  </a:cubicBezTo>
                  <a:cubicBezTo>
                    <a:pt x="434853" y="6467"/>
                    <a:pt x="321963" y="22523"/>
                    <a:pt x="214178" y="61167"/>
                  </a:cubicBezTo>
                  <a:cubicBezTo>
                    <a:pt x="129868" y="91374"/>
                    <a:pt x="15481" y="138657"/>
                    <a:pt x="1804" y="249825"/>
                  </a:cubicBezTo>
                  <a:cubicBezTo>
                    <a:pt x="-12622" y="367048"/>
                    <a:pt x="62365" y="499647"/>
                    <a:pt x="124219" y="587343"/>
                  </a:cubicBezTo>
                  <a:cubicBezTo>
                    <a:pt x="202406" y="698238"/>
                    <a:pt x="319105" y="803827"/>
                    <a:pt x="446285" y="839205"/>
                  </a:cubicBezTo>
                  <a:close/>
                </a:path>
              </a:pathLst>
            </a:custGeom>
            <a:solidFill>
              <a:srgbClr val="FFFFFF"/>
            </a:solidFill>
            <a:ln w="6804" cap="flat">
              <a:noFill/>
              <a:prstDash val="solid"/>
              <a:miter/>
            </a:ln>
          </p:spPr>
          <p:txBody>
            <a:bodyPr rtlCol="0" anchor="ctr"/>
            <a:lstStyle/>
            <a:p>
              <a:endParaRPr lang="fr-FR" sz="1200">
                <a:latin typeface="Century Gothic" panose="020B0502020202020204" pitchFamily="34" charset="0"/>
              </a:endParaRPr>
            </a:p>
          </p:txBody>
        </p:sp>
        <p:sp>
          <p:nvSpPr>
            <p:cNvPr id="14" name="Freeform: Shape 13">
              <a:extLst>
                <a:ext uri="{FF2B5EF4-FFF2-40B4-BE49-F238E27FC236}">
                  <a16:creationId xmlns:a16="http://schemas.microsoft.com/office/drawing/2014/main" id="{B6E43233-4330-A8BF-1A36-EBF919A07664}"/>
                </a:ext>
              </a:extLst>
            </p:cNvPr>
            <p:cNvSpPr/>
            <p:nvPr/>
          </p:nvSpPr>
          <p:spPr>
            <a:xfrm>
              <a:off x="4955610" y="2613383"/>
              <a:ext cx="1991513" cy="1988158"/>
            </a:xfrm>
            <a:custGeom>
              <a:avLst/>
              <a:gdLst>
                <a:gd name="connsiteX0" fmla="*/ 1541773 w 1991513"/>
                <a:gd name="connsiteY0" fmla="*/ 1339415 h 1988158"/>
                <a:gd name="connsiteX1" fmla="*/ 1639870 w 1991513"/>
                <a:gd name="connsiteY1" fmla="*/ 1458574 h 1988158"/>
                <a:gd name="connsiteX2" fmla="*/ 1544632 w 1991513"/>
                <a:gd name="connsiteY2" fmla="*/ 1576124 h 1988158"/>
                <a:gd name="connsiteX3" fmla="*/ 1544632 w 1991513"/>
                <a:gd name="connsiteY3" fmla="*/ 1576302 h 1988158"/>
                <a:gd name="connsiteX4" fmla="*/ 1445285 w 1991513"/>
                <a:gd name="connsiteY4" fmla="*/ 1459467 h 1988158"/>
                <a:gd name="connsiteX5" fmla="*/ 1541773 w 1991513"/>
                <a:gd name="connsiteY5" fmla="*/ 1339415 h 1988158"/>
                <a:gd name="connsiteX6" fmla="*/ 1541951 w 1991513"/>
                <a:gd name="connsiteY6" fmla="*/ 995516 h 1988158"/>
                <a:gd name="connsiteX7" fmla="*/ 1626289 w 1991513"/>
                <a:gd name="connsiteY7" fmla="*/ 1092702 h 1988158"/>
                <a:gd name="connsiteX8" fmla="*/ 1542487 w 1991513"/>
                <a:gd name="connsiteY8" fmla="*/ 1188814 h 1988158"/>
                <a:gd name="connsiteX9" fmla="*/ 1542308 w 1991513"/>
                <a:gd name="connsiteY9" fmla="*/ 1188814 h 1988158"/>
                <a:gd name="connsiteX10" fmla="*/ 1458506 w 1991513"/>
                <a:gd name="connsiteY10" fmla="*/ 1090199 h 1988158"/>
                <a:gd name="connsiteX11" fmla="*/ 1541951 w 1991513"/>
                <a:gd name="connsiteY11" fmla="*/ 995516 h 1988158"/>
                <a:gd name="connsiteX12" fmla="*/ 1459774 w 1991513"/>
                <a:gd name="connsiteY12" fmla="*/ 2199 h 1988158"/>
                <a:gd name="connsiteX13" fmla="*/ 1917363 w 1991513"/>
                <a:gd name="connsiteY13" fmla="*/ 241441 h 1988158"/>
                <a:gd name="connsiteX14" fmla="*/ 1917363 w 1991513"/>
                <a:gd name="connsiteY14" fmla="*/ 241619 h 1988158"/>
                <a:gd name="connsiteX15" fmla="*/ 1990979 w 1991513"/>
                <a:gd name="connsiteY15" fmla="*/ 632322 h 1988158"/>
                <a:gd name="connsiteX16" fmla="*/ 1834454 w 1991513"/>
                <a:gd name="connsiteY16" fmla="*/ 1328337 h 1988158"/>
                <a:gd name="connsiteX17" fmla="*/ 1740826 w 1991513"/>
                <a:gd name="connsiteY17" fmla="*/ 1252948 h 1988158"/>
                <a:gd name="connsiteX18" fmla="*/ 1846782 w 1991513"/>
                <a:gd name="connsiteY18" fmla="*/ 1081088 h 1988158"/>
                <a:gd name="connsiteX19" fmla="*/ 1543203 w 1991513"/>
                <a:gd name="connsiteY19" fmla="*/ 845807 h 1988158"/>
                <a:gd name="connsiteX20" fmla="*/ 1239089 w 1991513"/>
                <a:gd name="connsiteY20" fmla="*/ 1083947 h 1988158"/>
                <a:gd name="connsiteX21" fmla="*/ 1340757 w 1991513"/>
                <a:gd name="connsiteY21" fmla="*/ 1262953 h 1988158"/>
                <a:gd name="connsiteX22" fmla="*/ 1211394 w 1991513"/>
                <a:gd name="connsiteY22" fmla="*/ 1462324 h 1988158"/>
                <a:gd name="connsiteX23" fmla="*/ 1531411 w 1991513"/>
                <a:gd name="connsiteY23" fmla="*/ 1727975 h 1988158"/>
                <a:gd name="connsiteX24" fmla="*/ 1607886 w 1991513"/>
                <a:gd name="connsiteY24" fmla="*/ 1723509 h 1988158"/>
                <a:gd name="connsiteX25" fmla="*/ 1433138 w 1991513"/>
                <a:gd name="connsiteY25" fmla="*/ 1904657 h 1988158"/>
                <a:gd name="connsiteX26" fmla="*/ 1046111 w 1991513"/>
                <a:gd name="connsiteY26" fmla="*/ 1967184 h 1988158"/>
                <a:gd name="connsiteX27" fmla="*/ 291183 w 1991513"/>
                <a:gd name="connsiteY27" fmla="*/ 1376750 h 1988158"/>
                <a:gd name="connsiteX28" fmla="*/ 4220 w 1991513"/>
                <a:gd name="connsiteY28" fmla="*/ 585516 h 1988158"/>
                <a:gd name="connsiteX29" fmla="*/ 502029 w 1991513"/>
                <a:gd name="connsiteY29" fmla="*/ 143362 h 1988158"/>
                <a:gd name="connsiteX30" fmla="*/ 1281793 w 1991513"/>
                <a:gd name="connsiteY30" fmla="*/ 2587 h 1988158"/>
                <a:gd name="connsiteX31" fmla="*/ 1459774 w 1991513"/>
                <a:gd name="connsiteY31" fmla="*/ 2199 h 198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91513" h="1988158">
                  <a:moveTo>
                    <a:pt x="1541773" y="1339415"/>
                  </a:moveTo>
                  <a:cubicBezTo>
                    <a:pt x="1607884" y="1339415"/>
                    <a:pt x="1639870" y="1383719"/>
                    <a:pt x="1639870" y="1458574"/>
                  </a:cubicBezTo>
                  <a:cubicBezTo>
                    <a:pt x="1639870" y="1533427"/>
                    <a:pt x="1610208" y="1576124"/>
                    <a:pt x="1544632" y="1576124"/>
                  </a:cubicBezTo>
                  <a:lnTo>
                    <a:pt x="1544632" y="1576302"/>
                  </a:lnTo>
                  <a:cubicBezTo>
                    <a:pt x="1481380" y="1576302"/>
                    <a:pt x="1445285" y="1531999"/>
                    <a:pt x="1445285" y="1459467"/>
                  </a:cubicBezTo>
                  <a:cubicBezTo>
                    <a:pt x="1445285" y="1386935"/>
                    <a:pt x="1471552" y="1339415"/>
                    <a:pt x="1541773" y="1339415"/>
                  </a:cubicBezTo>
                  <a:close/>
                  <a:moveTo>
                    <a:pt x="1541951" y="995516"/>
                  </a:moveTo>
                  <a:cubicBezTo>
                    <a:pt x="1601272" y="995516"/>
                    <a:pt x="1626289" y="1031960"/>
                    <a:pt x="1626289" y="1092702"/>
                  </a:cubicBezTo>
                  <a:cubicBezTo>
                    <a:pt x="1626289" y="1153441"/>
                    <a:pt x="1600561" y="1188814"/>
                    <a:pt x="1542487" y="1188814"/>
                  </a:cubicBezTo>
                  <a:lnTo>
                    <a:pt x="1542308" y="1188814"/>
                  </a:lnTo>
                  <a:cubicBezTo>
                    <a:pt x="1486382" y="1188814"/>
                    <a:pt x="1458506" y="1153976"/>
                    <a:pt x="1458506" y="1090199"/>
                  </a:cubicBezTo>
                  <a:cubicBezTo>
                    <a:pt x="1458506" y="1026423"/>
                    <a:pt x="1488704" y="995516"/>
                    <a:pt x="1541951" y="995516"/>
                  </a:cubicBezTo>
                  <a:close/>
                  <a:moveTo>
                    <a:pt x="1459774" y="2199"/>
                  </a:moveTo>
                  <a:cubicBezTo>
                    <a:pt x="1639993" y="12759"/>
                    <a:pt x="1818328" y="65248"/>
                    <a:pt x="1917363" y="241441"/>
                  </a:cubicBezTo>
                  <a:lnTo>
                    <a:pt x="1917363" y="241619"/>
                  </a:lnTo>
                  <a:cubicBezTo>
                    <a:pt x="1981329" y="355598"/>
                    <a:pt x="1994553" y="496551"/>
                    <a:pt x="1990979" y="632322"/>
                  </a:cubicBezTo>
                  <a:cubicBezTo>
                    <a:pt x="1984727" y="871355"/>
                    <a:pt x="1930584" y="1110387"/>
                    <a:pt x="1834454" y="1328337"/>
                  </a:cubicBezTo>
                  <a:cubicBezTo>
                    <a:pt x="1809440" y="1291714"/>
                    <a:pt x="1775133" y="1266345"/>
                    <a:pt x="1740826" y="1252948"/>
                  </a:cubicBezTo>
                  <a:cubicBezTo>
                    <a:pt x="1802471" y="1225615"/>
                    <a:pt x="1846782" y="1169876"/>
                    <a:pt x="1846782" y="1081088"/>
                  </a:cubicBezTo>
                  <a:cubicBezTo>
                    <a:pt x="1846782" y="947815"/>
                    <a:pt x="1744935" y="845807"/>
                    <a:pt x="1543203" y="845807"/>
                  </a:cubicBezTo>
                  <a:cubicBezTo>
                    <a:pt x="1325750" y="845807"/>
                    <a:pt x="1239089" y="957998"/>
                    <a:pt x="1239089" y="1083947"/>
                  </a:cubicBezTo>
                  <a:cubicBezTo>
                    <a:pt x="1239089" y="1160407"/>
                    <a:pt x="1272679" y="1228115"/>
                    <a:pt x="1340757" y="1262953"/>
                  </a:cubicBezTo>
                  <a:cubicBezTo>
                    <a:pt x="1276434" y="1292249"/>
                    <a:pt x="1211394" y="1357100"/>
                    <a:pt x="1211394" y="1462324"/>
                  </a:cubicBezTo>
                  <a:cubicBezTo>
                    <a:pt x="1211394" y="1599169"/>
                    <a:pt x="1305379" y="1727975"/>
                    <a:pt x="1531411" y="1727975"/>
                  </a:cubicBezTo>
                  <a:cubicBezTo>
                    <a:pt x="1558748" y="1727975"/>
                    <a:pt x="1584122" y="1726187"/>
                    <a:pt x="1607886" y="1723509"/>
                  </a:cubicBezTo>
                  <a:cubicBezTo>
                    <a:pt x="1555532" y="1792109"/>
                    <a:pt x="1497461" y="1854279"/>
                    <a:pt x="1433138" y="1904657"/>
                  </a:cubicBezTo>
                  <a:cubicBezTo>
                    <a:pt x="1313776" y="1998090"/>
                    <a:pt x="1177801" y="2003807"/>
                    <a:pt x="1046111" y="1967184"/>
                  </a:cubicBezTo>
                  <a:cubicBezTo>
                    <a:pt x="748070" y="1884293"/>
                    <a:pt x="474510" y="1636684"/>
                    <a:pt x="291183" y="1376750"/>
                  </a:cubicBezTo>
                  <a:cubicBezTo>
                    <a:pt x="146093" y="1171126"/>
                    <a:pt x="-29549" y="860279"/>
                    <a:pt x="4220" y="585516"/>
                  </a:cubicBezTo>
                  <a:cubicBezTo>
                    <a:pt x="36384" y="325048"/>
                    <a:pt x="304406" y="214284"/>
                    <a:pt x="502029" y="143362"/>
                  </a:cubicBezTo>
                  <a:cubicBezTo>
                    <a:pt x="754682" y="52788"/>
                    <a:pt x="1019309" y="15091"/>
                    <a:pt x="1281793" y="2587"/>
                  </a:cubicBezTo>
                  <a:cubicBezTo>
                    <a:pt x="1339418" y="-183"/>
                    <a:pt x="1399700" y="-1321"/>
                    <a:pt x="1459774" y="2199"/>
                  </a:cubicBezTo>
                  <a:close/>
                </a:path>
              </a:pathLst>
            </a:custGeom>
            <a:solidFill>
              <a:srgbClr val="FF0000"/>
            </a:solidFill>
            <a:ln w="6804" cap="flat">
              <a:noFill/>
              <a:prstDash val="solid"/>
              <a:miter/>
            </a:ln>
          </p:spPr>
          <p:txBody>
            <a:bodyPr wrap="square" rtlCol="0" anchor="ctr">
              <a:noAutofit/>
            </a:bodyPr>
            <a:lstStyle/>
            <a:p>
              <a:endParaRPr lang="fr-FR" sz="1200">
                <a:latin typeface="Century Gothic" panose="020B0502020202020204" pitchFamily="34" charset="0"/>
              </a:endParaRPr>
            </a:p>
          </p:txBody>
        </p:sp>
        <p:pic>
          <p:nvPicPr>
            <p:cNvPr id="15" name="Graphique 80" descr="Bar graph with upward trend contour">
              <a:extLst>
                <a:ext uri="{FF2B5EF4-FFF2-40B4-BE49-F238E27FC236}">
                  <a16:creationId xmlns:a16="http://schemas.microsoft.com/office/drawing/2014/main" id="{9CBC072D-BD93-3254-A176-9EF8724B53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80630" y="3297857"/>
              <a:ext cx="554375" cy="554375"/>
            </a:xfrm>
            <a:prstGeom prst="rect">
              <a:avLst/>
            </a:prstGeom>
          </p:spPr>
        </p:pic>
        <p:pic>
          <p:nvPicPr>
            <p:cNvPr id="16" name="Graphique 81" descr="Briefcase contour">
              <a:extLst>
                <a:ext uri="{FF2B5EF4-FFF2-40B4-BE49-F238E27FC236}">
                  <a16:creationId xmlns:a16="http://schemas.microsoft.com/office/drawing/2014/main" id="{FA536EE3-2E22-C728-376E-73894674E2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67470" y="2254523"/>
              <a:ext cx="554375" cy="554375"/>
            </a:xfrm>
            <a:prstGeom prst="rect">
              <a:avLst/>
            </a:prstGeom>
          </p:spPr>
        </p:pic>
        <p:pic>
          <p:nvPicPr>
            <p:cNvPr id="17" name="Graphique 82" descr="Bullseye contour">
              <a:extLst>
                <a:ext uri="{FF2B5EF4-FFF2-40B4-BE49-F238E27FC236}">
                  <a16:creationId xmlns:a16="http://schemas.microsoft.com/office/drawing/2014/main" id="{E53355E1-AF39-C4B7-04EE-ADF457B3A3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03442" y="1998273"/>
              <a:ext cx="554375" cy="554375"/>
            </a:xfrm>
            <a:prstGeom prst="rect">
              <a:avLst/>
            </a:prstGeom>
          </p:spPr>
        </p:pic>
        <p:pic>
          <p:nvPicPr>
            <p:cNvPr id="18" name="Graphique 83" descr="Database contour">
              <a:extLst>
                <a:ext uri="{FF2B5EF4-FFF2-40B4-BE49-F238E27FC236}">
                  <a16:creationId xmlns:a16="http://schemas.microsoft.com/office/drawing/2014/main" id="{B394DE58-6050-C89D-AAF7-8D8EBCA34D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93734" y="4543114"/>
              <a:ext cx="554375" cy="554375"/>
            </a:xfrm>
            <a:prstGeom prst="rect">
              <a:avLst/>
            </a:prstGeom>
          </p:spPr>
        </p:pic>
        <p:pic>
          <p:nvPicPr>
            <p:cNvPr id="19" name="Graphique 85" descr="Lock contour">
              <a:extLst>
                <a:ext uri="{FF2B5EF4-FFF2-40B4-BE49-F238E27FC236}">
                  <a16:creationId xmlns:a16="http://schemas.microsoft.com/office/drawing/2014/main" id="{A30907DE-5F62-340D-06A7-1A366A25F8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47738" y="4247676"/>
              <a:ext cx="554375" cy="554375"/>
            </a:xfrm>
            <a:prstGeom prst="rect">
              <a:avLst/>
            </a:prstGeom>
          </p:spPr>
        </p:pic>
        <p:pic>
          <p:nvPicPr>
            <p:cNvPr id="20" name="Graphique 86" descr="Gears contour">
              <a:extLst>
                <a:ext uri="{FF2B5EF4-FFF2-40B4-BE49-F238E27FC236}">
                  <a16:creationId xmlns:a16="http://schemas.microsoft.com/office/drawing/2014/main" id="{B913974A-9C2A-2F6C-18D5-F2A70E5C6A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09238" y="4941687"/>
              <a:ext cx="554375" cy="554375"/>
            </a:xfrm>
            <a:prstGeom prst="rect">
              <a:avLst/>
            </a:prstGeom>
          </p:spPr>
        </p:pic>
        <p:pic>
          <p:nvPicPr>
            <p:cNvPr id="21" name="Graphique 88" descr="Lightbulb contour">
              <a:extLst>
                <a:ext uri="{FF2B5EF4-FFF2-40B4-BE49-F238E27FC236}">
                  <a16:creationId xmlns:a16="http://schemas.microsoft.com/office/drawing/2014/main" id="{B628BEFB-F9E7-6775-6D0B-C5C5327561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61823" y="1831048"/>
              <a:ext cx="554375" cy="554375"/>
            </a:xfrm>
            <a:prstGeom prst="rect">
              <a:avLst/>
            </a:prstGeom>
          </p:spPr>
        </p:pic>
        <p:pic>
          <p:nvPicPr>
            <p:cNvPr id="22" name="Graphique 89" descr="Magnifying glass contour">
              <a:extLst>
                <a:ext uri="{FF2B5EF4-FFF2-40B4-BE49-F238E27FC236}">
                  <a16:creationId xmlns:a16="http://schemas.microsoft.com/office/drawing/2014/main" id="{BA1D0025-4E1D-B878-303B-A9F0AC207B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65920" y="3235083"/>
              <a:ext cx="554375" cy="554375"/>
            </a:xfrm>
            <a:prstGeom prst="rect">
              <a:avLst/>
            </a:prstGeom>
          </p:spPr>
        </p:pic>
        <p:grpSp>
          <p:nvGrpSpPr>
            <p:cNvPr id="23" name="Group 22">
              <a:extLst>
                <a:ext uri="{FF2B5EF4-FFF2-40B4-BE49-F238E27FC236}">
                  <a16:creationId xmlns:a16="http://schemas.microsoft.com/office/drawing/2014/main" id="{6B428F19-B990-3239-DBF4-656B8269BAA3}"/>
                </a:ext>
              </a:extLst>
            </p:cNvPr>
            <p:cNvGrpSpPr/>
            <p:nvPr/>
          </p:nvGrpSpPr>
          <p:grpSpPr>
            <a:xfrm>
              <a:off x="861463" y="2852034"/>
              <a:ext cx="2926080" cy="736155"/>
              <a:chOff x="546913" y="3027373"/>
              <a:chExt cx="2926080" cy="736155"/>
            </a:xfrm>
          </p:grpSpPr>
          <p:sp>
            <p:nvSpPr>
              <p:cNvPr id="45" name="TextBox 44">
                <a:extLst>
                  <a:ext uri="{FF2B5EF4-FFF2-40B4-BE49-F238E27FC236}">
                    <a16:creationId xmlns:a16="http://schemas.microsoft.com/office/drawing/2014/main" id="{D3CEEC0A-C812-4B3C-5D6F-122615E574BD}"/>
                  </a:ext>
                </a:extLst>
              </p:cNvPr>
              <p:cNvSpPr txBox="1"/>
              <p:nvPr/>
            </p:nvSpPr>
            <p:spPr>
              <a:xfrm>
                <a:off x="546913" y="3027373"/>
                <a:ext cx="2926080" cy="338554"/>
              </a:xfrm>
              <a:prstGeom prst="rect">
                <a:avLst/>
              </a:prstGeom>
              <a:noFill/>
            </p:spPr>
            <p:txBody>
              <a:bodyPr wrap="square" lIns="0" rIns="0" rtlCol="0" anchor="b">
                <a:spAutoFit/>
              </a:bodyPr>
              <a:lstStyle/>
              <a:p>
                <a:pPr algn="r"/>
                <a:r>
                  <a:rPr lang="en-US" sz="1600" b="1">
                    <a:latin typeface="Century Gothic" panose="020B0502020202020204" pitchFamily="34" charset="0"/>
                  </a:rPr>
                  <a:t>Smart Security &amp; Visitor</a:t>
                </a:r>
              </a:p>
            </p:txBody>
          </p:sp>
          <p:sp>
            <p:nvSpPr>
              <p:cNvPr id="46" name="TextBox 45">
                <a:extLst>
                  <a:ext uri="{FF2B5EF4-FFF2-40B4-BE49-F238E27FC236}">
                    <a16:creationId xmlns:a16="http://schemas.microsoft.com/office/drawing/2014/main" id="{FCBD4ADD-E7A9-D4FD-E1FF-6A33402F033C}"/>
                  </a:ext>
                </a:extLst>
              </p:cNvPr>
              <p:cNvSpPr txBox="1"/>
              <p:nvPr/>
            </p:nvSpPr>
            <p:spPr>
              <a:xfrm>
                <a:off x="546913" y="3363418"/>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Manages physical security, visitor check-in, and access control.</a:t>
                </a:r>
              </a:p>
            </p:txBody>
          </p:sp>
        </p:grpSp>
        <p:grpSp>
          <p:nvGrpSpPr>
            <p:cNvPr id="24" name="Group 23">
              <a:extLst>
                <a:ext uri="{FF2B5EF4-FFF2-40B4-BE49-F238E27FC236}">
                  <a16:creationId xmlns:a16="http://schemas.microsoft.com/office/drawing/2014/main" id="{6FFE9792-8BDC-7718-181A-B17B897699C1}"/>
                </a:ext>
              </a:extLst>
            </p:cNvPr>
            <p:cNvGrpSpPr/>
            <p:nvPr/>
          </p:nvGrpSpPr>
          <p:grpSpPr>
            <a:xfrm>
              <a:off x="2234035" y="5394455"/>
              <a:ext cx="2926080" cy="736155"/>
              <a:chOff x="538676" y="4878319"/>
              <a:chExt cx="2926080" cy="736155"/>
            </a:xfrm>
          </p:grpSpPr>
          <p:sp>
            <p:nvSpPr>
              <p:cNvPr id="43" name="TextBox 42">
                <a:extLst>
                  <a:ext uri="{FF2B5EF4-FFF2-40B4-BE49-F238E27FC236}">
                    <a16:creationId xmlns:a16="http://schemas.microsoft.com/office/drawing/2014/main" id="{1A2E0E78-00F4-6D24-1BE5-328DC9455B36}"/>
                  </a:ext>
                </a:extLst>
              </p:cNvPr>
              <p:cNvSpPr txBox="1"/>
              <p:nvPr/>
            </p:nvSpPr>
            <p:spPr>
              <a:xfrm>
                <a:off x="538676" y="4878319"/>
                <a:ext cx="2926080" cy="338554"/>
              </a:xfrm>
              <a:prstGeom prst="rect">
                <a:avLst/>
              </a:prstGeom>
              <a:noFill/>
            </p:spPr>
            <p:txBody>
              <a:bodyPr wrap="square" lIns="0" rIns="0" rtlCol="0" anchor="b">
                <a:spAutoFit/>
              </a:bodyPr>
              <a:lstStyle/>
              <a:p>
                <a:pPr algn="r"/>
                <a:r>
                  <a:rPr lang="en-US" sz="1600" b="1">
                    <a:latin typeface="Century Gothic" panose="020B0502020202020204" pitchFamily="34" charset="0"/>
                  </a:rPr>
                  <a:t>Unified Digital Platform</a:t>
                </a:r>
              </a:p>
            </p:txBody>
          </p:sp>
          <p:sp>
            <p:nvSpPr>
              <p:cNvPr id="44" name="TextBox 43">
                <a:extLst>
                  <a:ext uri="{FF2B5EF4-FFF2-40B4-BE49-F238E27FC236}">
                    <a16:creationId xmlns:a16="http://schemas.microsoft.com/office/drawing/2014/main" id="{B4EF07AD-656A-BFDF-0E5E-FA85E0386FE1}"/>
                  </a:ext>
                </a:extLst>
              </p:cNvPr>
              <p:cNvSpPr txBox="1"/>
              <p:nvPr/>
            </p:nvSpPr>
            <p:spPr>
              <a:xfrm>
                <a:off x="538676" y="5214364"/>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Central hub that integrates all core modules and services.</a:t>
                </a:r>
              </a:p>
            </p:txBody>
          </p:sp>
        </p:grpSp>
        <p:grpSp>
          <p:nvGrpSpPr>
            <p:cNvPr id="25" name="Group 24">
              <a:extLst>
                <a:ext uri="{FF2B5EF4-FFF2-40B4-BE49-F238E27FC236}">
                  <a16:creationId xmlns:a16="http://schemas.microsoft.com/office/drawing/2014/main" id="{4EB95565-32DC-9124-1DEA-82CDC01114ED}"/>
                </a:ext>
              </a:extLst>
            </p:cNvPr>
            <p:cNvGrpSpPr/>
            <p:nvPr/>
          </p:nvGrpSpPr>
          <p:grpSpPr>
            <a:xfrm>
              <a:off x="1239840" y="1505159"/>
              <a:ext cx="2926080" cy="736155"/>
              <a:chOff x="626923" y="2559305"/>
              <a:chExt cx="2926080" cy="736155"/>
            </a:xfrm>
          </p:grpSpPr>
          <p:sp>
            <p:nvSpPr>
              <p:cNvPr id="41" name="TextBox 40">
                <a:extLst>
                  <a:ext uri="{FF2B5EF4-FFF2-40B4-BE49-F238E27FC236}">
                    <a16:creationId xmlns:a16="http://schemas.microsoft.com/office/drawing/2014/main" id="{92D85EBB-8898-93F3-D733-A45707825BB9}"/>
                  </a:ext>
                </a:extLst>
              </p:cNvPr>
              <p:cNvSpPr txBox="1"/>
              <p:nvPr/>
            </p:nvSpPr>
            <p:spPr>
              <a:xfrm>
                <a:off x="626923" y="2559305"/>
                <a:ext cx="2926080" cy="338554"/>
              </a:xfrm>
              <a:prstGeom prst="rect">
                <a:avLst/>
              </a:prstGeom>
              <a:noFill/>
            </p:spPr>
            <p:txBody>
              <a:bodyPr wrap="square" lIns="0" rIns="0" rtlCol="0" anchor="b">
                <a:spAutoFit/>
              </a:bodyPr>
              <a:lstStyle/>
              <a:p>
                <a:pPr algn="r"/>
                <a:r>
                  <a:rPr lang="en-US" sz="1600" b="1" noProof="1">
                    <a:latin typeface="Century Gothic" panose="020B0502020202020204" pitchFamily="34" charset="0"/>
                  </a:rPr>
                  <a:t>ERP</a:t>
                </a:r>
              </a:p>
            </p:txBody>
          </p:sp>
          <p:sp>
            <p:nvSpPr>
              <p:cNvPr id="42" name="TextBox 41">
                <a:extLst>
                  <a:ext uri="{FF2B5EF4-FFF2-40B4-BE49-F238E27FC236}">
                    <a16:creationId xmlns:a16="http://schemas.microsoft.com/office/drawing/2014/main" id="{64A5DA3C-554F-4A8C-DBCE-58EB54EE13F6}"/>
                  </a:ext>
                </a:extLst>
              </p:cNvPr>
              <p:cNvSpPr txBox="1"/>
              <p:nvPr/>
            </p:nvSpPr>
            <p:spPr>
              <a:xfrm>
                <a:off x="626923" y="2895350"/>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Enterprise resource planning for finance, HR, and supply chain management.</a:t>
                </a:r>
              </a:p>
            </p:txBody>
          </p:sp>
        </p:grpSp>
        <p:grpSp>
          <p:nvGrpSpPr>
            <p:cNvPr id="26" name="Group 25">
              <a:extLst>
                <a:ext uri="{FF2B5EF4-FFF2-40B4-BE49-F238E27FC236}">
                  <a16:creationId xmlns:a16="http://schemas.microsoft.com/office/drawing/2014/main" id="{3134B7A3-D63A-9ADA-9F97-794E0BDB34FD}"/>
                </a:ext>
              </a:extLst>
            </p:cNvPr>
            <p:cNvGrpSpPr/>
            <p:nvPr/>
          </p:nvGrpSpPr>
          <p:grpSpPr>
            <a:xfrm>
              <a:off x="1287127" y="4356191"/>
              <a:ext cx="2926080" cy="890043"/>
              <a:chOff x="630116" y="5038339"/>
              <a:chExt cx="2926080" cy="890043"/>
            </a:xfrm>
          </p:grpSpPr>
          <p:sp>
            <p:nvSpPr>
              <p:cNvPr id="39" name="TextBox 38">
                <a:extLst>
                  <a:ext uri="{FF2B5EF4-FFF2-40B4-BE49-F238E27FC236}">
                    <a16:creationId xmlns:a16="http://schemas.microsoft.com/office/drawing/2014/main" id="{27CCE13C-647D-84BE-4C68-CD03217AC0A0}"/>
                  </a:ext>
                </a:extLst>
              </p:cNvPr>
              <p:cNvSpPr txBox="1"/>
              <p:nvPr/>
            </p:nvSpPr>
            <p:spPr>
              <a:xfrm>
                <a:off x="630116" y="5038339"/>
                <a:ext cx="2926080" cy="338554"/>
              </a:xfrm>
              <a:prstGeom prst="rect">
                <a:avLst/>
              </a:prstGeom>
              <a:noFill/>
            </p:spPr>
            <p:txBody>
              <a:bodyPr wrap="square" lIns="0" rIns="0" rtlCol="0" anchor="b">
                <a:spAutoFit/>
              </a:bodyPr>
              <a:lstStyle/>
              <a:p>
                <a:pPr algn="r"/>
                <a:r>
                  <a:rPr lang="en-US" sz="1600" b="1">
                    <a:latin typeface="Century Gothic" panose="020B0502020202020204" pitchFamily="34" charset="0"/>
                  </a:rPr>
                  <a:t>Enterprise Portal</a:t>
                </a:r>
              </a:p>
            </p:txBody>
          </p:sp>
          <p:sp>
            <p:nvSpPr>
              <p:cNvPr id="40" name="TextBox 39">
                <a:extLst>
                  <a:ext uri="{FF2B5EF4-FFF2-40B4-BE49-F238E27FC236}">
                    <a16:creationId xmlns:a16="http://schemas.microsoft.com/office/drawing/2014/main" id="{ACB07330-F245-3DD2-F8D3-EED3CA20F4E6}"/>
                  </a:ext>
                </a:extLst>
              </p:cNvPr>
              <p:cNvSpPr txBox="1"/>
              <p:nvPr/>
            </p:nvSpPr>
            <p:spPr>
              <a:xfrm>
                <a:off x="630116" y="5374384"/>
                <a:ext cx="2926080" cy="553998"/>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Provides a single point of access for employees and external users to company information and applications.</a:t>
                </a:r>
              </a:p>
            </p:txBody>
          </p:sp>
        </p:grpSp>
        <p:grpSp>
          <p:nvGrpSpPr>
            <p:cNvPr id="27" name="Group 26">
              <a:extLst>
                <a:ext uri="{FF2B5EF4-FFF2-40B4-BE49-F238E27FC236}">
                  <a16:creationId xmlns:a16="http://schemas.microsoft.com/office/drawing/2014/main" id="{386A84F6-F09B-FD43-2B61-088D2C7490B4}"/>
                </a:ext>
              </a:extLst>
            </p:cNvPr>
            <p:cNvGrpSpPr/>
            <p:nvPr/>
          </p:nvGrpSpPr>
          <p:grpSpPr>
            <a:xfrm>
              <a:off x="8709873" y="2895016"/>
              <a:ext cx="2926080" cy="736155"/>
              <a:chOff x="8921977" y="3070355"/>
              <a:chExt cx="2926080" cy="736155"/>
            </a:xfrm>
          </p:grpSpPr>
          <p:sp>
            <p:nvSpPr>
              <p:cNvPr id="37" name="TextBox 36">
                <a:extLst>
                  <a:ext uri="{FF2B5EF4-FFF2-40B4-BE49-F238E27FC236}">
                    <a16:creationId xmlns:a16="http://schemas.microsoft.com/office/drawing/2014/main" id="{0044AEE1-3776-99B4-2451-F8EB0E89422A}"/>
                  </a:ext>
                </a:extLst>
              </p:cNvPr>
              <p:cNvSpPr txBox="1"/>
              <p:nvPr/>
            </p:nvSpPr>
            <p:spPr>
              <a:xfrm>
                <a:off x="8921977" y="3070355"/>
                <a:ext cx="2926080" cy="338554"/>
              </a:xfrm>
              <a:prstGeom prst="rect">
                <a:avLst/>
              </a:prstGeom>
              <a:noFill/>
            </p:spPr>
            <p:txBody>
              <a:bodyPr wrap="square" lIns="0" rIns="0" rtlCol="0" anchor="b">
                <a:spAutoFit/>
              </a:bodyPr>
              <a:lstStyle/>
              <a:p>
                <a:r>
                  <a:rPr lang="en-US" sz="1600" b="1" noProof="1">
                    <a:latin typeface="Century Gothic" panose="020B0502020202020204" pitchFamily="34" charset="0"/>
                  </a:rPr>
                  <a:t>Visitor</a:t>
                </a:r>
              </a:p>
            </p:txBody>
          </p:sp>
          <p:sp>
            <p:nvSpPr>
              <p:cNvPr id="38" name="TextBox 37">
                <a:extLst>
                  <a:ext uri="{FF2B5EF4-FFF2-40B4-BE49-F238E27FC236}">
                    <a16:creationId xmlns:a16="http://schemas.microsoft.com/office/drawing/2014/main" id="{26B075FC-9492-EF6F-E229-F630FC314926}"/>
                  </a:ext>
                </a:extLst>
              </p:cNvPr>
              <p:cNvSpPr txBox="1"/>
              <p:nvPr/>
            </p:nvSpPr>
            <p:spPr>
              <a:xfrm>
                <a:off x="8921977" y="3406400"/>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Guest who may use smart security for access and visitor management.</a:t>
                </a:r>
              </a:p>
            </p:txBody>
          </p:sp>
        </p:grpSp>
        <p:grpSp>
          <p:nvGrpSpPr>
            <p:cNvPr id="28" name="Group 27">
              <a:extLst>
                <a:ext uri="{FF2B5EF4-FFF2-40B4-BE49-F238E27FC236}">
                  <a16:creationId xmlns:a16="http://schemas.microsoft.com/office/drawing/2014/main" id="{A2C0938A-BD94-978D-D7B4-5D2201520622}"/>
                </a:ext>
              </a:extLst>
            </p:cNvPr>
            <p:cNvGrpSpPr/>
            <p:nvPr/>
          </p:nvGrpSpPr>
          <p:grpSpPr>
            <a:xfrm>
              <a:off x="8020797" y="5291585"/>
              <a:ext cx="2926080" cy="736155"/>
              <a:chOff x="8921977" y="4775449"/>
              <a:chExt cx="2926080" cy="736155"/>
            </a:xfrm>
          </p:grpSpPr>
          <p:sp>
            <p:nvSpPr>
              <p:cNvPr id="35" name="TextBox 34">
                <a:extLst>
                  <a:ext uri="{FF2B5EF4-FFF2-40B4-BE49-F238E27FC236}">
                    <a16:creationId xmlns:a16="http://schemas.microsoft.com/office/drawing/2014/main" id="{254CCA13-5A43-69F2-4B9C-63EB25C7808E}"/>
                  </a:ext>
                </a:extLst>
              </p:cNvPr>
              <p:cNvSpPr txBox="1"/>
              <p:nvPr/>
            </p:nvSpPr>
            <p:spPr>
              <a:xfrm>
                <a:off x="8921977" y="4775449"/>
                <a:ext cx="2926080" cy="338554"/>
              </a:xfrm>
              <a:prstGeom prst="rect">
                <a:avLst/>
              </a:prstGeom>
              <a:noFill/>
            </p:spPr>
            <p:txBody>
              <a:bodyPr wrap="square" lIns="0" rIns="0" rtlCol="0" anchor="b">
                <a:spAutoFit/>
              </a:bodyPr>
              <a:lstStyle/>
              <a:p>
                <a:r>
                  <a:rPr lang="en-US" sz="1600" b="1" noProof="1">
                    <a:latin typeface="Century Gothic" panose="020B0502020202020204" pitchFamily="34" charset="0"/>
                  </a:rPr>
                  <a:t>System Admin</a:t>
                </a:r>
              </a:p>
            </p:txBody>
          </p:sp>
          <p:sp>
            <p:nvSpPr>
              <p:cNvPr id="36" name="TextBox 35">
                <a:extLst>
                  <a:ext uri="{FF2B5EF4-FFF2-40B4-BE49-F238E27FC236}">
                    <a16:creationId xmlns:a16="http://schemas.microsoft.com/office/drawing/2014/main" id="{703598A3-950E-944C-B5F3-4C4BA232DE92}"/>
                  </a:ext>
                </a:extLst>
              </p:cNvPr>
              <p:cNvSpPr txBox="1"/>
              <p:nvPr/>
            </p:nvSpPr>
            <p:spPr>
              <a:xfrm>
                <a:off x="8921977" y="5111494"/>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Manages platform, user access, and system configuration.</a:t>
                </a:r>
              </a:p>
            </p:txBody>
          </p:sp>
        </p:grpSp>
        <p:grpSp>
          <p:nvGrpSpPr>
            <p:cNvPr id="29" name="Group 28">
              <a:extLst>
                <a:ext uri="{FF2B5EF4-FFF2-40B4-BE49-F238E27FC236}">
                  <a16:creationId xmlns:a16="http://schemas.microsoft.com/office/drawing/2014/main" id="{A1E5DA8B-B87B-7E2E-08D8-B9B595A883A2}"/>
                </a:ext>
              </a:extLst>
            </p:cNvPr>
            <p:cNvGrpSpPr/>
            <p:nvPr/>
          </p:nvGrpSpPr>
          <p:grpSpPr>
            <a:xfrm>
              <a:off x="8633178" y="1696731"/>
              <a:ext cx="2926080" cy="736155"/>
              <a:chOff x="8921977" y="1365261"/>
              <a:chExt cx="2926080" cy="736155"/>
            </a:xfrm>
          </p:grpSpPr>
          <p:sp>
            <p:nvSpPr>
              <p:cNvPr id="33" name="TextBox 32">
                <a:extLst>
                  <a:ext uri="{FF2B5EF4-FFF2-40B4-BE49-F238E27FC236}">
                    <a16:creationId xmlns:a16="http://schemas.microsoft.com/office/drawing/2014/main" id="{0B423EBF-09ED-22E2-51F6-E06EFC80F544}"/>
                  </a:ext>
                </a:extLst>
              </p:cNvPr>
              <p:cNvSpPr txBox="1"/>
              <p:nvPr/>
            </p:nvSpPr>
            <p:spPr>
              <a:xfrm>
                <a:off x="8921977" y="1365261"/>
                <a:ext cx="2926080" cy="338554"/>
              </a:xfrm>
              <a:prstGeom prst="rect">
                <a:avLst/>
              </a:prstGeom>
              <a:noFill/>
            </p:spPr>
            <p:txBody>
              <a:bodyPr wrap="square" lIns="0" rIns="0" rtlCol="0" anchor="b">
                <a:spAutoFit/>
              </a:bodyPr>
              <a:lstStyle/>
              <a:p>
                <a:r>
                  <a:rPr lang="en-US" sz="1600" b="1" noProof="1">
                    <a:latin typeface="Century Gothic" panose="020B0502020202020204" pitchFamily="34" charset="0"/>
                  </a:rPr>
                  <a:t>Internal Employee</a:t>
                </a:r>
              </a:p>
            </p:txBody>
          </p:sp>
          <p:sp>
            <p:nvSpPr>
              <p:cNvPr id="34" name="TextBox 33">
                <a:extLst>
                  <a:ext uri="{FF2B5EF4-FFF2-40B4-BE49-F238E27FC236}">
                    <a16:creationId xmlns:a16="http://schemas.microsoft.com/office/drawing/2014/main" id="{201226C9-7F52-9A97-7ACA-A62FA61FD228}"/>
                  </a:ext>
                </a:extLst>
              </p:cNvPr>
              <p:cNvSpPr txBox="1"/>
              <p:nvPr/>
            </p:nvSpPr>
            <p:spPr>
              <a:xfrm>
                <a:off x="8921977" y="1701306"/>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Staff member who uses enterprise portal and ERP for daily operations.</a:t>
                </a:r>
              </a:p>
            </p:txBody>
          </p:sp>
        </p:grpSp>
        <p:grpSp>
          <p:nvGrpSpPr>
            <p:cNvPr id="30" name="Group 29">
              <a:extLst>
                <a:ext uri="{FF2B5EF4-FFF2-40B4-BE49-F238E27FC236}">
                  <a16:creationId xmlns:a16="http://schemas.microsoft.com/office/drawing/2014/main" id="{B93A1173-E046-A2C6-D68D-6C8568256802}"/>
                </a:ext>
              </a:extLst>
            </p:cNvPr>
            <p:cNvGrpSpPr/>
            <p:nvPr/>
          </p:nvGrpSpPr>
          <p:grpSpPr>
            <a:xfrm>
              <a:off x="8570244" y="4093301"/>
              <a:ext cx="2926080" cy="736155"/>
              <a:chOff x="8921977" y="4775449"/>
              <a:chExt cx="2926080" cy="736155"/>
            </a:xfrm>
          </p:grpSpPr>
          <p:sp>
            <p:nvSpPr>
              <p:cNvPr id="31" name="TextBox 30">
                <a:extLst>
                  <a:ext uri="{FF2B5EF4-FFF2-40B4-BE49-F238E27FC236}">
                    <a16:creationId xmlns:a16="http://schemas.microsoft.com/office/drawing/2014/main" id="{00D673C0-A9CD-A48B-5F10-F80CF8D4CDEC}"/>
                  </a:ext>
                </a:extLst>
              </p:cNvPr>
              <p:cNvSpPr txBox="1"/>
              <p:nvPr/>
            </p:nvSpPr>
            <p:spPr>
              <a:xfrm>
                <a:off x="8921977" y="4775449"/>
                <a:ext cx="2926080" cy="338554"/>
              </a:xfrm>
              <a:prstGeom prst="rect">
                <a:avLst/>
              </a:prstGeom>
              <a:noFill/>
            </p:spPr>
            <p:txBody>
              <a:bodyPr wrap="square" lIns="0" rIns="0" rtlCol="0" anchor="b">
                <a:spAutoFit/>
              </a:bodyPr>
              <a:lstStyle/>
              <a:p>
                <a:r>
                  <a:rPr lang="en-US" sz="1600" b="1" noProof="1">
                    <a:latin typeface="Century Gothic" panose="020B0502020202020204" pitchFamily="34" charset="0"/>
                  </a:rPr>
                  <a:t>External Investor</a:t>
                </a:r>
              </a:p>
            </p:txBody>
          </p:sp>
          <p:sp>
            <p:nvSpPr>
              <p:cNvPr id="32" name="TextBox 31">
                <a:extLst>
                  <a:ext uri="{FF2B5EF4-FFF2-40B4-BE49-F238E27FC236}">
                    <a16:creationId xmlns:a16="http://schemas.microsoft.com/office/drawing/2014/main" id="{39820D16-BA57-51AC-686C-1E2B5C3EC8C2}"/>
                  </a:ext>
                </a:extLst>
              </p:cNvPr>
              <p:cNvSpPr txBox="1"/>
              <p:nvPr/>
            </p:nvSpPr>
            <p:spPr>
              <a:xfrm>
                <a:off x="8921977" y="5111494"/>
                <a:ext cx="2926080" cy="400110"/>
              </a:xfrm>
              <a:prstGeom prst="rect">
                <a:avLst/>
              </a:prstGeom>
              <a:noFill/>
            </p:spPr>
            <p:txBody>
              <a:bodyPr wrap="square" lIns="0" rIns="0" rtlCol="0" anchor="t">
                <a:spAutoFit/>
              </a:bodyPr>
              <a:lstStyle/>
              <a:p>
                <a:pPr algn="just"/>
                <a:r>
                  <a:rPr lang="en-US" sz="1000" noProof="1">
                    <a:solidFill>
                      <a:schemeClr val="tx1">
                        <a:lumMod val="65000"/>
                        <a:lumOff val="35000"/>
                      </a:schemeClr>
                    </a:solidFill>
                    <a:latin typeface="Century Gothic" panose="020B0502020202020204" pitchFamily="34" charset="0"/>
                  </a:rPr>
                  <a:t>Stakeholder who accesses records and analytics for investment insights.</a:t>
                </a:r>
              </a:p>
            </p:txBody>
          </p:sp>
        </p:grpSp>
      </p:grpSp>
      <p:sp>
        <p:nvSpPr>
          <p:cNvPr id="48" name="Oval 47">
            <a:extLst>
              <a:ext uri="{FF2B5EF4-FFF2-40B4-BE49-F238E27FC236}">
                <a16:creationId xmlns:a16="http://schemas.microsoft.com/office/drawing/2014/main" id="{C9297508-EF79-E319-4DB5-014985F6D476}"/>
              </a:ext>
            </a:extLst>
          </p:cNvPr>
          <p:cNvSpPr/>
          <p:nvPr/>
        </p:nvSpPr>
        <p:spPr>
          <a:xfrm rot="469198">
            <a:off x="5521754" y="3050218"/>
            <a:ext cx="1290102" cy="143603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304709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609595" y="1185810"/>
            <a:ext cx="3631253" cy="1753237"/>
          </a:xfrm>
          <a:prstGeom prst="rect">
            <a:avLst/>
          </a:prstGeom>
        </p:spPr>
        <p:txBody>
          <a:bodyPr vert="horz" wrap="square" lIns="0" tIns="88900" rIns="0" bIns="0" rtlCol="0">
            <a:spAutoFit/>
          </a:bodyPr>
          <a:lstStyle/>
          <a:p>
            <a:pPr marL="126364" indent="-113664">
              <a:lnSpc>
                <a:spcPct val="150000"/>
              </a:lnSpc>
              <a:spcBef>
                <a:spcPts val="95"/>
              </a:spcBef>
              <a:buFont typeface="Arial MT"/>
              <a:buChar char="•"/>
              <a:tabLst>
                <a:tab pos="126364" algn="l"/>
              </a:tabLst>
            </a:pPr>
            <a:r>
              <a:rPr lang="en-US" sz="1000">
                <a:latin typeface="Century Gothic" panose="020B0502020202020204" pitchFamily="34" charset="0"/>
              </a:rPr>
              <a:t>OAuth 2.0 client credentials flow</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JWT token validation and management</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API key authentication for system-to-system calls</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Multi-factor authentication for administrative access</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Authorization code flow with </a:t>
            </a:r>
            <a:r>
              <a:rPr lang="en-US" sz="1000">
                <a:latin typeface="Century Gothic" panose="020B0502020202020204" pitchFamily="34" charset="0"/>
              </a:rPr>
              <a:t>NRS</a:t>
            </a:r>
            <a:r>
              <a:rPr sz="1000">
                <a:latin typeface="Century Gothic" panose="020B0502020202020204" pitchFamily="34" charset="0"/>
              </a:rPr>
              <a:t> MBS credentials</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Certificate-based authentication where required</a:t>
            </a:r>
            <a:endParaRPr lang="en-US" sz="1000">
              <a:latin typeface="Century Gothic" panose="020B0502020202020204" pitchFamily="34" charset="0"/>
            </a:endParaRPr>
          </a:p>
          <a:p>
            <a:pPr marL="126364" indent="-113664">
              <a:lnSpc>
                <a:spcPct val="150000"/>
              </a:lnSpc>
              <a:spcBef>
                <a:spcPts val="95"/>
              </a:spcBef>
              <a:buFont typeface="Arial MT"/>
              <a:buChar char="•"/>
              <a:tabLst>
                <a:tab pos="126364" algn="l"/>
              </a:tabLst>
            </a:pPr>
            <a:r>
              <a:rPr lang="en-US" sz="1000">
                <a:latin typeface="Century Gothic" panose="020B0502020202020204" pitchFamily="34" charset="0"/>
              </a:rPr>
              <a:t>Single Sign-on</a:t>
            </a:r>
            <a:endParaRPr sz="1000">
              <a:latin typeface="Century Gothic" panose="020B0502020202020204" pitchFamily="34" charset="0"/>
            </a:endParaRPr>
          </a:p>
        </p:txBody>
      </p:sp>
      <p:grpSp>
        <p:nvGrpSpPr>
          <p:cNvPr id="4" name="object 4"/>
          <p:cNvGrpSpPr/>
          <p:nvPr/>
        </p:nvGrpSpPr>
        <p:grpSpPr>
          <a:xfrm>
            <a:off x="0" y="1088136"/>
            <a:ext cx="3244215" cy="2384425"/>
            <a:chOff x="0" y="1088136"/>
            <a:chExt cx="3244215" cy="2384425"/>
          </a:xfrm>
        </p:grpSpPr>
        <p:pic>
          <p:nvPicPr>
            <p:cNvPr id="5" name="object 5"/>
            <p:cNvPicPr/>
            <p:nvPr/>
          </p:nvPicPr>
          <p:blipFill>
            <a:blip r:embed="rId2" cstate="print"/>
            <a:stretch>
              <a:fillRect/>
            </a:stretch>
          </p:blipFill>
          <p:spPr>
            <a:xfrm>
              <a:off x="0" y="1088136"/>
              <a:ext cx="3244087" cy="2383917"/>
            </a:xfrm>
            <a:prstGeom prst="rect">
              <a:avLst/>
            </a:prstGeom>
          </p:spPr>
        </p:pic>
        <p:sp>
          <p:nvSpPr>
            <p:cNvPr id="6" name="object 6"/>
            <p:cNvSpPr/>
            <p:nvPr/>
          </p:nvSpPr>
          <p:spPr>
            <a:xfrm>
              <a:off x="744093" y="1546352"/>
              <a:ext cx="1757045" cy="798195"/>
            </a:xfrm>
            <a:custGeom>
              <a:avLst/>
              <a:gdLst/>
              <a:ahLst/>
              <a:cxnLst/>
              <a:rect l="l" t="t" r="r" b="b"/>
              <a:pathLst>
                <a:path w="1757045" h="798194">
                  <a:moveTo>
                    <a:pt x="1681480" y="0"/>
                  </a:moveTo>
                  <a:lnTo>
                    <a:pt x="75463" y="0"/>
                  </a:lnTo>
                  <a:lnTo>
                    <a:pt x="46087" y="5931"/>
                  </a:lnTo>
                  <a:lnTo>
                    <a:pt x="22101" y="22113"/>
                  </a:lnTo>
                  <a:lnTo>
                    <a:pt x="5929" y="46130"/>
                  </a:lnTo>
                  <a:lnTo>
                    <a:pt x="0" y="75564"/>
                  </a:lnTo>
                  <a:lnTo>
                    <a:pt x="0" y="722757"/>
                  </a:lnTo>
                  <a:lnTo>
                    <a:pt x="5929" y="752117"/>
                  </a:lnTo>
                  <a:lnTo>
                    <a:pt x="22101" y="776097"/>
                  </a:lnTo>
                  <a:lnTo>
                    <a:pt x="46087" y="792265"/>
                  </a:lnTo>
                  <a:lnTo>
                    <a:pt x="75463" y="798195"/>
                  </a:lnTo>
                  <a:lnTo>
                    <a:pt x="1681480" y="798195"/>
                  </a:lnTo>
                  <a:lnTo>
                    <a:pt x="1710860" y="792265"/>
                  </a:lnTo>
                  <a:lnTo>
                    <a:pt x="1734883" y="776097"/>
                  </a:lnTo>
                  <a:lnTo>
                    <a:pt x="1751095" y="752117"/>
                  </a:lnTo>
                  <a:lnTo>
                    <a:pt x="1757045" y="722757"/>
                  </a:lnTo>
                  <a:lnTo>
                    <a:pt x="1757045" y="75564"/>
                  </a:lnTo>
                  <a:lnTo>
                    <a:pt x="1751095" y="46130"/>
                  </a:lnTo>
                  <a:lnTo>
                    <a:pt x="1734883" y="22113"/>
                  </a:lnTo>
                  <a:lnTo>
                    <a:pt x="1710860" y="5931"/>
                  </a:lnTo>
                  <a:lnTo>
                    <a:pt x="168148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1072997" y="1842261"/>
            <a:ext cx="1107440" cy="208279"/>
          </a:xfrm>
          <a:prstGeom prst="rect">
            <a:avLst/>
          </a:prstGeom>
        </p:spPr>
        <p:txBody>
          <a:bodyPr vert="horz" wrap="square" lIns="0" tIns="12700" rIns="0" bIns="0" rtlCol="0">
            <a:spAutoFit/>
          </a:bodyPr>
          <a:lstStyle/>
          <a:p>
            <a:pPr marL="12700">
              <a:lnSpc>
                <a:spcPct val="100000"/>
              </a:lnSpc>
              <a:spcBef>
                <a:spcPts val="100"/>
              </a:spcBef>
            </a:pPr>
            <a:r>
              <a:rPr sz="1200" b="1" spc="-30">
                <a:solidFill>
                  <a:srgbClr val="54535A"/>
                </a:solidFill>
                <a:latin typeface="Tahoma"/>
                <a:cs typeface="Tahoma"/>
              </a:rPr>
              <a:t>Authentication</a:t>
            </a:r>
            <a:endParaRPr sz="1200">
              <a:latin typeface="Tahoma"/>
              <a:cs typeface="Tahoma"/>
            </a:endParaRPr>
          </a:p>
        </p:txBody>
      </p:sp>
      <p:grpSp>
        <p:nvGrpSpPr>
          <p:cNvPr id="8" name="object 8"/>
          <p:cNvGrpSpPr/>
          <p:nvPr/>
        </p:nvGrpSpPr>
        <p:grpSpPr>
          <a:xfrm>
            <a:off x="305121" y="4669451"/>
            <a:ext cx="2644775" cy="1968500"/>
            <a:chOff x="305121" y="4669451"/>
            <a:chExt cx="2644775" cy="1968500"/>
          </a:xfrm>
        </p:grpSpPr>
        <p:pic>
          <p:nvPicPr>
            <p:cNvPr id="9" name="object 9"/>
            <p:cNvPicPr/>
            <p:nvPr/>
          </p:nvPicPr>
          <p:blipFill>
            <a:blip r:embed="rId3" cstate="print"/>
            <a:stretch>
              <a:fillRect/>
            </a:stretch>
          </p:blipFill>
          <p:spPr>
            <a:xfrm>
              <a:off x="305121" y="4669451"/>
              <a:ext cx="2644386" cy="1968063"/>
            </a:xfrm>
            <a:prstGeom prst="rect">
              <a:avLst/>
            </a:prstGeom>
          </p:spPr>
        </p:pic>
        <p:sp>
          <p:nvSpPr>
            <p:cNvPr id="10" name="object 10"/>
            <p:cNvSpPr/>
            <p:nvPr/>
          </p:nvSpPr>
          <p:spPr>
            <a:xfrm>
              <a:off x="744092" y="4921376"/>
              <a:ext cx="1767205" cy="795655"/>
            </a:xfrm>
            <a:custGeom>
              <a:avLst/>
              <a:gdLst/>
              <a:ahLst/>
              <a:cxnLst/>
              <a:rect l="l" t="t" r="r" b="b"/>
              <a:pathLst>
                <a:path w="1767205" h="795654">
                  <a:moveTo>
                    <a:pt x="1691639" y="0"/>
                  </a:moveTo>
                  <a:lnTo>
                    <a:pt x="75184" y="0"/>
                  </a:lnTo>
                  <a:lnTo>
                    <a:pt x="45916" y="5907"/>
                  </a:lnTo>
                  <a:lnTo>
                    <a:pt x="22018" y="22018"/>
                  </a:lnTo>
                  <a:lnTo>
                    <a:pt x="5907" y="45916"/>
                  </a:lnTo>
                  <a:lnTo>
                    <a:pt x="0" y="75184"/>
                  </a:lnTo>
                  <a:lnTo>
                    <a:pt x="0" y="719975"/>
                  </a:lnTo>
                  <a:lnTo>
                    <a:pt x="5907" y="749237"/>
                  </a:lnTo>
                  <a:lnTo>
                    <a:pt x="22018" y="773136"/>
                  </a:lnTo>
                  <a:lnTo>
                    <a:pt x="45916" y="789250"/>
                  </a:lnTo>
                  <a:lnTo>
                    <a:pt x="75184" y="795159"/>
                  </a:lnTo>
                  <a:lnTo>
                    <a:pt x="1691639" y="795159"/>
                  </a:lnTo>
                  <a:lnTo>
                    <a:pt x="1720907" y="789250"/>
                  </a:lnTo>
                  <a:lnTo>
                    <a:pt x="1744805" y="773136"/>
                  </a:lnTo>
                  <a:lnTo>
                    <a:pt x="1760916" y="749237"/>
                  </a:lnTo>
                  <a:lnTo>
                    <a:pt x="1766824" y="719975"/>
                  </a:lnTo>
                  <a:lnTo>
                    <a:pt x="1766824" y="75184"/>
                  </a:lnTo>
                  <a:lnTo>
                    <a:pt x="1760916" y="45916"/>
                  </a:lnTo>
                  <a:lnTo>
                    <a:pt x="1744805" y="22018"/>
                  </a:lnTo>
                  <a:lnTo>
                    <a:pt x="1720907" y="5907"/>
                  </a:lnTo>
                  <a:lnTo>
                    <a:pt x="1691639"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1230579" y="5217921"/>
            <a:ext cx="802640" cy="208279"/>
          </a:xfrm>
          <a:prstGeom prst="rect">
            <a:avLst/>
          </a:prstGeom>
        </p:spPr>
        <p:txBody>
          <a:bodyPr vert="horz" wrap="square" lIns="0" tIns="12700" rIns="0" bIns="0" rtlCol="0">
            <a:spAutoFit/>
          </a:bodyPr>
          <a:lstStyle/>
          <a:p>
            <a:pPr marL="12700">
              <a:lnSpc>
                <a:spcPct val="100000"/>
              </a:lnSpc>
              <a:spcBef>
                <a:spcPts val="100"/>
              </a:spcBef>
            </a:pPr>
            <a:r>
              <a:rPr sz="1200" b="1" spc="-35">
                <a:solidFill>
                  <a:srgbClr val="54535A"/>
                </a:solidFill>
                <a:latin typeface="Tahoma"/>
                <a:cs typeface="Tahoma"/>
              </a:rPr>
              <a:t>Encryption</a:t>
            </a:r>
            <a:endParaRPr sz="1200">
              <a:latin typeface="Tahoma"/>
              <a:cs typeface="Tahoma"/>
            </a:endParaRPr>
          </a:p>
        </p:txBody>
      </p:sp>
      <p:grpSp>
        <p:nvGrpSpPr>
          <p:cNvPr id="12" name="object 12"/>
          <p:cNvGrpSpPr/>
          <p:nvPr/>
        </p:nvGrpSpPr>
        <p:grpSpPr>
          <a:xfrm>
            <a:off x="0" y="2801137"/>
            <a:ext cx="3872229" cy="3159125"/>
            <a:chOff x="0" y="2801137"/>
            <a:chExt cx="3872229" cy="3159125"/>
          </a:xfrm>
        </p:grpSpPr>
        <p:pic>
          <p:nvPicPr>
            <p:cNvPr id="13" name="object 13"/>
            <p:cNvPicPr/>
            <p:nvPr/>
          </p:nvPicPr>
          <p:blipFill>
            <a:blip r:embed="rId4" cstate="print"/>
            <a:stretch>
              <a:fillRect/>
            </a:stretch>
          </p:blipFill>
          <p:spPr>
            <a:xfrm>
              <a:off x="0" y="2801137"/>
              <a:ext cx="3871722" cy="3158998"/>
            </a:xfrm>
            <a:prstGeom prst="rect">
              <a:avLst/>
            </a:prstGeom>
          </p:spPr>
        </p:pic>
        <p:sp>
          <p:nvSpPr>
            <p:cNvPr id="14" name="object 14"/>
            <p:cNvSpPr/>
            <p:nvPr/>
          </p:nvSpPr>
          <p:spPr>
            <a:xfrm>
              <a:off x="714400" y="3534790"/>
              <a:ext cx="1767205" cy="798195"/>
            </a:xfrm>
            <a:custGeom>
              <a:avLst/>
              <a:gdLst/>
              <a:ahLst/>
              <a:cxnLst/>
              <a:rect l="l" t="t" r="r" b="b"/>
              <a:pathLst>
                <a:path w="1767205" h="798195">
                  <a:moveTo>
                    <a:pt x="1691360" y="0"/>
                  </a:moveTo>
                  <a:lnTo>
                    <a:pt x="75463" y="0"/>
                  </a:lnTo>
                  <a:lnTo>
                    <a:pt x="46093" y="5929"/>
                  </a:lnTo>
                  <a:lnTo>
                    <a:pt x="22105" y="22098"/>
                  </a:lnTo>
                  <a:lnTo>
                    <a:pt x="5931" y="46077"/>
                  </a:lnTo>
                  <a:lnTo>
                    <a:pt x="0" y="75438"/>
                  </a:lnTo>
                  <a:lnTo>
                    <a:pt x="0" y="722630"/>
                  </a:lnTo>
                  <a:lnTo>
                    <a:pt x="5931" y="751990"/>
                  </a:lnTo>
                  <a:lnTo>
                    <a:pt x="22105" y="775970"/>
                  </a:lnTo>
                  <a:lnTo>
                    <a:pt x="46093" y="792138"/>
                  </a:lnTo>
                  <a:lnTo>
                    <a:pt x="75463" y="798068"/>
                  </a:lnTo>
                  <a:lnTo>
                    <a:pt x="1691360" y="798068"/>
                  </a:lnTo>
                  <a:lnTo>
                    <a:pt x="1720794" y="792138"/>
                  </a:lnTo>
                  <a:lnTo>
                    <a:pt x="1744811" y="775969"/>
                  </a:lnTo>
                  <a:lnTo>
                    <a:pt x="1760994" y="751990"/>
                  </a:lnTo>
                  <a:lnTo>
                    <a:pt x="1766925" y="722630"/>
                  </a:lnTo>
                  <a:lnTo>
                    <a:pt x="1766925" y="75438"/>
                  </a:lnTo>
                  <a:lnTo>
                    <a:pt x="1760994" y="46077"/>
                  </a:lnTo>
                  <a:lnTo>
                    <a:pt x="1744811" y="22098"/>
                  </a:lnTo>
                  <a:lnTo>
                    <a:pt x="1720794" y="5929"/>
                  </a:lnTo>
                  <a:lnTo>
                    <a:pt x="1691360" y="0"/>
                  </a:lnTo>
                  <a:close/>
                </a:path>
              </a:pathLst>
            </a:custGeom>
            <a:solidFill>
              <a:srgbClr val="FF0000"/>
            </a:solidFill>
          </p:spPr>
          <p:txBody>
            <a:bodyPr wrap="square" lIns="0" tIns="0" rIns="0" bIns="0" rtlCol="0"/>
            <a:lstStyle/>
            <a:p>
              <a:endParaRPr/>
            </a:p>
          </p:txBody>
        </p:sp>
      </p:grpSp>
      <p:sp>
        <p:nvSpPr>
          <p:cNvPr id="15" name="object 15"/>
          <p:cNvSpPr txBox="1"/>
          <p:nvPr/>
        </p:nvSpPr>
        <p:spPr>
          <a:xfrm>
            <a:off x="1105027" y="3801294"/>
            <a:ext cx="991869" cy="208279"/>
          </a:xfrm>
          <a:prstGeom prst="rect">
            <a:avLst/>
          </a:prstGeom>
        </p:spPr>
        <p:txBody>
          <a:bodyPr vert="horz" wrap="square" lIns="0" tIns="12700" rIns="0" bIns="0" rtlCol="0">
            <a:spAutoFit/>
          </a:bodyPr>
          <a:lstStyle/>
          <a:p>
            <a:pPr marL="12700">
              <a:lnSpc>
                <a:spcPct val="100000"/>
              </a:lnSpc>
              <a:spcBef>
                <a:spcPts val="100"/>
              </a:spcBef>
            </a:pPr>
            <a:r>
              <a:rPr sz="1200" b="1" spc="-45">
                <a:solidFill>
                  <a:srgbClr val="FFFFFF"/>
                </a:solidFill>
                <a:latin typeface="Tahoma"/>
                <a:cs typeface="Tahoma"/>
              </a:rPr>
              <a:t>Authorization</a:t>
            </a:r>
            <a:endParaRPr sz="1200">
              <a:latin typeface="Tahoma"/>
              <a:cs typeface="Tahoma"/>
            </a:endParaRPr>
          </a:p>
        </p:txBody>
      </p:sp>
      <p:grpSp>
        <p:nvGrpSpPr>
          <p:cNvPr id="16" name="object 16"/>
          <p:cNvGrpSpPr/>
          <p:nvPr/>
        </p:nvGrpSpPr>
        <p:grpSpPr>
          <a:xfrm>
            <a:off x="5532120" y="1080516"/>
            <a:ext cx="3296285" cy="2384425"/>
            <a:chOff x="5532120" y="1080516"/>
            <a:chExt cx="3296285" cy="2384425"/>
          </a:xfrm>
        </p:grpSpPr>
        <p:pic>
          <p:nvPicPr>
            <p:cNvPr id="17" name="object 17"/>
            <p:cNvPicPr/>
            <p:nvPr/>
          </p:nvPicPr>
          <p:blipFill>
            <a:blip r:embed="rId2" cstate="print"/>
            <a:stretch>
              <a:fillRect/>
            </a:stretch>
          </p:blipFill>
          <p:spPr>
            <a:xfrm>
              <a:off x="5532120" y="1080516"/>
              <a:ext cx="3295904" cy="2383916"/>
            </a:xfrm>
            <a:prstGeom prst="rect">
              <a:avLst/>
            </a:prstGeom>
          </p:spPr>
        </p:pic>
        <p:sp>
          <p:nvSpPr>
            <p:cNvPr id="18" name="object 18"/>
            <p:cNvSpPr/>
            <p:nvPr/>
          </p:nvSpPr>
          <p:spPr>
            <a:xfrm>
              <a:off x="6328156" y="1539113"/>
              <a:ext cx="1757045" cy="798195"/>
            </a:xfrm>
            <a:custGeom>
              <a:avLst/>
              <a:gdLst/>
              <a:ahLst/>
              <a:cxnLst/>
              <a:rect l="l" t="t" r="r" b="b"/>
              <a:pathLst>
                <a:path w="1757045" h="798194">
                  <a:moveTo>
                    <a:pt x="1681479" y="0"/>
                  </a:moveTo>
                  <a:lnTo>
                    <a:pt x="75438" y="0"/>
                  </a:lnTo>
                  <a:lnTo>
                    <a:pt x="46077" y="5929"/>
                  </a:lnTo>
                  <a:lnTo>
                    <a:pt x="22098" y="22098"/>
                  </a:lnTo>
                  <a:lnTo>
                    <a:pt x="5929" y="46077"/>
                  </a:lnTo>
                  <a:lnTo>
                    <a:pt x="0" y="75437"/>
                  </a:lnTo>
                  <a:lnTo>
                    <a:pt x="0" y="722629"/>
                  </a:lnTo>
                  <a:lnTo>
                    <a:pt x="5929" y="752064"/>
                  </a:lnTo>
                  <a:lnTo>
                    <a:pt x="22098" y="776081"/>
                  </a:lnTo>
                  <a:lnTo>
                    <a:pt x="46077" y="792263"/>
                  </a:lnTo>
                  <a:lnTo>
                    <a:pt x="75438" y="798195"/>
                  </a:lnTo>
                  <a:lnTo>
                    <a:pt x="1681479" y="798195"/>
                  </a:lnTo>
                  <a:lnTo>
                    <a:pt x="1710840" y="792263"/>
                  </a:lnTo>
                  <a:lnTo>
                    <a:pt x="1734820" y="776081"/>
                  </a:lnTo>
                  <a:lnTo>
                    <a:pt x="1750988" y="752064"/>
                  </a:lnTo>
                  <a:lnTo>
                    <a:pt x="1756918" y="722629"/>
                  </a:lnTo>
                  <a:lnTo>
                    <a:pt x="1756918" y="75437"/>
                  </a:lnTo>
                  <a:lnTo>
                    <a:pt x="1750988" y="46077"/>
                  </a:lnTo>
                  <a:lnTo>
                    <a:pt x="1734820" y="22098"/>
                  </a:lnTo>
                  <a:lnTo>
                    <a:pt x="1710840" y="5929"/>
                  </a:lnTo>
                  <a:lnTo>
                    <a:pt x="1681479" y="0"/>
                  </a:lnTo>
                  <a:close/>
                </a:path>
              </a:pathLst>
            </a:custGeom>
            <a:solidFill>
              <a:srgbClr val="FFFFFF"/>
            </a:solidFill>
          </p:spPr>
          <p:txBody>
            <a:bodyPr wrap="square" lIns="0" tIns="0" rIns="0" bIns="0" rtlCol="0"/>
            <a:lstStyle/>
            <a:p>
              <a:endParaRPr/>
            </a:p>
          </p:txBody>
        </p:sp>
      </p:grpSp>
      <p:sp>
        <p:nvSpPr>
          <p:cNvPr id="19" name="object 19"/>
          <p:cNvSpPr txBox="1"/>
          <p:nvPr/>
        </p:nvSpPr>
        <p:spPr>
          <a:xfrm>
            <a:off x="6902957" y="1842261"/>
            <a:ext cx="568325" cy="208279"/>
          </a:xfrm>
          <a:prstGeom prst="rect">
            <a:avLst/>
          </a:prstGeom>
        </p:spPr>
        <p:txBody>
          <a:bodyPr vert="horz" wrap="square" lIns="0" tIns="12700" rIns="0" bIns="0" rtlCol="0">
            <a:spAutoFit/>
          </a:bodyPr>
          <a:lstStyle/>
          <a:p>
            <a:pPr marL="12700">
              <a:lnSpc>
                <a:spcPct val="100000"/>
              </a:lnSpc>
              <a:spcBef>
                <a:spcPts val="100"/>
              </a:spcBef>
            </a:pPr>
            <a:r>
              <a:rPr sz="1200" b="1" spc="-20">
                <a:solidFill>
                  <a:srgbClr val="54535A"/>
                </a:solidFill>
                <a:latin typeface="Tahoma"/>
                <a:cs typeface="Tahoma"/>
              </a:rPr>
              <a:t>Privacy</a:t>
            </a:r>
            <a:endParaRPr sz="1200">
              <a:latin typeface="Tahoma"/>
              <a:cs typeface="Tahoma"/>
            </a:endParaRPr>
          </a:p>
        </p:txBody>
      </p:sp>
      <p:grpSp>
        <p:nvGrpSpPr>
          <p:cNvPr id="20" name="object 20"/>
          <p:cNvGrpSpPr/>
          <p:nvPr/>
        </p:nvGrpSpPr>
        <p:grpSpPr>
          <a:xfrm>
            <a:off x="5527547" y="2793492"/>
            <a:ext cx="3950335" cy="3239135"/>
            <a:chOff x="5527547" y="2793492"/>
            <a:chExt cx="3950335" cy="3239135"/>
          </a:xfrm>
        </p:grpSpPr>
        <p:pic>
          <p:nvPicPr>
            <p:cNvPr id="21" name="object 21"/>
            <p:cNvPicPr/>
            <p:nvPr/>
          </p:nvPicPr>
          <p:blipFill>
            <a:blip r:embed="rId5" cstate="print"/>
            <a:stretch>
              <a:fillRect/>
            </a:stretch>
          </p:blipFill>
          <p:spPr>
            <a:xfrm>
              <a:off x="5527547" y="2793492"/>
              <a:ext cx="3950334" cy="3238754"/>
            </a:xfrm>
            <a:prstGeom prst="rect">
              <a:avLst/>
            </a:prstGeom>
          </p:spPr>
        </p:pic>
        <p:sp>
          <p:nvSpPr>
            <p:cNvPr id="22" name="object 22"/>
            <p:cNvSpPr/>
            <p:nvPr/>
          </p:nvSpPr>
          <p:spPr>
            <a:xfrm>
              <a:off x="6377558" y="3527425"/>
              <a:ext cx="1707514" cy="887730"/>
            </a:xfrm>
            <a:custGeom>
              <a:avLst/>
              <a:gdLst/>
              <a:ahLst/>
              <a:cxnLst/>
              <a:rect l="l" t="t" r="r" b="b"/>
              <a:pathLst>
                <a:path w="1707515" h="887729">
                  <a:moveTo>
                    <a:pt x="1623694" y="0"/>
                  </a:moveTo>
                  <a:lnTo>
                    <a:pt x="83946" y="0"/>
                  </a:lnTo>
                  <a:lnTo>
                    <a:pt x="51274" y="6598"/>
                  </a:lnTo>
                  <a:lnTo>
                    <a:pt x="24590" y="24590"/>
                  </a:lnTo>
                  <a:lnTo>
                    <a:pt x="6598" y="51274"/>
                  </a:lnTo>
                  <a:lnTo>
                    <a:pt x="0" y="83947"/>
                  </a:lnTo>
                  <a:lnTo>
                    <a:pt x="0" y="803401"/>
                  </a:lnTo>
                  <a:lnTo>
                    <a:pt x="6598" y="836001"/>
                  </a:lnTo>
                  <a:lnTo>
                    <a:pt x="24590" y="862647"/>
                  </a:lnTo>
                  <a:lnTo>
                    <a:pt x="51274" y="880625"/>
                  </a:lnTo>
                  <a:lnTo>
                    <a:pt x="83946" y="887222"/>
                  </a:lnTo>
                  <a:lnTo>
                    <a:pt x="1623694" y="887222"/>
                  </a:lnTo>
                  <a:lnTo>
                    <a:pt x="1656347" y="880625"/>
                  </a:lnTo>
                  <a:lnTo>
                    <a:pt x="1682988" y="862647"/>
                  </a:lnTo>
                  <a:lnTo>
                    <a:pt x="1700936" y="836001"/>
                  </a:lnTo>
                  <a:lnTo>
                    <a:pt x="1707514" y="803401"/>
                  </a:lnTo>
                  <a:lnTo>
                    <a:pt x="1707514" y="83947"/>
                  </a:lnTo>
                  <a:lnTo>
                    <a:pt x="1700936" y="51274"/>
                  </a:lnTo>
                  <a:lnTo>
                    <a:pt x="1682988" y="24590"/>
                  </a:lnTo>
                  <a:lnTo>
                    <a:pt x="1656347" y="6598"/>
                  </a:lnTo>
                  <a:lnTo>
                    <a:pt x="1623694" y="0"/>
                  </a:lnTo>
                  <a:close/>
                </a:path>
              </a:pathLst>
            </a:custGeom>
            <a:solidFill>
              <a:srgbClr val="FF0000"/>
            </a:solidFill>
          </p:spPr>
          <p:txBody>
            <a:bodyPr wrap="square" lIns="0" tIns="0" rIns="0" bIns="0" rtlCol="0"/>
            <a:lstStyle/>
            <a:p>
              <a:endParaRPr/>
            </a:p>
          </p:txBody>
        </p:sp>
      </p:grpSp>
      <p:sp>
        <p:nvSpPr>
          <p:cNvPr id="23" name="object 23"/>
          <p:cNvSpPr txBox="1"/>
          <p:nvPr/>
        </p:nvSpPr>
        <p:spPr>
          <a:xfrm>
            <a:off x="6538341" y="3742182"/>
            <a:ext cx="1351280" cy="391160"/>
          </a:xfrm>
          <a:prstGeom prst="rect">
            <a:avLst/>
          </a:prstGeom>
        </p:spPr>
        <p:txBody>
          <a:bodyPr vert="horz" wrap="square" lIns="0" tIns="12700" rIns="0" bIns="0" rtlCol="0">
            <a:spAutoFit/>
          </a:bodyPr>
          <a:lstStyle/>
          <a:p>
            <a:pPr marL="53340" marR="5080" indent="-41275">
              <a:lnSpc>
                <a:spcPct val="100000"/>
              </a:lnSpc>
              <a:spcBef>
                <a:spcPts val="100"/>
              </a:spcBef>
            </a:pPr>
            <a:r>
              <a:rPr sz="1200" b="1" spc="-35">
                <a:solidFill>
                  <a:srgbClr val="FFFFFF"/>
                </a:solidFill>
                <a:latin typeface="Tahoma"/>
                <a:cs typeface="Tahoma"/>
              </a:rPr>
              <a:t>Auditing</a:t>
            </a:r>
            <a:r>
              <a:rPr sz="1200" b="1" spc="-25">
                <a:solidFill>
                  <a:srgbClr val="FFFFFF"/>
                </a:solidFill>
                <a:latin typeface="Tahoma"/>
                <a:cs typeface="Tahoma"/>
              </a:rPr>
              <a:t> </a:t>
            </a:r>
            <a:r>
              <a:rPr sz="1200" b="1" spc="-130">
                <a:solidFill>
                  <a:srgbClr val="FFFFFF"/>
                </a:solidFill>
                <a:latin typeface="Tahoma"/>
                <a:cs typeface="Tahoma"/>
              </a:rPr>
              <a:t>&amp;</a:t>
            </a:r>
            <a:r>
              <a:rPr sz="1200" b="1" spc="-20">
                <a:solidFill>
                  <a:srgbClr val="FFFFFF"/>
                </a:solidFill>
                <a:latin typeface="Tahoma"/>
                <a:cs typeface="Tahoma"/>
              </a:rPr>
              <a:t> </a:t>
            </a:r>
            <a:r>
              <a:rPr sz="1200" b="1" spc="-55">
                <a:solidFill>
                  <a:srgbClr val="FFFFFF"/>
                </a:solidFill>
                <a:latin typeface="Tahoma"/>
                <a:cs typeface="Tahoma"/>
              </a:rPr>
              <a:t>System </a:t>
            </a:r>
            <a:r>
              <a:rPr sz="1200" b="1" spc="-90">
                <a:solidFill>
                  <a:srgbClr val="FFFFFF"/>
                </a:solidFill>
                <a:latin typeface="Tahoma"/>
                <a:cs typeface="Tahoma"/>
              </a:rPr>
              <a:t>Integrity</a:t>
            </a:r>
            <a:r>
              <a:rPr sz="1200" b="1" spc="65">
                <a:solidFill>
                  <a:srgbClr val="FFFFFF"/>
                </a:solidFill>
                <a:latin typeface="Tahoma"/>
                <a:cs typeface="Tahoma"/>
              </a:rPr>
              <a:t> </a:t>
            </a:r>
            <a:r>
              <a:rPr sz="1200" b="1" spc="-10">
                <a:solidFill>
                  <a:srgbClr val="FFFFFF"/>
                </a:solidFill>
                <a:latin typeface="Tahoma"/>
                <a:cs typeface="Tahoma"/>
              </a:rPr>
              <a:t>Controls</a:t>
            </a:r>
            <a:endParaRPr sz="1200">
              <a:latin typeface="Tahoma"/>
              <a:cs typeface="Tahoma"/>
            </a:endParaRPr>
          </a:p>
        </p:txBody>
      </p:sp>
      <p:sp>
        <p:nvSpPr>
          <p:cNvPr id="24" name="object 24"/>
          <p:cNvSpPr txBox="1"/>
          <p:nvPr/>
        </p:nvSpPr>
        <p:spPr>
          <a:xfrm>
            <a:off x="2673223" y="3544634"/>
            <a:ext cx="2112154" cy="166071"/>
          </a:xfrm>
          <a:prstGeom prst="rect">
            <a:avLst/>
          </a:prstGeom>
        </p:spPr>
        <p:txBody>
          <a:bodyPr vert="horz" wrap="square" lIns="0" tIns="12065" rIns="0" bIns="0" rtlCol="0">
            <a:spAutoFit/>
          </a:bodyPr>
          <a:lstStyle/>
          <a:p>
            <a:pPr marL="126364" indent="-113664">
              <a:spcBef>
                <a:spcPts val="95"/>
              </a:spcBef>
              <a:buFont typeface="Arial MT"/>
              <a:buChar char="•"/>
              <a:tabLst>
                <a:tab pos="126364" algn="l"/>
              </a:tabLst>
            </a:pPr>
            <a:r>
              <a:rPr sz="1000">
                <a:latin typeface="Century Gothic" panose="020B0502020202020204" pitchFamily="34" charset="0"/>
              </a:rPr>
              <a:t>Fine-grained RBAC for UI roles</a:t>
            </a:r>
          </a:p>
        </p:txBody>
      </p:sp>
      <p:sp>
        <p:nvSpPr>
          <p:cNvPr id="25" name="object 25"/>
          <p:cNvSpPr txBox="1"/>
          <p:nvPr/>
        </p:nvSpPr>
        <p:spPr>
          <a:xfrm>
            <a:off x="2673222" y="3696170"/>
            <a:ext cx="3514843" cy="641201"/>
          </a:xfrm>
          <a:prstGeom prst="rect">
            <a:avLst/>
          </a:prstGeom>
        </p:spPr>
        <p:txBody>
          <a:bodyPr vert="horz" wrap="square" lIns="0" tIns="12700" rIns="0" bIns="0" rtlCol="0">
            <a:spAutoFit/>
          </a:bodyPr>
          <a:lstStyle/>
          <a:p>
            <a:pPr marL="126364" marR="393700" indent="-113664">
              <a:lnSpc>
                <a:spcPct val="150200"/>
              </a:lnSpc>
              <a:spcBef>
                <a:spcPts val="95"/>
              </a:spcBef>
              <a:buFont typeface="Arial MT"/>
              <a:buChar char="•"/>
              <a:tabLst>
                <a:tab pos="126364" algn="l"/>
              </a:tabLst>
            </a:pPr>
            <a:r>
              <a:rPr sz="1000">
                <a:latin typeface="Century Gothic" panose="020B0502020202020204" pitchFamily="34" charset="0"/>
              </a:rPr>
              <a:t>Policy checks centralized at gateway and</a:t>
            </a:r>
            <a:r>
              <a:rPr lang="en-US" sz="1000">
                <a:latin typeface="Century Gothic" panose="020B0502020202020204" pitchFamily="34" charset="0"/>
              </a:rPr>
              <a:t> </a:t>
            </a:r>
            <a:r>
              <a:rPr sz="1000">
                <a:latin typeface="Century Gothic" panose="020B0502020202020204" pitchFamily="34" charset="0"/>
              </a:rPr>
              <a:t>enforced in services.</a:t>
            </a:r>
          </a:p>
          <a:p>
            <a:pPr marL="126364" indent="-113664">
              <a:lnSpc>
                <a:spcPct val="100000"/>
              </a:lnSpc>
              <a:spcBef>
                <a:spcPts val="95"/>
              </a:spcBef>
              <a:buFont typeface="Arial MT"/>
              <a:buChar char="•"/>
              <a:tabLst>
                <a:tab pos="126364" algn="l"/>
              </a:tabLst>
            </a:pPr>
            <a:r>
              <a:rPr sz="1000">
                <a:latin typeface="Century Gothic" panose="020B0502020202020204" pitchFamily="34" charset="0"/>
              </a:rPr>
              <a:t>Programmatic access to ERP with defined scope</a:t>
            </a:r>
          </a:p>
        </p:txBody>
      </p:sp>
      <p:sp>
        <p:nvSpPr>
          <p:cNvPr id="26" name="object 26"/>
          <p:cNvSpPr txBox="1"/>
          <p:nvPr/>
        </p:nvSpPr>
        <p:spPr>
          <a:xfrm>
            <a:off x="2673222" y="4774098"/>
            <a:ext cx="3493377" cy="1396536"/>
          </a:xfrm>
          <a:prstGeom prst="rect">
            <a:avLst/>
          </a:prstGeom>
        </p:spPr>
        <p:txBody>
          <a:bodyPr vert="horz" wrap="square" lIns="0" tIns="87630" rIns="0" bIns="0" rtlCol="0">
            <a:spAutoFit/>
          </a:bodyPr>
          <a:lstStyle/>
          <a:p>
            <a:pPr marL="126364" indent="-113664">
              <a:lnSpc>
                <a:spcPct val="100000"/>
              </a:lnSpc>
              <a:spcBef>
                <a:spcPts val="690"/>
              </a:spcBef>
              <a:buFont typeface="Arial MT"/>
              <a:buChar char="•"/>
              <a:tabLst>
                <a:tab pos="126364" algn="l"/>
              </a:tabLst>
            </a:pPr>
            <a:r>
              <a:rPr sz="1000">
                <a:latin typeface="Century Gothic" panose="020B0502020202020204" pitchFamily="34" charset="0"/>
              </a:rPr>
              <a:t>AES-256 encryption for database storage</a:t>
            </a:r>
          </a:p>
          <a:p>
            <a:pPr marL="126364" indent="-113664">
              <a:lnSpc>
                <a:spcPct val="100000"/>
              </a:lnSpc>
              <a:spcBef>
                <a:spcPts val="600"/>
              </a:spcBef>
              <a:buFont typeface="Arial MT"/>
              <a:buChar char="•"/>
              <a:tabLst>
                <a:tab pos="126364" algn="l"/>
              </a:tabLst>
            </a:pPr>
            <a:r>
              <a:rPr sz="1000">
                <a:latin typeface="Century Gothic" panose="020B0502020202020204" pitchFamily="34" charset="0"/>
              </a:rPr>
              <a:t>Encrypted backups and archives</a:t>
            </a:r>
          </a:p>
          <a:p>
            <a:pPr marL="126364" indent="-113664">
              <a:lnSpc>
                <a:spcPct val="100000"/>
              </a:lnSpc>
              <a:spcBef>
                <a:spcPts val="600"/>
              </a:spcBef>
              <a:buFont typeface="Arial MT"/>
              <a:buChar char="•"/>
              <a:tabLst>
                <a:tab pos="126364" algn="l"/>
              </a:tabLst>
            </a:pPr>
            <a:r>
              <a:rPr sz="1000">
                <a:latin typeface="Century Gothic" panose="020B0502020202020204" pitchFamily="34" charset="0"/>
              </a:rPr>
              <a:t>File-level encryption for sensitive documents</a:t>
            </a:r>
          </a:p>
          <a:p>
            <a:pPr marL="126364" indent="-113664">
              <a:lnSpc>
                <a:spcPct val="100000"/>
              </a:lnSpc>
              <a:spcBef>
                <a:spcPts val="600"/>
              </a:spcBef>
              <a:buFont typeface="Arial MT"/>
              <a:buChar char="•"/>
              <a:tabLst>
                <a:tab pos="126364" algn="l"/>
              </a:tabLst>
            </a:pPr>
            <a:r>
              <a:rPr sz="1000">
                <a:latin typeface="Century Gothic" panose="020B0502020202020204" pitchFamily="34" charset="0"/>
              </a:rPr>
              <a:t>TLS 1.3 for all API communications</a:t>
            </a:r>
          </a:p>
          <a:p>
            <a:pPr marL="126364" indent="-113664">
              <a:lnSpc>
                <a:spcPct val="100000"/>
              </a:lnSpc>
              <a:spcBef>
                <a:spcPts val="600"/>
              </a:spcBef>
              <a:buFont typeface="Arial MT"/>
              <a:buChar char="•"/>
              <a:tabLst>
                <a:tab pos="126364" algn="l"/>
              </a:tabLst>
            </a:pPr>
            <a:r>
              <a:rPr sz="1000">
                <a:latin typeface="Century Gothic" panose="020B0502020202020204" pitchFamily="34" charset="0"/>
              </a:rPr>
              <a:t>End-to-end encryption for invoice transmission.</a:t>
            </a:r>
            <a:endParaRPr lang="en-US" sz="1000">
              <a:latin typeface="Century Gothic" panose="020B0502020202020204" pitchFamily="34" charset="0"/>
            </a:endParaRPr>
          </a:p>
          <a:p>
            <a:pPr marL="126364" indent="-113664">
              <a:spcBef>
                <a:spcPts val="600"/>
              </a:spcBef>
              <a:buFont typeface="Arial MT"/>
              <a:buChar char="•"/>
              <a:tabLst>
                <a:tab pos="126364" algn="l"/>
              </a:tabLst>
            </a:pPr>
            <a:r>
              <a:rPr lang="en-US" sz="1000">
                <a:latin typeface="Century Gothic" panose="020B0502020202020204" pitchFamily="34" charset="0"/>
              </a:rPr>
              <a:t>NDPR‑aligned data protection</a:t>
            </a:r>
          </a:p>
        </p:txBody>
      </p:sp>
      <p:sp>
        <p:nvSpPr>
          <p:cNvPr id="28" name="object 28"/>
          <p:cNvSpPr txBox="1"/>
          <p:nvPr/>
        </p:nvSpPr>
        <p:spPr>
          <a:xfrm>
            <a:off x="8313165" y="1172336"/>
            <a:ext cx="3036825" cy="1509580"/>
          </a:xfrm>
          <a:prstGeom prst="rect">
            <a:avLst/>
          </a:prstGeom>
        </p:spPr>
        <p:txBody>
          <a:bodyPr vert="horz" wrap="square" lIns="0" tIns="88900" rIns="0" bIns="0" rtlCol="0">
            <a:spAutoFit/>
          </a:bodyPr>
          <a:lstStyle/>
          <a:p>
            <a:pPr marL="126364" indent="-113664">
              <a:lnSpc>
                <a:spcPct val="150000"/>
              </a:lnSpc>
              <a:spcBef>
                <a:spcPts val="95"/>
              </a:spcBef>
              <a:buFont typeface="Arial MT"/>
              <a:buChar char="•"/>
              <a:tabLst>
                <a:tab pos="126364" algn="l"/>
              </a:tabLst>
            </a:pPr>
            <a:r>
              <a:rPr lang="en-US" sz="1000">
                <a:latin typeface="Century Gothic" panose="020B0502020202020204" pitchFamily="34" charset="0"/>
              </a:rPr>
              <a:t>Data minimization principles</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Purpose limitation for data collection</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Consent management for optional data</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Right to erasure compliance</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Data anonymization for analytics</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Secure data sharing protocols</a:t>
            </a:r>
          </a:p>
        </p:txBody>
      </p:sp>
      <p:sp>
        <p:nvSpPr>
          <p:cNvPr id="30" name="object 30"/>
          <p:cNvSpPr txBox="1"/>
          <p:nvPr/>
        </p:nvSpPr>
        <p:spPr>
          <a:xfrm>
            <a:off x="8313165" y="3414592"/>
            <a:ext cx="2653609" cy="1022268"/>
          </a:xfrm>
          <a:prstGeom prst="rect">
            <a:avLst/>
          </a:prstGeom>
        </p:spPr>
        <p:txBody>
          <a:bodyPr vert="horz" wrap="square" lIns="0" tIns="88900" rIns="0" bIns="0" rtlCol="0">
            <a:spAutoFit/>
          </a:bodyPr>
          <a:lstStyle/>
          <a:p>
            <a:pPr marL="126364" indent="-113664">
              <a:lnSpc>
                <a:spcPct val="150000"/>
              </a:lnSpc>
              <a:spcBef>
                <a:spcPts val="95"/>
              </a:spcBef>
              <a:buFont typeface="Arial MT"/>
              <a:buChar char="•"/>
              <a:tabLst>
                <a:tab pos="126364" algn="l"/>
              </a:tabLst>
            </a:pPr>
            <a:r>
              <a:rPr lang="en-US" sz="1000">
                <a:latin typeface="Century Gothic" panose="020B0502020202020204" pitchFamily="34" charset="0"/>
              </a:rPr>
              <a:t>Immutable audit log stream in NoSQL</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Database with retention policy.</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Complete transaction history tracking</a:t>
            </a:r>
          </a:p>
          <a:p>
            <a:pPr marL="126364" indent="-113664">
              <a:lnSpc>
                <a:spcPct val="150000"/>
              </a:lnSpc>
              <a:spcBef>
                <a:spcPts val="95"/>
              </a:spcBef>
              <a:buFont typeface="Arial MT"/>
              <a:buChar char="•"/>
              <a:tabLst>
                <a:tab pos="126364" algn="l"/>
              </a:tabLst>
            </a:pPr>
            <a:r>
              <a:rPr sz="1000">
                <a:latin typeface="Century Gothic" panose="020B0502020202020204" pitchFamily="34" charset="0"/>
              </a:rPr>
              <a:t>User action logging with timestamps</a:t>
            </a:r>
          </a:p>
        </p:txBody>
      </p:sp>
      <p:sp>
        <p:nvSpPr>
          <p:cNvPr id="33" name="object 33"/>
          <p:cNvSpPr txBox="1"/>
          <p:nvPr/>
        </p:nvSpPr>
        <p:spPr>
          <a:xfrm>
            <a:off x="9034398" y="6448848"/>
            <a:ext cx="2813685" cy="197485"/>
          </a:xfrm>
          <a:prstGeom prst="rect">
            <a:avLst/>
          </a:prstGeom>
        </p:spPr>
        <p:txBody>
          <a:bodyPr vert="horz" wrap="square" lIns="0" tIns="13970" rIns="0" bIns="0" rtlCol="0">
            <a:spAutoFit/>
          </a:bodyPr>
          <a:lstStyle/>
          <a:p>
            <a:pPr marL="12700">
              <a:lnSpc>
                <a:spcPct val="100000"/>
              </a:lnSpc>
              <a:spcBef>
                <a:spcPts val="110"/>
              </a:spcBef>
            </a:pPr>
            <a:r>
              <a:rPr sz="1100" i="1" spc="-40">
                <a:solidFill>
                  <a:srgbClr val="FF0000"/>
                </a:solidFill>
                <a:latin typeface="Verdana"/>
                <a:cs typeface="Verdana"/>
              </a:rPr>
              <a:t>World</a:t>
            </a:r>
            <a:r>
              <a:rPr sz="1100" i="1" spc="-30">
                <a:solidFill>
                  <a:srgbClr val="FF0000"/>
                </a:solidFill>
                <a:latin typeface="Verdana"/>
                <a:cs typeface="Verdana"/>
              </a:rPr>
              <a:t> </a:t>
            </a:r>
            <a:r>
              <a:rPr sz="1100" i="1" spc="-40">
                <a:solidFill>
                  <a:srgbClr val="FF0000"/>
                </a:solidFill>
                <a:latin typeface="Verdana"/>
                <a:cs typeface="Verdana"/>
              </a:rPr>
              <a:t>class </a:t>
            </a:r>
            <a:r>
              <a:rPr sz="1100" i="1" spc="-50">
                <a:solidFill>
                  <a:srgbClr val="FF0000"/>
                </a:solidFill>
                <a:latin typeface="Verdana"/>
                <a:cs typeface="Verdana"/>
              </a:rPr>
              <a:t>expertise,</a:t>
            </a:r>
            <a:r>
              <a:rPr sz="1100" i="1" spc="-70">
                <a:solidFill>
                  <a:srgbClr val="FF0000"/>
                </a:solidFill>
                <a:latin typeface="Verdana"/>
                <a:cs typeface="Verdana"/>
              </a:rPr>
              <a:t> </a:t>
            </a:r>
            <a:r>
              <a:rPr sz="1100" i="1">
                <a:solidFill>
                  <a:srgbClr val="FF0000"/>
                </a:solidFill>
                <a:latin typeface="Verdana"/>
                <a:cs typeface="Verdana"/>
              </a:rPr>
              <a:t>local</a:t>
            </a:r>
            <a:r>
              <a:rPr sz="1100" i="1" spc="-30">
                <a:solidFill>
                  <a:srgbClr val="FF0000"/>
                </a:solidFill>
                <a:latin typeface="Verdana"/>
                <a:cs typeface="Verdana"/>
              </a:rPr>
              <a:t> </a:t>
            </a:r>
            <a:r>
              <a:rPr sz="1100" i="1" spc="-10">
                <a:solidFill>
                  <a:srgbClr val="FF0000"/>
                </a:solidFill>
                <a:latin typeface="Verdana"/>
                <a:cs typeface="Verdana"/>
              </a:rPr>
              <a:t>accessibility…</a:t>
            </a:r>
            <a:endParaRPr sz="1100">
              <a:latin typeface="Verdana"/>
              <a:cs typeface="Verdana"/>
            </a:endParaRPr>
          </a:p>
        </p:txBody>
      </p:sp>
      <p:sp>
        <p:nvSpPr>
          <p:cNvPr id="35" name="object 2">
            <a:extLst>
              <a:ext uri="{FF2B5EF4-FFF2-40B4-BE49-F238E27FC236}">
                <a16:creationId xmlns:a16="http://schemas.microsoft.com/office/drawing/2014/main" id="{D5647BFC-4EA8-4E3F-7990-DF687DDD6663}"/>
              </a:ext>
            </a:extLst>
          </p:cNvPr>
          <p:cNvSpPr txBox="1">
            <a:spLocks/>
          </p:cNvSpPr>
          <p:nvPr/>
        </p:nvSpPr>
        <p:spPr>
          <a:xfrm>
            <a:off x="714400" y="637031"/>
            <a:ext cx="4899591" cy="340478"/>
          </a:xfrm>
          <a:prstGeom prst="rect">
            <a:avLst/>
          </a:prstGeom>
        </p:spPr>
        <p:txBody>
          <a:bodyPr vert="horz" wrap="square" lIns="0" tIns="17145" rIns="0" bIns="0" rtlCol="0" anchor="t">
            <a:spAutoFit/>
          </a:bodyPr>
          <a:lstStyle>
            <a:lvl1pPr>
              <a:defRPr sz="2400" b="1" i="0">
                <a:solidFill>
                  <a:srgbClr val="FF0000"/>
                </a:solidFill>
                <a:latin typeface="Tahoma"/>
                <a:ea typeface="+mj-ea"/>
                <a:cs typeface="Tahoma"/>
              </a:defRPr>
            </a:lvl1pPr>
          </a:lstStyle>
          <a:p>
            <a:pPr algn="l"/>
            <a:r>
              <a:rPr lang="en-US" sz="2100">
                <a:solidFill>
                  <a:schemeClr val="tx1">
                    <a:lumMod val="50000"/>
                    <a:lumOff val="50000"/>
                  </a:schemeClr>
                </a:solidFill>
                <a:latin typeface="Century Gothic"/>
              </a:rPr>
              <a:t>Security</a:t>
            </a:r>
            <a:r>
              <a:rPr lang="en-US" sz="2000">
                <a:solidFill>
                  <a:schemeClr val="tx1">
                    <a:lumMod val="50000"/>
                    <a:lumOff val="50000"/>
                  </a:schemeClr>
                </a:solidFill>
                <a:latin typeface="Century Gothic"/>
              </a:rPr>
              <a:t>| Technical Architecture </a:t>
            </a:r>
            <a:endParaRPr lang="en-US" sz="2000" b="0">
              <a:solidFill>
                <a:schemeClr val="tx1">
                  <a:lumMod val="50000"/>
                  <a:lumOff val="50000"/>
                </a:schemeClr>
              </a:solidFill>
              <a:latin typeface="Century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5">
            <a:extLst>
              <a:ext uri="{FF2B5EF4-FFF2-40B4-BE49-F238E27FC236}">
                <a16:creationId xmlns:a16="http://schemas.microsoft.com/office/drawing/2014/main" id="{31149058-5922-18CD-AC14-9FCF1D949747}"/>
              </a:ext>
            </a:extLst>
          </p:cNvPr>
          <p:cNvSpPr>
            <a:spLocks noGrp="1"/>
          </p:cNvSpPr>
          <p:nvPr>
            <p:ph type="title"/>
          </p:nvPr>
        </p:nvSpPr>
        <p:spPr>
          <a:xfrm>
            <a:off x="838200" y="365125"/>
            <a:ext cx="10515600" cy="1325563"/>
          </a:xfrm>
        </p:spPr>
        <p:txBody>
          <a:bodyPr anchor="ctr">
            <a:normAutofit/>
          </a:bodyPr>
          <a:lstStyle/>
          <a:p>
            <a:pPr marL="0" indent="0">
              <a:buNone/>
            </a:pPr>
            <a:r>
              <a:rPr lang="en-US" b="1"/>
              <a:t>Data Migration Strategy</a:t>
            </a:r>
            <a:endParaRPr lang="en-NG" b="1"/>
          </a:p>
        </p:txBody>
      </p:sp>
      <p:pic>
        <p:nvPicPr>
          <p:cNvPr id="6" name="Picture 5" descr="3D abstract blue and gold cube illustration">
            <a:extLst>
              <a:ext uri="{FF2B5EF4-FFF2-40B4-BE49-F238E27FC236}">
                <a16:creationId xmlns:a16="http://schemas.microsoft.com/office/drawing/2014/main" id="{8E7FF5E3-B9A5-3A68-C0CB-3D3AD0628C8E}"/>
              </a:ext>
            </a:extLst>
          </p:cNvPr>
          <p:cNvPicPr>
            <a:picLocks noChangeAspect="1"/>
          </p:cNvPicPr>
          <p:nvPr/>
        </p:nvPicPr>
        <p:blipFill>
          <a:blip r:embed="rId2"/>
          <a:srcRect t="9445" b="21588"/>
          <a:stretch>
            <a:fillRect/>
          </a:stretch>
        </p:blipFill>
        <p:spPr>
          <a:xfrm>
            <a:off x="838200" y="1825625"/>
            <a:ext cx="10515600" cy="4351338"/>
          </a:xfrm>
          <a:prstGeom prst="rect">
            <a:avLst/>
          </a:prstGeom>
          <a:noFill/>
        </p:spPr>
      </p:pic>
    </p:spTree>
    <p:extLst>
      <p:ext uri="{BB962C8B-B14F-4D97-AF65-F5344CB8AC3E}">
        <p14:creationId xmlns:p14="http://schemas.microsoft.com/office/powerpoint/2010/main" val="2580757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57EE72-F67C-30FB-DDB2-33E872B8FA9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E690C6-22AA-D2EB-6792-A5D0EEFD7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1" name="Straight Connector 10">
            <a:extLst>
              <a:ext uri="{FF2B5EF4-FFF2-40B4-BE49-F238E27FC236}">
                <a16:creationId xmlns:a16="http://schemas.microsoft.com/office/drawing/2014/main" id="{19F8F057-EAE4-748A-72C2-1906E6F7E5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6AFDA6F-E6FA-5100-2CAB-DEA0480180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
        <p:nvSpPr>
          <p:cNvPr id="6" name="Content Placeholder 5">
            <a:extLst>
              <a:ext uri="{FF2B5EF4-FFF2-40B4-BE49-F238E27FC236}">
                <a16:creationId xmlns:a16="http://schemas.microsoft.com/office/drawing/2014/main" id="{0AE2CA7D-9249-42AD-A95E-1280FE63D7BA}"/>
              </a:ext>
            </a:extLst>
          </p:cNvPr>
          <p:cNvSpPr>
            <a:spLocks noGrp="1"/>
          </p:cNvSpPr>
          <p:nvPr>
            <p:ph idx="1"/>
          </p:nvPr>
        </p:nvSpPr>
        <p:spPr>
          <a:xfrm>
            <a:off x="868680" y="2870525"/>
            <a:ext cx="3066140" cy="878515"/>
          </a:xfrm>
        </p:spPr>
        <p:txBody>
          <a:bodyPr>
            <a:noAutofit/>
          </a:bodyPr>
          <a:lstStyle/>
          <a:p>
            <a:pPr marL="0" indent="0" algn="ctr">
              <a:buNone/>
            </a:pPr>
            <a:r>
              <a:rPr lang="en-US" b="1">
                <a:latin typeface="Century Gothic" panose="020B0502020202020204" pitchFamily="34" charset="0"/>
              </a:rPr>
              <a:t>Data Migration Strategy</a:t>
            </a:r>
            <a:endParaRPr lang="en-NG" b="1">
              <a:latin typeface="Century Gothic" panose="020B0502020202020204" pitchFamily="34" charset="0"/>
            </a:endParaRPr>
          </a:p>
        </p:txBody>
      </p:sp>
      <p:sp>
        <p:nvSpPr>
          <p:cNvPr id="5" name="Rectangle 4">
            <a:extLst>
              <a:ext uri="{FF2B5EF4-FFF2-40B4-BE49-F238E27FC236}">
                <a16:creationId xmlns:a16="http://schemas.microsoft.com/office/drawing/2014/main" id="{8D50B6E4-5C98-0ABA-6165-E1335FA644D5}"/>
              </a:ext>
            </a:extLst>
          </p:cNvPr>
          <p:cNvSpPr/>
          <p:nvPr/>
        </p:nvSpPr>
        <p:spPr>
          <a:xfrm>
            <a:off x="5031742" y="1132114"/>
            <a:ext cx="6400793" cy="3154680"/>
          </a:xfrm>
          <a:prstGeom prst="rect">
            <a:avLst/>
          </a:prstGeom>
          <a:solidFill>
            <a:srgbClr val="BFBFBF"/>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6">
            <a:extLst>
              <a:ext uri="{FF2B5EF4-FFF2-40B4-BE49-F238E27FC236}">
                <a16:creationId xmlns:a16="http://schemas.microsoft.com/office/drawing/2014/main" id="{6C5765B9-B8F9-0DFE-7B2A-11A8EAE2C7EB}"/>
              </a:ext>
            </a:extLst>
          </p:cNvPr>
          <p:cNvSpPr/>
          <p:nvPr/>
        </p:nvSpPr>
        <p:spPr>
          <a:xfrm>
            <a:off x="5026028" y="4277194"/>
            <a:ext cx="6400793" cy="2371535"/>
          </a:xfrm>
          <a:prstGeom prst="rect">
            <a:avLst/>
          </a:prstGeom>
          <a:solidFill>
            <a:schemeClr val="bg1">
              <a:lumMod val="95000"/>
            </a:schemeClr>
          </a:solidFill>
          <a:ln>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4" name="TextBox 3">
            <a:extLst>
              <a:ext uri="{FF2B5EF4-FFF2-40B4-BE49-F238E27FC236}">
                <a16:creationId xmlns:a16="http://schemas.microsoft.com/office/drawing/2014/main" id="{8A2C82B1-5221-7048-F071-5A2DED2130D3}"/>
              </a:ext>
            </a:extLst>
          </p:cNvPr>
          <p:cNvSpPr txBox="1"/>
          <p:nvPr/>
        </p:nvSpPr>
        <p:spPr>
          <a:xfrm>
            <a:off x="5166043" y="1258932"/>
            <a:ext cx="6097904" cy="5262979"/>
          </a:xfrm>
          <a:prstGeom prst="rect">
            <a:avLst/>
          </a:prstGeom>
          <a:noFill/>
        </p:spPr>
        <p:txBody>
          <a:bodyPr wrap="square">
            <a:spAutoFit/>
          </a:bodyPr>
          <a:lstStyle/>
          <a:p>
            <a:pPr>
              <a:buNone/>
            </a:pPr>
            <a:r>
              <a:rPr lang="en-US" sz="1400" b="1">
                <a:latin typeface="Century Gothic" panose="020B0502020202020204" pitchFamily="34" charset="0"/>
              </a:rPr>
              <a:t>Two Strategic Migration Options</a:t>
            </a:r>
          </a:p>
          <a:p>
            <a:pPr>
              <a:buNone/>
            </a:pPr>
            <a:r>
              <a:rPr lang="en-US" sz="1400" b="1">
                <a:latin typeface="Century Gothic" panose="020B0502020202020204" pitchFamily="34" charset="0"/>
              </a:rPr>
              <a:t>Option 1: Phased Coexistence with Selective Migration (Recommended)</a:t>
            </a:r>
          </a:p>
          <a:p>
            <a:pPr marL="285750" indent="-285750">
              <a:buFont typeface="Arial" panose="020B0604020202020204" pitchFamily="34" charset="0"/>
              <a:buChar char="•"/>
            </a:pPr>
            <a:r>
              <a:rPr lang="en-US" sz="1400">
                <a:latin typeface="Century Gothic" panose="020B0502020202020204" pitchFamily="34" charset="0"/>
              </a:rPr>
              <a:t>Only </a:t>
            </a:r>
            <a:r>
              <a:rPr lang="en-US" sz="1400" b="1">
                <a:latin typeface="Century Gothic" panose="020B0502020202020204" pitchFamily="34" charset="0"/>
              </a:rPr>
              <a:t>current and operationally relevant data</a:t>
            </a:r>
            <a:r>
              <a:rPr lang="en-US" sz="1400">
                <a:latin typeface="Century Gothic" panose="020B0502020202020204" pitchFamily="34" charset="0"/>
              </a:rPr>
              <a:t> is migrated into the new ERP.</a:t>
            </a:r>
          </a:p>
          <a:p>
            <a:pPr marL="285750" indent="-285750">
              <a:buFont typeface="Arial" panose="020B0604020202020204" pitchFamily="34" charset="0"/>
              <a:buChar char="•"/>
            </a:pPr>
            <a:r>
              <a:rPr lang="en-US" sz="1400">
                <a:latin typeface="Century Gothic" panose="020B0502020202020204" pitchFamily="34" charset="0"/>
              </a:rPr>
              <a:t>SAP Business One is retained in </a:t>
            </a:r>
            <a:r>
              <a:rPr lang="en-US" sz="1400" b="1">
                <a:latin typeface="Century Gothic" panose="020B0502020202020204" pitchFamily="34" charset="0"/>
              </a:rPr>
              <a:t>read-only mode</a:t>
            </a:r>
            <a:r>
              <a:rPr lang="en-US" sz="1400">
                <a:latin typeface="Century Gothic" panose="020B0502020202020204" pitchFamily="34" charset="0"/>
              </a:rPr>
              <a:t> for historical reference and audits.</a:t>
            </a:r>
          </a:p>
          <a:p>
            <a:pPr marL="285750" indent="-285750">
              <a:buFont typeface="Arial" panose="020B0604020202020204" pitchFamily="34" charset="0"/>
              <a:buChar char="•"/>
            </a:pPr>
            <a:r>
              <a:rPr lang="en-US" sz="1400">
                <a:latin typeface="Century Gothic" panose="020B0502020202020204" pitchFamily="34" charset="0"/>
              </a:rPr>
              <a:t>New ERP becomes the </a:t>
            </a:r>
            <a:r>
              <a:rPr lang="en-US" sz="1400" b="1">
                <a:latin typeface="Century Gothic" panose="020B0502020202020204" pitchFamily="34" charset="0"/>
              </a:rPr>
              <a:t>system of record from go-live onward</a:t>
            </a:r>
            <a:r>
              <a:rPr lang="en-US" sz="1400">
                <a:latin typeface="Century Gothic" panose="020B0502020202020204" pitchFamily="34" charset="0"/>
              </a:rPr>
              <a:t>.</a:t>
            </a:r>
          </a:p>
          <a:p>
            <a:pPr marL="285750" indent="-285750">
              <a:buFont typeface="Arial" panose="020B0604020202020204" pitchFamily="34" charset="0"/>
              <a:buChar char="•"/>
            </a:pPr>
            <a:r>
              <a:rPr lang="en-US" sz="1400">
                <a:latin typeface="Century Gothic" panose="020B0502020202020204" pitchFamily="34" charset="0"/>
              </a:rPr>
              <a:t>Delivers </a:t>
            </a:r>
            <a:r>
              <a:rPr lang="en-US" sz="1400" b="1">
                <a:latin typeface="Century Gothic" panose="020B0502020202020204" pitchFamily="34" charset="0"/>
              </a:rPr>
              <a:t>lower risk, faster deployment, and stronger audit defensibility</a:t>
            </a:r>
            <a:r>
              <a:rPr lang="en-US" sz="1400">
                <a:latin typeface="Century Gothic" panose="020B0502020202020204" pitchFamily="34" charset="0"/>
              </a:rPr>
              <a:t>.</a:t>
            </a:r>
          </a:p>
          <a:p>
            <a:pPr>
              <a:buNone/>
            </a:pPr>
            <a:endParaRPr lang="en-US" sz="1400">
              <a:latin typeface="Century Gothic" panose="020B0502020202020204" pitchFamily="34" charset="0"/>
            </a:endParaRPr>
          </a:p>
          <a:p>
            <a:pPr>
              <a:buNone/>
            </a:pPr>
            <a:r>
              <a:rPr lang="en-US" sz="1400">
                <a:latin typeface="Century Gothic" panose="020B0502020202020204" pitchFamily="34" charset="0"/>
              </a:rPr>
              <a:t>This option aligns best with LFZDC’s phased digitization approach and public-sector governance requirements.</a:t>
            </a:r>
          </a:p>
          <a:p>
            <a:pPr>
              <a:buNone/>
            </a:pPr>
            <a:br>
              <a:rPr lang="en-US" sz="1400">
                <a:latin typeface="Century Gothic" panose="020B0502020202020204" pitchFamily="34" charset="0"/>
              </a:rPr>
            </a:br>
            <a:endParaRPr lang="en-US" sz="1400">
              <a:latin typeface="Century Gothic" panose="020B0502020202020204" pitchFamily="34" charset="0"/>
            </a:endParaRPr>
          </a:p>
          <a:p>
            <a:pPr>
              <a:buNone/>
            </a:pPr>
            <a:r>
              <a:rPr lang="en-US" sz="1400" b="1">
                <a:latin typeface="Century Gothic" panose="020B0502020202020204" pitchFamily="34" charset="0"/>
              </a:rPr>
              <a:t>Option 2: Full Historical Migration</a:t>
            </a:r>
          </a:p>
          <a:p>
            <a:pPr marL="285750" indent="-285750">
              <a:buFont typeface="Arial" panose="020B0604020202020204" pitchFamily="34" charset="0"/>
              <a:buChar char="•"/>
            </a:pPr>
            <a:r>
              <a:rPr lang="en-US" sz="1400">
                <a:latin typeface="Century Gothic" panose="020B0502020202020204" pitchFamily="34" charset="0"/>
              </a:rPr>
              <a:t>All historical financial data is fully transformed and migrated into the new ERP.</a:t>
            </a:r>
          </a:p>
          <a:p>
            <a:pPr marL="285750" indent="-285750">
              <a:buFont typeface="Arial" panose="020B0604020202020204" pitchFamily="34" charset="0"/>
              <a:buChar char="•"/>
            </a:pPr>
            <a:r>
              <a:rPr lang="en-US" sz="1400">
                <a:latin typeface="Century Gothic" panose="020B0502020202020204" pitchFamily="34" charset="0"/>
              </a:rPr>
              <a:t>SAP Business One is fully decommissioned.</a:t>
            </a:r>
          </a:p>
          <a:p>
            <a:pPr marL="285750" indent="-285750">
              <a:buFont typeface="Arial" panose="020B0604020202020204" pitchFamily="34" charset="0"/>
              <a:buChar char="•"/>
            </a:pPr>
            <a:r>
              <a:rPr lang="en-US" sz="1400">
                <a:latin typeface="Century Gothic" panose="020B0502020202020204" pitchFamily="34" charset="0"/>
              </a:rPr>
              <a:t>Provides a single system but introduces </a:t>
            </a:r>
            <a:r>
              <a:rPr lang="en-US" sz="1400" b="1">
                <a:latin typeface="Century Gothic" panose="020B0502020202020204" pitchFamily="34" charset="0"/>
              </a:rPr>
              <a:t>higher cost, longer timelines, and higher reconciliation risk</a:t>
            </a:r>
            <a:r>
              <a:rPr lang="en-US" sz="1400">
                <a:latin typeface="Century Gothic" panose="020B0502020202020204" pitchFamily="34" charset="0"/>
              </a:rPr>
              <a:t>.</a:t>
            </a:r>
          </a:p>
          <a:p>
            <a:pPr>
              <a:buNone/>
            </a:pPr>
            <a:endParaRPr lang="en-US" sz="1400">
              <a:latin typeface="Century Gothic" panose="020B0502020202020204" pitchFamily="34" charset="0"/>
            </a:endParaRPr>
          </a:p>
          <a:p>
            <a:pPr>
              <a:buNone/>
            </a:pPr>
            <a:r>
              <a:rPr lang="en-US" sz="1400">
                <a:latin typeface="Century Gothic" panose="020B0502020202020204" pitchFamily="34" charset="0"/>
              </a:rPr>
              <a:t>This option is only advisable where SAP B1 data quality is exceptionally high and historical analytics is mission-critical.</a:t>
            </a:r>
          </a:p>
        </p:txBody>
      </p:sp>
    </p:spTree>
    <p:extLst>
      <p:ext uri="{BB962C8B-B14F-4D97-AF65-F5344CB8AC3E}">
        <p14:creationId xmlns:p14="http://schemas.microsoft.com/office/powerpoint/2010/main" val="586320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4202" y="628658"/>
            <a:ext cx="9307042" cy="615553"/>
          </a:xfrm>
          <a:prstGeom prst="rect">
            <a:avLst/>
          </a:prstGeom>
        </p:spPr>
        <p:txBody>
          <a:bodyPr vert="horz" wrap="square" lIns="0" tIns="50800" rIns="0" bIns="0" rtlCol="0">
            <a:spAutoFit/>
          </a:bodyPr>
          <a:lstStyle/>
          <a:p>
            <a:pPr marL="36195">
              <a:lnSpc>
                <a:spcPct val="100000"/>
              </a:lnSpc>
              <a:spcBef>
                <a:spcPts val="400"/>
              </a:spcBef>
            </a:pPr>
            <a:r>
              <a:rPr lang="en-US" sz="2100" spc="-20" dirty="0">
                <a:latin typeface="Century Gothic" panose="020B0502020202020204" pitchFamily="34" charset="0"/>
              </a:rPr>
              <a:t>Team</a:t>
            </a:r>
            <a:r>
              <a:rPr lang="en-US" sz="2100" spc="-114" dirty="0">
                <a:latin typeface="Century Gothic" panose="020B0502020202020204" pitchFamily="34" charset="0"/>
              </a:rPr>
              <a:t> </a:t>
            </a:r>
            <a:r>
              <a:rPr lang="en-US" sz="2100" spc="-10" dirty="0">
                <a:latin typeface="Century Gothic" panose="020B0502020202020204" pitchFamily="34" charset="0"/>
              </a:rPr>
              <a:t>Composition</a:t>
            </a:r>
            <a:endParaRPr lang="en-US" sz="2100" dirty="0">
              <a:latin typeface="Century Gothic" panose="020B0502020202020204" pitchFamily="34" charset="0"/>
            </a:endParaRPr>
          </a:p>
          <a:p>
            <a:pPr marL="12700">
              <a:lnSpc>
                <a:spcPct val="100000"/>
              </a:lnSpc>
              <a:spcBef>
                <a:spcPts val="185"/>
              </a:spcBef>
            </a:pPr>
            <a:r>
              <a:rPr lang="en-US" sz="1400" b="0" spc="75" dirty="0">
                <a:solidFill>
                  <a:srgbClr val="54535A"/>
                </a:solidFill>
                <a:latin typeface="Century Gothic" panose="020B0502020202020204" pitchFamily="34" charset="0"/>
              </a:rPr>
              <a:t>Our</a:t>
            </a:r>
            <a:r>
              <a:rPr lang="en-US" sz="1400" b="0" spc="-40" dirty="0">
                <a:solidFill>
                  <a:srgbClr val="54535A"/>
                </a:solidFill>
                <a:latin typeface="Century Gothic" panose="020B0502020202020204" pitchFamily="34" charset="0"/>
              </a:rPr>
              <a:t> </a:t>
            </a:r>
            <a:r>
              <a:rPr lang="en-US" sz="1400" b="0" spc="100" dirty="0">
                <a:solidFill>
                  <a:srgbClr val="54535A"/>
                </a:solidFill>
                <a:latin typeface="Century Gothic" panose="020B0502020202020204" pitchFamily="34" charset="0"/>
              </a:rPr>
              <a:t>proposed</a:t>
            </a:r>
            <a:r>
              <a:rPr lang="en-US" sz="1400" b="0" spc="-60" dirty="0">
                <a:solidFill>
                  <a:srgbClr val="54535A"/>
                </a:solidFill>
                <a:latin typeface="Century Gothic" panose="020B0502020202020204" pitchFamily="34" charset="0"/>
              </a:rPr>
              <a:t> </a:t>
            </a:r>
            <a:r>
              <a:rPr lang="en-US" sz="1400" b="0" spc="-10" dirty="0">
                <a:solidFill>
                  <a:srgbClr val="54535A"/>
                </a:solidFill>
                <a:latin typeface="Century Gothic" panose="020B0502020202020204" pitchFamily="34" charset="0"/>
              </a:rPr>
              <a:t>Heirs</a:t>
            </a:r>
            <a:r>
              <a:rPr lang="en-US" sz="1400" b="0" spc="-70" dirty="0">
                <a:solidFill>
                  <a:srgbClr val="54535A"/>
                </a:solidFill>
                <a:latin typeface="Century Gothic" panose="020B0502020202020204" pitchFamily="34" charset="0"/>
              </a:rPr>
              <a:t> </a:t>
            </a:r>
            <a:r>
              <a:rPr lang="en-US" sz="1400" b="0" spc="65" dirty="0">
                <a:solidFill>
                  <a:srgbClr val="54535A"/>
                </a:solidFill>
                <a:latin typeface="Century Gothic" panose="020B0502020202020204" pitchFamily="34" charset="0"/>
              </a:rPr>
              <a:t>Tech</a:t>
            </a:r>
            <a:r>
              <a:rPr lang="en-US" sz="1400" b="0" spc="-45" dirty="0">
                <a:solidFill>
                  <a:srgbClr val="54535A"/>
                </a:solidFill>
                <a:latin typeface="Century Gothic" panose="020B0502020202020204" pitchFamily="34" charset="0"/>
              </a:rPr>
              <a:t> </a:t>
            </a:r>
            <a:r>
              <a:rPr lang="en-US" sz="1400" b="0" spc="130" dirty="0">
                <a:solidFill>
                  <a:srgbClr val="54535A"/>
                </a:solidFill>
                <a:latin typeface="Century Gothic" panose="020B0502020202020204" pitchFamily="34" charset="0"/>
              </a:rPr>
              <a:t>team</a:t>
            </a:r>
            <a:r>
              <a:rPr lang="en-US" sz="1400" b="0" spc="-30" dirty="0">
                <a:solidFill>
                  <a:srgbClr val="54535A"/>
                </a:solidFill>
                <a:latin typeface="Century Gothic" panose="020B0502020202020204" pitchFamily="34" charset="0"/>
              </a:rPr>
              <a:t> </a:t>
            </a:r>
            <a:r>
              <a:rPr lang="en-US" sz="1400" b="0" spc="70" dirty="0">
                <a:solidFill>
                  <a:srgbClr val="54535A"/>
                </a:solidFill>
                <a:latin typeface="Century Gothic" panose="020B0502020202020204" pitchFamily="34" charset="0"/>
              </a:rPr>
              <a:t>of</a:t>
            </a:r>
            <a:r>
              <a:rPr lang="en-US" sz="1400" b="0" spc="-45" dirty="0">
                <a:solidFill>
                  <a:srgbClr val="54535A"/>
                </a:solidFill>
                <a:latin typeface="Century Gothic" panose="020B0502020202020204" pitchFamily="34" charset="0"/>
              </a:rPr>
              <a:t> </a:t>
            </a:r>
            <a:r>
              <a:rPr lang="en-US" sz="1400" b="0" spc="45" dirty="0">
                <a:solidFill>
                  <a:srgbClr val="54535A"/>
                </a:solidFill>
                <a:latin typeface="Century Gothic" panose="020B0502020202020204" pitchFamily="34" charset="0"/>
              </a:rPr>
              <a:t>experts</a:t>
            </a:r>
            <a:r>
              <a:rPr lang="en-US" sz="1400" b="0" spc="-40" dirty="0">
                <a:solidFill>
                  <a:srgbClr val="54535A"/>
                </a:solidFill>
                <a:latin typeface="Century Gothic" panose="020B0502020202020204" pitchFamily="34" charset="0"/>
              </a:rPr>
              <a:t> </a:t>
            </a:r>
            <a:r>
              <a:rPr lang="en-US" sz="1400" b="0" dirty="0">
                <a:solidFill>
                  <a:srgbClr val="54535A"/>
                </a:solidFill>
                <a:latin typeface="Century Gothic" panose="020B0502020202020204" pitchFamily="34" charset="0"/>
              </a:rPr>
              <a:t>will</a:t>
            </a:r>
            <a:r>
              <a:rPr lang="en-US" sz="1400" b="0" spc="-75" dirty="0">
                <a:solidFill>
                  <a:srgbClr val="54535A"/>
                </a:solidFill>
                <a:latin typeface="Century Gothic" panose="020B0502020202020204" pitchFamily="34" charset="0"/>
              </a:rPr>
              <a:t> </a:t>
            </a:r>
            <a:r>
              <a:rPr lang="en-US" sz="1400" b="0" spc="50" dirty="0">
                <a:solidFill>
                  <a:srgbClr val="54535A"/>
                </a:solidFill>
                <a:latin typeface="Century Gothic" panose="020B0502020202020204" pitchFamily="34" charset="0"/>
              </a:rPr>
              <a:t>ensure</a:t>
            </a:r>
            <a:r>
              <a:rPr lang="en-US" sz="1400" b="0" spc="-25" dirty="0">
                <a:solidFill>
                  <a:srgbClr val="54535A"/>
                </a:solidFill>
                <a:latin typeface="Century Gothic" panose="020B0502020202020204" pitchFamily="34" charset="0"/>
              </a:rPr>
              <a:t> </a:t>
            </a:r>
            <a:r>
              <a:rPr lang="en-US" sz="1400" b="0" spc="45" dirty="0">
                <a:solidFill>
                  <a:srgbClr val="54535A"/>
                </a:solidFill>
                <a:latin typeface="Century Gothic" panose="020B0502020202020204" pitchFamily="34" charset="0"/>
              </a:rPr>
              <a:t>successful</a:t>
            </a:r>
            <a:r>
              <a:rPr lang="en-US" sz="1400" b="0" spc="-70" dirty="0">
                <a:solidFill>
                  <a:srgbClr val="54535A"/>
                </a:solidFill>
                <a:latin typeface="Century Gothic" panose="020B0502020202020204" pitchFamily="34" charset="0"/>
              </a:rPr>
              <a:t> </a:t>
            </a:r>
            <a:r>
              <a:rPr lang="en-US" sz="1400" b="0" spc="75" dirty="0">
                <a:solidFill>
                  <a:srgbClr val="54535A"/>
                </a:solidFill>
                <a:latin typeface="Century Gothic" panose="020B0502020202020204" pitchFamily="34" charset="0"/>
              </a:rPr>
              <a:t>project</a:t>
            </a:r>
            <a:r>
              <a:rPr lang="en-US" sz="1400" b="0" spc="-55" dirty="0">
                <a:solidFill>
                  <a:srgbClr val="54535A"/>
                </a:solidFill>
                <a:latin typeface="Century Gothic" panose="020B0502020202020204" pitchFamily="34" charset="0"/>
              </a:rPr>
              <a:t> </a:t>
            </a:r>
            <a:r>
              <a:rPr lang="en-US" sz="1400" b="0" spc="55" dirty="0">
                <a:solidFill>
                  <a:srgbClr val="54535A"/>
                </a:solidFill>
                <a:latin typeface="Century Gothic" panose="020B0502020202020204" pitchFamily="34" charset="0"/>
              </a:rPr>
              <a:t>delivery</a:t>
            </a:r>
            <a:r>
              <a:rPr lang="en-US" sz="1400" b="0" spc="-75" dirty="0">
                <a:solidFill>
                  <a:srgbClr val="54535A"/>
                </a:solidFill>
                <a:latin typeface="Century Gothic" panose="020B0502020202020204" pitchFamily="34" charset="0"/>
              </a:rPr>
              <a:t> </a:t>
            </a:r>
            <a:r>
              <a:rPr lang="en-US" sz="1400" b="0" dirty="0">
                <a:solidFill>
                  <a:srgbClr val="54535A"/>
                </a:solidFill>
                <a:latin typeface="Century Gothic" panose="020B0502020202020204" pitchFamily="34" charset="0"/>
              </a:rPr>
              <a:t>for</a:t>
            </a:r>
            <a:r>
              <a:rPr lang="en-US" sz="1400" b="0" spc="-25" dirty="0">
                <a:solidFill>
                  <a:srgbClr val="54535A"/>
                </a:solidFill>
                <a:latin typeface="Century Gothic" panose="020B0502020202020204" pitchFamily="34" charset="0"/>
              </a:rPr>
              <a:t> </a:t>
            </a:r>
            <a:r>
              <a:rPr lang="en-US" sz="1400" b="0" spc="-10" dirty="0">
                <a:solidFill>
                  <a:srgbClr val="54535A"/>
                </a:solidFill>
                <a:latin typeface="Century Gothic" panose="020B0502020202020204" pitchFamily="34" charset="0"/>
              </a:rPr>
              <a:t>LFTZDC</a:t>
            </a:r>
            <a:endParaRPr lang="en-US" sz="1400" dirty="0">
              <a:latin typeface="Century Gothic" panose="020B0502020202020204" pitchFamily="34" charset="0"/>
            </a:endParaRPr>
          </a:p>
        </p:txBody>
      </p:sp>
      <p:sp>
        <p:nvSpPr>
          <p:cNvPr id="3" name="object 3"/>
          <p:cNvSpPr/>
          <p:nvPr/>
        </p:nvSpPr>
        <p:spPr>
          <a:xfrm>
            <a:off x="9507981" y="1286268"/>
            <a:ext cx="2108835" cy="4862830"/>
          </a:xfrm>
          <a:custGeom>
            <a:avLst/>
            <a:gdLst/>
            <a:ahLst/>
            <a:cxnLst/>
            <a:rect l="l" t="t" r="r" b="b"/>
            <a:pathLst>
              <a:path w="2108834" h="4862830">
                <a:moveTo>
                  <a:pt x="2108454" y="0"/>
                </a:moveTo>
                <a:lnTo>
                  <a:pt x="0" y="0"/>
                </a:lnTo>
                <a:lnTo>
                  <a:pt x="0" y="4862703"/>
                </a:lnTo>
                <a:lnTo>
                  <a:pt x="2108454" y="4862703"/>
                </a:lnTo>
                <a:lnTo>
                  <a:pt x="2108454"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 name="object 4"/>
          <p:cNvGrpSpPr/>
          <p:nvPr/>
        </p:nvGrpSpPr>
        <p:grpSpPr>
          <a:xfrm>
            <a:off x="555790" y="3134245"/>
            <a:ext cx="8843645" cy="3014980"/>
            <a:chOff x="555790" y="3134245"/>
            <a:chExt cx="8843645" cy="3014980"/>
          </a:xfrm>
        </p:grpSpPr>
        <p:sp>
          <p:nvSpPr>
            <p:cNvPr id="5" name="object 5"/>
            <p:cNvSpPr/>
            <p:nvPr/>
          </p:nvSpPr>
          <p:spPr>
            <a:xfrm>
              <a:off x="555790" y="3134245"/>
              <a:ext cx="8843645" cy="3014980"/>
            </a:xfrm>
            <a:custGeom>
              <a:avLst/>
              <a:gdLst/>
              <a:ahLst/>
              <a:cxnLst/>
              <a:rect l="l" t="t" r="r" b="b"/>
              <a:pathLst>
                <a:path w="8843645" h="3014979">
                  <a:moveTo>
                    <a:pt x="8843645" y="0"/>
                  </a:moveTo>
                  <a:lnTo>
                    <a:pt x="0" y="0"/>
                  </a:lnTo>
                  <a:lnTo>
                    <a:pt x="0" y="3014726"/>
                  </a:lnTo>
                  <a:lnTo>
                    <a:pt x="8843645" y="3014726"/>
                  </a:lnTo>
                  <a:lnTo>
                    <a:pt x="8843645"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p:cNvSpPr/>
            <p:nvPr/>
          </p:nvSpPr>
          <p:spPr>
            <a:xfrm>
              <a:off x="671753" y="3529838"/>
              <a:ext cx="2073910" cy="0"/>
            </a:xfrm>
            <a:custGeom>
              <a:avLst/>
              <a:gdLst/>
              <a:ahLst/>
              <a:cxnLst/>
              <a:rect l="l" t="t" r="r" b="b"/>
              <a:pathLst>
                <a:path w="2073910">
                  <a:moveTo>
                    <a:pt x="0" y="0"/>
                  </a:moveTo>
                  <a:lnTo>
                    <a:pt x="2073478" y="0"/>
                  </a:lnTo>
                </a:path>
              </a:pathLst>
            </a:custGeom>
            <a:ln w="381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7434326" y="3621531"/>
              <a:ext cx="1793875" cy="563880"/>
            </a:xfrm>
            <a:custGeom>
              <a:avLst/>
              <a:gdLst/>
              <a:ahLst/>
              <a:cxnLst/>
              <a:rect l="l" t="t" r="r" b="b"/>
              <a:pathLst>
                <a:path w="1793875" h="563879">
                  <a:moveTo>
                    <a:pt x="1699514" y="0"/>
                  </a:moveTo>
                  <a:lnTo>
                    <a:pt x="93852" y="0"/>
                  </a:lnTo>
                  <a:lnTo>
                    <a:pt x="57328" y="7379"/>
                  </a:lnTo>
                  <a:lnTo>
                    <a:pt x="27495" y="27511"/>
                  </a:lnTo>
                  <a:lnTo>
                    <a:pt x="7377" y="57382"/>
                  </a:lnTo>
                  <a:lnTo>
                    <a:pt x="0" y="93980"/>
                  </a:lnTo>
                  <a:lnTo>
                    <a:pt x="0" y="469646"/>
                  </a:lnTo>
                  <a:lnTo>
                    <a:pt x="7377" y="506243"/>
                  </a:lnTo>
                  <a:lnTo>
                    <a:pt x="27495" y="536114"/>
                  </a:lnTo>
                  <a:lnTo>
                    <a:pt x="57328" y="556246"/>
                  </a:lnTo>
                  <a:lnTo>
                    <a:pt x="93852" y="563626"/>
                  </a:lnTo>
                  <a:lnTo>
                    <a:pt x="1699514" y="563626"/>
                  </a:lnTo>
                  <a:lnTo>
                    <a:pt x="1736111" y="556246"/>
                  </a:lnTo>
                  <a:lnTo>
                    <a:pt x="1765982" y="536114"/>
                  </a:lnTo>
                  <a:lnTo>
                    <a:pt x="1786114" y="506243"/>
                  </a:lnTo>
                  <a:lnTo>
                    <a:pt x="1793494" y="469646"/>
                  </a:lnTo>
                  <a:lnTo>
                    <a:pt x="1793494" y="93980"/>
                  </a:lnTo>
                  <a:lnTo>
                    <a:pt x="1786114" y="57382"/>
                  </a:lnTo>
                  <a:lnTo>
                    <a:pt x="1765982" y="27511"/>
                  </a:lnTo>
                  <a:lnTo>
                    <a:pt x="1736111" y="7379"/>
                  </a:lnTo>
                  <a:lnTo>
                    <a:pt x="1699514"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7434326" y="3621531"/>
              <a:ext cx="1793875" cy="563880"/>
            </a:xfrm>
            <a:custGeom>
              <a:avLst/>
              <a:gdLst/>
              <a:ahLst/>
              <a:cxnLst/>
              <a:rect l="l" t="t" r="r" b="b"/>
              <a:pathLst>
                <a:path w="1793875" h="563879">
                  <a:moveTo>
                    <a:pt x="0" y="93980"/>
                  </a:moveTo>
                  <a:lnTo>
                    <a:pt x="7377" y="57382"/>
                  </a:lnTo>
                  <a:lnTo>
                    <a:pt x="27495" y="27511"/>
                  </a:lnTo>
                  <a:lnTo>
                    <a:pt x="57328" y="7379"/>
                  </a:lnTo>
                  <a:lnTo>
                    <a:pt x="93852" y="0"/>
                  </a:lnTo>
                  <a:lnTo>
                    <a:pt x="1699514" y="0"/>
                  </a:lnTo>
                  <a:lnTo>
                    <a:pt x="1736111" y="7379"/>
                  </a:lnTo>
                  <a:lnTo>
                    <a:pt x="1765982" y="27511"/>
                  </a:lnTo>
                  <a:lnTo>
                    <a:pt x="1786114" y="57382"/>
                  </a:lnTo>
                  <a:lnTo>
                    <a:pt x="1793494" y="93980"/>
                  </a:lnTo>
                  <a:lnTo>
                    <a:pt x="1793494" y="469646"/>
                  </a:lnTo>
                  <a:lnTo>
                    <a:pt x="1786114" y="506243"/>
                  </a:lnTo>
                  <a:lnTo>
                    <a:pt x="1765982" y="536114"/>
                  </a:lnTo>
                  <a:lnTo>
                    <a:pt x="1736111" y="556246"/>
                  </a:lnTo>
                  <a:lnTo>
                    <a:pt x="1699514" y="563626"/>
                  </a:lnTo>
                  <a:lnTo>
                    <a:pt x="93852" y="563626"/>
                  </a:lnTo>
                  <a:lnTo>
                    <a:pt x="57328" y="556246"/>
                  </a:lnTo>
                  <a:lnTo>
                    <a:pt x="27495" y="536114"/>
                  </a:lnTo>
                  <a:lnTo>
                    <a:pt x="7377" y="506243"/>
                  </a:lnTo>
                  <a:lnTo>
                    <a:pt x="0" y="469646"/>
                  </a:lnTo>
                  <a:lnTo>
                    <a:pt x="0" y="93980"/>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9" name="object 9"/>
          <p:cNvGrpSpPr/>
          <p:nvPr/>
        </p:nvGrpSpPr>
        <p:grpSpPr>
          <a:xfrm>
            <a:off x="575449" y="1290700"/>
            <a:ext cx="8824595" cy="1635760"/>
            <a:chOff x="575449" y="1290700"/>
            <a:chExt cx="8824595" cy="1635760"/>
          </a:xfrm>
        </p:grpSpPr>
        <p:sp>
          <p:nvSpPr>
            <p:cNvPr id="10" name="object 10"/>
            <p:cNvSpPr/>
            <p:nvPr/>
          </p:nvSpPr>
          <p:spPr>
            <a:xfrm>
              <a:off x="575449" y="1290700"/>
              <a:ext cx="8824595" cy="1635760"/>
            </a:xfrm>
            <a:custGeom>
              <a:avLst/>
              <a:gdLst/>
              <a:ahLst/>
              <a:cxnLst/>
              <a:rect l="l" t="t" r="r" b="b"/>
              <a:pathLst>
                <a:path w="8824595" h="1635760">
                  <a:moveTo>
                    <a:pt x="8824087" y="0"/>
                  </a:moveTo>
                  <a:lnTo>
                    <a:pt x="0" y="0"/>
                  </a:lnTo>
                  <a:lnTo>
                    <a:pt x="0" y="1635378"/>
                  </a:lnTo>
                  <a:lnTo>
                    <a:pt x="8824087" y="1635378"/>
                  </a:lnTo>
                  <a:lnTo>
                    <a:pt x="8824087" y="0"/>
                  </a:lnTo>
                  <a:close/>
                </a:path>
              </a:pathLst>
            </a:custGeom>
            <a:solidFill>
              <a:srgbClr val="F1F1F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p:nvPr/>
          </p:nvSpPr>
          <p:spPr>
            <a:xfrm>
              <a:off x="671753" y="1998471"/>
              <a:ext cx="2490470" cy="0"/>
            </a:xfrm>
            <a:custGeom>
              <a:avLst/>
              <a:gdLst/>
              <a:ahLst/>
              <a:cxnLst/>
              <a:rect l="l" t="t" r="r" b="b"/>
              <a:pathLst>
                <a:path w="2490470">
                  <a:moveTo>
                    <a:pt x="0" y="0"/>
                  </a:moveTo>
                  <a:lnTo>
                    <a:pt x="2489911" y="0"/>
                  </a:lnTo>
                </a:path>
              </a:pathLst>
            </a:custGeom>
            <a:ln w="381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2" name="object 12"/>
          <p:cNvSpPr txBox="1"/>
          <p:nvPr/>
        </p:nvSpPr>
        <p:spPr>
          <a:xfrm>
            <a:off x="679704" y="1671573"/>
            <a:ext cx="2413635" cy="269240"/>
          </a:xfrm>
          <a:prstGeom prst="rect">
            <a:avLst/>
          </a:prstGeom>
        </p:spPr>
        <p:txBody>
          <a:bodyPr vert="horz" wrap="square" lIns="0" tIns="12065" rIns="0" bIns="0" rtlCol="0">
            <a:spAutoFit/>
          </a:bodyPr>
          <a:lstStyle/>
          <a:p>
            <a:pPr marL="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20" normalizeH="0" baseline="0" noProof="0">
                <a:ln>
                  <a:noFill/>
                </a:ln>
                <a:solidFill>
                  <a:srgbClr val="54535A"/>
                </a:solidFill>
                <a:effectLst/>
                <a:uLnTx/>
                <a:uFillTx/>
                <a:latin typeface="Tahoma"/>
                <a:cs typeface="Tahoma"/>
              </a:rPr>
              <a:t>Engagement</a:t>
            </a:r>
            <a:r>
              <a:rPr kumimoji="0" sz="1600" b="1" i="0" u="none" strike="noStrike" kern="0" cap="none" spc="-40" normalizeH="0" baseline="0" noProof="0">
                <a:ln>
                  <a:noFill/>
                </a:ln>
                <a:solidFill>
                  <a:srgbClr val="54535A"/>
                </a:solidFill>
                <a:effectLst/>
                <a:uLnTx/>
                <a:uFillTx/>
                <a:latin typeface="Tahoma"/>
                <a:cs typeface="Tahoma"/>
              </a:rPr>
              <a:t> </a:t>
            </a:r>
            <a:r>
              <a:rPr kumimoji="0" sz="1600" b="1" i="0" u="none" strike="noStrike" kern="0" cap="none" spc="-30" normalizeH="0" baseline="0" noProof="0">
                <a:ln>
                  <a:noFill/>
                </a:ln>
                <a:solidFill>
                  <a:srgbClr val="54535A"/>
                </a:solidFill>
                <a:effectLst/>
                <a:uLnTx/>
                <a:uFillTx/>
                <a:latin typeface="Tahoma"/>
                <a:cs typeface="Tahoma"/>
              </a:rPr>
              <a:t>Leadership</a:t>
            </a:r>
            <a:endParaRPr kumimoji="0" sz="1600" b="0" i="0" u="none" strike="noStrike" kern="0" cap="none" spc="0" normalizeH="0" baseline="0" noProof="0">
              <a:ln>
                <a:noFill/>
              </a:ln>
              <a:solidFill>
                <a:sysClr val="windowText" lastClr="000000"/>
              </a:solidFill>
              <a:effectLst/>
              <a:uLnTx/>
              <a:uFillTx/>
              <a:latin typeface="Tahoma"/>
              <a:cs typeface="Tahoma"/>
            </a:endParaRPr>
          </a:p>
        </p:txBody>
      </p:sp>
      <p:sp>
        <p:nvSpPr>
          <p:cNvPr id="13" name="object 13"/>
          <p:cNvSpPr txBox="1"/>
          <p:nvPr/>
        </p:nvSpPr>
        <p:spPr>
          <a:xfrm>
            <a:off x="1327150" y="6187236"/>
            <a:ext cx="949134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1" u="none" strike="noStrike" kern="0" cap="none" spc="-85" normalizeH="0" baseline="0" noProof="0" dirty="0">
                <a:ln>
                  <a:noFill/>
                </a:ln>
                <a:solidFill>
                  <a:srgbClr val="54535A"/>
                </a:solidFill>
                <a:effectLst/>
                <a:uLnTx/>
                <a:uFillTx/>
                <a:latin typeface="Verdana"/>
                <a:cs typeface="Verdana"/>
              </a:rPr>
              <a:t>Full</a:t>
            </a:r>
            <a:r>
              <a:rPr kumimoji="0" sz="1200" b="0" i="1" u="none" strike="noStrike" kern="0" cap="none" spc="-45" normalizeH="0" baseline="0" noProof="0" dirty="0">
                <a:ln>
                  <a:noFill/>
                </a:ln>
                <a:solidFill>
                  <a:srgbClr val="54535A"/>
                </a:solidFill>
                <a:effectLst/>
                <a:uLnTx/>
                <a:uFillTx/>
                <a:latin typeface="Verdana"/>
                <a:cs typeface="Verdana"/>
              </a:rPr>
              <a:t> </a:t>
            </a:r>
            <a:r>
              <a:rPr kumimoji="0" sz="1200" b="0" i="1" u="none" strike="noStrike" kern="0" cap="none" spc="-40" normalizeH="0" baseline="0" noProof="0" dirty="0">
                <a:ln>
                  <a:noFill/>
                </a:ln>
                <a:solidFill>
                  <a:srgbClr val="54535A"/>
                </a:solidFill>
                <a:effectLst/>
                <a:uLnTx/>
                <a:uFillTx/>
                <a:latin typeface="Verdana"/>
                <a:cs typeface="Verdana"/>
              </a:rPr>
              <a:t>time</a:t>
            </a:r>
            <a:r>
              <a:rPr kumimoji="0" sz="1200" b="0" i="1" u="none" strike="noStrike" kern="0" cap="none" spc="-60" normalizeH="0" baseline="0" noProof="0" dirty="0">
                <a:ln>
                  <a:noFill/>
                </a:ln>
                <a:solidFill>
                  <a:srgbClr val="54535A"/>
                </a:solidFill>
                <a:effectLst/>
                <a:uLnTx/>
                <a:uFillTx/>
                <a:latin typeface="Verdana"/>
                <a:cs typeface="Verdana"/>
              </a:rPr>
              <a:t> </a:t>
            </a:r>
            <a:r>
              <a:rPr kumimoji="0" sz="1200" b="0" i="1" u="none" strike="noStrike" kern="0" cap="none" spc="45" normalizeH="0" baseline="0" noProof="0" dirty="0">
                <a:ln>
                  <a:noFill/>
                </a:ln>
                <a:solidFill>
                  <a:srgbClr val="54535A"/>
                </a:solidFill>
                <a:effectLst/>
                <a:uLnTx/>
                <a:uFillTx/>
                <a:latin typeface="Verdana"/>
                <a:cs typeface="Verdana"/>
              </a:rPr>
              <a:t>dedicated</a:t>
            </a:r>
            <a:r>
              <a:rPr kumimoji="0" sz="1200" b="0" i="1" u="none" strike="noStrike" kern="0" cap="none" spc="-65" normalizeH="0" baseline="0" noProof="0" dirty="0">
                <a:ln>
                  <a:noFill/>
                </a:ln>
                <a:solidFill>
                  <a:srgbClr val="54535A"/>
                </a:solidFill>
                <a:effectLst/>
                <a:uLnTx/>
                <a:uFillTx/>
                <a:latin typeface="Verdana"/>
                <a:cs typeface="Verdana"/>
              </a:rPr>
              <a:t> </a:t>
            </a:r>
            <a:r>
              <a:rPr kumimoji="0" sz="1200" b="0" i="1" u="none" strike="noStrike" kern="0" cap="none" spc="-45" normalizeH="0" baseline="0" noProof="0" dirty="0">
                <a:ln>
                  <a:noFill/>
                </a:ln>
                <a:solidFill>
                  <a:srgbClr val="54535A"/>
                </a:solidFill>
                <a:effectLst/>
                <a:uLnTx/>
                <a:uFillTx/>
                <a:latin typeface="Verdana"/>
                <a:cs typeface="Verdana"/>
              </a:rPr>
              <a:t>resources</a:t>
            </a:r>
            <a:r>
              <a:rPr kumimoji="0" sz="1200" b="0" i="1" u="none" strike="noStrike" kern="0" cap="none" spc="-55" normalizeH="0" baseline="0" noProof="0" dirty="0">
                <a:ln>
                  <a:noFill/>
                </a:ln>
                <a:solidFill>
                  <a:srgbClr val="54535A"/>
                </a:solidFill>
                <a:effectLst/>
                <a:uLnTx/>
                <a:uFillTx/>
                <a:latin typeface="Verdana"/>
                <a:cs typeface="Verdana"/>
              </a:rPr>
              <a:t> </a:t>
            </a:r>
            <a:r>
              <a:rPr kumimoji="0" sz="1200" b="0" i="1" u="none" strike="noStrike" kern="0" cap="none" spc="0" normalizeH="0" baseline="0" noProof="0" dirty="0">
                <a:ln>
                  <a:noFill/>
                </a:ln>
                <a:solidFill>
                  <a:srgbClr val="54535A"/>
                </a:solidFill>
                <a:effectLst/>
                <a:uLnTx/>
                <a:uFillTx/>
                <a:latin typeface="Verdana"/>
                <a:cs typeface="Verdana"/>
              </a:rPr>
              <a:t>are</a:t>
            </a:r>
            <a:r>
              <a:rPr kumimoji="0" sz="1200" b="0" i="1" u="none" strike="noStrike" kern="0" cap="none" spc="-25" normalizeH="0" baseline="0" noProof="0" dirty="0">
                <a:ln>
                  <a:noFill/>
                </a:ln>
                <a:solidFill>
                  <a:srgbClr val="54535A"/>
                </a:solidFill>
                <a:effectLst/>
                <a:uLnTx/>
                <a:uFillTx/>
                <a:latin typeface="Verdana"/>
                <a:cs typeface="Verdana"/>
              </a:rPr>
              <a:t> </a:t>
            </a:r>
            <a:r>
              <a:rPr kumimoji="0" sz="1200" b="0" i="1" u="none" strike="noStrike" kern="0" cap="none" spc="-30" normalizeH="0" baseline="0" noProof="0" dirty="0">
                <a:ln>
                  <a:noFill/>
                </a:ln>
                <a:solidFill>
                  <a:srgbClr val="54535A"/>
                </a:solidFill>
                <a:effectLst/>
                <a:uLnTx/>
                <a:uFillTx/>
                <a:latin typeface="Verdana"/>
                <a:cs typeface="Verdana"/>
              </a:rPr>
              <a:t>subject</a:t>
            </a:r>
            <a:r>
              <a:rPr kumimoji="0" sz="1200" b="0" i="1" u="none" strike="noStrike" kern="0" cap="none" spc="-55" normalizeH="0" baseline="0" noProof="0" dirty="0">
                <a:ln>
                  <a:noFill/>
                </a:ln>
                <a:solidFill>
                  <a:srgbClr val="54535A"/>
                </a:solidFill>
                <a:effectLst/>
                <a:uLnTx/>
                <a:uFillTx/>
                <a:latin typeface="Verdana"/>
                <a:cs typeface="Verdana"/>
              </a:rPr>
              <a:t> </a:t>
            </a:r>
            <a:r>
              <a:rPr kumimoji="0" sz="1200" b="0" i="1" u="none" strike="noStrike" kern="0" cap="none" spc="0" normalizeH="0" baseline="0" noProof="0" dirty="0">
                <a:ln>
                  <a:noFill/>
                </a:ln>
                <a:solidFill>
                  <a:srgbClr val="54535A"/>
                </a:solidFill>
                <a:effectLst/>
                <a:uLnTx/>
                <a:uFillTx/>
                <a:latin typeface="Verdana"/>
                <a:cs typeface="Verdana"/>
              </a:rPr>
              <a:t>to</a:t>
            </a:r>
            <a:r>
              <a:rPr kumimoji="0" sz="1200" b="0" i="1" u="none" strike="noStrike" kern="0" cap="none" spc="-45" normalizeH="0" baseline="0" noProof="0" dirty="0">
                <a:ln>
                  <a:noFill/>
                </a:ln>
                <a:solidFill>
                  <a:srgbClr val="54535A"/>
                </a:solidFill>
                <a:effectLst/>
                <a:uLnTx/>
                <a:uFillTx/>
                <a:latin typeface="Verdana"/>
                <a:cs typeface="Verdana"/>
              </a:rPr>
              <a:t> </a:t>
            </a:r>
            <a:r>
              <a:rPr kumimoji="0" sz="1200" b="0" i="1" u="none" strike="noStrike" kern="0" cap="none" spc="-35" normalizeH="0" baseline="0" noProof="0" dirty="0">
                <a:ln>
                  <a:noFill/>
                </a:ln>
                <a:solidFill>
                  <a:srgbClr val="54535A"/>
                </a:solidFill>
                <a:effectLst/>
                <a:uLnTx/>
                <a:uFillTx/>
                <a:latin typeface="Verdana"/>
                <a:cs typeface="Verdana"/>
              </a:rPr>
              <a:t>availability.</a:t>
            </a:r>
            <a:r>
              <a:rPr kumimoji="0" sz="1200" b="0" i="1" u="none" strike="noStrike" kern="0" cap="none" spc="-65" normalizeH="0" baseline="0" noProof="0" dirty="0">
                <a:ln>
                  <a:noFill/>
                </a:ln>
                <a:solidFill>
                  <a:srgbClr val="54535A"/>
                </a:solidFill>
                <a:effectLst/>
                <a:uLnTx/>
                <a:uFillTx/>
                <a:latin typeface="Verdana"/>
                <a:cs typeface="Verdana"/>
              </a:rPr>
              <a:t> </a:t>
            </a:r>
            <a:r>
              <a:rPr kumimoji="0" sz="1200" b="0" i="1" u="none" strike="noStrike" kern="0" cap="none" spc="-50" normalizeH="0" baseline="0" noProof="0" dirty="0">
                <a:ln>
                  <a:noFill/>
                </a:ln>
                <a:solidFill>
                  <a:srgbClr val="54535A"/>
                </a:solidFill>
                <a:effectLst/>
                <a:uLnTx/>
                <a:uFillTx/>
                <a:latin typeface="Verdana"/>
                <a:cs typeface="Verdana"/>
              </a:rPr>
              <a:t>Support</a:t>
            </a:r>
            <a:r>
              <a:rPr kumimoji="0" sz="1200" b="0" i="1" u="none" strike="noStrike" kern="0" cap="none" spc="-35" normalizeH="0" baseline="0" noProof="0" dirty="0">
                <a:ln>
                  <a:noFill/>
                </a:ln>
                <a:solidFill>
                  <a:srgbClr val="54535A"/>
                </a:solidFill>
                <a:effectLst/>
                <a:uLnTx/>
                <a:uFillTx/>
                <a:latin typeface="Verdana"/>
                <a:cs typeface="Verdana"/>
              </a:rPr>
              <a:t> teams</a:t>
            </a:r>
            <a:r>
              <a:rPr kumimoji="0" sz="1200" b="0" i="1" u="none" strike="noStrike" kern="0" cap="none" spc="-45" normalizeH="0" baseline="0" noProof="0" dirty="0">
                <a:ln>
                  <a:noFill/>
                </a:ln>
                <a:solidFill>
                  <a:srgbClr val="54535A"/>
                </a:solidFill>
                <a:effectLst/>
                <a:uLnTx/>
                <a:uFillTx/>
                <a:latin typeface="Verdana"/>
                <a:cs typeface="Verdana"/>
              </a:rPr>
              <a:t> </a:t>
            </a:r>
            <a:r>
              <a:rPr kumimoji="0" sz="1200" b="0" i="1" u="none" strike="noStrike" kern="0" cap="none" spc="-70" normalizeH="0" baseline="0" noProof="0" dirty="0">
                <a:ln>
                  <a:noFill/>
                </a:ln>
                <a:solidFill>
                  <a:srgbClr val="54535A"/>
                </a:solidFill>
                <a:effectLst/>
                <a:uLnTx/>
                <a:uFillTx/>
                <a:latin typeface="Verdana"/>
                <a:cs typeface="Verdana"/>
              </a:rPr>
              <a:t>will</a:t>
            </a:r>
            <a:r>
              <a:rPr kumimoji="0" sz="1200" b="0" i="1" u="none" strike="noStrike" kern="0" cap="none" spc="-60" normalizeH="0" baseline="0" noProof="0" dirty="0">
                <a:ln>
                  <a:noFill/>
                </a:ln>
                <a:solidFill>
                  <a:srgbClr val="54535A"/>
                </a:solidFill>
                <a:effectLst/>
                <a:uLnTx/>
                <a:uFillTx/>
                <a:latin typeface="Verdana"/>
                <a:cs typeface="Verdana"/>
              </a:rPr>
              <a:t> </a:t>
            </a:r>
            <a:r>
              <a:rPr kumimoji="0" sz="1200" b="0" i="1" u="none" strike="noStrike" kern="0" cap="none" spc="65" normalizeH="0" baseline="0" noProof="0" dirty="0">
                <a:ln>
                  <a:noFill/>
                </a:ln>
                <a:solidFill>
                  <a:srgbClr val="54535A"/>
                </a:solidFill>
                <a:effectLst/>
                <a:uLnTx/>
                <a:uFillTx/>
                <a:latin typeface="Verdana"/>
                <a:cs typeface="Verdana"/>
              </a:rPr>
              <a:t>be</a:t>
            </a:r>
            <a:r>
              <a:rPr kumimoji="0" sz="1200" b="0" i="1" u="none" strike="noStrike" kern="0" cap="none" spc="-35" normalizeH="0" baseline="0" noProof="0" dirty="0">
                <a:ln>
                  <a:noFill/>
                </a:ln>
                <a:solidFill>
                  <a:srgbClr val="54535A"/>
                </a:solidFill>
                <a:effectLst/>
                <a:uLnTx/>
                <a:uFillTx/>
                <a:latin typeface="Verdana"/>
                <a:cs typeface="Verdana"/>
              </a:rPr>
              <a:t> </a:t>
            </a:r>
            <a:r>
              <a:rPr kumimoji="0" sz="1200" b="0" i="1" u="none" strike="noStrike" kern="0" cap="none" spc="-65" normalizeH="0" baseline="0" noProof="0" dirty="0">
                <a:ln>
                  <a:noFill/>
                </a:ln>
                <a:solidFill>
                  <a:srgbClr val="54535A"/>
                </a:solidFill>
                <a:effectLst/>
                <a:uLnTx/>
                <a:uFillTx/>
                <a:latin typeface="Verdana"/>
                <a:cs typeface="Verdana"/>
              </a:rPr>
              <a:t>further</a:t>
            </a:r>
            <a:r>
              <a:rPr kumimoji="0" sz="1200" b="0" i="1" u="none" strike="noStrike" kern="0" cap="none" spc="-60" normalizeH="0" baseline="0" noProof="0" dirty="0">
                <a:ln>
                  <a:noFill/>
                </a:ln>
                <a:solidFill>
                  <a:srgbClr val="54535A"/>
                </a:solidFill>
                <a:effectLst/>
                <a:uLnTx/>
                <a:uFillTx/>
                <a:latin typeface="Verdana"/>
                <a:cs typeface="Verdana"/>
              </a:rPr>
              <a:t> </a:t>
            </a:r>
            <a:r>
              <a:rPr kumimoji="0" sz="1200" b="0" i="1" u="none" strike="noStrike" kern="0" cap="none" spc="0" normalizeH="0" baseline="0" noProof="0" dirty="0">
                <a:ln>
                  <a:noFill/>
                </a:ln>
                <a:solidFill>
                  <a:srgbClr val="54535A"/>
                </a:solidFill>
                <a:effectLst/>
                <a:uLnTx/>
                <a:uFillTx/>
                <a:latin typeface="Verdana"/>
                <a:cs typeface="Verdana"/>
              </a:rPr>
              <a:t>allocated</a:t>
            </a:r>
            <a:r>
              <a:rPr kumimoji="0" sz="1200" b="0" i="1" u="none" strike="noStrike" kern="0" cap="none" spc="-60" normalizeH="0" baseline="0" noProof="0" dirty="0">
                <a:ln>
                  <a:noFill/>
                </a:ln>
                <a:solidFill>
                  <a:srgbClr val="54535A"/>
                </a:solidFill>
                <a:effectLst/>
                <a:uLnTx/>
                <a:uFillTx/>
                <a:latin typeface="Verdana"/>
                <a:cs typeface="Verdana"/>
              </a:rPr>
              <a:t> </a:t>
            </a:r>
            <a:r>
              <a:rPr kumimoji="0" sz="1200" b="0" i="1" u="none" strike="noStrike" kern="0" cap="none" spc="-35" normalizeH="0" baseline="0" noProof="0" dirty="0">
                <a:ln>
                  <a:noFill/>
                </a:ln>
                <a:solidFill>
                  <a:srgbClr val="54535A"/>
                </a:solidFill>
                <a:effectLst/>
                <a:uLnTx/>
                <a:uFillTx/>
                <a:latin typeface="Verdana"/>
                <a:cs typeface="Verdana"/>
              </a:rPr>
              <a:t>during </a:t>
            </a:r>
            <a:r>
              <a:rPr kumimoji="0" sz="1200" b="0" i="1" u="none" strike="noStrike" kern="0" cap="none" spc="-10" normalizeH="0" baseline="0" noProof="0" dirty="0">
                <a:ln>
                  <a:noFill/>
                </a:ln>
                <a:solidFill>
                  <a:srgbClr val="54535A"/>
                </a:solidFill>
                <a:effectLst/>
                <a:uLnTx/>
                <a:uFillTx/>
                <a:latin typeface="Verdana"/>
                <a:cs typeface="Verdana"/>
              </a:rPr>
              <a:t>the</a:t>
            </a:r>
            <a:r>
              <a:rPr kumimoji="0" sz="1200" b="0" i="1" u="none" strike="noStrike" kern="0" cap="none" spc="-45" normalizeH="0" baseline="0" noProof="0" dirty="0">
                <a:ln>
                  <a:noFill/>
                </a:ln>
                <a:solidFill>
                  <a:srgbClr val="54535A"/>
                </a:solidFill>
                <a:effectLst/>
                <a:uLnTx/>
                <a:uFillTx/>
                <a:latin typeface="Verdana"/>
                <a:cs typeface="Verdana"/>
              </a:rPr>
              <a:t> </a:t>
            </a:r>
            <a:r>
              <a:rPr kumimoji="0" sz="1200" b="0" i="1" u="none" strike="noStrike" kern="0" cap="none" spc="0" normalizeH="0" baseline="0" noProof="0" dirty="0">
                <a:ln>
                  <a:noFill/>
                </a:ln>
                <a:solidFill>
                  <a:srgbClr val="54535A"/>
                </a:solidFill>
                <a:effectLst/>
                <a:uLnTx/>
                <a:uFillTx/>
                <a:latin typeface="Verdana"/>
                <a:cs typeface="Verdana"/>
              </a:rPr>
              <a:t>engagement</a:t>
            </a:r>
            <a:r>
              <a:rPr kumimoji="0" sz="1200" b="0" i="1" u="none" strike="noStrike" kern="0" cap="none" spc="-5" normalizeH="0" baseline="0" noProof="0" dirty="0">
                <a:ln>
                  <a:noFill/>
                </a:ln>
                <a:solidFill>
                  <a:srgbClr val="54535A"/>
                </a:solidFill>
                <a:effectLst/>
                <a:uLnTx/>
                <a:uFillTx/>
                <a:latin typeface="Verdana"/>
                <a:cs typeface="Verdana"/>
              </a:rPr>
              <a:t> </a:t>
            </a:r>
            <a:r>
              <a:rPr kumimoji="0" sz="1200" b="0" i="1" u="none" strike="noStrike" kern="0" cap="none" spc="-55" normalizeH="0" baseline="0" noProof="0" dirty="0">
                <a:ln>
                  <a:noFill/>
                </a:ln>
                <a:solidFill>
                  <a:srgbClr val="54535A"/>
                </a:solidFill>
                <a:effectLst/>
                <a:uLnTx/>
                <a:uFillTx/>
                <a:latin typeface="Verdana"/>
                <a:cs typeface="Verdana"/>
              </a:rPr>
              <a:t>kick-</a:t>
            </a:r>
            <a:r>
              <a:rPr kumimoji="0" sz="1200" b="0" i="1" u="none" strike="noStrike" kern="0" cap="none" spc="-20" normalizeH="0" baseline="0" noProof="0" dirty="0">
                <a:ln>
                  <a:noFill/>
                </a:ln>
                <a:solidFill>
                  <a:srgbClr val="54535A"/>
                </a:solidFill>
                <a:effectLst/>
                <a:uLnTx/>
                <a:uFillTx/>
                <a:latin typeface="Verdana"/>
                <a:cs typeface="Verdana"/>
              </a:rPr>
              <a:t>off.</a:t>
            </a:r>
            <a:endParaRPr kumimoji="0" sz="1200" b="0" i="0" u="none" strike="noStrike" kern="0" cap="none" spc="0" normalizeH="0" baseline="0" noProof="0" dirty="0">
              <a:ln>
                <a:noFill/>
              </a:ln>
              <a:solidFill>
                <a:sysClr val="windowText" lastClr="000000"/>
              </a:solidFill>
              <a:effectLst/>
              <a:uLnTx/>
              <a:uFillTx/>
              <a:latin typeface="Verdana"/>
              <a:cs typeface="Verdana"/>
            </a:endParaRPr>
          </a:p>
        </p:txBody>
      </p:sp>
      <p:sp>
        <p:nvSpPr>
          <p:cNvPr id="14" name="object 14"/>
          <p:cNvSpPr txBox="1"/>
          <p:nvPr/>
        </p:nvSpPr>
        <p:spPr>
          <a:xfrm>
            <a:off x="7596251" y="3614166"/>
            <a:ext cx="1483360" cy="574040"/>
          </a:xfrm>
          <a:prstGeom prst="rect">
            <a:avLst/>
          </a:prstGeom>
        </p:spPr>
        <p:txBody>
          <a:bodyPr vert="horz" wrap="square" lIns="0" tIns="12700" rIns="0" bIns="0" rtlCol="0">
            <a:spAutoFit/>
          </a:bodyPr>
          <a:lstStyle/>
          <a:p>
            <a:pPr marL="0" marR="508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a:ln>
                  <a:noFill/>
                </a:ln>
                <a:solidFill>
                  <a:srgbClr val="54535A"/>
                </a:solidFill>
                <a:effectLst/>
                <a:uLnTx/>
                <a:uFillTx/>
                <a:latin typeface="Tahoma"/>
                <a:cs typeface="Tahoma"/>
              </a:rPr>
              <a:t>Software</a:t>
            </a:r>
            <a:r>
              <a:rPr kumimoji="0" sz="1200" b="0" i="0" u="none" strike="noStrike" kern="0" cap="none" spc="290" normalizeH="0" baseline="0" noProof="0">
                <a:ln>
                  <a:noFill/>
                </a:ln>
                <a:solidFill>
                  <a:srgbClr val="54535A"/>
                </a:solidFill>
                <a:effectLst/>
                <a:uLnTx/>
                <a:uFillTx/>
                <a:latin typeface="Tahoma"/>
                <a:cs typeface="Tahoma"/>
              </a:rPr>
              <a:t> </a:t>
            </a:r>
            <a:r>
              <a:rPr kumimoji="0" sz="1200" b="0" i="0" u="none" strike="noStrike" kern="0" cap="none" spc="65" normalizeH="0" baseline="0" noProof="0">
                <a:ln>
                  <a:noFill/>
                </a:ln>
                <a:solidFill>
                  <a:srgbClr val="54535A"/>
                </a:solidFill>
                <a:effectLst/>
                <a:uLnTx/>
                <a:uFillTx/>
                <a:latin typeface="Tahoma"/>
                <a:cs typeface="Tahoma"/>
              </a:rPr>
              <a:t>Developer </a:t>
            </a:r>
            <a:r>
              <a:rPr kumimoji="0" sz="1200" b="1" i="0" u="none" strike="noStrike" kern="0" cap="none" spc="-10" normalizeH="0" baseline="0" noProof="0">
                <a:ln>
                  <a:noFill/>
                </a:ln>
                <a:solidFill>
                  <a:srgbClr val="54535A"/>
                </a:solidFill>
                <a:effectLst/>
                <a:uLnTx/>
                <a:uFillTx/>
                <a:latin typeface="Tahoma"/>
                <a:cs typeface="Tahoma"/>
              </a:rPr>
              <a:t>Ezechukwu Emmanuel</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15" name="object 15"/>
          <p:cNvGrpSpPr/>
          <p:nvPr/>
        </p:nvGrpSpPr>
        <p:grpSpPr>
          <a:xfrm>
            <a:off x="9669780" y="1793239"/>
            <a:ext cx="1804670" cy="768985"/>
            <a:chOff x="9669780" y="1793239"/>
            <a:chExt cx="1804670" cy="768985"/>
          </a:xfrm>
        </p:grpSpPr>
        <p:sp>
          <p:nvSpPr>
            <p:cNvPr id="16" name="object 16"/>
            <p:cNvSpPr/>
            <p:nvPr/>
          </p:nvSpPr>
          <p:spPr>
            <a:xfrm>
              <a:off x="9829165" y="1812289"/>
              <a:ext cx="1440180" cy="0"/>
            </a:xfrm>
            <a:custGeom>
              <a:avLst/>
              <a:gdLst/>
              <a:ahLst/>
              <a:cxnLst/>
              <a:rect l="l" t="t" r="r" b="b"/>
              <a:pathLst>
                <a:path w="1440179">
                  <a:moveTo>
                    <a:pt x="0" y="0"/>
                  </a:moveTo>
                  <a:lnTo>
                    <a:pt x="1439926" y="0"/>
                  </a:lnTo>
                </a:path>
              </a:pathLst>
            </a:custGeom>
            <a:ln w="381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7" name="object 17"/>
            <p:cNvPicPr/>
            <p:nvPr/>
          </p:nvPicPr>
          <p:blipFill>
            <a:blip r:embed="rId2" cstate="print"/>
            <a:stretch>
              <a:fillRect/>
            </a:stretch>
          </p:blipFill>
          <p:spPr>
            <a:xfrm>
              <a:off x="9669780" y="1894306"/>
              <a:ext cx="1804416" cy="667537"/>
            </a:xfrm>
            <a:prstGeom prst="rect">
              <a:avLst/>
            </a:prstGeom>
          </p:spPr>
        </p:pic>
        <p:pic>
          <p:nvPicPr>
            <p:cNvPr id="18" name="object 18"/>
            <p:cNvPicPr/>
            <p:nvPr/>
          </p:nvPicPr>
          <p:blipFill>
            <a:blip r:embed="rId3" cstate="print"/>
            <a:stretch>
              <a:fillRect/>
            </a:stretch>
          </p:blipFill>
          <p:spPr>
            <a:xfrm>
              <a:off x="9749028" y="1947646"/>
              <a:ext cx="1687068" cy="605053"/>
            </a:xfrm>
            <a:prstGeom prst="rect">
              <a:avLst/>
            </a:prstGeom>
          </p:spPr>
        </p:pic>
        <p:sp>
          <p:nvSpPr>
            <p:cNvPr id="19" name="object 19"/>
            <p:cNvSpPr/>
            <p:nvPr/>
          </p:nvSpPr>
          <p:spPr>
            <a:xfrm>
              <a:off x="9709023" y="1933193"/>
              <a:ext cx="1677670" cy="540385"/>
            </a:xfrm>
            <a:custGeom>
              <a:avLst/>
              <a:gdLst/>
              <a:ahLst/>
              <a:cxnLst/>
              <a:rect l="l" t="t" r="r" b="b"/>
              <a:pathLst>
                <a:path w="1677670" h="540385">
                  <a:moveTo>
                    <a:pt x="1587373" y="0"/>
                  </a:moveTo>
                  <a:lnTo>
                    <a:pt x="90043" y="0"/>
                  </a:lnTo>
                  <a:lnTo>
                    <a:pt x="55024" y="7066"/>
                  </a:lnTo>
                  <a:lnTo>
                    <a:pt x="26400" y="26336"/>
                  </a:lnTo>
                  <a:lnTo>
                    <a:pt x="7086" y="54917"/>
                  </a:lnTo>
                  <a:lnTo>
                    <a:pt x="0" y="89915"/>
                  </a:lnTo>
                  <a:lnTo>
                    <a:pt x="0" y="449960"/>
                  </a:lnTo>
                  <a:lnTo>
                    <a:pt x="7086" y="484979"/>
                  </a:lnTo>
                  <a:lnTo>
                    <a:pt x="26400" y="513603"/>
                  </a:lnTo>
                  <a:lnTo>
                    <a:pt x="55024" y="532917"/>
                  </a:lnTo>
                  <a:lnTo>
                    <a:pt x="90043" y="540003"/>
                  </a:lnTo>
                  <a:lnTo>
                    <a:pt x="1587373" y="540003"/>
                  </a:lnTo>
                  <a:lnTo>
                    <a:pt x="1622391" y="532917"/>
                  </a:lnTo>
                  <a:lnTo>
                    <a:pt x="1651015" y="513603"/>
                  </a:lnTo>
                  <a:lnTo>
                    <a:pt x="1670329" y="484979"/>
                  </a:lnTo>
                  <a:lnTo>
                    <a:pt x="1677416" y="449960"/>
                  </a:lnTo>
                  <a:lnTo>
                    <a:pt x="1677416" y="89915"/>
                  </a:lnTo>
                  <a:lnTo>
                    <a:pt x="1670329" y="54917"/>
                  </a:lnTo>
                  <a:lnTo>
                    <a:pt x="1651015" y="26336"/>
                  </a:lnTo>
                  <a:lnTo>
                    <a:pt x="1622391" y="7066"/>
                  </a:lnTo>
                  <a:lnTo>
                    <a:pt x="1587373" y="0"/>
                  </a:lnTo>
                  <a:close/>
                </a:path>
              </a:pathLst>
            </a:custGeom>
            <a:solidFill>
              <a:srgbClr val="FF66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p:cNvSpPr/>
            <p:nvPr/>
          </p:nvSpPr>
          <p:spPr>
            <a:xfrm>
              <a:off x="9709023" y="1933193"/>
              <a:ext cx="1677670" cy="540385"/>
            </a:xfrm>
            <a:custGeom>
              <a:avLst/>
              <a:gdLst/>
              <a:ahLst/>
              <a:cxnLst/>
              <a:rect l="l" t="t" r="r" b="b"/>
              <a:pathLst>
                <a:path w="1677670" h="540385">
                  <a:moveTo>
                    <a:pt x="0" y="89915"/>
                  </a:moveTo>
                  <a:lnTo>
                    <a:pt x="7086" y="54917"/>
                  </a:lnTo>
                  <a:lnTo>
                    <a:pt x="26400" y="26336"/>
                  </a:lnTo>
                  <a:lnTo>
                    <a:pt x="55024" y="7066"/>
                  </a:lnTo>
                  <a:lnTo>
                    <a:pt x="90043" y="0"/>
                  </a:lnTo>
                  <a:lnTo>
                    <a:pt x="1587373" y="0"/>
                  </a:lnTo>
                  <a:lnTo>
                    <a:pt x="1622391" y="7066"/>
                  </a:lnTo>
                  <a:lnTo>
                    <a:pt x="1651015" y="26336"/>
                  </a:lnTo>
                  <a:lnTo>
                    <a:pt x="1670329" y="54917"/>
                  </a:lnTo>
                  <a:lnTo>
                    <a:pt x="1677416" y="89915"/>
                  </a:lnTo>
                  <a:lnTo>
                    <a:pt x="1677416" y="449960"/>
                  </a:lnTo>
                  <a:lnTo>
                    <a:pt x="1670329" y="484979"/>
                  </a:lnTo>
                  <a:lnTo>
                    <a:pt x="1651015" y="513603"/>
                  </a:lnTo>
                  <a:lnTo>
                    <a:pt x="1622391" y="532917"/>
                  </a:lnTo>
                  <a:lnTo>
                    <a:pt x="1587373" y="540003"/>
                  </a:lnTo>
                  <a:lnTo>
                    <a:pt x="90043" y="540003"/>
                  </a:lnTo>
                  <a:lnTo>
                    <a:pt x="55024" y="532917"/>
                  </a:lnTo>
                  <a:lnTo>
                    <a:pt x="26400" y="513603"/>
                  </a:lnTo>
                  <a:lnTo>
                    <a:pt x="7086" y="484979"/>
                  </a:lnTo>
                  <a:lnTo>
                    <a:pt x="0" y="449960"/>
                  </a:lnTo>
                  <a:lnTo>
                    <a:pt x="0" y="89915"/>
                  </a:lnTo>
                  <a:close/>
                </a:path>
              </a:pathLst>
            </a:custGeom>
            <a:ln w="254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1" name="object 21"/>
          <p:cNvSpPr txBox="1"/>
          <p:nvPr/>
        </p:nvSpPr>
        <p:spPr>
          <a:xfrm>
            <a:off x="9933813" y="1485392"/>
            <a:ext cx="124714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65" normalizeH="0" baseline="0" noProof="0">
                <a:ln>
                  <a:noFill/>
                </a:ln>
                <a:solidFill>
                  <a:srgbClr val="54535A"/>
                </a:solidFill>
                <a:effectLst/>
                <a:uLnTx/>
                <a:uFillTx/>
                <a:latin typeface="Tahoma"/>
                <a:cs typeface="Tahoma"/>
              </a:rPr>
              <a:t>Project</a:t>
            </a:r>
            <a:r>
              <a:rPr kumimoji="0" sz="1600" b="1" i="0" u="none" strike="noStrike" kern="0" cap="none" spc="-5" normalizeH="0" baseline="0" noProof="0">
                <a:ln>
                  <a:noFill/>
                </a:ln>
                <a:solidFill>
                  <a:srgbClr val="54535A"/>
                </a:solidFill>
                <a:effectLst/>
                <a:uLnTx/>
                <a:uFillTx/>
                <a:latin typeface="Tahoma"/>
                <a:cs typeface="Tahoma"/>
              </a:rPr>
              <a:t> </a:t>
            </a:r>
            <a:r>
              <a:rPr kumimoji="0" sz="1600" b="1" i="0" u="none" strike="noStrike" kern="0" cap="none" spc="-100" normalizeH="0" baseline="0" noProof="0">
                <a:ln>
                  <a:noFill/>
                </a:ln>
                <a:solidFill>
                  <a:srgbClr val="54535A"/>
                </a:solidFill>
                <a:effectLst/>
                <a:uLnTx/>
                <a:uFillTx/>
                <a:latin typeface="Tahoma"/>
                <a:cs typeface="Tahoma"/>
              </a:rPr>
              <a:t>SMEs</a:t>
            </a:r>
            <a:endParaRPr kumimoji="0" sz="1600" b="0" i="0" u="none" strike="noStrike" kern="0" cap="none" spc="0" normalizeH="0" baseline="0" noProof="0">
              <a:ln>
                <a:noFill/>
              </a:ln>
              <a:solidFill>
                <a:sysClr val="windowText" lastClr="000000"/>
              </a:solidFill>
              <a:effectLst/>
              <a:uLnTx/>
              <a:uFillTx/>
              <a:latin typeface="Tahoma"/>
              <a:cs typeface="Tahoma"/>
            </a:endParaRPr>
          </a:p>
        </p:txBody>
      </p:sp>
      <p:sp>
        <p:nvSpPr>
          <p:cNvPr id="22" name="object 22"/>
          <p:cNvSpPr txBox="1"/>
          <p:nvPr/>
        </p:nvSpPr>
        <p:spPr>
          <a:xfrm>
            <a:off x="807415" y="2005076"/>
            <a:ext cx="10436860" cy="866140"/>
          </a:xfrm>
          <a:prstGeom prst="rect">
            <a:avLst/>
          </a:prstGeom>
        </p:spPr>
        <p:txBody>
          <a:bodyPr vert="horz" wrap="square" lIns="0" tIns="12700" rIns="0" bIns="0" rtlCol="0">
            <a:spAutoFit/>
          </a:bodyPr>
          <a:lstStyle/>
          <a:p>
            <a:pPr marL="9047480" marR="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a:ln>
                  <a:noFill/>
                </a:ln>
                <a:solidFill>
                  <a:srgbClr val="54535A"/>
                </a:solidFill>
                <a:effectLst/>
                <a:uLnTx/>
                <a:uFillTx/>
                <a:latin typeface="Tahoma"/>
                <a:cs typeface="Tahoma"/>
              </a:rPr>
              <a:t>VP,</a:t>
            </a:r>
            <a:r>
              <a:rPr kumimoji="0" sz="1200" b="0" i="0" u="none" strike="noStrike" kern="0" cap="none" spc="10" normalizeH="0" baseline="0" noProof="0">
                <a:ln>
                  <a:noFill/>
                </a:ln>
                <a:solidFill>
                  <a:srgbClr val="54535A"/>
                </a:solidFill>
                <a:effectLst/>
                <a:uLnTx/>
                <a:uFillTx/>
                <a:latin typeface="Tahoma"/>
                <a:cs typeface="Tahoma"/>
              </a:rPr>
              <a:t> </a:t>
            </a:r>
            <a:r>
              <a:rPr kumimoji="0" sz="1200" b="0" i="0" u="none" strike="noStrike" kern="0" cap="none" spc="85" normalizeH="0" baseline="0" noProof="0">
                <a:ln>
                  <a:noFill/>
                </a:ln>
                <a:solidFill>
                  <a:srgbClr val="54535A"/>
                </a:solidFill>
                <a:effectLst/>
                <a:uLnTx/>
                <a:uFillTx/>
                <a:latin typeface="Tahoma"/>
                <a:cs typeface="Tahoma"/>
              </a:rPr>
              <a:t>Ops</a:t>
            </a:r>
            <a:r>
              <a:rPr kumimoji="0" sz="1200" b="0" i="0" u="none" strike="noStrike" kern="0" cap="none" spc="-5" normalizeH="0" baseline="0" noProof="0">
                <a:ln>
                  <a:noFill/>
                </a:ln>
                <a:solidFill>
                  <a:srgbClr val="54535A"/>
                </a:solidFill>
                <a:effectLst/>
                <a:uLnTx/>
                <a:uFillTx/>
                <a:latin typeface="Tahoma"/>
                <a:cs typeface="Tahoma"/>
              </a:rPr>
              <a:t> </a:t>
            </a:r>
            <a:r>
              <a:rPr kumimoji="0" sz="1200" b="0" i="0" u="none" strike="noStrike" kern="0" cap="none" spc="85" normalizeH="0" baseline="0" noProof="0">
                <a:ln>
                  <a:noFill/>
                </a:ln>
                <a:solidFill>
                  <a:srgbClr val="54535A"/>
                </a:solidFill>
                <a:effectLst/>
                <a:uLnTx/>
                <a:uFillTx/>
                <a:latin typeface="Tahoma"/>
                <a:cs typeface="Tahoma"/>
              </a:rPr>
              <a:t>&amp;</a:t>
            </a:r>
            <a:r>
              <a:rPr kumimoji="0" sz="1200" b="0" i="0" u="none" strike="noStrike" kern="0" cap="none" spc="0"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Delivery</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9045575"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0" cap="none" spc="-20" normalizeH="0" baseline="0" noProof="0">
                <a:ln>
                  <a:noFill/>
                </a:ln>
                <a:solidFill>
                  <a:srgbClr val="54535A"/>
                </a:solidFill>
                <a:effectLst/>
                <a:uLnTx/>
                <a:uFillTx/>
                <a:latin typeface="Tahoma"/>
                <a:cs typeface="Tahoma"/>
              </a:rPr>
              <a:t>Alozie</a:t>
            </a:r>
            <a:r>
              <a:rPr kumimoji="0" sz="1200" b="1" i="0" u="none" strike="noStrike" kern="0" cap="none" spc="-45" normalizeH="0" baseline="0" noProof="0">
                <a:ln>
                  <a:noFill/>
                </a:ln>
                <a:solidFill>
                  <a:srgbClr val="54535A"/>
                </a:solidFill>
                <a:effectLst/>
                <a:uLnTx/>
                <a:uFillTx/>
                <a:latin typeface="Tahoma"/>
                <a:cs typeface="Tahoma"/>
              </a:rPr>
              <a:t> </a:t>
            </a:r>
            <a:r>
              <a:rPr kumimoji="0" sz="1200" b="1" i="0" u="none" strike="noStrike" kern="0" cap="none" spc="-10" normalizeH="0" baseline="0" noProof="0" err="1">
                <a:ln>
                  <a:noFill/>
                </a:ln>
                <a:solidFill>
                  <a:srgbClr val="54535A"/>
                </a:solidFill>
                <a:effectLst/>
                <a:uLnTx/>
                <a:uFillTx/>
                <a:latin typeface="Tahoma"/>
                <a:cs typeface="Tahoma"/>
              </a:rPr>
              <a:t>Nzenwa</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139700" marR="2002155" lvl="0" indent="-140335" defTabSz="914400" eaLnBrk="1" fontAlgn="auto" latinLnBrk="0" hangingPunct="1">
              <a:lnSpc>
                <a:spcPct val="100000"/>
              </a:lnSpc>
              <a:spcBef>
                <a:spcPts val="1095"/>
              </a:spcBef>
              <a:spcAft>
                <a:spcPts val="0"/>
              </a:spcAft>
              <a:buClrTx/>
              <a:buSzTx/>
              <a:buFontTx/>
              <a:buNone/>
              <a:tabLst/>
              <a:defRPr/>
            </a:pPr>
            <a:r>
              <a:rPr kumimoji="0" sz="1100" b="0" i="1" u="none" strike="noStrike" kern="0" cap="none" spc="-35" normalizeH="0" baseline="0" noProof="0">
                <a:ln>
                  <a:noFill/>
                </a:ln>
                <a:solidFill>
                  <a:srgbClr val="54535A"/>
                </a:solidFill>
                <a:effectLst/>
                <a:uLnTx/>
                <a:uFillTx/>
                <a:latin typeface="Verdana"/>
                <a:cs typeface="Verdana"/>
              </a:rPr>
              <a:t>Our</a:t>
            </a:r>
            <a:r>
              <a:rPr kumimoji="0" sz="1100" b="0" i="1" u="none" strike="noStrike" kern="0" cap="none" spc="-75"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lead</a:t>
            </a:r>
            <a:r>
              <a:rPr kumimoji="0" sz="1100" b="0" i="1" u="none" strike="noStrike" kern="0" cap="none" spc="-5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engagement</a:t>
            </a:r>
            <a:r>
              <a:rPr kumimoji="0" sz="1100" b="0" i="1" u="none" strike="noStrike" kern="0" cap="none" spc="-7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manager</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65" normalizeH="0" baseline="0" noProof="0">
                <a:ln>
                  <a:noFill/>
                </a:ln>
                <a:solidFill>
                  <a:srgbClr val="54535A"/>
                </a:solidFill>
                <a:effectLst/>
                <a:uLnTx/>
                <a:uFillTx/>
                <a:latin typeface="Verdana"/>
                <a:cs typeface="Verdana"/>
              </a:rPr>
              <a:t>will</a:t>
            </a:r>
            <a:r>
              <a:rPr kumimoji="0" sz="1100" b="0" i="1" u="none" strike="noStrike" kern="0" cap="none" spc="-45" normalizeH="0" baseline="0" noProof="0">
                <a:ln>
                  <a:noFill/>
                </a:ln>
                <a:solidFill>
                  <a:srgbClr val="54535A"/>
                </a:solidFill>
                <a:effectLst/>
                <a:uLnTx/>
                <a:uFillTx/>
                <a:latin typeface="Verdana"/>
                <a:cs typeface="Verdana"/>
              </a:rPr>
              <a:t> </a:t>
            </a:r>
            <a:r>
              <a:rPr kumimoji="0" sz="1100" b="0" i="1" u="none" strike="noStrike" kern="0" cap="none" spc="60" normalizeH="0" baseline="0" noProof="0">
                <a:ln>
                  <a:noFill/>
                </a:ln>
                <a:solidFill>
                  <a:srgbClr val="54535A"/>
                </a:solidFill>
                <a:effectLst/>
                <a:uLnTx/>
                <a:uFillTx/>
                <a:latin typeface="Verdana"/>
                <a:cs typeface="Verdana"/>
              </a:rPr>
              <a:t>be</a:t>
            </a:r>
            <a:r>
              <a:rPr kumimoji="0" sz="1100" b="0" i="1" u="none" strike="noStrike" kern="0" cap="none" spc="-40" normalizeH="0" baseline="0" noProof="0">
                <a:ln>
                  <a:noFill/>
                </a:ln>
                <a:solidFill>
                  <a:srgbClr val="54535A"/>
                </a:solidFill>
                <a:effectLst/>
                <a:uLnTx/>
                <a:uFillTx/>
                <a:latin typeface="Verdana"/>
                <a:cs typeface="Verdana"/>
              </a:rPr>
              <a:t> Romanus</a:t>
            </a:r>
            <a:r>
              <a:rPr kumimoji="0" sz="1100" b="0" i="1" u="none" strike="noStrike" kern="0" cap="none" spc="-50" normalizeH="0" baseline="0" noProof="0">
                <a:ln>
                  <a:noFill/>
                </a:ln>
                <a:solidFill>
                  <a:srgbClr val="54535A"/>
                </a:solidFill>
                <a:effectLst/>
                <a:uLnTx/>
                <a:uFillTx/>
                <a:latin typeface="Verdana"/>
                <a:cs typeface="Verdana"/>
              </a:rPr>
              <a:t> </a:t>
            </a:r>
            <a:r>
              <a:rPr kumimoji="0" sz="1100" b="0" i="1" u="none" strike="noStrike" kern="0" cap="none" spc="-70" normalizeH="0" baseline="0" noProof="0">
                <a:ln>
                  <a:noFill/>
                </a:ln>
                <a:solidFill>
                  <a:srgbClr val="54535A"/>
                </a:solidFill>
                <a:effectLst/>
                <a:uLnTx/>
                <a:uFillTx/>
                <a:latin typeface="Verdana"/>
                <a:cs typeface="Verdana"/>
              </a:rPr>
              <a:t>Eke,</a:t>
            </a:r>
            <a:r>
              <a:rPr kumimoji="0" sz="1100" b="0" i="1" u="none" strike="noStrike" kern="0" cap="none" spc="-55"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supported</a:t>
            </a:r>
            <a:r>
              <a:rPr kumimoji="0" sz="1100" b="0" i="1" u="none" strike="noStrike" kern="0" cap="none" spc="-95"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by</a:t>
            </a:r>
            <a:r>
              <a:rPr kumimoji="0" sz="1100" b="0" i="1" u="none" strike="noStrike" kern="0" cap="none" spc="-45" normalizeH="0" baseline="0" noProof="0">
                <a:ln>
                  <a:noFill/>
                </a:ln>
                <a:solidFill>
                  <a:srgbClr val="54535A"/>
                </a:solidFill>
                <a:effectLst/>
                <a:uLnTx/>
                <a:uFillTx/>
                <a:latin typeface="Verdana"/>
                <a:cs typeface="Verdana"/>
              </a:rPr>
              <a:t> </a:t>
            </a:r>
            <a:r>
              <a:rPr kumimoji="0" sz="1100" b="0" i="1" u="none" strike="noStrike" kern="0" cap="none" spc="-50" normalizeH="0" baseline="0" noProof="0">
                <a:ln>
                  <a:noFill/>
                </a:ln>
                <a:solidFill>
                  <a:srgbClr val="54535A"/>
                </a:solidFill>
                <a:effectLst/>
                <a:uLnTx/>
                <a:uFillTx/>
                <a:latin typeface="Verdana"/>
                <a:cs typeface="Verdana"/>
              </a:rPr>
              <a:t>our </a:t>
            </a:r>
            <a:r>
              <a:rPr kumimoji="0" sz="1100" b="0" i="1" u="none" strike="noStrike" kern="0" cap="none" spc="0" normalizeH="0" baseline="0" noProof="0">
                <a:ln>
                  <a:noFill/>
                </a:ln>
                <a:solidFill>
                  <a:srgbClr val="54535A"/>
                </a:solidFill>
                <a:effectLst/>
                <a:uLnTx/>
                <a:uFillTx/>
                <a:latin typeface="Verdana"/>
                <a:cs typeface="Verdana"/>
              </a:rPr>
              <a:t>experienced</a:t>
            </a:r>
            <a:r>
              <a:rPr kumimoji="0" sz="1100" b="0" i="1" u="none" strike="noStrike" kern="0" cap="none" spc="-80"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Technical</a:t>
            </a:r>
            <a:r>
              <a:rPr kumimoji="0" sz="1100" b="0" i="1" u="none" strike="noStrike" kern="0" cap="none" spc="-70" normalizeH="0" baseline="0" noProof="0">
                <a:ln>
                  <a:noFill/>
                </a:ln>
                <a:solidFill>
                  <a:srgbClr val="54535A"/>
                </a:solidFill>
                <a:effectLst/>
                <a:uLnTx/>
                <a:uFillTx/>
                <a:latin typeface="Verdana"/>
                <a:cs typeface="Verdana"/>
              </a:rPr>
              <a:t> </a:t>
            </a:r>
            <a:r>
              <a:rPr kumimoji="0" sz="1100" b="0" i="1" u="none" strike="noStrike" kern="0" cap="none" spc="-50" normalizeH="0" baseline="0" noProof="0">
                <a:ln>
                  <a:noFill/>
                </a:ln>
                <a:solidFill>
                  <a:srgbClr val="54535A"/>
                </a:solidFill>
                <a:effectLst/>
                <a:uLnTx/>
                <a:uFillTx/>
                <a:latin typeface="Verdana"/>
                <a:cs typeface="Verdana"/>
              </a:rPr>
              <a:t>Team.</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70" normalizeH="0" baseline="0" noProof="0">
                <a:ln>
                  <a:noFill/>
                </a:ln>
                <a:solidFill>
                  <a:srgbClr val="54535A"/>
                </a:solidFill>
                <a:effectLst/>
                <a:uLnTx/>
                <a:uFillTx/>
                <a:latin typeface="Verdana"/>
                <a:cs typeface="Verdana"/>
              </a:rPr>
              <a:t>They</a:t>
            </a:r>
            <a:r>
              <a:rPr kumimoji="0" sz="1100" b="0" i="1" u="none" strike="noStrike" kern="0" cap="none" spc="-5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are</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proven</a:t>
            </a:r>
            <a:r>
              <a:rPr kumimoji="0" sz="1100" b="0" i="1" u="none" strike="noStrike" kern="0" cap="none" spc="-55"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to</a:t>
            </a:r>
            <a:r>
              <a:rPr kumimoji="0" sz="1100" b="0" i="1" u="none" strike="noStrike" kern="0" cap="none" spc="-40" normalizeH="0" baseline="0" noProof="0">
                <a:ln>
                  <a:noFill/>
                </a:ln>
                <a:solidFill>
                  <a:srgbClr val="54535A"/>
                </a:solidFill>
                <a:effectLst/>
                <a:uLnTx/>
                <a:uFillTx/>
                <a:latin typeface="Verdana"/>
                <a:cs typeface="Verdana"/>
              </a:rPr>
              <a:t> </a:t>
            </a:r>
            <a:r>
              <a:rPr kumimoji="0" sz="1100" b="0" i="1" u="none" strike="noStrike" kern="0" cap="none" spc="35" normalizeH="0" baseline="0" noProof="0">
                <a:ln>
                  <a:noFill/>
                </a:ln>
                <a:solidFill>
                  <a:srgbClr val="54535A"/>
                </a:solidFill>
                <a:effectLst/>
                <a:uLnTx/>
                <a:uFillTx/>
                <a:latin typeface="Verdana"/>
                <a:cs typeface="Verdana"/>
              </a:rPr>
              <a:t>be </a:t>
            </a:r>
            <a:r>
              <a:rPr kumimoji="0" sz="1100" b="0" i="1" u="none" strike="noStrike" kern="0" cap="none" spc="-30" normalizeH="0" baseline="0" noProof="0">
                <a:ln>
                  <a:noFill/>
                </a:ln>
                <a:solidFill>
                  <a:srgbClr val="54535A"/>
                </a:solidFill>
                <a:effectLst/>
                <a:uLnTx/>
                <a:uFillTx/>
                <a:latin typeface="Verdana"/>
                <a:cs typeface="Verdana"/>
              </a:rPr>
              <a:t>client-</a:t>
            </a:r>
            <a:r>
              <a:rPr kumimoji="0" sz="1100" b="0" i="1" u="none" strike="noStrike" kern="0" cap="none" spc="-10" normalizeH="0" baseline="0" noProof="0">
                <a:ln>
                  <a:noFill/>
                </a:ln>
                <a:solidFill>
                  <a:srgbClr val="54535A"/>
                </a:solidFill>
                <a:effectLst/>
                <a:uLnTx/>
                <a:uFillTx/>
                <a:latin typeface="Verdana"/>
                <a:cs typeface="Verdana"/>
              </a:rPr>
              <a:t>centric</a:t>
            </a:r>
            <a:r>
              <a:rPr kumimoji="0" sz="1100" b="0" i="1" u="none" strike="noStrike" kern="0" cap="none" spc="-8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and</a:t>
            </a:r>
            <a:r>
              <a:rPr kumimoji="0" sz="1100" b="0" i="1" u="none" strike="noStrike" kern="0" cap="none" spc="-25" normalizeH="0" baseline="0" noProof="0">
                <a:ln>
                  <a:noFill/>
                </a:ln>
                <a:solidFill>
                  <a:srgbClr val="54535A"/>
                </a:solidFill>
                <a:effectLst/>
                <a:uLnTx/>
                <a:uFillTx/>
                <a:latin typeface="Verdana"/>
                <a:cs typeface="Verdana"/>
              </a:rPr>
              <a:t> </a:t>
            </a:r>
            <a:r>
              <a:rPr kumimoji="0" sz="1100" b="0" i="1" u="none" strike="noStrike" kern="0" cap="none" spc="-35" normalizeH="0" baseline="0" noProof="0">
                <a:ln>
                  <a:noFill/>
                </a:ln>
                <a:solidFill>
                  <a:srgbClr val="54535A"/>
                </a:solidFill>
                <a:effectLst/>
                <a:uLnTx/>
                <a:uFillTx/>
                <a:latin typeface="Verdana"/>
                <a:cs typeface="Verdana"/>
              </a:rPr>
              <a:t>professional</a:t>
            </a:r>
            <a:r>
              <a:rPr kumimoji="0" sz="1100" b="0" i="1" u="none" strike="noStrike" kern="0" cap="none" spc="-65"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client</a:t>
            </a:r>
            <a:r>
              <a:rPr kumimoji="0" sz="1100" b="0" i="1" u="none" strike="noStrike" kern="0" cap="none" spc="-70" normalizeH="0" baseline="0" noProof="0">
                <a:ln>
                  <a:noFill/>
                </a:ln>
                <a:solidFill>
                  <a:srgbClr val="54535A"/>
                </a:solidFill>
                <a:effectLst/>
                <a:uLnTx/>
                <a:uFillTx/>
                <a:latin typeface="Verdana"/>
                <a:cs typeface="Verdana"/>
              </a:rPr>
              <a:t> </a:t>
            </a:r>
            <a:r>
              <a:rPr kumimoji="0" sz="1100" b="0" i="1" u="none" strike="noStrike" kern="0" cap="none" spc="-30" normalizeH="0" baseline="0" noProof="0">
                <a:ln>
                  <a:noFill/>
                </a:ln>
                <a:solidFill>
                  <a:srgbClr val="54535A"/>
                </a:solidFill>
                <a:effectLst/>
                <a:uLnTx/>
                <a:uFillTx/>
                <a:latin typeface="Verdana"/>
                <a:cs typeface="Verdana"/>
              </a:rPr>
              <a:t>satisfaction</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and</a:t>
            </a:r>
            <a:r>
              <a:rPr kumimoji="0" sz="1100" b="0" i="1" u="none" strike="noStrike" kern="0" cap="none" spc="-40" normalizeH="0" baseline="0" noProof="0">
                <a:ln>
                  <a:noFill/>
                </a:ln>
                <a:solidFill>
                  <a:srgbClr val="54535A"/>
                </a:solidFill>
                <a:effectLst/>
                <a:uLnTx/>
                <a:uFillTx/>
                <a:latin typeface="Verdana"/>
                <a:cs typeface="Verdana"/>
              </a:rPr>
              <a:t> </a:t>
            </a:r>
            <a:r>
              <a:rPr kumimoji="0" sz="1100" b="0" i="1" u="none" strike="noStrike" kern="0" cap="none" spc="-30" normalizeH="0" baseline="0" noProof="0">
                <a:ln>
                  <a:noFill/>
                </a:ln>
                <a:solidFill>
                  <a:srgbClr val="54535A"/>
                </a:solidFill>
                <a:effectLst/>
                <a:uLnTx/>
                <a:uFillTx/>
                <a:latin typeface="Verdana"/>
                <a:cs typeface="Verdana"/>
              </a:rPr>
              <a:t>quality</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of</a:t>
            </a:r>
            <a:r>
              <a:rPr kumimoji="0" sz="1100" b="0" i="1" u="none" strike="noStrike" kern="0" cap="none" spc="-30" normalizeH="0" baseline="0" noProof="0">
                <a:ln>
                  <a:noFill/>
                </a:ln>
                <a:solidFill>
                  <a:srgbClr val="54535A"/>
                </a:solidFill>
                <a:effectLst/>
                <a:uLnTx/>
                <a:uFillTx/>
                <a:latin typeface="Verdana"/>
                <a:cs typeface="Verdana"/>
              </a:rPr>
              <a:t> </a:t>
            </a:r>
            <a:r>
              <a:rPr kumimoji="0" sz="1100" b="0" i="1" u="none" strike="noStrike" kern="0" cap="none" spc="-35" normalizeH="0" baseline="0" noProof="0">
                <a:ln>
                  <a:noFill/>
                </a:ln>
                <a:solidFill>
                  <a:srgbClr val="54535A"/>
                </a:solidFill>
                <a:effectLst/>
                <a:uLnTx/>
                <a:uFillTx/>
                <a:latin typeface="Verdana"/>
                <a:cs typeface="Verdana"/>
              </a:rPr>
              <a:t>delivery</a:t>
            </a:r>
            <a:r>
              <a:rPr kumimoji="0" sz="1100" b="0" i="1" u="none" strike="noStrike" kern="0" cap="none" spc="-75"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and</a:t>
            </a:r>
            <a:r>
              <a:rPr kumimoji="0" sz="1100" b="0" i="1" u="none" strike="noStrike" kern="0" cap="none" spc="-40" normalizeH="0" baseline="0" noProof="0">
                <a:ln>
                  <a:noFill/>
                </a:ln>
                <a:solidFill>
                  <a:srgbClr val="54535A"/>
                </a:solidFill>
                <a:effectLst/>
                <a:uLnTx/>
                <a:uFillTx/>
                <a:latin typeface="Verdana"/>
                <a:cs typeface="Verdana"/>
              </a:rPr>
              <a:t> support</a:t>
            </a:r>
            <a:r>
              <a:rPr kumimoji="0" sz="1100" b="0" i="1" u="none" strike="noStrike" kern="0" cap="none" spc="-60"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the</a:t>
            </a:r>
            <a:r>
              <a:rPr kumimoji="0" sz="1100" b="0" i="1" u="none" strike="noStrike" kern="0" cap="none" spc="-20" normalizeH="0" baseline="0" noProof="0">
                <a:ln>
                  <a:noFill/>
                </a:ln>
                <a:solidFill>
                  <a:srgbClr val="54535A"/>
                </a:solidFill>
                <a:effectLst/>
                <a:uLnTx/>
                <a:uFillTx/>
                <a:latin typeface="Verdana"/>
                <a:cs typeface="Verdana"/>
              </a:rPr>
              <a:t> </a:t>
            </a:r>
            <a:r>
              <a:rPr kumimoji="0" sz="1100" b="0" i="1" u="none" strike="noStrike" kern="0" cap="none" spc="-10" normalizeH="0" baseline="0" noProof="0">
                <a:ln>
                  <a:noFill/>
                </a:ln>
                <a:solidFill>
                  <a:srgbClr val="54535A"/>
                </a:solidFill>
                <a:effectLst/>
                <a:uLnTx/>
                <a:uFillTx/>
                <a:latin typeface="Verdana"/>
                <a:cs typeface="Verdana"/>
              </a:rPr>
              <a:t>leveraging</a:t>
            </a:r>
            <a:r>
              <a:rPr kumimoji="0" sz="1100" b="0" i="1" u="none" strike="noStrike" kern="0" cap="none" spc="-70" normalizeH="0" baseline="0" noProof="0">
                <a:ln>
                  <a:noFill/>
                </a:ln>
                <a:solidFill>
                  <a:srgbClr val="54535A"/>
                </a:solidFill>
                <a:effectLst/>
                <a:uLnTx/>
                <a:uFillTx/>
                <a:latin typeface="Verdana"/>
                <a:cs typeface="Verdana"/>
              </a:rPr>
              <a:t> </a:t>
            </a:r>
            <a:r>
              <a:rPr kumimoji="0" sz="1100" b="0" i="1" u="none" strike="noStrike" kern="0" cap="none" spc="0" normalizeH="0" baseline="0" noProof="0">
                <a:ln>
                  <a:noFill/>
                </a:ln>
                <a:solidFill>
                  <a:srgbClr val="54535A"/>
                </a:solidFill>
                <a:effectLst/>
                <a:uLnTx/>
                <a:uFillTx/>
                <a:latin typeface="Verdana"/>
                <a:cs typeface="Verdana"/>
              </a:rPr>
              <a:t>of</a:t>
            </a:r>
            <a:r>
              <a:rPr kumimoji="0" sz="1100" b="0" i="1" u="none" strike="noStrike" kern="0" cap="none" spc="-25" normalizeH="0" baseline="0" noProof="0">
                <a:ln>
                  <a:noFill/>
                </a:ln>
                <a:solidFill>
                  <a:srgbClr val="54535A"/>
                </a:solidFill>
                <a:effectLst/>
                <a:uLnTx/>
                <a:uFillTx/>
                <a:latin typeface="Verdana"/>
                <a:cs typeface="Verdana"/>
              </a:rPr>
              <a:t> </a:t>
            </a:r>
            <a:r>
              <a:rPr kumimoji="0" sz="1100" b="0" i="1" u="none" strike="noStrike" kern="0" cap="none" spc="-85" normalizeH="0" baseline="0" noProof="0">
                <a:ln>
                  <a:noFill/>
                </a:ln>
                <a:solidFill>
                  <a:srgbClr val="54535A"/>
                </a:solidFill>
                <a:effectLst/>
                <a:uLnTx/>
                <a:uFillTx/>
                <a:latin typeface="Verdana"/>
                <a:cs typeface="Verdana"/>
              </a:rPr>
              <a:t>Heirs </a:t>
            </a:r>
            <a:r>
              <a:rPr kumimoji="0" sz="1100" b="0" i="1" u="none" strike="noStrike" kern="0" cap="none" spc="-10" normalizeH="0" baseline="0" noProof="0">
                <a:ln>
                  <a:noFill/>
                </a:ln>
                <a:solidFill>
                  <a:srgbClr val="54535A"/>
                </a:solidFill>
                <a:effectLst/>
                <a:uLnTx/>
                <a:uFillTx/>
                <a:latin typeface="Verdana"/>
                <a:cs typeface="Verdana"/>
              </a:rPr>
              <a:t>Technologies</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pSp>
        <p:nvGrpSpPr>
          <p:cNvPr id="23" name="object 23"/>
          <p:cNvGrpSpPr/>
          <p:nvPr/>
        </p:nvGrpSpPr>
        <p:grpSpPr>
          <a:xfrm>
            <a:off x="740892" y="3593528"/>
            <a:ext cx="1885950" cy="573405"/>
            <a:chOff x="740892" y="3593528"/>
            <a:chExt cx="1885950" cy="573405"/>
          </a:xfrm>
        </p:grpSpPr>
        <p:sp>
          <p:nvSpPr>
            <p:cNvPr id="24" name="object 24"/>
            <p:cNvSpPr/>
            <p:nvPr/>
          </p:nvSpPr>
          <p:spPr>
            <a:xfrm>
              <a:off x="745655" y="3598290"/>
              <a:ext cx="1876425" cy="563880"/>
            </a:xfrm>
            <a:custGeom>
              <a:avLst/>
              <a:gdLst/>
              <a:ahLst/>
              <a:cxnLst/>
              <a:rect l="l" t="t" r="r" b="b"/>
              <a:pathLst>
                <a:path w="1876425" h="563879">
                  <a:moveTo>
                    <a:pt x="1782406" y="0"/>
                  </a:moveTo>
                  <a:lnTo>
                    <a:pt x="93916" y="0"/>
                  </a:lnTo>
                  <a:lnTo>
                    <a:pt x="57360" y="7377"/>
                  </a:lnTo>
                  <a:lnTo>
                    <a:pt x="27508" y="27495"/>
                  </a:lnTo>
                  <a:lnTo>
                    <a:pt x="7380" y="57328"/>
                  </a:lnTo>
                  <a:lnTo>
                    <a:pt x="0" y="93853"/>
                  </a:lnTo>
                  <a:lnTo>
                    <a:pt x="0" y="469646"/>
                  </a:lnTo>
                  <a:lnTo>
                    <a:pt x="7380" y="506170"/>
                  </a:lnTo>
                  <a:lnTo>
                    <a:pt x="27508" y="536003"/>
                  </a:lnTo>
                  <a:lnTo>
                    <a:pt x="57360" y="556121"/>
                  </a:lnTo>
                  <a:lnTo>
                    <a:pt x="93916" y="563499"/>
                  </a:lnTo>
                  <a:lnTo>
                    <a:pt x="1782406" y="563499"/>
                  </a:lnTo>
                  <a:lnTo>
                    <a:pt x="1818931" y="556121"/>
                  </a:lnTo>
                  <a:lnTo>
                    <a:pt x="1848764" y="536003"/>
                  </a:lnTo>
                  <a:lnTo>
                    <a:pt x="1868881" y="506170"/>
                  </a:lnTo>
                  <a:lnTo>
                    <a:pt x="1876259" y="469646"/>
                  </a:lnTo>
                  <a:lnTo>
                    <a:pt x="1876259" y="93853"/>
                  </a:lnTo>
                  <a:lnTo>
                    <a:pt x="1868881" y="57328"/>
                  </a:lnTo>
                  <a:lnTo>
                    <a:pt x="1848764" y="27495"/>
                  </a:lnTo>
                  <a:lnTo>
                    <a:pt x="1818931" y="7377"/>
                  </a:lnTo>
                  <a:lnTo>
                    <a:pt x="1782406"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5"/>
            <p:cNvSpPr/>
            <p:nvPr/>
          </p:nvSpPr>
          <p:spPr>
            <a:xfrm>
              <a:off x="745655" y="3598290"/>
              <a:ext cx="1876425" cy="563880"/>
            </a:xfrm>
            <a:custGeom>
              <a:avLst/>
              <a:gdLst/>
              <a:ahLst/>
              <a:cxnLst/>
              <a:rect l="l" t="t" r="r" b="b"/>
              <a:pathLst>
                <a:path w="1876425" h="563879">
                  <a:moveTo>
                    <a:pt x="0" y="93853"/>
                  </a:moveTo>
                  <a:lnTo>
                    <a:pt x="7380" y="57328"/>
                  </a:lnTo>
                  <a:lnTo>
                    <a:pt x="27508" y="27495"/>
                  </a:lnTo>
                  <a:lnTo>
                    <a:pt x="57360" y="7377"/>
                  </a:lnTo>
                  <a:lnTo>
                    <a:pt x="93916" y="0"/>
                  </a:lnTo>
                  <a:lnTo>
                    <a:pt x="1782406" y="0"/>
                  </a:lnTo>
                  <a:lnTo>
                    <a:pt x="1818931" y="7377"/>
                  </a:lnTo>
                  <a:lnTo>
                    <a:pt x="1848764" y="27495"/>
                  </a:lnTo>
                  <a:lnTo>
                    <a:pt x="1868881" y="57328"/>
                  </a:lnTo>
                  <a:lnTo>
                    <a:pt x="1876259" y="93853"/>
                  </a:lnTo>
                  <a:lnTo>
                    <a:pt x="1876259" y="469646"/>
                  </a:lnTo>
                  <a:lnTo>
                    <a:pt x="1868881" y="506170"/>
                  </a:lnTo>
                  <a:lnTo>
                    <a:pt x="1848764" y="536003"/>
                  </a:lnTo>
                  <a:lnTo>
                    <a:pt x="1818931" y="556121"/>
                  </a:lnTo>
                  <a:lnTo>
                    <a:pt x="1782406" y="563499"/>
                  </a:lnTo>
                  <a:lnTo>
                    <a:pt x="93916" y="563499"/>
                  </a:lnTo>
                  <a:lnTo>
                    <a:pt x="57360" y="556121"/>
                  </a:lnTo>
                  <a:lnTo>
                    <a:pt x="27508" y="536003"/>
                  </a:lnTo>
                  <a:lnTo>
                    <a:pt x="7380" y="506170"/>
                  </a:lnTo>
                  <a:lnTo>
                    <a:pt x="0" y="469646"/>
                  </a:lnTo>
                  <a:lnTo>
                    <a:pt x="0" y="93853"/>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6" name="object 26"/>
          <p:cNvSpPr txBox="1"/>
          <p:nvPr/>
        </p:nvSpPr>
        <p:spPr>
          <a:xfrm>
            <a:off x="679704" y="3203193"/>
            <a:ext cx="1949450" cy="944244"/>
          </a:xfrm>
          <a:prstGeom prst="rect">
            <a:avLst/>
          </a:prstGeom>
        </p:spPr>
        <p:txBody>
          <a:bodyPr vert="horz" wrap="square" lIns="0" tIns="12065" rIns="0" bIns="0" rtlCol="0">
            <a:spAutoFit/>
          </a:bodyPr>
          <a:lstStyle/>
          <a:p>
            <a:pPr marL="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0" normalizeH="0" baseline="0" noProof="0">
                <a:ln>
                  <a:noFill/>
                </a:ln>
                <a:solidFill>
                  <a:srgbClr val="54535A"/>
                </a:solidFill>
                <a:effectLst/>
                <a:uLnTx/>
                <a:uFillTx/>
                <a:latin typeface="Tahoma"/>
                <a:cs typeface="Tahoma"/>
              </a:rPr>
              <a:t>Core</a:t>
            </a:r>
            <a:r>
              <a:rPr kumimoji="0" sz="1600" b="1" i="0" u="none" strike="noStrike" kern="0" cap="none" spc="-35" normalizeH="0" baseline="0" noProof="0">
                <a:ln>
                  <a:noFill/>
                </a:ln>
                <a:solidFill>
                  <a:srgbClr val="54535A"/>
                </a:solidFill>
                <a:effectLst/>
                <a:uLnTx/>
                <a:uFillTx/>
                <a:latin typeface="Tahoma"/>
                <a:cs typeface="Tahoma"/>
              </a:rPr>
              <a:t> </a:t>
            </a:r>
            <a:r>
              <a:rPr kumimoji="0" sz="1600" b="1" i="0" u="none" strike="noStrike" kern="0" cap="none" spc="-45" normalizeH="0" baseline="0" noProof="0">
                <a:ln>
                  <a:noFill/>
                </a:ln>
                <a:solidFill>
                  <a:srgbClr val="54535A"/>
                </a:solidFill>
                <a:effectLst/>
                <a:uLnTx/>
                <a:uFillTx/>
                <a:latin typeface="Tahoma"/>
                <a:cs typeface="Tahoma"/>
              </a:rPr>
              <a:t>Delivery</a:t>
            </a:r>
            <a:r>
              <a:rPr kumimoji="0" sz="1600" b="1" i="0" u="none" strike="noStrike" kern="0" cap="none" spc="10" normalizeH="0" baseline="0" noProof="0">
                <a:ln>
                  <a:noFill/>
                </a:ln>
                <a:solidFill>
                  <a:srgbClr val="54535A"/>
                </a:solidFill>
                <a:effectLst/>
                <a:uLnTx/>
                <a:uFillTx/>
                <a:latin typeface="Tahoma"/>
                <a:cs typeface="Tahoma"/>
              </a:rPr>
              <a:t> </a:t>
            </a:r>
            <a:r>
              <a:rPr kumimoji="0" sz="1600" b="1" i="0" u="none" strike="noStrike" kern="0" cap="none" spc="-20" normalizeH="0" baseline="0" noProof="0">
                <a:ln>
                  <a:noFill/>
                </a:ln>
                <a:solidFill>
                  <a:srgbClr val="54535A"/>
                </a:solidFill>
                <a:effectLst/>
                <a:uLnTx/>
                <a:uFillTx/>
                <a:latin typeface="Tahoma"/>
                <a:cs typeface="Tahoma"/>
              </a:rPr>
              <a:t>Team</a:t>
            </a:r>
            <a:endParaRPr kumimoji="0" sz="1600" b="0" i="0" u="none" strike="noStrike" kern="0" cap="none" spc="0" normalizeH="0" baseline="0" noProof="0">
              <a:ln>
                <a:noFill/>
              </a:ln>
              <a:solidFill>
                <a:sysClr val="windowText" lastClr="000000"/>
              </a:solidFill>
              <a:effectLst/>
              <a:uLnTx/>
              <a:uFillTx/>
              <a:latin typeface="Tahoma"/>
              <a:cs typeface="Tahoma"/>
            </a:endParaRPr>
          </a:p>
          <a:p>
            <a:pPr marL="62230" marR="0" lvl="0" indent="0" algn="ctr" defTabSz="914400" eaLnBrk="1" fontAlgn="auto" latinLnBrk="0" hangingPunct="1">
              <a:lnSpc>
                <a:spcPct val="100000"/>
              </a:lnSpc>
              <a:spcBef>
                <a:spcPts val="1714"/>
              </a:spcBef>
              <a:spcAft>
                <a:spcPts val="0"/>
              </a:spcAft>
              <a:buClrTx/>
              <a:buSzTx/>
              <a:buFontTx/>
              <a:buNone/>
              <a:tabLst/>
              <a:defRPr/>
            </a:pPr>
            <a:r>
              <a:rPr kumimoji="0" sz="1200" b="0" i="0" u="none" strike="noStrike" kern="0" cap="none" spc="0" normalizeH="0" baseline="0" noProof="0">
                <a:ln>
                  <a:noFill/>
                </a:ln>
                <a:solidFill>
                  <a:srgbClr val="54535A"/>
                </a:solidFill>
                <a:effectLst/>
                <a:uLnTx/>
                <a:uFillTx/>
                <a:latin typeface="Tahoma"/>
                <a:cs typeface="Tahoma"/>
              </a:rPr>
              <a:t>Solutions</a:t>
            </a:r>
            <a:r>
              <a:rPr kumimoji="0" sz="1200" b="0" i="0" u="none" strike="noStrike" kern="0" cap="none" spc="100" normalizeH="0" baseline="0" noProof="0">
                <a:ln>
                  <a:noFill/>
                </a:ln>
                <a:solidFill>
                  <a:srgbClr val="54535A"/>
                </a:solidFill>
                <a:effectLst/>
                <a:uLnTx/>
                <a:uFillTx/>
                <a:latin typeface="Tahoma"/>
                <a:cs typeface="Tahoma"/>
              </a:rPr>
              <a:t> </a:t>
            </a:r>
            <a:r>
              <a:rPr kumimoji="0" sz="1200" b="0" i="0" u="none" strike="noStrike" kern="0" cap="none" spc="60" normalizeH="0" baseline="0" noProof="0">
                <a:ln>
                  <a:noFill/>
                </a:ln>
                <a:solidFill>
                  <a:srgbClr val="54535A"/>
                </a:solidFill>
                <a:effectLst/>
                <a:uLnTx/>
                <a:uFillTx/>
                <a:latin typeface="Tahoma"/>
                <a:cs typeface="Tahoma"/>
              </a:rPr>
              <a:t>Architect</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57785" marR="0" lvl="0" indent="0" algn="ctr" defTabSz="914400" eaLnBrk="1" fontAlgn="auto" latinLnBrk="0" hangingPunct="1">
              <a:lnSpc>
                <a:spcPct val="100000"/>
              </a:lnSpc>
              <a:spcBef>
                <a:spcPts val="725"/>
              </a:spcBef>
              <a:spcAft>
                <a:spcPts val="0"/>
              </a:spcAft>
              <a:buClrTx/>
              <a:buSzTx/>
              <a:buFontTx/>
              <a:buNone/>
              <a:tabLst/>
              <a:defRPr/>
            </a:pPr>
            <a:r>
              <a:rPr kumimoji="0" sz="1200" b="1" i="0" u="none" strike="noStrike" kern="0" cap="none" spc="-25" normalizeH="0" baseline="0" noProof="0">
                <a:ln>
                  <a:noFill/>
                </a:ln>
                <a:solidFill>
                  <a:srgbClr val="54535A"/>
                </a:solidFill>
                <a:effectLst/>
                <a:uLnTx/>
                <a:uFillTx/>
                <a:latin typeface="Tahoma"/>
                <a:cs typeface="Tahoma"/>
              </a:rPr>
              <a:t>Oluwaseun </a:t>
            </a:r>
            <a:r>
              <a:rPr kumimoji="0" sz="1200" b="1" i="0" u="none" strike="noStrike" kern="0" cap="none" spc="-10" normalizeH="0" baseline="0" noProof="0">
                <a:ln>
                  <a:noFill/>
                </a:ln>
                <a:solidFill>
                  <a:srgbClr val="54535A"/>
                </a:solidFill>
                <a:effectLst/>
                <a:uLnTx/>
                <a:uFillTx/>
                <a:latin typeface="Tahoma"/>
                <a:cs typeface="Tahoma"/>
              </a:rPr>
              <a:t>Omotunde</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27" name="object 27"/>
          <p:cNvGrpSpPr/>
          <p:nvPr/>
        </p:nvGrpSpPr>
        <p:grpSpPr>
          <a:xfrm>
            <a:off x="3041967" y="3607625"/>
            <a:ext cx="1803400" cy="573405"/>
            <a:chOff x="3041967" y="3607625"/>
            <a:chExt cx="1803400" cy="573405"/>
          </a:xfrm>
        </p:grpSpPr>
        <p:sp>
          <p:nvSpPr>
            <p:cNvPr id="28" name="object 28"/>
            <p:cNvSpPr/>
            <p:nvPr/>
          </p:nvSpPr>
          <p:spPr>
            <a:xfrm>
              <a:off x="3046729" y="3612388"/>
              <a:ext cx="1793875" cy="563880"/>
            </a:xfrm>
            <a:custGeom>
              <a:avLst/>
              <a:gdLst/>
              <a:ahLst/>
              <a:cxnLst/>
              <a:rect l="l" t="t" r="r" b="b"/>
              <a:pathLst>
                <a:path w="1793875" h="563879">
                  <a:moveTo>
                    <a:pt x="1699514" y="0"/>
                  </a:moveTo>
                  <a:lnTo>
                    <a:pt x="93852" y="0"/>
                  </a:lnTo>
                  <a:lnTo>
                    <a:pt x="57328" y="7377"/>
                  </a:lnTo>
                  <a:lnTo>
                    <a:pt x="27495" y="27495"/>
                  </a:lnTo>
                  <a:lnTo>
                    <a:pt x="7377" y="57328"/>
                  </a:lnTo>
                  <a:lnTo>
                    <a:pt x="0" y="93853"/>
                  </a:lnTo>
                  <a:lnTo>
                    <a:pt x="0" y="469519"/>
                  </a:lnTo>
                  <a:lnTo>
                    <a:pt x="7377" y="506116"/>
                  </a:lnTo>
                  <a:lnTo>
                    <a:pt x="27495" y="535987"/>
                  </a:lnTo>
                  <a:lnTo>
                    <a:pt x="57328" y="556119"/>
                  </a:lnTo>
                  <a:lnTo>
                    <a:pt x="93852" y="563499"/>
                  </a:lnTo>
                  <a:lnTo>
                    <a:pt x="1699514" y="563499"/>
                  </a:lnTo>
                  <a:lnTo>
                    <a:pt x="1736111" y="556119"/>
                  </a:lnTo>
                  <a:lnTo>
                    <a:pt x="1765982" y="535987"/>
                  </a:lnTo>
                  <a:lnTo>
                    <a:pt x="1786114" y="506116"/>
                  </a:lnTo>
                  <a:lnTo>
                    <a:pt x="1793494" y="469519"/>
                  </a:lnTo>
                  <a:lnTo>
                    <a:pt x="1793494" y="93853"/>
                  </a:lnTo>
                  <a:lnTo>
                    <a:pt x="1786114" y="57328"/>
                  </a:lnTo>
                  <a:lnTo>
                    <a:pt x="1765982" y="27495"/>
                  </a:lnTo>
                  <a:lnTo>
                    <a:pt x="1736111" y="7377"/>
                  </a:lnTo>
                  <a:lnTo>
                    <a:pt x="1699514"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p:nvPr/>
          </p:nvSpPr>
          <p:spPr>
            <a:xfrm>
              <a:off x="3046729" y="3612388"/>
              <a:ext cx="1793875" cy="563880"/>
            </a:xfrm>
            <a:custGeom>
              <a:avLst/>
              <a:gdLst/>
              <a:ahLst/>
              <a:cxnLst/>
              <a:rect l="l" t="t" r="r" b="b"/>
              <a:pathLst>
                <a:path w="1793875" h="563879">
                  <a:moveTo>
                    <a:pt x="0" y="93853"/>
                  </a:moveTo>
                  <a:lnTo>
                    <a:pt x="7377" y="57328"/>
                  </a:lnTo>
                  <a:lnTo>
                    <a:pt x="27495" y="27495"/>
                  </a:lnTo>
                  <a:lnTo>
                    <a:pt x="57328" y="7377"/>
                  </a:lnTo>
                  <a:lnTo>
                    <a:pt x="93852" y="0"/>
                  </a:lnTo>
                  <a:lnTo>
                    <a:pt x="1699514" y="0"/>
                  </a:lnTo>
                  <a:lnTo>
                    <a:pt x="1736111" y="7377"/>
                  </a:lnTo>
                  <a:lnTo>
                    <a:pt x="1765982" y="27495"/>
                  </a:lnTo>
                  <a:lnTo>
                    <a:pt x="1786114" y="57328"/>
                  </a:lnTo>
                  <a:lnTo>
                    <a:pt x="1793494" y="93853"/>
                  </a:lnTo>
                  <a:lnTo>
                    <a:pt x="1793494" y="469519"/>
                  </a:lnTo>
                  <a:lnTo>
                    <a:pt x="1786114" y="506116"/>
                  </a:lnTo>
                  <a:lnTo>
                    <a:pt x="1765982" y="535987"/>
                  </a:lnTo>
                  <a:lnTo>
                    <a:pt x="1736111" y="556119"/>
                  </a:lnTo>
                  <a:lnTo>
                    <a:pt x="1699514" y="563499"/>
                  </a:lnTo>
                  <a:lnTo>
                    <a:pt x="93852" y="563499"/>
                  </a:lnTo>
                  <a:lnTo>
                    <a:pt x="57328" y="556119"/>
                  </a:lnTo>
                  <a:lnTo>
                    <a:pt x="27495" y="535987"/>
                  </a:lnTo>
                  <a:lnTo>
                    <a:pt x="7377" y="506116"/>
                  </a:lnTo>
                  <a:lnTo>
                    <a:pt x="0" y="469519"/>
                  </a:lnTo>
                  <a:lnTo>
                    <a:pt x="0" y="93853"/>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0" name="object 30"/>
          <p:cNvSpPr txBox="1"/>
          <p:nvPr/>
        </p:nvSpPr>
        <p:spPr>
          <a:xfrm>
            <a:off x="3265932" y="3587242"/>
            <a:ext cx="1367790" cy="574040"/>
          </a:xfrm>
          <a:prstGeom prst="rect">
            <a:avLst/>
          </a:prstGeom>
        </p:spPr>
        <p:txBody>
          <a:bodyPr vert="horz" wrap="square" lIns="0" tIns="104140" rIns="0" bIns="0" rtlCol="0">
            <a:spAutoFit/>
          </a:bodyPr>
          <a:lstStyle/>
          <a:p>
            <a:pPr marL="0" marR="5080" lvl="0" indent="0" algn="ctr" defTabSz="914400" eaLnBrk="1" fontAlgn="auto" latinLnBrk="0" hangingPunct="1">
              <a:lnSpc>
                <a:spcPct val="100000"/>
              </a:lnSpc>
              <a:spcBef>
                <a:spcPts val="820"/>
              </a:spcBef>
              <a:spcAft>
                <a:spcPts val="0"/>
              </a:spcAft>
              <a:buClrTx/>
              <a:buSzTx/>
              <a:buFontTx/>
              <a:buNone/>
              <a:tabLst/>
              <a:defRPr/>
            </a:pPr>
            <a:r>
              <a:rPr kumimoji="0" sz="1200" b="0" i="0" u="none" strike="noStrike" kern="0" cap="none" spc="0" normalizeH="0" baseline="0" noProof="0">
                <a:ln>
                  <a:noFill/>
                </a:ln>
                <a:solidFill>
                  <a:srgbClr val="54535A"/>
                </a:solidFill>
                <a:effectLst/>
                <a:uLnTx/>
                <a:uFillTx/>
                <a:latin typeface="Tahoma"/>
                <a:cs typeface="Tahoma"/>
              </a:rPr>
              <a:t>System</a:t>
            </a:r>
            <a:r>
              <a:rPr kumimoji="0" sz="1200" b="0" i="0" u="none" strike="noStrike" kern="0" cap="none" spc="90"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Integration</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3175" lvl="0" indent="0" algn="ctr" defTabSz="914400" eaLnBrk="1" fontAlgn="auto" latinLnBrk="0" hangingPunct="1">
              <a:lnSpc>
                <a:spcPct val="100000"/>
              </a:lnSpc>
              <a:spcBef>
                <a:spcPts val="720"/>
              </a:spcBef>
              <a:spcAft>
                <a:spcPts val="0"/>
              </a:spcAft>
              <a:buClrTx/>
              <a:buSzTx/>
              <a:buFontTx/>
              <a:buNone/>
              <a:tabLst/>
              <a:defRPr/>
            </a:pPr>
            <a:r>
              <a:rPr kumimoji="0" sz="1200" b="1" i="0" u="none" strike="noStrike" kern="0" cap="none" spc="0" normalizeH="0" baseline="0" noProof="0">
                <a:ln>
                  <a:noFill/>
                </a:ln>
                <a:solidFill>
                  <a:srgbClr val="54535A"/>
                </a:solidFill>
                <a:effectLst/>
                <a:uLnTx/>
                <a:uFillTx/>
                <a:latin typeface="Tahoma"/>
                <a:cs typeface="Tahoma"/>
              </a:rPr>
              <a:t>Osahon</a:t>
            </a:r>
            <a:r>
              <a:rPr kumimoji="0" sz="1200" b="1" i="0" u="none" strike="noStrike" kern="0" cap="none" spc="-45" normalizeH="0" baseline="0" noProof="0">
                <a:ln>
                  <a:noFill/>
                </a:ln>
                <a:solidFill>
                  <a:srgbClr val="54535A"/>
                </a:solidFill>
                <a:effectLst/>
                <a:uLnTx/>
                <a:uFillTx/>
                <a:latin typeface="Tahoma"/>
                <a:cs typeface="Tahoma"/>
              </a:rPr>
              <a:t> </a:t>
            </a:r>
            <a:r>
              <a:rPr kumimoji="0" sz="1200" b="1" i="0" u="none" strike="noStrike" kern="0" cap="none" spc="-10" normalizeH="0" baseline="0" noProof="0">
                <a:ln>
                  <a:noFill/>
                </a:ln>
                <a:solidFill>
                  <a:srgbClr val="54535A"/>
                </a:solidFill>
                <a:effectLst/>
                <a:uLnTx/>
                <a:uFillTx/>
                <a:latin typeface="Tahoma"/>
                <a:cs typeface="Tahoma"/>
              </a:rPr>
              <a:t>Elaiho</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31" name="object 31"/>
          <p:cNvGrpSpPr/>
          <p:nvPr/>
        </p:nvGrpSpPr>
        <p:grpSpPr>
          <a:xfrm>
            <a:off x="5331269" y="4921567"/>
            <a:ext cx="1760855" cy="573405"/>
            <a:chOff x="5331269" y="4921567"/>
            <a:chExt cx="1760855" cy="573405"/>
          </a:xfrm>
        </p:grpSpPr>
        <p:sp>
          <p:nvSpPr>
            <p:cNvPr id="32" name="object 32"/>
            <p:cNvSpPr/>
            <p:nvPr/>
          </p:nvSpPr>
          <p:spPr>
            <a:xfrm>
              <a:off x="5336032" y="4926329"/>
              <a:ext cx="1751330" cy="563880"/>
            </a:xfrm>
            <a:custGeom>
              <a:avLst/>
              <a:gdLst/>
              <a:ahLst/>
              <a:cxnLst/>
              <a:rect l="l" t="t" r="r" b="b"/>
              <a:pathLst>
                <a:path w="1751329" h="563879">
                  <a:moveTo>
                    <a:pt x="1657476" y="0"/>
                  </a:moveTo>
                  <a:lnTo>
                    <a:pt x="93852" y="0"/>
                  </a:lnTo>
                  <a:lnTo>
                    <a:pt x="57328" y="7377"/>
                  </a:lnTo>
                  <a:lnTo>
                    <a:pt x="27495" y="27495"/>
                  </a:lnTo>
                  <a:lnTo>
                    <a:pt x="7377" y="57328"/>
                  </a:lnTo>
                  <a:lnTo>
                    <a:pt x="0" y="93853"/>
                  </a:lnTo>
                  <a:lnTo>
                    <a:pt x="0" y="469519"/>
                  </a:lnTo>
                  <a:lnTo>
                    <a:pt x="7377" y="506116"/>
                  </a:lnTo>
                  <a:lnTo>
                    <a:pt x="27495" y="535987"/>
                  </a:lnTo>
                  <a:lnTo>
                    <a:pt x="57328" y="556119"/>
                  </a:lnTo>
                  <a:lnTo>
                    <a:pt x="93852" y="563499"/>
                  </a:lnTo>
                  <a:lnTo>
                    <a:pt x="1657476" y="563499"/>
                  </a:lnTo>
                  <a:lnTo>
                    <a:pt x="1694001" y="556119"/>
                  </a:lnTo>
                  <a:lnTo>
                    <a:pt x="1723834" y="535987"/>
                  </a:lnTo>
                  <a:lnTo>
                    <a:pt x="1743952" y="506116"/>
                  </a:lnTo>
                  <a:lnTo>
                    <a:pt x="1751329" y="469519"/>
                  </a:lnTo>
                  <a:lnTo>
                    <a:pt x="1751329" y="93853"/>
                  </a:lnTo>
                  <a:lnTo>
                    <a:pt x="1743952" y="57328"/>
                  </a:lnTo>
                  <a:lnTo>
                    <a:pt x="1723834" y="27495"/>
                  </a:lnTo>
                  <a:lnTo>
                    <a:pt x="1694001" y="7377"/>
                  </a:lnTo>
                  <a:lnTo>
                    <a:pt x="1657476"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p:nvPr/>
          </p:nvSpPr>
          <p:spPr>
            <a:xfrm>
              <a:off x="5336032" y="4926329"/>
              <a:ext cx="1751330" cy="563880"/>
            </a:xfrm>
            <a:custGeom>
              <a:avLst/>
              <a:gdLst/>
              <a:ahLst/>
              <a:cxnLst/>
              <a:rect l="l" t="t" r="r" b="b"/>
              <a:pathLst>
                <a:path w="1751329" h="563879">
                  <a:moveTo>
                    <a:pt x="0" y="93853"/>
                  </a:moveTo>
                  <a:lnTo>
                    <a:pt x="7377" y="57328"/>
                  </a:lnTo>
                  <a:lnTo>
                    <a:pt x="27495" y="27495"/>
                  </a:lnTo>
                  <a:lnTo>
                    <a:pt x="57328" y="7377"/>
                  </a:lnTo>
                  <a:lnTo>
                    <a:pt x="93852" y="0"/>
                  </a:lnTo>
                  <a:lnTo>
                    <a:pt x="1657476" y="0"/>
                  </a:lnTo>
                  <a:lnTo>
                    <a:pt x="1694001" y="7377"/>
                  </a:lnTo>
                  <a:lnTo>
                    <a:pt x="1723834" y="27495"/>
                  </a:lnTo>
                  <a:lnTo>
                    <a:pt x="1743952" y="57328"/>
                  </a:lnTo>
                  <a:lnTo>
                    <a:pt x="1751329" y="93853"/>
                  </a:lnTo>
                  <a:lnTo>
                    <a:pt x="1751329" y="469519"/>
                  </a:lnTo>
                  <a:lnTo>
                    <a:pt x="1743952" y="506116"/>
                  </a:lnTo>
                  <a:lnTo>
                    <a:pt x="1723834" y="535987"/>
                  </a:lnTo>
                  <a:lnTo>
                    <a:pt x="1694001" y="556119"/>
                  </a:lnTo>
                  <a:lnTo>
                    <a:pt x="1657476" y="563499"/>
                  </a:lnTo>
                  <a:lnTo>
                    <a:pt x="93852" y="563499"/>
                  </a:lnTo>
                  <a:lnTo>
                    <a:pt x="57328" y="556119"/>
                  </a:lnTo>
                  <a:lnTo>
                    <a:pt x="27495" y="535987"/>
                  </a:lnTo>
                  <a:lnTo>
                    <a:pt x="7377" y="506116"/>
                  </a:lnTo>
                  <a:lnTo>
                    <a:pt x="0" y="469519"/>
                  </a:lnTo>
                  <a:lnTo>
                    <a:pt x="0" y="93853"/>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4" name="object 34"/>
          <p:cNvSpPr txBox="1"/>
          <p:nvPr/>
        </p:nvSpPr>
        <p:spPr>
          <a:xfrm>
            <a:off x="5487289" y="4901564"/>
            <a:ext cx="1462405" cy="574040"/>
          </a:xfrm>
          <a:prstGeom prst="rect">
            <a:avLst/>
          </a:prstGeom>
        </p:spPr>
        <p:txBody>
          <a:bodyPr vert="horz" wrap="square" lIns="0" tIns="104139" rIns="0" bIns="0" rtlCol="0">
            <a:spAutoFit/>
          </a:bodyPr>
          <a:lstStyle/>
          <a:p>
            <a:pPr marL="42545" marR="0" lvl="0" indent="0" defTabSz="914400" eaLnBrk="1" fontAlgn="auto" latinLnBrk="0" hangingPunct="1">
              <a:lnSpc>
                <a:spcPct val="100000"/>
              </a:lnSpc>
              <a:spcBef>
                <a:spcPts val="819"/>
              </a:spcBef>
              <a:spcAft>
                <a:spcPts val="0"/>
              </a:spcAft>
              <a:buClrTx/>
              <a:buSzTx/>
              <a:buFontTx/>
              <a:buNone/>
              <a:tabLst/>
              <a:defRPr/>
            </a:pPr>
            <a:r>
              <a:rPr kumimoji="0" sz="1200" b="0" i="0" u="none" strike="noStrike" kern="0" cap="none" spc="110" normalizeH="0" baseline="0" noProof="0">
                <a:ln>
                  <a:noFill/>
                </a:ln>
                <a:solidFill>
                  <a:srgbClr val="54535A"/>
                </a:solidFill>
                <a:effectLst/>
                <a:uLnTx/>
                <a:uFillTx/>
                <a:latin typeface="Tahoma"/>
                <a:cs typeface="Tahoma"/>
              </a:rPr>
              <a:t>Cloud</a:t>
            </a:r>
            <a:r>
              <a:rPr kumimoji="0" sz="1200" b="0" i="0" u="none" strike="noStrike" kern="0" cap="none" spc="-60"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Engineering</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0" lvl="0" indent="0" defTabSz="914400" eaLnBrk="1" fontAlgn="auto" latinLnBrk="0" hangingPunct="1">
              <a:lnSpc>
                <a:spcPct val="100000"/>
              </a:lnSpc>
              <a:spcBef>
                <a:spcPts val="720"/>
              </a:spcBef>
              <a:spcAft>
                <a:spcPts val="0"/>
              </a:spcAft>
              <a:buClrTx/>
              <a:buSzTx/>
              <a:buFontTx/>
              <a:buNone/>
              <a:tabLst/>
              <a:defRPr/>
            </a:pPr>
            <a:r>
              <a:rPr kumimoji="0" sz="1200" b="1" i="0" u="none" strike="noStrike" kern="0" cap="none" spc="-30" normalizeH="0" baseline="0" noProof="0">
                <a:ln>
                  <a:noFill/>
                </a:ln>
                <a:solidFill>
                  <a:srgbClr val="54535A"/>
                </a:solidFill>
                <a:effectLst/>
                <a:uLnTx/>
                <a:uFillTx/>
                <a:latin typeface="Tahoma"/>
                <a:cs typeface="Tahoma"/>
              </a:rPr>
              <a:t>Marvelous</a:t>
            </a:r>
            <a:r>
              <a:rPr kumimoji="0" sz="1200" b="1" i="0" u="none" strike="noStrike" kern="0" cap="none" spc="-10" normalizeH="0" baseline="0" noProof="0">
                <a:ln>
                  <a:noFill/>
                </a:ln>
                <a:solidFill>
                  <a:srgbClr val="54535A"/>
                </a:solidFill>
                <a:effectLst/>
                <a:uLnTx/>
                <a:uFillTx/>
                <a:latin typeface="Tahoma"/>
                <a:cs typeface="Tahoma"/>
              </a:rPr>
              <a:t> Abolade</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35" name="object 35"/>
          <p:cNvGrpSpPr/>
          <p:nvPr/>
        </p:nvGrpSpPr>
        <p:grpSpPr>
          <a:xfrm>
            <a:off x="4274820" y="1357858"/>
            <a:ext cx="1748155" cy="716915"/>
            <a:chOff x="4274820" y="1357858"/>
            <a:chExt cx="1748155" cy="716915"/>
          </a:xfrm>
        </p:grpSpPr>
        <p:pic>
          <p:nvPicPr>
            <p:cNvPr id="36" name="object 36"/>
            <p:cNvPicPr/>
            <p:nvPr/>
          </p:nvPicPr>
          <p:blipFill>
            <a:blip r:embed="rId4" cstate="print"/>
            <a:stretch>
              <a:fillRect/>
            </a:stretch>
          </p:blipFill>
          <p:spPr>
            <a:xfrm>
              <a:off x="4274820" y="1357858"/>
              <a:ext cx="1748027" cy="667537"/>
            </a:xfrm>
            <a:prstGeom prst="rect">
              <a:avLst/>
            </a:prstGeom>
          </p:spPr>
        </p:pic>
        <p:pic>
          <p:nvPicPr>
            <p:cNvPr id="37" name="object 37"/>
            <p:cNvPicPr/>
            <p:nvPr/>
          </p:nvPicPr>
          <p:blipFill>
            <a:blip r:embed="rId5" cstate="print"/>
            <a:stretch>
              <a:fillRect/>
            </a:stretch>
          </p:blipFill>
          <p:spPr>
            <a:xfrm>
              <a:off x="4539996" y="1405102"/>
              <a:ext cx="1216164" cy="669061"/>
            </a:xfrm>
            <a:prstGeom prst="rect">
              <a:avLst/>
            </a:prstGeom>
          </p:spPr>
        </p:pic>
        <p:sp>
          <p:nvSpPr>
            <p:cNvPr id="38" name="object 38"/>
            <p:cNvSpPr/>
            <p:nvPr/>
          </p:nvSpPr>
          <p:spPr>
            <a:xfrm>
              <a:off x="4313936" y="1396872"/>
              <a:ext cx="1620520" cy="540385"/>
            </a:xfrm>
            <a:custGeom>
              <a:avLst/>
              <a:gdLst/>
              <a:ahLst/>
              <a:cxnLst/>
              <a:rect l="l" t="t" r="r" b="b"/>
              <a:pathLst>
                <a:path w="1620520" h="540385">
                  <a:moveTo>
                    <a:pt x="1530096" y="0"/>
                  </a:moveTo>
                  <a:lnTo>
                    <a:pt x="90042" y="0"/>
                  </a:lnTo>
                  <a:lnTo>
                    <a:pt x="55024" y="7066"/>
                  </a:lnTo>
                  <a:lnTo>
                    <a:pt x="26400" y="26336"/>
                  </a:lnTo>
                  <a:lnTo>
                    <a:pt x="7086" y="54917"/>
                  </a:lnTo>
                  <a:lnTo>
                    <a:pt x="0" y="89915"/>
                  </a:lnTo>
                  <a:lnTo>
                    <a:pt x="0" y="449961"/>
                  </a:lnTo>
                  <a:lnTo>
                    <a:pt x="7086" y="484979"/>
                  </a:lnTo>
                  <a:lnTo>
                    <a:pt x="26400" y="513603"/>
                  </a:lnTo>
                  <a:lnTo>
                    <a:pt x="55024" y="532917"/>
                  </a:lnTo>
                  <a:lnTo>
                    <a:pt x="90042" y="540003"/>
                  </a:lnTo>
                  <a:lnTo>
                    <a:pt x="1530096" y="540003"/>
                  </a:lnTo>
                  <a:lnTo>
                    <a:pt x="1565094" y="532917"/>
                  </a:lnTo>
                  <a:lnTo>
                    <a:pt x="1593675" y="513603"/>
                  </a:lnTo>
                  <a:lnTo>
                    <a:pt x="1612945" y="484979"/>
                  </a:lnTo>
                  <a:lnTo>
                    <a:pt x="1620012" y="449961"/>
                  </a:lnTo>
                  <a:lnTo>
                    <a:pt x="1620012" y="89915"/>
                  </a:lnTo>
                  <a:lnTo>
                    <a:pt x="1612945" y="54917"/>
                  </a:lnTo>
                  <a:lnTo>
                    <a:pt x="1593675" y="26336"/>
                  </a:lnTo>
                  <a:lnTo>
                    <a:pt x="1565094" y="7066"/>
                  </a:lnTo>
                  <a:lnTo>
                    <a:pt x="1530096" y="0"/>
                  </a:lnTo>
                  <a:close/>
                </a:path>
              </a:pathLst>
            </a:custGeom>
            <a:solidFill>
              <a:srgbClr val="FF66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p:cNvSpPr/>
            <p:nvPr/>
          </p:nvSpPr>
          <p:spPr>
            <a:xfrm>
              <a:off x="4313936" y="1396872"/>
              <a:ext cx="1620520" cy="540385"/>
            </a:xfrm>
            <a:custGeom>
              <a:avLst/>
              <a:gdLst/>
              <a:ahLst/>
              <a:cxnLst/>
              <a:rect l="l" t="t" r="r" b="b"/>
              <a:pathLst>
                <a:path w="1620520" h="540385">
                  <a:moveTo>
                    <a:pt x="0" y="89915"/>
                  </a:moveTo>
                  <a:lnTo>
                    <a:pt x="7086" y="54917"/>
                  </a:lnTo>
                  <a:lnTo>
                    <a:pt x="26400" y="26336"/>
                  </a:lnTo>
                  <a:lnTo>
                    <a:pt x="55024" y="7066"/>
                  </a:lnTo>
                  <a:lnTo>
                    <a:pt x="90042" y="0"/>
                  </a:lnTo>
                  <a:lnTo>
                    <a:pt x="1530096" y="0"/>
                  </a:lnTo>
                  <a:lnTo>
                    <a:pt x="1565094" y="7066"/>
                  </a:lnTo>
                  <a:lnTo>
                    <a:pt x="1593675" y="26336"/>
                  </a:lnTo>
                  <a:lnTo>
                    <a:pt x="1612945" y="54917"/>
                  </a:lnTo>
                  <a:lnTo>
                    <a:pt x="1620012" y="89915"/>
                  </a:lnTo>
                  <a:lnTo>
                    <a:pt x="1620012" y="449961"/>
                  </a:lnTo>
                  <a:lnTo>
                    <a:pt x="1612945" y="484979"/>
                  </a:lnTo>
                  <a:lnTo>
                    <a:pt x="1593675" y="513603"/>
                  </a:lnTo>
                  <a:lnTo>
                    <a:pt x="1565094" y="532917"/>
                  </a:lnTo>
                  <a:lnTo>
                    <a:pt x="1530096" y="540003"/>
                  </a:lnTo>
                  <a:lnTo>
                    <a:pt x="90042" y="540003"/>
                  </a:lnTo>
                  <a:lnTo>
                    <a:pt x="55024" y="532917"/>
                  </a:lnTo>
                  <a:lnTo>
                    <a:pt x="26400" y="513603"/>
                  </a:lnTo>
                  <a:lnTo>
                    <a:pt x="7086" y="484979"/>
                  </a:lnTo>
                  <a:lnTo>
                    <a:pt x="0" y="449961"/>
                  </a:lnTo>
                  <a:lnTo>
                    <a:pt x="0" y="89915"/>
                  </a:lnTo>
                  <a:close/>
                </a:path>
              </a:pathLst>
            </a:custGeom>
            <a:ln w="25399">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40" name="object 40"/>
          <p:cNvGrpSpPr/>
          <p:nvPr/>
        </p:nvGrpSpPr>
        <p:grpSpPr>
          <a:xfrm>
            <a:off x="9669780" y="2449042"/>
            <a:ext cx="1804670" cy="1313815"/>
            <a:chOff x="9669780" y="2449042"/>
            <a:chExt cx="1804670" cy="1313815"/>
          </a:xfrm>
        </p:grpSpPr>
        <p:pic>
          <p:nvPicPr>
            <p:cNvPr id="41" name="object 41"/>
            <p:cNvPicPr/>
            <p:nvPr/>
          </p:nvPicPr>
          <p:blipFill>
            <a:blip r:embed="rId6" cstate="print"/>
            <a:stretch>
              <a:fillRect/>
            </a:stretch>
          </p:blipFill>
          <p:spPr>
            <a:xfrm>
              <a:off x="10195560" y="2449042"/>
              <a:ext cx="643140" cy="641629"/>
            </a:xfrm>
            <a:prstGeom prst="rect">
              <a:avLst/>
            </a:prstGeom>
          </p:spPr>
        </p:pic>
        <p:pic>
          <p:nvPicPr>
            <p:cNvPr id="42" name="object 42"/>
            <p:cNvPicPr/>
            <p:nvPr/>
          </p:nvPicPr>
          <p:blipFill>
            <a:blip r:embed="rId7" cstate="print"/>
            <a:stretch>
              <a:fillRect/>
            </a:stretch>
          </p:blipFill>
          <p:spPr>
            <a:xfrm>
              <a:off x="10277602" y="2492501"/>
              <a:ext cx="482980" cy="482981"/>
            </a:xfrm>
            <a:prstGeom prst="rect">
              <a:avLst/>
            </a:prstGeom>
          </p:spPr>
        </p:pic>
        <p:sp>
          <p:nvSpPr>
            <p:cNvPr id="43" name="object 43"/>
            <p:cNvSpPr/>
            <p:nvPr/>
          </p:nvSpPr>
          <p:spPr>
            <a:xfrm>
              <a:off x="10263251" y="2478150"/>
              <a:ext cx="511809" cy="511809"/>
            </a:xfrm>
            <a:custGeom>
              <a:avLst/>
              <a:gdLst/>
              <a:ahLst/>
              <a:cxnLst/>
              <a:rect l="l" t="t" r="r" b="b"/>
              <a:pathLst>
                <a:path w="511809" h="511810">
                  <a:moveTo>
                    <a:pt x="255777" y="0"/>
                  </a:moveTo>
                  <a:lnTo>
                    <a:pt x="307721" y="5207"/>
                  </a:lnTo>
                  <a:lnTo>
                    <a:pt x="355473" y="20065"/>
                  </a:lnTo>
                  <a:lnTo>
                    <a:pt x="398906" y="43687"/>
                  </a:lnTo>
                  <a:lnTo>
                    <a:pt x="436752" y="74929"/>
                  </a:lnTo>
                  <a:lnTo>
                    <a:pt x="467995" y="112775"/>
                  </a:lnTo>
                  <a:lnTo>
                    <a:pt x="491617" y="156210"/>
                  </a:lnTo>
                  <a:lnTo>
                    <a:pt x="506349" y="203962"/>
                  </a:lnTo>
                  <a:lnTo>
                    <a:pt x="511682" y="255777"/>
                  </a:lnTo>
                  <a:lnTo>
                    <a:pt x="510285" y="281939"/>
                  </a:lnTo>
                  <a:lnTo>
                    <a:pt x="491617" y="355473"/>
                  </a:lnTo>
                  <a:lnTo>
                    <a:pt x="467995" y="398907"/>
                  </a:lnTo>
                  <a:lnTo>
                    <a:pt x="436752" y="436752"/>
                  </a:lnTo>
                  <a:lnTo>
                    <a:pt x="398906" y="467995"/>
                  </a:lnTo>
                  <a:lnTo>
                    <a:pt x="355473" y="491616"/>
                  </a:lnTo>
                  <a:lnTo>
                    <a:pt x="307721" y="506349"/>
                  </a:lnTo>
                  <a:lnTo>
                    <a:pt x="255777" y="511683"/>
                  </a:lnTo>
                  <a:lnTo>
                    <a:pt x="229743" y="510286"/>
                  </a:lnTo>
                  <a:lnTo>
                    <a:pt x="156209" y="491616"/>
                  </a:lnTo>
                  <a:lnTo>
                    <a:pt x="112775" y="467995"/>
                  </a:lnTo>
                  <a:lnTo>
                    <a:pt x="74929" y="436752"/>
                  </a:lnTo>
                  <a:lnTo>
                    <a:pt x="43688" y="398907"/>
                  </a:lnTo>
                  <a:lnTo>
                    <a:pt x="20066" y="355473"/>
                  </a:lnTo>
                  <a:lnTo>
                    <a:pt x="5206" y="307721"/>
                  </a:lnTo>
                  <a:lnTo>
                    <a:pt x="0" y="255777"/>
                  </a:lnTo>
                  <a:lnTo>
                    <a:pt x="1270" y="229743"/>
                  </a:lnTo>
                  <a:lnTo>
                    <a:pt x="20066" y="156210"/>
                  </a:lnTo>
                  <a:lnTo>
                    <a:pt x="43688" y="112775"/>
                  </a:lnTo>
                  <a:lnTo>
                    <a:pt x="74929" y="74929"/>
                  </a:lnTo>
                  <a:lnTo>
                    <a:pt x="112775" y="43687"/>
                  </a:lnTo>
                  <a:lnTo>
                    <a:pt x="156209" y="20065"/>
                  </a:lnTo>
                  <a:lnTo>
                    <a:pt x="203962" y="5207"/>
                  </a:lnTo>
                  <a:lnTo>
                    <a:pt x="255777"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44" name="object 44"/>
            <p:cNvPicPr/>
            <p:nvPr/>
          </p:nvPicPr>
          <p:blipFill>
            <a:blip r:embed="rId8" cstate="print"/>
            <a:stretch>
              <a:fillRect/>
            </a:stretch>
          </p:blipFill>
          <p:spPr>
            <a:xfrm>
              <a:off x="9669780" y="3095218"/>
              <a:ext cx="1804416" cy="667537"/>
            </a:xfrm>
            <a:prstGeom prst="rect">
              <a:avLst/>
            </a:prstGeom>
          </p:spPr>
        </p:pic>
        <p:pic>
          <p:nvPicPr>
            <p:cNvPr id="45" name="object 45"/>
            <p:cNvPicPr/>
            <p:nvPr/>
          </p:nvPicPr>
          <p:blipFill>
            <a:blip r:embed="rId9" cstate="print"/>
            <a:stretch>
              <a:fillRect/>
            </a:stretch>
          </p:blipFill>
          <p:spPr>
            <a:xfrm>
              <a:off x="9758172" y="3148558"/>
              <a:ext cx="1665731" cy="605053"/>
            </a:xfrm>
            <a:prstGeom prst="rect">
              <a:avLst/>
            </a:prstGeom>
          </p:spPr>
        </p:pic>
        <p:sp>
          <p:nvSpPr>
            <p:cNvPr id="46" name="object 46"/>
            <p:cNvSpPr/>
            <p:nvPr/>
          </p:nvSpPr>
          <p:spPr>
            <a:xfrm>
              <a:off x="9709023" y="3134232"/>
              <a:ext cx="1677670" cy="540385"/>
            </a:xfrm>
            <a:custGeom>
              <a:avLst/>
              <a:gdLst/>
              <a:ahLst/>
              <a:cxnLst/>
              <a:rect l="l" t="t" r="r" b="b"/>
              <a:pathLst>
                <a:path w="1677670" h="540385">
                  <a:moveTo>
                    <a:pt x="1587373" y="0"/>
                  </a:moveTo>
                  <a:lnTo>
                    <a:pt x="90043" y="0"/>
                  </a:lnTo>
                  <a:lnTo>
                    <a:pt x="55024" y="7068"/>
                  </a:lnTo>
                  <a:lnTo>
                    <a:pt x="26400" y="26352"/>
                  </a:lnTo>
                  <a:lnTo>
                    <a:pt x="7086" y="54971"/>
                  </a:lnTo>
                  <a:lnTo>
                    <a:pt x="0" y="90042"/>
                  </a:lnTo>
                  <a:lnTo>
                    <a:pt x="0" y="449961"/>
                  </a:lnTo>
                  <a:lnTo>
                    <a:pt x="7086" y="485032"/>
                  </a:lnTo>
                  <a:lnTo>
                    <a:pt x="26400" y="513651"/>
                  </a:lnTo>
                  <a:lnTo>
                    <a:pt x="55024" y="532935"/>
                  </a:lnTo>
                  <a:lnTo>
                    <a:pt x="90043" y="540003"/>
                  </a:lnTo>
                  <a:lnTo>
                    <a:pt x="1587373" y="540003"/>
                  </a:lnTo>
                  <a:lnTo>
                    <a:pt x="1622391" y="532935"/>
                  </a:lnTo>
                  <a:lnTo>
                    <a:pt x="1651015" y="513651"/>
                  </a:lnTo>
                  <a:lnTo>
                    <a:pt x="1670329" y="485032"/>
                  </a:lnTo>
                  <a:lnTo>
                    <a:pt x="1677416" y="449961"/>
                  </a:lnTo>
                  <a:lnTo>
                    <a:pt x="1677416" y="90042"/>
                  </a:lnTo>
                  <a:lnTo>
                    <a:pt x="1670329" y="54971"/>
                  </a:lnTo>
                  <a:lnTo>
                    <a:pt x="1651015" y="26352"/>
                  </a:lnTo>
                  <a:lnTo>
                    <a:pt x="1622391" y="7068"/>
                  </a:lnTo>
                  <a:lnTo>
                    <a:pt x="1587373" y="0"/>
                  </a:lnTo>
                  <a:close/>
                </a:path>
              </a:pathLst>
            </a:custGeom>
            <a:solidFill>
              <a:srgbClr val="FF66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47"/>
            <p:cNvSpPr/>
            <p:nvPr/>
          </p:nvSpPr>
          <p:spPr>
            <a:xfrm>
              <a:off x="9709023" y="3134232"/>
              <a:ext cx="1677670" cy="540385"/>
            </a:xfrm>
            <a:custGeom>
              <a:avLst/>
              <a:gdLst/>
              <a:ahLst/>
              <a:cxnLst/>
              <a:rect l="l" t="t" r="r" b="b"/>
              <a:pathLst>
                <a:path w="1677670" h="540385">
                  <a:moveTo>
                    <a:pt x="0" y="90042"/>
                  </a:moveTo>
                  <a:lnTo>
                    <a:pt x="7086" y="54971"/>
                  </a:lnTo>
                  <a:lnTo>
                    <a:pt x="26400" y="26352"/>
                  </a:lnTo>
                  <a:lnTo>
                    <a:pt x="55024" y="7068"/>
                  </a:lnTo>
                  <a:lnTo>
                    <a:pt x="90043" y="0"/>
                  </a:lnTo>
                  <a:lnTo>
                    <a:pt x="1587373" y="0"/>
                  </a:lnTo>
                  <a:lnTo>
                    <a:pt x="1622391" y="7068"/>
                  </a:lnTo>
                  <a:lnTo>
                    <a:pt x="1651015" y="26352"/>
                  </a:lnTo>
                  <a:lnTo>
                    <a:pt x="1670329" y="54971"/>
                  </a:lnTo>
                  <a:lnTo>
                    <a:pt x="1677416" y="90042"/>
                  </a:lnTo>
                  <a:lnTo>
                    <a:pt x="1677416" y="449961"/>
                  </a:lnTo>
                  <a:lnTo>
                    <a:pt x="1670329" y="485032"/>
                  </a:lnTo>
                  <a:lnTo>
                    <a:pt x="1651015" y="513651"/>
                  </a:lnTo>
                  <a:lnTo>
                    <a:pt x="1622391" y="532935"/>
                  </a:lnTo>
                  <a:lnTo>
                    <a:pt x="1587373" y="540003"/>
                  </a:lnTo>
                  <a:lnTo>
                    <a:pt x="90043" y="540003"/>
                  </a:lnTo>
                  <a:lnTo>
                    <a:pt x="55024" y="532935"/>
                  </a:lnTo>
                  <a:lnTo>
                    <a:pt x="26400" y="513651"/>
                  </a:lnTo>
                  <a:lnTo>
                    <a:pt x="7086" y="485032"/>
                  </a:lnTo>
                  <a:lnTo>
                    <a:pt x="0" y="449961"/>
                  </a:lnTo>
                  <a:lnTo>
                    <a:pt x="0" y="90042"/>
                  </a:lnTo>
                  <a:close/>
                </a:path>
              </a:pathLst>
            </a:custGeom>
            <a:ln w="254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8" name="object 48"/>
          <p:cNvSpPr txBox="1"/>
          <p:nvPr/>
        </p:nvSpPr>
        <p:spPr>
          <a:xfrm>
            <a:off x="4690236" y="1365882"/>
            <a:ext cx="919480" cy="558800"/>
          </a:xfrm>
          <a:prstGeom prst="rect">
            <a:avLst/>
          </a:prstGeom>
        </p:spPr>
        <p:txBody>
          <a:bodyPr vert="horz" wrap="square" lIns="0" tIns="107950" rIns="0" bIns="0" rtlCol="0">
            <a:spAutoFit/>
          </a:bodyPr>
          <a:lstStyle/>
          <a:p>
            <a:pPr marL="0" marR="42545" lvl="0" indent="0" algn="ctr" defTabSz="914400" eaLnBrk="1" fontAlgn="auto" latinLnBrk="0" hangingPunct="1">
              <a:lnSpc>
                <a:spcPct val="100000"/>
              </a:lnSpc>
              <a:spcBef>
                <a:spcPts val="850"/>
              </a:spcBef>
              <a:spcAft>
                <a:spcPts val="0"/>
              </a:spcAft>
              <a:buClrTx/>
              <a:buSzTx/>
              <a:buFontTx/>
              <a:buNone/>
              <a:tabLst/>
              <a:defRPr/>
            </a:pPr>
            <a:r>
              <a:rPr kumimoji="0" sz="1200" b="1" i="0" u="none" strike="noStrike" kern="0" cap="none" spc="0" normalizeH="0" baseline="0" noProof="0">
                <a:ln>
                  <a:noFill/>
                </a:ln>
                <a:solidFill>
                  <a:srgbClr val="54535A"/>
                </a:solidFill>
                <a:effectLst/>
                <a:uLnTx/>
                <a:uFillTx/>
                <a:latin typeface="Tahoma"/>
                <a:cs typeface="Tahoma"/>
              </a:rPr>
              <a:t>Ag</a:t>
            </a:r>
            <a:r>
              <a:rPr kumimoji="0" sz="1200" b="1" i="0" u="none" strike="noStrike" kern="0" cap="none" spc="65" normalizeH="0" baseline="0" noProof="0">
                <a:ln>
                  <a:noFill/>
                </a:ln>
                <a:solidFill>
                  <a:srgbClr val="54535A"/>
                </a:solidFill>
                <a:effectLst/>
                <a:uLnTx/>
                <a:uFillTx/>
                <a:latin typeface="Tahoma"/>
                <a:cs typeface="Tahoma"/>
              </a:rPr>
              <a:t> </a:t>
            </a:r>
            <a:r>
              <a:rPr kumimoji="0" sz="1200" b="1" i="0" u="none" strike="noStrike" kern="0" cap="none" spc="-25" normalizeH="0" baseline="0" noProof="0">
                <a:ln>
                  <a:noFill/>
                </a:ln>
                <a:solidFill>
                  <a:srgbClr val="54535A"/>
                </a:solidFill>
                <a:effectLst/>
                <a:uLnTx/>
                <a:uFillTx/>
                <a:latin typeface="Tahoma"/>
                <a:cs typeface="Tahoma"/>
              </a:rPr>
              <a:t>CTO</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5080" lvl="0" indent="0" algn="ctr" defTabSz="914400" eaLnBrk="1" fontAlgn="auto" latinLnBrk="0" hangingPunct="1">
              <a:lnSpc>
                <a:spcPct val="100000"/>
              </a:lnSpc>
              <a:spcBef>
                <a:spcPts val="690"/>
              </a:spcBef>
              <a:spcAft>
                <a:spcPts val="0"/>
              </a:spcAft>
              <a:buClrTx/>
              <a:buSzTx/>
              <a:buFontTx/>
              <a:buNone/>
              <a:tabLst/>
              <a:defRPr/>
            </a:pPr>
            <a:r>
              <a:rPr kumimoji="0" sz="1100" b="1" i="0" u="none" strike="noStrike" kern="0" cap="none" spc="-35" normalizeH="0" baseline="0" noProof="0">
                <a:ln>
                  <a:noFill/>
                </a:ln>
                <a:solidFill>
                  <a:srgbClr val="54535A"/>
                </a:solidFill>
                <a:effectLst/>
                <a:uLnTx/>
                <a:uFillTx/>
                <a:latin typeface="Tahoma"/>
                <a:cs typeface="Tahoma"/>
              </a:rPr>
              <a:t>Romanus Eke</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grpSp>
        <p:nvGrpSpPr>
          <p:cNvPr id="49" name="object 49"/>
          <p:cNvGrpSpPr/>
          <p:nvPr/>
        </p:nvGrpSpPr>
        <p:grpSpPr>
          <a:xfrm>
            <a:off x="4802123" y="1866874"/>
            <a:ext cx="638810" cy="641985"/>
            <a:chOff x="4802123" y="1866874"/>
            <a:chExt cx="638810" cy="641985"/>
          </a:xfrm>
        </p:grpSpPr>
        <p:pic>
          <p:nvPicPr>
            <p:cNvPr id="50" name="object 50"/>
            <p:cNvPicPr/>
            <p:nvPr/>
          </p:nvPicPr>
          <p:blipFill>
            <a:blip r:embed="rId10" cstate="print"/>
            <a:stretch>
              <a:fillRect/>
            </a:stretch>
          </p:blipFill>
          <p:spPr>
            <a:xfrm>
              <a:off x="4802123" y="1866874"/>
              <a:ext cx="638530" cy="641629"/>
            </a:xfrm>
            <a:prstGeom prst="rect">
              <a:avLst/>
            </a:prstGeom>
          </p:spPr>
        </p:pic>
        <p:pic>
          <p:nvPicPr>
            <p:cNvPr id="51" name="object 51"/>
            <p:cNvPicPr/>
            <p:nvPr/>
          </p:nvPicPr>
          <p:blipFill>
            <a:blip r:embed="rId11" cstate="print"/>
            <a:stretch>
              <a:fillRect/>
            </a:stretch>
          </p:blipFill>
          <p:spPr>
            <a:xfrm>
              <a:off x="4884292" y="1910461"/>
              <a:ext cx="479425" cy="482980"/>
            </a:xfrm>
            <a:prstGeom prst="rect">
              <a:avLst/>
            </a:prstGeom>
          </p:spPr>
        </p:pic>
        <p:sp>
          <p:nvSpPr>
            <p:cNvPr id="52" name="object 52"/>
            <p:cNvSpPr/>
            <p:nvPr/>
          </p:nvSpPr>
          <p:spPr>
            <a:xfrm>
              <a:off x="4869941" y="1896110"/>
              <a:ext cx="508634" cy="511809"/>
            </a:xfrm>
            <a:custGeom>
              <a:avLst/>
              <a:gdLst/>
              <a:ahLst/>
              <a:cxnLst/>
              <a:rect l="l" t="t" r="r" b="b"/>
              <a:pathLst>
                <a:path w="508635" h="511810">
                  <a:moveTo>
                    <a:pt x="254000" y="0"/>
                  </a:moveTo>
                  <a:lnTo>
                    <a:pt x="305562" y="5334"/>
                  </a:lnTo>
                  <a:lnTo>
                    <a:pt x="352933" y="20065"/>
                  </a:lnTo>
                  <a:lnTo>
                    <a:pt x="396113" y="43687"/>
                  </a:lnTo>
                  <a:lnTo>
                    <a:pt x="433705" y="74929"/>
                  </a:lnTo>
                  <a:lnTo>
                    <a:pt x="464820" y="112775"/>
                  </a:lnTo>
                  <a:lnTo>
                    <a:pt x="488188" y="156337"/>
                  </a:lnTo>
                  <a:lnTo>
                    <a:pt x="502920" y="203962"/>
                  </a:lnTo>
                  <a:lnTo>
                    <a:pt x="508127" y="255777"/>
                  </a:lnTo>
                  <a:lnTo>
                    <a:pt x="506730" y="281939"/>
                  </a:lnTo>
                  <a:lnTo>
                    <a:pt x="488188" y="355345"/>
                  </a:lnTo>
                  <a:lnTo>
                    <a:pt x="464820" y="398906"/>
                  </a:lnTo>
                  <a:lnTo>
                    <a:pt x="433705" y="436752"/>
                  </a:lnTo>
                  <a:lnTo>
                    <a:pt x="396113" y="467994"/>
                  </a:lnTo>
                  <a:lnTo>
                    <a:pt x="352933" y="491616"/>
                  </a:lnTo>
                  <a:lnTo>
                    <a:pt x="305562" y="506349"/>
                  </a:lnTo>
                  <a:lnTo>
                    <a:pt x="254000" y="511682"/>
                  </a:lnTo>
                  <a:lnTo>
                    <a:pt x="228092" y="510286"/>
                  </a:lnTo>
                  <a:lnTo>
                    <a:pt x="155067" y="491616"/>
                  </a:lnTo>
                  <a:lnTo>
                    <a:pt x="111887" y="467994"/>
                  </a:lnTo>
                  <a:lnTo>
                    <a:pt x="74295" y="436752"/>
                  </a:lnTo>
                  <a:lnTo>
                    <a:pt x="43307" y="398906"/>
                  </a:lnTo>
                  <a:lnTo>
                    <a:pt x="19938" y="355345"/>
                  </a:lnTo>
                  <a:lnTo>
                    <a:pt x="5207" y="307720"/>
                  </a:lnTo>
                  <a:lnTo>
                    <a:pt x="0" y="255777"/>
                  </a:lnTo>
                  <a:lnTo>
                    <a:pt x="1270" y="229742"/>
                  </a:lnTo>
                  <a:lnTo>
                    <a:pt x="19938" y="156337"/>
                  </a:lnTo>
                  <a:lnTo>
                    <a:pt x="43307" y="112775"/>
                  </a:lnTo>
                  <a:lnTo>
                    <a:pt x="74295" y="74929"/>
                  </a:lnTo>
                  <a:lnTo>
                    <a:pt x="111887" y="43687"/>
                  </a:lnTo>
                  <a:lnTo>
                    <a:pt x="155067" y="20065"/>
                  </a:lnTo>
                  <a:lnTo>
                    <a:pt x="202565" y="5334"/>
                  </a:lnTo>
                  <a:lnTo>
                    <a:pt x="254000" y="0"/>
                  </a:lnTo>
                  <a:close/>
                </a:path>
              </a:pathLst>
            </a:custGeom>
            <a:ln w="28574">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3" name="object 53"/>
          <p:cNvSpPr txBox="1"/>
          <p:nvPr/>
        </p:nvSpPr>
        <p:spPr>
          <a:xfrm>
            <a:off x="9864597" y="3206241"/>
            <a:ext cx="1366520" cy="39116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60" normalizeH="0" baseline="0" noProof="0">
                <a:ln>
                  <a:noFill/>
                </a:ln>
                <a:solidFill>
                  <a:srgbClr val="54535A"/>
                </a:solidFill>
                <a:effectLst/>
                <a:uLnTx/>
                <a:uFillTx/>
                <a:latin typeface="Tahoma"/>
                <a:cs typeface="Tahoma"/>
              </a:rPr>
              <a:t>Customer</a:t>
            </a:r>
            <a:r>
              <a:rPr kumimoji="0" sz="1200" b="0" i="0" u="none" strike="noStrike" kern="0" cap="none" spc="-15" normalizeH="0" baseline="0" noProof="0">
                <a:ln>
                  <a:noFill/>
                </a:ln>
                <a:solidFill>
                  <a:srgbClr val="54535A"/>
                </a:solidFill>
                <a:effectLst/>
                <a:uLnTx/>
                <a:uFillTx/>
                <a:latin typeface="Tahoma"/>
                <a:cs typeface="Tahoma"/>
              </a:rPr>
              <a:t> </a:t>
            </a:r>
            <a:r>
              <a:rPr kumimoji="0" sz="1200" b="0" i="0" u="none" strike="noStrike" kern="0" cap="none" spc="45" normalizeH="0" baseline="0" noProof="0">
                <a:ln>
                  <a:noFill/>
                </a:ln>
                <a:solidFill>
                  <a:srgbClr val="54535A"/>
                </a:solidFill>
                <a:effectLst/>
                <a:uLnTx/>
                <a:uFillTx/>
                <a:latin typeface="Tahoma"/>
                <a:cs typeface="Tahoma"/>
              </a:rPr>
              <a:t>Success</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127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0" cap="none" spc="-60" normalizeH="0" baseline="0" noProof="0">
                <a:ln>
                  <a:noFill/>
                </a:ln>
                <a:solidFill>
                  <a:srgbClr val="54535A"/>
                </a:solidFill>
                <a:effectLst/>
                <a:uLnTx/>
                <a:uFillTx/>
                <a:latin typeface="Tahoma"/>
                <a:cs typeface="Tahoma"/>
              </a:rPr>
              <a:t>Flora</a:t>
            </a:r>
            <a:r>
              <a:rPr kumimoji="0" sz="1200" b="1" i="0" u="none" strike="noStrike" kern="0" cap="none" spc="5" normalizeH="0" baseline="0" noProof="0">
                <a:ln>
                  <a:noFill/>
                </a:ln>
                <a:solidFill>
                  <a:srgbClr val="54535A"/>
                </a:solidFill>
                <a:effectLst/>
                <a:uLnTx/>
                <a:uFillTx/>
                <a:latin typeface="Tahoma"/>
                <a:cs typeface="Tahoma"/>
              </a:rPr>
              <a:t> </a:t>
            </a:r>
            <a:r>
              <a:rPr kumimoji="0" sz="1200" b="1" i="0" u="none" strike="noStrike" kern="0" cap="none" spc="-10" normalizeH="0" baseline="0" noProof="0">
                <a:ln>
                  <a:noFill/>
                </a:ln>
                <a:solidFill>
                  <a:srgbClr val="54535A"/>
                </a:solidFill>
                <a:effectLst/>
                <a:uLnTx/>
                <a:uFillTx/>
                <a:latin typeface="Tahoma"/>
                <a:cs typeface="Tahoma"/>
              </a:rPr>
              <a:t>Ayaruja</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54" name="object 54"/>
          <p:cNvGrpSpPr/>
          <p:nvPr/>
        </p:nvGrpSpPr>
        <p:grpSpPr>
          <a:xfrm>
            <a:off x="1395857" y="4147502"/>
            <a:ext cx="7837170" cy="1914525"/>
            <a:chOff x="1395857" y="4147502"/>
            <a:chExt cx="7837170" cy="1914525"/>
          </a:xfrm>
        </p:grpSpPr>
        <p:pic>
          <p:nvPicPr>
            <p:cNvPr id="55" name="object 55"/>
            <p:cNvPicPr/>
            <p:nvPr/>
          </p:nvPicPr>
          <p:blipFill>
            <a:blip r:embed="rId12" cstate="print"/>
            <a:stretch>
              <a:fillRect/>
            </a:stretch>
          </p:blipFill>
          <p:spPr>
            <a:xfrm>
              <a:off x="1433957" y="4203065"/>
              <a:ext cx="549020" cy="549021"/>
            </a:xfrm>
            <a:prstGeom prst="rect">
              <a:avLst/>
            </a:prstGeom>
          </p:spPr>
        </p:pic>
        <p:sp>
          <p:nvSpPr>
            <p:cNvPr id="56" name="object 56"/>
            <p:cNvSpPr/>
            <p:nvPr/>
          </p:nvSpPr>
          <p:spPr>
            <a:xfrm>
              <a:off x="1414907" y="4184015"/>
              <a:ext cx="587375" cy="587375"/>
            </a:xfrm>
            <a:custGeom>
              <a:avLst/>
              <a:gdLst/>
              <a:ahLst/>
              <a:cxnLst/>
              <a:rect l="l" t="t" r="r" b="b"/>
              <a:pathLst>
                <a:path w="587375" h="587375">
                  <a:moveTo>
                    <a:pt x="293624" y="0"/>
                  </a:moveTo>
                  <a:lnTo>
                    <a:pt x="352679" y="5968"/>
                  </a:lnTo>
                  <a:lnTo>
                    <a:pt x="408305" y="23241"/>
                  </a:lnTo>
                  <a:lnTo>
                    <a:pt x="457707" y="50037"/>
                  </a:lnTo>
                  <a:lnTo>
                    <a:pt x="501269" y="85979"/>
                  </a:lnTo>
                  <a:lnTo>
                    <a:pt x="537082" y="129412"/>
                  </a:lnTo>
                  <a:lnTo>
                    <a:pt x="563880" y="178816"/>
                  </a:lnTo>
                  <a:lnTo>
                    <a:pt x="581279" y="234442"/>
                  </a:lnTo>
                  <a:lnTo>
                    <a:pt x="587120" y="293624"/>
                  </a:lnTo>
                  <a:lnTo>
                    <a:pt x="585724" y="323596"/>
                  </a:lnTo>
                  <a:lnTo>
                    <a:pt x="574040" y="380873"/>
                  </a:lnTo>
                  <a:lnTo>
                    <a:pt x="537082" y="457835"/>
                  </a:lnTo>
                  <a:lnTo>
                    <a:pt x="501269" y="501269"/>
                  </a:lnTo>
                  <a:lnTo>
                    <a:pt x="457707" y="537083"/>
                  </a:lnTo>
                  <a:lnTo>
                    <a:pt x="408305" y="564007"/>
                  </a:lnTo>
                  <a:lnTo>
                    <a:pt x="352679" y="581279"/>
                  </a:lnTo>
                  <a:lnTo>
                    <a:pt x="293624" y="587248"/>
                  </a:lnTo>
                  <a:lnTo>
                    <a:pt x="263525" y="585724"/>
                  </a:lnTo>
                  <a:lnTo>
                    <a:pt x="206248" y="574040"/>
                  </a:lnTo>
                  <a:lnTo>
                    <a:pt x="129412" y="537083"/>
                  </a:lnTo>
                  <a:lnTo>
                    <a:pt x="85852" y="501269"/>
                  </a:lnTo>
                  <a:lnTo>
                    <a:pt x="50037" y="457835"/>
                  </a:lnTo>
                  <a:lnTo>
                    <a:pt x="23240" y="408305"/>
                  </a:lnTo>
                  <a:lnTo>
                    <a:pt x="5968" y="352679"/>
                  </a:lnTo>
                  <a:lnTo>
                    <a:pt x="0" y="293624"/>
                  </a:lnTo>
                  <a:lnTo>
                    <a:pt x="1524" y="263652"/>
                  </a:lnTo>
                  <a:lnTo>
                    <a:pt x="13208" y="206248"/>
                  </a:lnTo>
                  <a:lnTo>
                    <a:pt x="50037" y="129412"/>
                  </a:lnTo>
                  <a:lnTo>
                    <a:pt x="85852" y="85979"/>
                  </a:lnTo>
                  <a:lnTo>
                    <a:pt x="129412" y="50037"/>
                  </a:lnTo>
                  <a:lnTo>
                    <a:pt x="178815" y="23241"/>
                  </a:lnTo>
                  <a:lnTo>
                    <a:pt x="234442" y="5968"/>
                  </a:lnTo>
                  <a:lnTo>
                    <a:pt x="293624" y="0"/>
                  </a:lnTo>
                  <a:close/>
                </a:path>
              </a:pathLst>
            </a:custGeom>
            <a:ln w="38099">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7" name="object 57"/>
            <p:cNvPicPr/>
            <p:nvPr/>
          </p:nvPicPr>
          <p:blipFill>
            <a:blip r:embed="rId13" cstate="print"/>
            <a:stretch>
              <a:fillRect/>
            </a:stretch>
          </p:blipFill>
          <p:spPr>
            <a:xfrm>
              <a:off x="5906008" y="5516041"/>
              <a:ext cx="522185" cy="517296"/>
            </a:xfrm>
            <a:prstGeom prst="rect">
              <a:avLst/>
            </a:prstGeom>
          </p:spPr>
        </p:pic>
        <p:sp>
          <p:nvSpPr>
            <p:cNvPr id="58" name="object 58"/>
            <p:cNvSpPr/>
            <p:nvPr/>
          </p:nvSpPr>
          <p:spPr>
            <a:xfrm>
              <a:off x="5891657" y="5501767"/>
              <a:ext cx="551180" cy="546100"/>
            </a:xfrm>
            <a:custGeom>
              <a:avLst/>
              <a:gdLst/>
              <a:ahLst/>
              <a:cxnLst/>
              <a:rect l="l" t="t" r="r" b="b"/>
              <a:pathLst>
                <a:path w="551179" h="546100">
                  <a:moveTo>
                    <a:pt x="275463" y="0"/>
                  </a:moveTo>
                  <a:lnTo>
                    <a:pt x="330962" y="5461"/>
                  </a:lnTo>
                  <a:lnTo>
                    <a:pt x="382904" y="21590"/>
                  </a:lnTo>
                  <a:lnTo>
                    <a:pt x="429387" y="46482"/>
                  </a:lnTo>
                  <a:lnTo>
                    <a:pt x="470153" y="79883"/>
                  </a:lnTo>
                  <a:lnTo>
                    <a:pt x="503808" y="120230"/>
                  </a:lnTo>
                  <a:lnTo>
                    <a:pt x="529081" y="166306"/>
                  </a:lnTo>
                  <a:lnTo>
                    <a:pt x="545210" y="217906"/>
                  </a:lnTo>
                  <a:lnTo>
                    <a:pt x="550798" y="272923"/>
                  </a:lnTo>
                  <a:lnTo>
                    <a:pt x="549401" y="300824"/>
                  </a:lnTo>
                  <a:lnTo>
                    <a:pt x="538479" y="354114"/>
                  </a:lnTo>
                  <a:lnTo>
                    <a:pt x="503808" y="425615"/>
                  </a:lnTo>
                  <a:lnTo>
                    <a:pt x="470153" y="466013"/>
                  </a:lnTo>
                  <a:lnTo>
                    <a:pt x="429387" y="499325"/>
                  </a:lnTo>
                  <a:lnTo>
                    <a:pt x="382904" y="524319"/>
                  </a:lnTo>
                  <a:lnTo>
                    <a:pt x="330962" y="540334"/>
                  </a:lnTo>
                  <a:lnTo>
                    <a:pt x="275463" y="545871"/>
                  </a:lnTo>
                  <a:lnTo>
                    <a:pt x="247268" y="544474"/>
                  </a:lnTo>
                  <a:lnTo>
                    <a:pt x="193547" y="533615"/>
                  </a:lnTo>
                  <a:lnTo>
                    <a:pt x="121538" y="499325"/>
                  </a:lnTo>
                  <a:lnTo>
                    <a:pt x="80771" y="466013"/>
                  </a:lnTo>
                  <a:lnTo>
                    <a:pt x="47116" y="425615"/>
                  </a:lnTo>
                  <a:lnTo>
                    <a:pt x="21843" y="379539"/>
                  </a:lnTo>
                  <a:lnTo>
                    <a:pt x="5587" y="327939"/>
                  </a:lnTo>
                  <a:lnTo>
                    <a:pt x="0" y="272923"/>
                  </a:lnTo>
                  <a:lnTo>
                    <a:pt x="1523" y="245021"/>
                  </a:lnTo>
                  <a:lnTo>
                    <a:pt x="12445" y="191731"/>
                  </a:lnTo>
                  <a:lnTo>
                    <a:pt x="47116" y="120230"/>
                  </a:lnTo>
                  <a:lnTo>
                    <a:pt x="80771" y="79883"/>
                  </a:lnTo>
                  <a:lnTo>
                    <a:pt x="121538" y="46482"/>
                  </a:lnTo>
                  <a:lnTo>
                    <a:pt x="168020" y="21590"/>
                  </a:lnTo>
                  <a:lnTo>
                    <a:pt x="219963" y="5461"/>
                  </a:lnTo>
                  <a:lnTo>
                    <a:pt x="275463"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59" name="object 59"/>
            <p:cNvPicPr/>
            <p:nvPr/>
          </p:nvPicPr>
          <p:blipFill>
            <a:blip r:embed="rId14" cstate="print"/>
            <a:stretch>
              <a:fillRect/>
            </a:stretch>
          </p:blipFill>
          <p:spPr>
            <a:xfrm>
              <a:off x="3710686" y="4216654"/>
              <a:ext cx="517944" cy="535432"/>
            </a:xfrm>
            <a:prstGeom prst="rect">
              <a:avLst/>
            </a:prstGeom>
          </p:spPr>
        </p:pic>
        <p:sp>
          <p:nvSpPr>
            <p:cNvPr id="60" name="object 60"/>
            <p:cNvSpPr/>
            <p:nvPr/>
          </p:nvSpPr>
          <p:spPr>
            <a:xfrm>
              <a:off x="3691636" y="4197604"/>
              <a:ext cx="556260" cy="574040"/>
            </a:xfrm>
            <a:custGeom>
              <a:avLst/>
              <a:gdLst/>
              <a:ahLst/>
              <a:cxnLst/>
              <a:rect l="l" t="t" r="r" b="b"/>
              <a:pathLst>
                <a:path w="556260" h="574039">
                  <a:moveTo>
                    <a:pt x="278002" y="0"/>
                  </a:moveTo>
                  <a:lnTo>
                    <a:pt x="334263" y="5842"/>
                  </a:lnTo>
                  <a:lnTo>
                    <a:pt x="386968" y="22733"/>
                  </a:lnTo>
                  <a:lnTo>
                    <a:pt x="433831" y="49022"/>
                  </a:lnTo>
                  <a:lnTo>
                    <a:pt x="474979" y="84074"/>
                  </a:lnTo>
                  <a:lnTo>
                    <a:pt x="508888" y="126619"/>
                  </a:lnTo>
                  <a:lnTo>
                    <a:pt x="534162" y="174879"/>
                  </a:lnTo>
                  <a:lnTo>
                    <a:pt x="550544" y="229108"/>
                  </a:lnTo>
                  <a:lnTo>
                    <a:pt x="556133" y="286766"/>
                  </a:lnTo>
                  <a:lnTo>
                    <a:pt x="554736" y="315976"/>
                  </a:lnTo>
                  <a:lnTo>
                    <a:pt x="543687" y="371856"/>
                  </a:lnTo>
                  <a:lnTo>
                    <a:pt x="508888" y="446913"/>
                  </a:lnTo>
                  <a:lnTo>
                    <a:pt x="474979" y="489458"/>
                  </a:lnTo>
                  <a:lnTo>
                    <a:pt x="433831" y="524510"/>
                  </a:lnTo>
                  <a:lnTo>
                    <a:pt x="386968" y="550799"/>
                  </a:lnTo>
                  <a:lnTo>
                    <a:pt x="334137" y="567817"/>
                  </a:lnTo>
                  <a:lnTo>
                    <a:pt x="278002" y="573659"/>
                  </a:lnTo>
                  <a:lnTo>
                    <a:pt x="249554" y="572135"/>
                  </a:lnTo>
                  <a:lnTo>
                    <a:pt x="195199" y="560705"/>
                  </a:lnTo>
                  <a:lnTo>
                    <a:pt x="122300" y="524510"/>
                  </a:lnTo>
                  <a:lnTo>
                    <a:pt x="81152" y="489458"/>
                  </a:lnTo>
                  <a:lnTo>
                    <a:pt x="47243" y="446913"/>
                  </a:lnTo>
                  <a:lnTo>
                    <a:pt x="21971" y="398653"/>
                  </a:lnTo>
                  <a:lnTo>
                    <a:pt x="5587" y="344424"/>
                  </a:lnTo>
                  <a:lnTo>
                    <a:pt x="0" y="286766"/>
                  </a:lnTo>
                  <a:lnTo>
                    <a:pt x="1397" y="257556"/>
                  </a:lnTo>
                  <a:lnTo>
                    <a:pt x="12446" y="201676"/>
                  </a:lnTo>
                  <a:lnTo>
                    <a:pt x="47243" y="126619"/>
                  </a:lnTo>
                  <a:lnTo>
                    <a:pt x="81152" y="84074"/>
                  </a:lnTo>
                  <a:lnTo>
                    <a:pt x="122300" y="49022"/>
                  </a:lnTo>
                  <a:lnTo>
                    <a:pt x="169163" y="22733"/>
                  </a:lnTo>
                  <a:lnTo>
                    <a:pt x="221868" y="5842"/>
                  </a:lnTo>
                  <a:lnTo>
                    <a:pt x="278002" y="0"/>
                  </a:lnTo>
                  <a:close/>
                </a:path>
              </a:pathLst>
            </a:custGeom>
            <a:ln w="38099">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61" name="object 61"/>
            <p:cNvPicPr/>
            <p:nvPr/>
          </p:nvPicPr>
          <p:blipFill>
            <a:blip r:embed="rId15" cstate="print"/>
            <a:stretch>
              <a:fillRect/>
            </a:stretch>
          </p:blipFill>
          <p:spPr>
            <a:xfrm>
              <a:off x="8192388" y="4176141"/>
              <a:ext cx="522185" cy="498728"/>
            </a:xfrm>
            <a:prstGeom prst="rect">
              <a:avLst/>
            </a:prstGeom>
          </p:spPr>
        </p:pic>
        <p:sp>
          <p:nvSpPr>
            <p:cNvPr id="62" name="object 62"/>
            <p:cNvSpPr/>
            <p:nvPr/>
          </p:nvSpPr>
          <p:spPr>
            <a:xfrm>
              <a:off x="8178164" y="4161790"/>
              <a:ext cx="551180" cy="527685"/>
            </a:xfrm>
            <a:custGeom>
              <a:avLst/>
              <a:gdLst/>
              <a:ahLst/>
              <a:cxnLst/>
              <a:rect l="l" t="t" r="r" b="b"/>
              <a:pathLst>
                <a:path w="551179" h="527685">
                  <a:moveTo>
                    <a:pt x="275335" y="0"/>
                  </a:moveTo>
                  <a:lnTo>
                    <a:pt x="331088" y="5461"/>
                  </a:lnTo>
                  <a:lnTo>
                    <a:pt x="382396" y="20574"/>
                  </a:lnTo>
                  <a:lnTo>
                    <a:pt x="429132" y="44831"/>
                  </a:lnTo>
                  <a:lnTo>
                    <a:pt x="469900" y="76962"/>
                  </a:lnTo>
                  <a:lnTo>
                    <a:pt x="503554" y="115951"/>
                  </a:lnTo>
                  <a:lnTo>
                    <a:pt x="528827" y="160528"/>
                  </a:lnTo>
                  <a:lnTo>
                    <a:pt x="545083" y="210439"/>
                  </a:lnTo>
                  <a:lnTo>
                    <a:pt x="550799" y="263652"/>
                  </a:lnTo>
                  <a:lnTo>
                    <a:pt x="549275" y="290703"/>
                  </a:lnTo>
                  <a:lnTo>
                    <a:pt x="538352" y="342265"/>
                  </a:lnTo>
                  <a:lnTo>
                    <a:pt x="503554" y="411480"/>
                  </a:lnTo>
                  <a:lnTo>
                    <a:pt x="469900" y="450469"/>
                  </a:lnTo>
                  <a:lnTo>
                    <a:pt x="429132" y="482600"/>
                  </a:lnTo>
                  <a:lnTo>
                    <a:pt x="382396" y="506857"/>
                  </a:lnTo>
                  <a:lnTo>
                    <a:pt x="331088" y="521970"/>
                  </a:lnTo>
                  <a:lnTo>
                    <a:pt x="275335" y="527431"/>
                  </a:lnTo>
                  <a:lnTo>
                    <a:pt x="247268" y="526034"/>
                  </a:lnTo>
                  <a:lnTo>
                    <a:pt x="168401" y="506857"/>
                  </a:lnTo>
                  <a:lnTo>
                    <a:pt x="121538" y="482600"/>
                  </a:lnTo>
                  <a:lnTo>
                    <a:pt x="80771" y="450469"/>
                  </a:lnTo>
                  <a:lnTo>
                    <a:pt x="47116" y="411480"/>
                  </a:lnTo>
                  <a:lnTo>
                    <a:pt x="21843" y="366903"/>
                  </a:lnTo>
                  <a:lnTo>
                    <a:pt x="5587" y="316992"/>
                  </a:lnTo>
                  <a:lnTo>
                    <a:pt x="0" y="263652"/>
                  </a:lnTo>
                  <a:lnTo>
                    <a:pt x="1396" y="236728"/>
                  </a:lnTo>
                  <a:lnTo>
                    <a:pt x="12445" y="185166"/>
                  </a:lnTo>
                  <a:lnTo>
                    <a:pt x="47116" y="115951"/>
                  </a:lnTo>
                  <a:lnTo>
                    <a:pt x="80771" y="76962"/>
                  </a:lnTo>
                  <a:lnTo>
                    <a:pt x="121538" y="44831"/>
                  </a:lnTo>
                  <a:lnTo>
                    <a:pt x="168401" y="20574"/>
                  </a:lnTo>
                  <a:lnTo>
                    <a:pt x="219709" y="5461"/>
                  </a:lnTo>
                  <a:lnTo>
                    <a:pt x="275335"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3" name="object 63"/>
            <p:cNvSpPr/>
            <p:nvPr/>
          </p:nvSpPr>
          <p:spPr>
            <a:xfrm>
              <a:off x="7434326" y="4892548"/>
              <a:ext cx="1793875" cy="563880"/>
            </a:xfrm>
            <a:custGeom>
              <a:avLst/>
              <a:gdLst/>
              <a:ahLst/>
              <a:cxnLst/>
              <a:rect l="l" t="t" r="r" b="b"/>
              <a:pathLst>
                <a:path w="1793875" h="563879">
                  <a:moveTo>
                    <a:pt x="1699514" y="0"/>
                  </a:moveTo>
                  <a:lnTo>
                    <a:pt x="93852" y="0"/>
                  </a:lnTo>
                  <a:lnTo>
                    <a:pt x="57328" y="7377"/>
                  </a:lnTo>
                  <a:lnTo>
                    <a:pt x="27495" y="27495"/>
                  </a:lnTo>
                  <a:lnTo>
                    <a:pt x="7377" y="57328"/>
                  </a:lnTo>
                  <a:lnTo>
                    <a:pt x="0" y="93852"/>
                  </a:lnTo>
                  <a:lnTo>
                    <a:pt x="0" y="469645"/>
                  </a:lnTo>
                  <a:lnTo>
                    <a:pt x="7377" y="506170"/>
                  </a:lnTo>
                  <a:lnTo>
                    <a:pt x="27495" y="536003"/>
                  </a:lnTo>
                  <a:lnTo>
                    <a:pt x="57328" y="556121"/>
                  </a:lnTo>
                  <a:lnTo>
                    <a:pt x="93852" y="563498"/>
                  </a:lnTo>
                  <a:lnTo>
                    <a:pt x="1699514" y="563498"/>
                  </a:lnTo>
                  <a:lnTo>
                    <a:pt x="1736111" y="556121"/>
                  </a:lnTo>
                  <a:lnTo>
                    <a:pt x="1765982" y="536003"/>
                  </a:lnTo>
                  <a:lnTo>
                    <a:pt x="1786114" y="506170"/>
                  </a:lnTo>
                  <a:lnTo>
                    <a:pt x="1793494" y="469645"/>
                  </a:lnTo>
                  <a:lnTo>
                    <a:pt x="1793494" y="93852"/>
                  </a:lnTo>
                  <a:lnTo>
                    <a:pt x="1786114" y="57328"/>
                  </a:lnTo>
                  <a:lnTo>
                    <a:pt x="1765982" y="27495"/>
                  </a:lnTo>
                  <a:lnTo>
                    <a:pt x="1736111" y="7377"/>
                  </a:lnTo>
                  <a:lnTo>
                    <a:pt x="1699514"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4" name="object 64"/>
            <p:cNvSpPr/>
            <p:nvPr/>
          </p:nvSpPr>
          <p:spPr>
            <a:xfrm>
              <a:off x="7434326" y="4892548"/>
              <a:ext cx="1793875" cy="563880"/>
            </a:xfrm>
            <a:custGeom>
              <a:avLst/>
              <a:gdLst/>
              <a:ahLst/>
              <a:cxnLst/>
              <a:rect l="l" t="t" r="r" b="b"/>
              <a:pathLst>
                <a:path w="1793875" h="563879">
                  <a:moveTo>
                    <a:pt x="0" y="93852"/>
                  </a:moveTo>
                  <a:lnTo>
                    <a:pt x="7377" y="57328"/>
                  </a:lnTo>
                  <a:lnTo>
                    <a:pt x="27495" y="27495"/>
                  </a:lnTo>
                  <a:lnTo>
                    <a:pt x="57328" y="7377"/>
                  </a:lnTo>
                  <a:lnTo>
                    <a:pt x="93852" y="0"/>
                  </a:lnTo>
                  <a:lnTo>
                    <a:pt x="1699514" y="0"/>
                  </a:lnTo>
                  <a:lnTo>
                    <a:pt x="1736111" y="7377"/>
                  </a:lnTo>
                  <a:lnTo>
                    <a:pt x="1765982" y="27495"/>
                  </a:lnTo>
                  <a:lnTo>
                    <a:pt x="1786114" y="57328"/>
                  </a:lnTo>
                  <a:lnTo>
                    <a:pt x="1793494" y="93852"/>
                  </a:lnTo>
                  <a:lnTo>
                    <a:pt x="1793494" y="469645"/>
                  </a:lnTo>
                  <a:lnTo>
                    <a:pt x="1786114" y="506170"/>
                  </a:lnTo>
                  <a:lnTo>
                    <a:pt x="1765982" y="536003"/>
                  </a:lnTo>
                  <a:lnTo>
                    <a:pt x="1736111" y="556121"/>
                  </a:lnTo>
                  <a:lnTo>
                    <a:pt x="1699514" y="563498"/>
                  </a:lnTo>
                  <a:lnTo>
                    <a:pt x="93852" y="563498"/>
                  </a:lnTo>
                  <a:lnTo>
                    <a:pt x="57328" y="556121"/>
                  </a:lnTo>
                  <a:lnTo>
                    <a:pt x="27495" y="536003"/>
                  </a:lnTo>
                  <a:lnTo>
                    <a:pt x="7377" y="506170"/>
                  </a:lnTo>
                  <a:lnTo>
                    <a:pt x="0" y="469645"/>
                  </a:lnTo>
                  <a:lnTo>
                    <a:pt x="0" y="9385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65" name="object 65"/>
          <p:cNvGrpSpPr/>
          <p:nvPr/>
        </p:nvGrpSpPr>
        <p:grpSpPr>
          <a:xfrm>
            <a:off x="9727692" y="4334230"/>
            <a:ext cx="1746885" cy="668020"/>
            <a:chOff x="9727692" y="4334230"/>
            <a:chExt cx="1746885" cy="668020"/>
          </a:xfrm>
        </p:grpSpPr>
        <p:pic>
          <p:nvPicPr>
            <p:cNvPr id="66" name="object 66"/>
            <p:cNvPicPr/>
            <p:nvPr/>
          </p:nvPicPr>
          <p:blipFill>
            <a:blip r:embed="rId16" cstate="print"/>
            <a:stretch>
              <a:fillRect/>
            </a:stretch>
          </p:blipFill>
          <p:spPr>
            <a:xfrm>
              <a:off x="9727692" y="4334230"/>
              <a:ext cx="1746503" cy="667537"/>
            </a:xfrm>
            <a:prstGeom prst="rect">
              <a:avLst/>
            </a:prstGeom>
          </p:spPr>
        </p:pic>
        <p:pic>
          <p:nvPicPr>
            <p:cNvPr id="67" name="object 67"/>
            <p:cNvPicPr/>
            <p:nvPr/>
          </p:nvPicPr>
          <p:blipFill>
            <a:blip r:embed="rId17" cstate="print"/>
            <a:stretch>
              <a:fillRect/>
            </a:stretch>
          </p:blipFill>
          <p:spPr>
            <a:xfrm>
              <a:off x="9854184" y="4387570"/>
              <a:ext cx="1490472" cy="605053"/>
            </a:xfrm>
            <a:prstGeom prst="rect">
              <a:avLst/>
            </a:prstGeom>
          </p:spPr>
        </p:pic>
        <p:sp>
          <p:nvSpPr>
            <p:cNvPr id="68" name="object 68"/>
            <p:cNvSpPr/>
            <p:nvPr/>
          </p:nvSpPr>
          <p:spPr>
            <a:xfrm>
              <a:off x="9766427" y="4372991"/>
              <a:ext cx="1620520" cy="540385"/>
            </a:xfrm>
            <a:custGeom>
              <a:avLst/>
              <a:gdLst/>
              <a:ahLst/>
              <a:cxnLst/>
              <a:rect l="l" t="t" r="r" b="b"/>
              <a:pathLst>
                <a:path w="1620520" h="540385">
                  <a:moveTo>
                    <a:pt x="1529969" y="0"/>
                  </a:moveTo>
                  <a:lnTo>
                    <a:pt x="89916" y="0"/>
                  </a:lnTo>
                  <a:lnTo>
                    <a:pt x="54917" y="7068"/>
                  </a:lnTo>
                  <a:lnTo>
                    <a:pt x="26336" y="26352"/>
                  </a:lnTo>
                  <a:lnTo>
                    <a:pt x="7066" y="54971"/>
                  </a:lnTo>
                  <a:lnTo>
                    <a:pt x="0" y="90042"/>
                  </a:lnTo>
                  <a:lnTo>
                    <a:pt x="0" y="450087"/>
                  </a:lnTo>
                  <a:lnTo>
                    <a:pt x="7066" y="485086"/>
                  </a:lnTo>
                  <a:lnTo>
                    <a:pt x="26336" y="513667"/>
                  </a:lnTo>
                  <a:lnTo>
                    <a:pt x="54917" y="532937"/>
                  </a:lnTo>
                  <a:lnTo>
                    <a:pt x="89916" y="540003"/>
                  </a:lnTo>
                  <a:lnTo>
                    <a:pt x="1529969" y="540003"/>
                  </a:lnTo>
                  <a:lnTo>
                    <a:pt x="1564987" y="532937"/>
                  </a:lnTo>
                  <a:lnTo>
                    <a:pt x="1593611" y="513667"/>
                  </a:lnTo>
                  <a:lnTo>
                    <a:pt x="1612925" y="485086"/>
                  </a:lnTo>
                  <a:lnTo>
                    <a:pt x="1620012" y="450087"/>
                  </a:lnTo>
                  <a:lnTo>
                    <a:pt x="1620012" y="90042"/>
                  </a:lnTo>
                  <a:lnTo>
                    <a:pt x="1612925" y="54971"/>
                  </a:lnTo>
                  <a:lnTo>
                    <a:pt x="1593611" y="26352"/>
                  </a:lnTo>
                  <a:lnTo>
                    <a:pt x="1564987" y="7068"/>
                  </a:lnTo>
                  <a:lnTo>
                    <a:pt x="1529969" y="0"/>
                  </a:lnTo>
                  <a:close/>
                </a:path>
              </a:pathLst>
            </a:custGeom>
            <a:solidFill>
              <a:srgbClr val="FF66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9" name="object 69"/>
            <p:cNvSpPr/>
            <p:nvPr/>
          </p:nvSpPr>
          <p:spPr>
            <a:xfrm>
              <a:off x="9766427" y="4372991"/>
              <a:ext cx="1620520" cy="540385"/>
            </a:xfrm>
            <a:custGeom>
              <a:avLst/>
              <a:gdLst/>
              <a:ahLst/>
              <a:cxnLst/>
              <a:rect l="l" t="t" r="r" b="b"/>
              <a:pathLst>
                <a:path w="1620520" h="540385">
                  <a:moveTo>
                    <a:pt x="0" y="90042"/>
                  </a:moveTo>
                  <a:lnTo>
                    <a:pt x="7066" y="54971"/>
                  </a:lnTo>
                  <a:lnTo>
                    <a:pt x="26336" y="26352"/>
                  </a:lnTo>
                  <a:lnTo>
                    <a:pt x="54917" y="7068"/>
                  </a:lnTo>
                  <a:lnTo>
                    <a:pt x="89916" y="0"/>
                  </a:lnTo>
                  <a:lnTo>
                    <a:pt x="1529969" y="0"/>
                  </a:lnTo>
                  <a:lnTo>
                    <a:pt x="1564987" y="7068"/>
                  </a:lnTo>
                  <a:lnTo>
                    <a:pt x="1593611" y="26352"/>
                  </a:lnTo>
                  <a:lnTo>
                    <a:pt x="1612925" y="54971"/>
                  </a:lnTo>
                  <a:lnTo>
                    <a:pt x="1620012" y="90042"/>
                  </a:lnTo>
                  <a:lnTo>
                    <a:pt x="1620012" y="450087"/>
                  </a:lnTo>
                  <a:lnTo>
                    <a:pt x="1612925" y="485086"/>
                  </a:lnTo>
                  <a:lnTo>
                    <a:pt x="1593611" y="513667"/>
                  </a:lnTo>
                  <a:lnTo>
                    <a:pt x="1564987" y="532937"/>
                  </a:lnTo>
                  <a:lnTo>
                    <a:pt x="1529969" y="540003"/>
                  </a:lnTo>
                  <a:lnTo>
                    <a:pt x="89916" y="540003"/>
                  </a:lnTo>
                  <a:lnTo>
                    <a:pt x="54917" y="532937"/>
                  </a:lnTo>
                  <a:lnTo>
                    <a:pt x="26336" y="513667"/>
                  </a:lnTo>
                  <a:lnTo>
                    <a:pt x="7066" y="485086"/>
                  </a:lnTo>
                  <a:lnTo>
                    <a:pt x="0" y="450087"/>
                  </a:lnTo>
                  <a:lnTo>
                    <a:pt x="0" y="90042"/>
                  </a:lnTo>
                  <a:close/>
                </a:path>
              </a:pathLst>
            </a:custGeom>
            <a:ln w="254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0" name="object 70"/>
          <p:cNvSpPr txBox="1"/>
          <p:nvPr/>
        </p:nvSpPr>
        <p:spPr>
          <a:xfrm>
            <a:off x="9961244" y="4445254"/>
            <a:ext cx="1231265" cy="39116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50" normalizeH="0" baseline="0" noProof="0">
                <a:ln>
                  <a:noFill/>
                </a:ln>
                <a:solidFill>
                  <a:srgbClr val="54535A"/>
                </a:solidFill>
                <a:effectLst/>
                <a:uLnTx/>
                <a:uFillTx/>
                <a:latin typeface="Tahoma"/>
                <a:cs typeface="Tahoma"/>
              </a:rPr>
              <a:t>Project</a:t>
            </a:r>
            <a:r>
              <a:rPr kumimoji="0" sz="1200" b="0" i="0" u="none" strike="noStrike" kern="0" cap="none" spc="-5"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Engineer</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0" cap="none" spc="-30" normalizeH="0" baseline="0" noProof="0">
                <a:ln>
                  <a:noFill/>
                </a:ln>
                <a:solidFill>
                  <a:srgbClr val="54535A"/>
                </a:solidFill>
                <a:effectLst/>
                <a:uLnTx/>
                <a:uFillTx/>
                <a:latin typeface="Tahoma"/>
                <a:cs typeface="Tahoma"/>
              </a:rPr>
              <a:t>Victor </a:t>
            </a:r>
            <a:r>
              <a:rPr kumimoji="0" sz="1200" b="1" i="0" u="none" strike="noStrike" kern="0" cap="none" spc="-10" normalizeH="0" baseline="0" noProof="0">
                <a:ln>
                  <a:noFill/>
                </a:ln>
                <a:solidFill>
                  <a:srgbClr val="54535A"/>
                </a:solidFill>
                <a:effectLst/>
                <a:uLnTx/>
                <a:uFillTx/>
                <a:latin typeface="Tahoma"/>
                <a:cs typeface="Tahoma"/>
              </a:rPr>
              <a:t>Adeife</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71" name="object 71"/>
          <p:cNvGrpSpPr/>
          <p:nvPr/>
        </p:nvGrpSpPr>
        <p:grpSpPr>
          <a:xfrm>
            <a:off x="9878568" y="3646932"/>
            <a:ext cx="1336040" cy="2609850"/>
            <a:chOff x="9878568" y="3646932"/>
            <a:chExt cx="1336040" cy="2609850"/>
          </a:xfrm>
        </p:grpSpPr>
        <p:pic>
          <p:nvPicPr>
            <p:cNvPr id="72" name="object 72"/>
            <p:cNvPicPr/>
            <p:nvPr/>
          </p:nvPicPr>
          <p:blipFill>
            <a:blip r:embed="rId18" cstate="print"/>
            <a:stretch>
              <a:fillRect/>
            </a:stretch>
          </p:blipFill>
          <p:spPr>
            <a:xfrm>
              <a:off x="9988296" y="4898136"/>
              <a:ext cx="1226070" cy="1358645"/>
            </a:xfrm>
            <a:prstGeom prst="rect">
              <a:avLst/>
            </a:prstGeom>
          </p:spPr>
        </p:pic>
        <p:pic>
          <p:nvPicPr>
            <p:cNvPr id="73" name="object 73"/>
            <p:cNvPicPr/>
            <p:nvPr/>
          </p:nvPicPr>
          <p:blipFill>
            <a:blip r:embed="rId19" cstate="print"/>
            <a:stretch>
              <a:fillRect/>
            </a:stretch>
          </p:blipFill>
          <p:spPr>
            <a:xfrm>
              <a:off x="9878568" y="3646932"/>
              <a:ext cx="1226070" cy="1358646"/>
            </a:xfrm>
            <a:prstGeom prst="rect">
              <a:avLst/>
            </a:prstGeom>
          </p:spPr>
        </p:pic>
      </p:grpSp>
      <p:sp>
        <p:nvSpPr>
          <p:cNvPr id="74" name="object 74"/>
          <p:cNvSpPr txBox="1"/>
          <p:nvPr/>
        </p:nvSpPr>
        <p:spPr>
          <a:xfrm>
            <a:off x="7850758" y="4976621"/>
            <a:ext cx="1019175" cy="391795"/>
          </a:xfrm>
          <a:prstGeom prst="rect">
            <a:avLst/>
          </a:prstGeom>
        </p:spPr>
        <p:txBody>
          <a:bodyPr vert="horz" wrap="square" lIns="0" tIns="12700" rIns="0" bIns="0" rtlCol="0">
            <a:spAutoFit/>
          </a:bodyPr>
          <a:lstStyle/>
          <a:p>
            <a:pPr marL="0" marR="45085"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a:ln>
                  <a:noFill/>
                </a:ln>
                <a:solidFill>
                  <a:srgbClr val="54535A"/>
                </a:solidFill>
                <a:effectLst/>
                <a:uLnTx/>
                <a:uFillTx/>
                <a:latin typeface="Tahoma"/>
                <a:cs typeface="Tahoma"/>
              </a:rPr>
              <a:t>Support</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508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0" cap="none" spc="-30" normalizeH="0" baseline="0" noProof="0">
                <a:ln>
                  <a:noFill/>
                </a:ln>
                <a:solidFill>
                  <a:srgbClr val="54535A"/>
                </a:solidFill>
                <a:effectLst/>
                <a:uLnTx/>
                <a:uFillTx/>
                <a:latin typeface="Tahoma"/>
                <a:cs typeface="Tahoma"/>
              </a:rPr>
              <a:t>Victor</a:t>
            </a:r>
            <a:r>
              <a:rPr kumimoji="0" sz="1200" b="1" i="0" u="none" strike="noStrike" kern="0" cap="none" spc="-50" normalizeH="0" baseline="0" noProof="0">
                <a:ln>
                  <a:noFill/>
                </a:ln>
                <a:solidFill>
                  <a:srgbClr val="54535A"/>
                </a:solidFill>
                <a:effectLst/>
                <a:uLnTx/>
                <a:uFillTx/>
                <a:latin typeface="Tahoma"/>
                <a:cs typeface="Tahoma"/>
              </a:rPr>
              <a:t> </a:t>
            </a:r>
            <a:r>
              <a:rPr kumimoji="0" sz="1200" b="1" i="0" u="none" strike="noStrike" kern="0" cap="none" spc="-20" normalizeH="0" baseline="0" noProof="0">
                <a:ln>
                  <a:noFill/>
                </a:ln>
                <a:solidFill>
                  <a:srgbClr val="54535A"/>
                </a:solidFill>
                <a:effectLst/>
                <a:uLnTx/>
                <a:uFillTx/>
                <a:latin typeface="Tahoma"/>
                <a:cs typeface="Tahoma"/>
              </a:rPr>
              <a:t>Ndulue</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75" name="object 75"/>
          <p:cNvGrpSpPr/>
          <p:nvPr/>
        </p:nvGrpSpPr>
        <p:grpSpPr>
          <a:xfrm>
            <a:off x="748715" y="4887785"/>
            <a:ext cx="1878964" cy="573405"/>
            <a:chOff x="748715" y="4887785"/>
            <a:chExt cx="1878964" cy="573405"/>
          </a:xfrm>
        </p:grpSpPr>
        <p:sp>
          <p:nvSpPr>
            <p:cNvPr id="76" name="object 76"/>
            <p:cNvSpPr/>
            <p:nvPr/>
          </p:nvSpPr>
          <p:spPr>
            <a:xfrm>
              <a:off x="753478" y="4892547"/>
              <a:ext cx="1869439" cy="563880"/>
            </a:xfrm>
            <a:custGeom>
              <a:avLst/>
              <a:gdLst/>
              <a:ahLst/>
              <a:cxnLst/>
              <a:rect l="l" t="t" r="r" b="b"/>
              <a:pathLst>
                <a:path w="1869439" h="563879">
                  <a:moveTo>
                    <a:pt x="1775218" y="0"/>
                  </a:moveTo>
                  <a:lnTo>
                    <a:pt x="93929" y="0"/>
                  </a:lnTo>
                  <a:lnTo>
                    <a:pt x="57371" y="7377"/>
                  </a:lnTo>
                  <a:lnTo>
                    <a:pt x="27514" y="27495"/>
                  </a:lnTo>
                  <a:lnTo>
                    <a:pt x="7382" y="57328"/>
                  </a:lnTo>
                  <a:lnTo>
                    <a:pt x="0" y="93852"/>
                  </a:lnTo>
                  <a:lnTo>
                    <a:pt x="0" y="469645"/>
                  </a:lnTo>
                  <a:lnTo>
                    <a:pt x="7382" y="506170"/>
                  </a:lnTo>
                  <a:lnTo>
                    <a:pt x="27514" y="536003"/>
                  </a:lnTo>
                  <a:lnTo>
                    <a:pt x="57371" y="556121"/>
                  </a:lnTo>
                  <a:lnTo>
                    <a:pt x="93929" y="563498"/>
                  </a:lnTo>
                  <a:lnTo>
                    <a:pt x="1775218" y="563498"/>
                  </a:lnTo>
                  <a:lnTo>
                    <a:pt x="1811816" y="556121"/>
                  </a:lnTo>
                  <a:lnTo>
                    <a:pt x="1841687" y="536003"/>
                  </a:lnTo>
                  <a:lnTo>
                    <a:pt x="1861818" y="506170"/>
                  </a:lnTo>
                  <a:lnTo>
                    <a:pt x="1869198" y="469645"/>
                  </a:lnTo>
                  <a:lnTo>
                    <a:pt x="1869198" y="93852"/>
                  </a:lnTo>
                  <a:lnTo>
                    <a:pt x="1861818" y="57328"/>
                  </a:lnTo>
                  <a:lnTo>
                    <a:pt x="1841687" y="27495"/>
                  </a:lnTo>
                  <a:lnTo>
                    <a:pt x="1811816" y="7377"/>
                  </a:lnTo>
                  <a:lnTo>
                    <a:pt x="1775218"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7" name="object 77"/>
            <p:cNvSpPr/>
            <p:nvPr/>
          </p:nvSpPr>
          <p:spPr>
            <a:xfrm>
              <a:off x="753478" y="4892547"/>
              <a:ext cx="1869439" cy="563880"/>
            </a:xfrm>
            <a:custGeom>
              <a:avLst/>
              <a:gdLst/>
              <a:ahLst/>
              <a:cxnLst/>
              <a:rect l="l" t="t" r="r" b="b"/>
              <a:pathLst>
                <a:path w="1869439" h="563879">
                  <a:moveTo>
                    <a:pt x="0" y="93852"/>
                  </a:moveTo>
                  <a:lnTo>
                    <a:pt x="7382" y="57328"/>
                  </a:lnTo>
                  <a:lnTo>
                    <a:pt x="27514" y="27495"/>
                  </a:lnTo>
                  <a:lnTo>
                    <a:pt x="57371" y="7377"/>
                  </a:lnTo>
                  <a:lnTo>
                    <a:pt x="93929" y="0"/>
                  </a:lnTo>
                  <a:lnTo>
                    <a:pt x="1775218" y="0"/>
                  </a:lnTo>
                  <a:lnTo>
                    <a:pt x="1811816" y="7377"/>
                  </a:lnTo>
                  <a:lnTo>
                    <a:pt x="1841687" y="27495"/>
                  </a:lnTo>
                  <a:lnTo>
                    <a:pt x="1861818" y="57328"/>
                  </a:lnTo>
                  <a:lnTo>
                    <a:pt x="1869198" y="93852"/>
                  </a:lnTo>
                  <a:lnTo>
                    <a:pt x="1869198" y="469645"/>
                  </a:lnTo>
                  <a:lnTo>
                    <a:pt x="1861818" y="506170"/>
                  </a:lnTo>
                  <a:lnTo>
                    <a:pt x="1841687" y="536003"/>
                  </a:lnTo>
                  <a:lnTo>
                    <a:pt x="1811816" y="556121"/>
                  </a:lnTo>
                  <a:lnTo>
                    <a:pt x="1775218" y="563498"/>
                  </a:lnTo>
                  <a:lnTo>
                    <a:pt x="93929" y="563498"/>
                  </a:lnTo>
                  <a:lnTo>
                    <a:pt x="57371" y="556121"/>
                  </a:lnTo>
                  <a:lnTo>
                    <a:pt x="27514" y="536003"/>
                  </a:lnTo>
                  <a:lnTo>
                    <a:pt x="7382" y="506170"/>
                  </a:lnTo>
                  <a:lnTo>
                    <a:pt x="0" y="469645"/>
                  </a:lnTo>
                  <a:lnTo>
                    <a:pt x="0" y="93852"/>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8" name="object 78"/>
          <p:cNvSpPr txBox="1"/>
          <p:nvPr/>
        </p:nvSpPr>
        <p:spPr>
          <a:xfrm>
            <a:off x="1037539" y="4885182"/>
            <a:ext cx="1312545" cy="574675"/>
          </a:xfrm>
          <a:prstGeom prst="rect">
            <a:avLst/>
          </a:prstGeom>
        </p:spPr>
        <p:txBody>
          <a:bodyPr vert="horz" wrap="square" lIns="0" tIns="12700" rIns="0" bIns="0" rtlCol="0">
            <a:spAutoFit/>
          </a:bodyPr>
          <a:lstStyle/>
          <a:p>
            <a:pPr marL="0" marR="508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a:ln>
                  <a:noFill/>
                </a:ln>
                <a:solidFill>
                  <a:srgbClr val="54535A"/>
                </a:solidFill>
                <a:effectLst/>
                <a:uLnTx/>
                <a:uFillTx/>
                <a:latin typeface="Tahoma"/>
                <a:cs typeface="Tahoma"/>
              </a:rPr>
              <a:t>Network</a:t>
            </a:r>
            <a:r>
              <a:rPr kumimoji="0" sz="1200" b="0" i="0" u="none" strike="noStrike" kern="0" cap="none" spc="320"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Engineer </a:t>
            </a:r>
            <a:r>
              <a:rPr kumimoji="0" sz="1200" b="1" i="0" u="none" strike="noStrike" kern="0" cap="none" spc="-50" normalizeH="0" baseline="0" noProof="0">
                <a:ln>
                  <a:noFill/>
                </a:ln>
                <a:solidFill>
                  <a:srgbClr val="54535A"/>
                </a:solidFill>
                <a:effectLst/>
                <a:uLnTx/>
                <a:uFillTx/>
                <a:latin typeface="Tahoma"/>
                <a:cs typeface="Tahoma"/>
              </a:rPr>
              <a:t>Darnell</a:t>
            </a:r>
            <a:r>
              <a:rPr kumimoji="0" sz="1200" b="1" i="0" u="none" strike="noStrike" kern="0" cap="none" spc="20" normalizeH="0" baseline="0" noProof="0">
                <a:ln>
                  <a:noFill/>
                </a:ln>
                <a:solidFill>
                  <a:srgbClr val="54535A"/>
                </a:solidFill>
                <a:effectLst/>
                <a:uLnTx/>
                <a:uFillTx/>
                <a:latin typeface="Tahoma"/>
                <a:cs typeface="Tahoma"/>
              </a:rPr>
              <a:t> </a:t>
            </a:r>
            <a:r>
              <a:rPr kumimoji="0" sz="1200" b="1" i="0" u="none" strike="noStrike" kern="0" cap="none" spc="-10" normalizeH="0" baseline="0" noProof="0">
                <a:ln>
                  <a:noFill/>
                </a:ln>
                <a:solidFill>
                  <a:srgbClr val="54535A"/>
                </a:solidFill>
                <a:effectLst/>
                <a:uLnTx/>
                <a:uFillTx/>
                <a:latin typeface="Tahoma"/>
                <a:cs typeface="Tahoma"/>
              </a:rPr>
              <a:t>Shaka- Momodu</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79" name="object 79"/>
          <p:cNvGrpSpPr/>
          <p:nvPr/>
        </p:nvGrpSpPr>
        <p:grpSpPr>
          <a:xfrm>
            <a:off x="3041967" y="4906327"/>
            <a:ext cx="1800860" cy="573405"/>
            <a:chOff x="3041967" y="4906327"/>
            <a:chExt cx="1800860" cy="573405"/>
          </a:xfrm>
        </p:grpSpPr>
        <p:sp>
          <p:nvSpPr>
            <p:cNvPr id="80" name="object 80"/>
            <p:cNvSpPr/>
            <p:nvPr/>
          </p:nvSpPr>
          <p:spPr>
            <a:xfrm>
              <a:off x="3046729" y="4911090"/>
              <a:ext cx="1791335" cy="563880"/>
            </a:xfrm>
            <a:custGeom>
              <a:avLst/>
              <a:gdLst/>
              <a:ahLst/>
              <a:cxnLst/>
              <a:rect l="l" t="t" r="r" b="b"/>
              <a:pathLst>
                <a:path w="1791335" h="563879">
                  <a:moveTo>
                    <a:pt x="1697482" y="0"/>
                  </a:moveTo>
                  <a:lnTo>
                    <a:pt x="93852" y="0"/>
                  </a:lnTo>
                  <a:lnTo>
                    <a:pt x="57328" y="7377"/>
                  </a:lnTo>
                  <a:lnTo>
                    <a:pt x="27495" y="27495"/>
                  </a:lnTo>
                  <a:lnTo>
                    <a:pt x="7377" y="57328"/>
                  </a:lnTo>
                  <a:lnTo>
                    <a:pt x="0" y="93853"/>
                  </a:lnTo>
                  <a:lnTo>
                    <a:pt x="0" y="469519"/>
                  </a:lnTo>
                  <a:lnTo>
                    <a:pt x="7377" y="506116"/>
                  </a:lnTo>
                  <a:lnTo>
                    <a:pt x="27495" y="535987"/>
                  </a:lnTo>
                  <a:lnTo>
                    <a:pt x="57328" y="556119"/>
                  </a:lnTo>
                  <a:lnTo>
                    <a:pt x="93852" y="563499"/>
                  </a:lnTo>
                  <a:lnTo>
                    <a:pt x="1697482" y="563499"/>
                  </a:lnTo>
                  <a:lnTo>
                    <a:pt x="1734006" y="556119"/>
                  </a:lnTo>
                  <a:lnTo>
                    <a:pt x="1763839" y="535987"/>
                  </a:lnTo>
                  <a:lnTo>
                    <a:pt x="1783957" y="506116"/>
                  </a:lnTo>
                  <a:lnTo>
                    <a:pt x="1791334" y="469519"/>
                  </a:lnTo>
                  <a:lnTo>
                    <a:pt x="1791334" y="93853"/>
                  </a:lnTo>
                  <a:lnTo>
                    <a:pt x="1783957" y="57328"/>
                  </a:lnTo>
                  <a:lnTo>
                    <a:pt x="1763839" y="27495"/>
                  </a:lnTo>
                  <a:lnTo>
                    <a:pt x="1734006" y="7377"/>
                  </a:lnTo>
                  <a:lnTo>
                    <a:pt x="1697482"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81"/>
            <p:cNvSpPr/>
            <p:nvPr/>
          </p:nvSpPr>
          <p:spPr>
            <a:xfrm>
              <a:off x="3046729" y="4911090"/>
              <a:ext cx="1791335" cy="563880"/>
            </a:xfrm>
            <a:custGeom>
              <a:avLst/>
              <a:gdLst/>
              <a:ahLst/>
              <a:cxnLst/>
              <a:rect l="l" t="t" r="r" b="b"/>
              <a:pathLst>
                <a:path w="1791335" h="563879">
                  <a:moveTo>
                    <a:pt x="0" y="93853"/>
                  </a:moveTo>
                  <a:lnTo>
                    <a:pt x="7377" y="57328"/>
                  </a:lnTo>
                  <a:lnTo>
                    <a:pt x="27495" y="27495"/>
                  </a:lnTo>
                  <a:lnTo>
                    <a:pt x="57328" y="7377"/>
                  </a:lnTo>
                  <a:lnTo>
                    <a:pt x="93852" y="0"/>
                  </a:lnTo>
                  <a:lnTo>
                    <a:pt x="1697482" y="0"/>
                  </a:lnTo>
                  <a:lnTo>
                    <a:pt x="1734006" y="7377"/>
                  </a:lnTo>
                  <a:lnTo>
                    <a:pt x="1763839" y="27495"/>
                  </a:lnTo>
                  <a:lnTo>
                    <a:pt x="1783957" y="57328"/>
                  </a:lnTo>
                  <a:lnTo>
                    <a:pt x="1791334" y="93853"/>
                  </a:lnTo>
                  <a:lnTo>
                    <a:pt x="1791334" y="469519"/>
                  </a:lnTo>
                  <a:lnTo>
                    <a:pt x="1783957" y="506116"/>
                  </a:lnTo>
                  <a:lnTo>
                    <a:pt x="1763839" y="535987"/>
                  </a:lnTo>
                  <a:lnTo>
                    <a:pt x="1734006" y="556119"/>
                  </a:lnTo>
                  <a:lnTo>
                    <a:pt x="1697482" y="563499"/>
                  </a:lnTo>
                  <a:lnTo>
                    <a:pt x="93852" y="563499"/>
                  </a:lnTo>
                  <a:lnTo>
                    <a:pt x="57328" y="556119"/>
                  </a:lnTo>
                  <a:lnTo>
                    <a:pt x="27495" y="535987"/>
                  </a:lnTo>
                  <a:lnTo>
                    <a:pt x="7377" y="506116"/>
                  </a:lnTo>
                  <a:lnTo>
                    <a:pt x="0" y="469519"/>
                  </a:lnTo>
                  <a:lnTo>
                    <a:pt x="0" y="93853"/>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2" name="object 82"/>
          <p:cNvSpPr txBox="1"/>
          <p:nvPr/>
        </p:nvSpPr>
        <p:spPr>
          <a:xfrm>
            <a:off x="3160522" y="4978400"/>
            <a:ext cx="1576070" cy="423545"/>
          </a:xfrm>
          <a:prstGeom prst="rect">
            <a:avLst/>
          </a:prstGeom>
        </p:spPr>
        <p:txBody>
          <a:bodyPr vert="horz" wrap="square" lIns="0" tIns="12700" rIns="0" bIns="0" rtlCol="0">
            <a:spAutoFit/>
          </a:bodyPr>
          <a:lstStyle/>
          <a:p>
            <a:pPr marL="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60" normalizeH="0" baseline="0" noProof="0">
                <a:ln>
                  <a:noFill/>
                </a:ln>
                <a:solidFill>
                  <a:srgbClr val="54535A"/>
                </a:solidFill>
                <a:effectLst/>
                <a:uLnTx/>
                <a:uFillTx/>
                <a:latin typeface="Tahoma"/>
                <a:cs typeface="Tahoma"/>
              </a:rPr>
              <a:t>Software</a:t>
            </a:r>
            <a:r>
              <a:rPr kumimoji="0" sz="1400" b="0" i="0" u="none" strike="noStrike" kern="0" cap="none" spc="-50" normalizeH="0" baseline="0" noProof="0">
                <a:ln>
                  <a:noFill/>
                </a:ln>
                <a:solidFill>
                  <a:srgbClr val="54535A"/>
                </a:solidFill>
                <a:effectLst/>
                <a:uLnTx/>
                <a:uFillTx/>
                <a:latin typeface="Tahoma"/>
                <a:cs typeface="Tahoma"/>
              </a:rPr>
              <a:t> </a:t>
            </a:r>
            <a:r>
              <a:rPr kumimoji="0" sz="1400" b="0" i="0" u="none" strike="noStrike" kern="0" cap="none" spc="45" normalizeH="0" baseline="0" noProof="0">
                <a:ln>
                  <a:noFill/>
                </a:ln>
                <a:solidFill>
                  <a:srgbClr val="54535A"/>
                </a:solidFill>
                <a:effectLst/>
                <a:uLnTx/>
                <a:uFillTx/>
                <a:latin typeface="Tahoma"/>
                <a:cs typeface="Tahoma"/>
              </a:rPr>
              <a:t>Engineer</a:t>
            </a:r>
            <a:endParaRPr kumimoji="0" sz="1400" b="0" i="0" u="none" strike="noStrike" kern="0" cap="none" spc="0" normalizeH="0" baseline="0" noProof="0">
              <a:ln>
                <a:noFill/>
              </a:ln>
              <a:solidFill>
                <a:sysClr val="windowText" lastClr="000000"/>
              </a:solidFill>
              <a:effectLst/>
              <a:uLnTx/>
              <a:uFillTx/>
              <a:latin typeface="Tahoma"/>
              <a:cs typeface="Tahoma"/>
            </a:endParaRPr>
          </a:p>
          <a:p>
            <a:pPr marL="66675" marR="0" lvl="0" indent="0" defTabSz="914400" eaLnBrk="1" fontAlgn="auto" latinLnBrk="0" hangingPunct="1">
              <a:lnSpc>
                <a:spcPct val="100000"/>
              </a:lnSpc>
              <a:spcBef>
                <a:spcPts val="10"/>
              </a:spcBef>
              <a:spcAft>
                <a:spcPts val="0"/>
              </a:spcAft>
              <a:buClrTx/>
              <a:buSzTx/>
              <a:buFontTx/>
              <a:buNone/>
              <a:tabLst/>
              <a:defRPr/>
            </a:pPr>
            <a:r>
              <a:rPr kumimoji="0" sz="1200" b="1" i="0" u="none" strike="noStrike" kern="0" cap="none" spc="0" normalizeH="0" baseline="0" noProof="0">
                <a:ln>
                  <a:noFill/>
                </a:ln>
                <a:solidFill>
                  <a:srgbClr val="54535A"/>
                </a:solidFill>
                <a:effectLst/>
                <a:uLnTx/>
                <a:uFillTx/>
                <a:latin typeface="Tahoma"/>
                <a:cs typeface="Tahoma"/>
              </a:rPr>
              <a:t>Olalekan</a:t>
            </a:r>
            <a:r>
              <a:rPr kumimoji="0" sz="1200" b="1" i="0" u="none" strike="noStrike" kern="0" cap="none" spc="-5" normalizeH="0" baseline="0" noProof="0">
                <a:ln>
                  <a:noFill/>
                </a:ln>
                <a:solidFill>
                  <a:srgbClr val="54535A"/>
                </a:solidFill>
                <a:effectLst/>
                <a:uLnTx/>
                <a:uFillTx/>
                <a:latin typeface="Tahoma"/>
                <a:cs typeface="Tahoma"/>
              </a:rPr>
              <a:t> </a:t>
            </a:r>
            <a:r>
              <a:rPr kumimoji="0" sz="1200" b="1" i="0" u="none" strike="noStrike" kern="0" cap="none" spc="-10" normalizeH="0" baseline="0" noProof="0">
                <a:ln>
                  <a:noFill/>
                </a:ln>
                <a:solidFill>
                  <a:srgbClr val="54535A"/>
                </a:solidFill>
                <a:effectLst/>
                <a:uLnTx/>
                <a:uFillTx/>
                <a:latin typeface="Tahoma"/>
                <a:cs typeface="Tahoma"/>
              </a:rPr>
              <a:t>Durojaiye</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grpSp>
        <p:nvGrpSpPr>
          <p:cNvPr id="83" name="object 83"/>
          <p:cNvGrpSpPr/>
          <p:nvPr/>
        </p:nvGrpSpPr>
        <p:grpSpPr>
          <a:xfrm>
            <a:off x="5331269" y="3622738"/>
            <a:ext cx="1743710" cy="573405"/>
            <a:chOff x="5331269" y="3622738"/>
            <a:chExt cx="1743710" cy="573405"/>
          </a:xfrm>
        </p:grpSpPr>
        <p:sp>
          <p:nvSpPr>
            <p:cNvPr id="84" name="object 84"/>
            <p:cNvSpPr/>
            <p:nvPr/>
          </p:nvSpPr>
          <p:spPr>
            <a:xfrm>
              <a:off x="5336032" y="3627501"/>
              <a:ext cx="1734185" cy="563880"/>
            </a:xfrm>
            <a:custGeom>
              <a:avLst/>
              <a:gdLst/>
              <a:ahLst/>
              <a:cxnLst/>
              <a:rect l="l" t="t" r="r" b="b"/>
              <a:pathLst>
                <a:path w="1734184" h="563879">
                  <a:moveTo>
                    <a:pt x="1639696" y="0"/>
                  </a:moveTo>
                  <a:lnTo>
                    <a:pt x="93852" y="0"/>
                  </a:lnTo>
                  <a:lnTo>
                    <a:pt x="57328" y="7377"/>
                  </a:lnTo>
                  <a:lnTo>
                    <a:pt x="27495" y="27495"/>
                  </a:lnTo>
                  <a:lnTo>
                    <a:pt x="7377" y="57328"/>
                  </a:lnTo>
                  <a:lnTo>
                    <a:pt x="0" y="93853"/>
                  </a:lnTo>
                  <a:lnTo>
                    <a:pt x="0" y="469646"/>
                  </a:lnTo>
                  <a:lnTo>
                    <a:pt x="7377" y="506170"/>
                  </a:lnTo>
                  <a:lnTo>
                    <a:pt x="27495" y="536003"/>
                  </a:lnTo>
                  <a:lnTo>
                    <a:pt x="57328" y="556121"/>
                  </a:lnTo>
                  <a:lnTo>
                    <a:pt x="93852" y="563499"/>
                  </a:lnTo>
                  <a:lnTo>
                    <a:pt x="1639696" y="563499"/>
                  </a:lnTo>
                  <a:lnTo>
                    <a:pt x="1676294" y="556121"/>
                  </a:lnTo>
                  <a:lnTo>
                    <a:pt x="1706165" y="536003"/>
                  </a:lnTo>
                  <a:lnTo>
                    <a:pt x="1726297" y="506170"/>
                  </a:lnTo>
                  <a:lnTo>
                    <a:pt x="1733676" y="469646"/>
                  </a:lnTo>
                  <a:lnTo>
                    <a:pt x="1733676" y="93853"/>
                  </a:lnTo>
                  <a:lnTo>
                    <a:pt x="1726297" y="57328"/>
                  </a:lnTo>
                  <a:lnTo>
                    <a:pt x="1706165" y="27495"/>
                  </a:lnTo>
                  <a:lnTo>
                    <a:pt x="1676294" y="7377"/>
                  </a:lnTo>
                  <a:lnTo>
                    <a:pt x="1639696" y="0"/>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85"/>
            <p:cNvSpPr/>
            <p:nvPr/>
          </p:nvSpPr>
          <p:spPr>
            <a:xfrm>
              <a:off x="5336032" y="3627501"/>
              <a:ext cx="1734185" cy="563880"/>
            </a:xfrm>
            <a:custGeom>
              <a:avLst/>
              <a:gdLst/>
              <a:ahLst/>
              <a:cxnLst/>
              <a:rect l="l" t="t" r="r" b="b"/>
              <a:pathLst>
                <a:path w="1734184" h="563879">
                  <a:moveTo>
                    <a:pt x="0" y="93853"/>
                  </a:moveTo>
                  <a:lnTo>
                    <a:pt x="7377" y="57328"/>
                  </a:lnTo>
                  <a:lnTo>
                    <a:pt x="27495" y="27495"/>
                  </a:lnTo>
                  <a:lnTo>
                    <a:pt x="57328" y="7377"/>
                  </a:lnTo>
                  <a:lnTo>
                    <a:pt x="93852" y="0"/>
                  </a:lnTo>
                  <a:lnTo>
                    <a:pt x="1639696" y="0"/>
                  </a:lnTo>
                  <a:lnTo>
                    <a:pt x="1676294" y="7377"/>
                  </a:lnTo>
                  <a:lnTo>
                    <a:pt x="1706165" y="27495"/>
                  </a:lnTo>
                  <a:lnTo>
                    <a:pt x="1726297" y="57328"/>
                  </a:lnTo>
                  <a:lnTo>
                    <a:pt x="1733676" y="93853"/>
                  </a:lnTo>
                  <a:lnTo>
                    <a:pt x="1733676" y="469646"/>
                  </a:lnTo>
                  <a:lnTo>
                    <a:pt x="1726297" y="506170"/>
                  </a:lnTo>
                  <a:lnTo>
                    <a:pt x="1706165" y="536003"/>
                  </a:lnTo>
                  <a:lnTo>
                    <a:pt x="1676294" y="556121"/>
                  </a:lnTo>
                  <a:lnTo>
                    <a:pt x="1639696" y="563499"/>
                  </a:lnTo>
                  <a:lnTo>
                    <a:pt x="93852" y="563499"/>
                  </a:lnTo>
                  <a:lnTo>
                    <a:pt x="57328" y="556121"/>
                  </a:lnTo>
                  <a:lnTo>
                    <a:pt x="27495" y="536003"/>
                  </a:lnTo>
                  <a:lnTo>
                    <a:pt x="7377" y="506170"/>
                  </a:lnTo>
                  <a:lnTo>
                    <a:pt x="0" y="469646"/>
                  </a:lnTo>
                  <a:lnTo>
                    <a:pt x="0" y="93853"/>
                  </a:lnTo>
                  <a:close/>
                </a:path>
              </a:pathLst>
            </a:custGeom>
            <a:ln w="9525">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6" name="object 86"/>
          <p:cNvSpPr txBox="1"/>
          <p:nvPr/>
        </p:nvSpPr>
        <p:spPr>
          <a:xfrm>
            <a:off x="5503798" y="3718941"/>
            <a:ext cx="1412240" cy="376555"/>
          </a:xfrm>
          <a:prstGeom prst="rect">
            <a:avLst/>
          </a:prstGeom>
        </p:spPr>
        <p:txBody>
          <a:bodyPr vert="horz" wrap="square" lIns="0" tIns="12700" rIns="0" bIns="0" rtlCol="0">
            <a:spAutoFit/>
          </a:bodyPr>
          <a:lstStyle/>
          <a:p>
            <a:pPr marL="0" marR="6350" lvl="0" indent="0" algn="ctr"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10" normalizeH="0" baseline="0" noProof="0">
                <a:ln>
                  <a:noFill/>
                </a:ln>
                <a:solidFill>
                  <a:srgbClr val="54535A"/>
                </a:solidFill>
                <a:effectLst/>
                <a:uLnTx/>
                <a:uFillTx/>
                <a:latin typeface="Tahoma"/>
                <a:cs typeface="Tahoma"/>
              </a:rPr>
              <a:t>Cloud</a:t>
            </a:r>
            <a:r>
              <a:rPr kumimoji="0" sz="1200" b="0" i="0" u="none" strike="noStrike" kern="0" cap="none" spc="-60" normalizeH="0" baseline="0" noProof="0">
                <a:ln>
                  <a:noFill/>
                </a:ln>
                <a:solidFill>
                  <a:srgbClr val="54535A"/>
                </a:solidFill>
                <a:effectLst/>
                <a:uLnTx/>
                <a:uFillTx/>
                <a:latin typeface="Tahoma"/>
                <a:cs typeface="Tahoma"/>
              </a:rPr>
              <a:t> </a:t>
            </a:r>
            <a:r>
              <a:rPr kumimoji="0" sz="1200" b="0" i="0" u="none" strike="noStrike" kern="0" cap="none" spc="-10" normalizeH="0" baseline="0" noProof="0">
                <a:ln>
                  <a:noFill/>
                </a:ln>
                <a:solidFill>
                  <a:srgbClr val="54535A"/>
                </a:solidFill>
                <a:effectLst/>
                <a:uLnTx/>
                <a:uFillTx/>
                <a:latin typeface="Tahoma"/>
                <a:cs typeface="Tahoma"/>
              </a:rPr>
              <a:t>Engineer</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0" marR="5080" lvl="0" indent="0" algn="ctr" defTabSz="914400" eaLnBrk="1" fontAlgn="auto" latinLnBrk="0" hangingPunct="1">
              <a:lnSpc>
                <a:spcPct val="100000"/>
              </a:lnSpc>
              <a:spcBef>
                <a:spcPts val="5"/>
              </a:spcBef>
              <a:spcAft>
                <a:spcPts val="0"/>
              </a:spcAft>
              <a:buClrTx/>
              <a:buSzTx/>
              <a:buFontTx/>
              <a:buNone/>
              <a:tabLst/>
              <a:defRPr/>
            </a:pPr>
            <a:r>
              <a:rPr kumimoji="0" sz="1100" b="1" i="0" u="none" strike="noStrike" kern="0" cap="none" spc="0" normalizeH="0" baseline="0" noProof="0">
                <a:ln>
                  <a:noFill/>
                </a:ln>
                <a:solidFill>
                  <a:srgbClr val="54535A"/>
                </a:solidFill>
                <a:effectLst/>
                <a:uLnTx/>
                <a:uFillTx/>
                <a:latin typeface="Tahoma"/>
                <a:cs typeface="Tahoma"/>
              </a:rPr>
              <a:t>Olugboyega</a:t>
            </a:r>
            <a:r>
              <a:rPr kumimoji="0" sz="1100" b="1" i="0" u="none" strike="noStrike" kern="0" cap="none" spc="155" normalizeH="0" baseline="0" noProof="0">
                <a:ln>
                  <a:noFill/>
                </a:ln>
                <a:solidFill>
                  <a:srgbClr val="54535A"/>
                </a:solidFill>
                <a:effectLst/>
                <a:uLnTx/>
                <a:uFillTx/>
                <a:latin typeface="Tahoma"/>
                <a:cs typeface="Tahoma"/>
              </a:rPr>
              <a:t> </a:t>
            </a:r>
            <a:r>
              <a:rPr kumimoji="0" sz="1100" b="1" i="0" u="none" strike="noStrike" kern="0" cap="none" spc="-10" normalizeH="0" baseline="0" noProof="0">
                <a:ln>
                  <a:noFill/>
                </a:ln>
                <a:solidFill>
                  <a:srgbClr val="54535A"/>
                </a:solidFill>
                <a:effectLst/>
                <a:uLnTx/>
                <a:uFillTx/>
                <a:latin typeface="Tahoma"/>
                <a:cs typeface="Tahoma"/>
              </a:rPr>
              <a:t>Ojelabi</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grpSp>
        <p:nvGrpSpPr>
          <p:cNvPr id="87" name="object 87"/>
          <p:cNvGrpSpPr/>
          <p:nvPr/>
        </p:nvGrpSpPr>
        <p:grpSpPr>
          <a:xfrm>
            <a:off x="1411986" y="4188015"/>
            <a:ext cx="7412355" cy="1865630"/>
            <a:chOff x="1411986" y="4188015"/>
            <a:chExt cx="7412355" cy="1865630"/>
          </a:xfrm>
        </p:grpSpPr>
        <p:pic>
          <p:nvPicPr>
            <p:cNvPr id="88" name="object 88"/>
            <p:cNvPicPr/>
            <p:nvPr/>
          </p:nvPicPr>
          <p:blipFill>
            <a:blip r:embed="rId20" cstate="print"/>
            <a:stretch>
              <a:fillRect/>
            </a:stretch>
          </p:blipFill>
          <p:spPr>
            <a:xfrm>
              <a:off x="1450086" y="5492623"/>
              <a:ext cx="521588" cy="521550"/>
            </a:xfrm>
            <a:prstGeom prst="rect">
              <a:avLst/>
            </a:prstGeom>
          </p:spPr>
        </p:pic>
        <p:sp>
          <p:nvSpPr>
            <p:cNvPr id="89" name="object 89"/>
            <p:cNvSpPr/>
            <p:nvPr/>
          </p:nvSpPr>
          <p:spPr>
            <a:xfrm>
              <a:off x="1431036" y="5473446"/>
              <a:ext cx="560070" cy="560070"/>
            </a:xfrm>
            <a:custGeom>
              <a:avLst/>
              <a:gdLst/>
              <a:ahLst/>
              <a:cxnLst/>
              <a:rect l="l" t="t" r="r" b="b"/>
              <a:pathLst>
                <a:path w="560069" h="560070">
                  <a:moveTo>
                    <a:pt x="279907" y="0"/>
                  </a:moveTo>
                  <a:lnTo>
                    <a:pt x="336295" y="5714"/>
                  </a:lnTo>
                  <a:lnTo>
                    <a:pt x="389255" y="22224"/>
                  </a:lnTo>
                  <a:lnTo>
                    <a:pt x="436371" y="47751"/>
                  </a:lnTo>
                  <a:lnTo>
                    <a:pt x="477774" y="82041"/>
                  </a:lnTo>
                  <a:lnTo>
                    <a:pt x="511937" y="123418"/>
                  </a:lnTo>
                  <a:lnTo>
                    <a:pt x="537590" y="170560"/>
                  </a:lnTo>
                  <a:lnTo>
                    <a:pt x="554101" y="223558"/>
                  </a:lnTo>
                  <a:lnTo>
                    <a:pt x="559688" y="279933"/>
                  </a:lnTo>
                  <a:lnTo>
                    <a:pt x="558291" y="308521"/>
                  </a:lnTo>
                  <a:lnTo>
                    <a:pt x="547115" y="363143"/>
                  </a:lnTo>
                  <a:lnTo>
                    <a:pt x="511937" y="436448"/>
                  </a:lnTo>
                  <a:lnTo>
                    <a:pt x="477774" y="477875"/>
                  </a:lnTo>
                  <a:lnTo>
                    <a:pt x="436371" y="512051"/>
                  </a:lnTo>
                  <a:lnTo>
                    <a:pt x="389255" y="537641"/>
                  </a:lnTo>
                  <a:lnTo>
                    <a:pt x="336295" y="554113"/>
                  </a:lnTo>
                  <a:lnTo>
                    <a:pt x="279907" y="559803"/>
                  </a:lnTo>
                  <a:lnTo>
                    <a:pt x="251332" y="558355"/>
                  </a:lnTo>
                  <a:lnTo>
                    <a:pt x="196722" y="547217"/>
                  </a:lnTo>
                  <a:lnTo>
                    <a:pt x="123316" y="512051"/>
                  </a:lnTo>
                  <a:lnTo>
                    <a:pt x="81914" y="477875"/>
                  </a:lnTo>
                  <a:lnTo>
                    <a:pt x="47751" y="436448"/>
                  </a:lnTo>
                  <a:lnTo>
                    <a:pt x="22225" y="389305"/>
                  </a:lnTo>
                  <a:lnTo>
                    <a:pt x="5714" y="336308"/>
                  </a:lnTo>
                  <a:lnTo>
                    <a:pt x="0" y="279933"/>
                  </a:lnTo>
                  <a:lnTo>
                    <a:pt x="1396" y="251345"/>
                  </a:lnTo>
                  <a:lnTo>
                    <a:pt x="12572" y="196722"/>
                  </a:lnTo>
                  <a:lnTo>
                    <a:pt x="47751" y="123418"/>
                  </a:lnTo>
                  <a:lnTo>
                    <a:pt x="81914" y="82041"/>
                  </a:lnTo>
                  <a:lnTo>
                    <a:pt x="123316" y="47751"/>
                  </a:lnTo>
                  <a:lnTo>
                    <a:pt x="170560" y="22224"/>
                  </a:lnTo>
                  <a:lnTo>
                    <a:pt x="223519" y="5714"/>
                  </a:lnTo>
                  <a:lnTo>
                    <a:pt x="279907" y="0"/>
                  </a:lnTo>
                  <a:close/>
                </a:path>
              </a:pathLst>
            </a:custGeom>
            <a:ln w="381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0" name="object 90"/>
            <p:cNvPicPr/>
            <p:nvPr/>
          </p:nvPicPr>
          <p:blipFill>
            <a:blip r:embed="rId21" cstate="print"/>
            <a:stretch>
              <a:fillRect/>
            </a:stretch>
          </p:blipFill>
          <p:spPr>
            <a:xfrm>
              <a:off x="5926201" y="4216654"/>
              <a:ext cx="522185" cy="522096"/>
            </a:xfrm>
            <a:prstGeom prst="rect">
              <a:avLst/>
            </a:prstGeom>
          </p:spPr>
        </p:pic>
        <p:sp>
          <p:nvSpPr>
            <p:cNvPr id="91" name="object 91"/>
            <p:cNvSpPr/>
            <p:nvPr/>
          </p:nvSpPr>
          <p:spPr>
            <a:xfrm>
              <a:off x="5911976" y="4202303"/>
              <a:ext cx="551180" cy="551180"/>
            </a:xfrm>
            <a:custGeom>
              <a:avLst/>
              <a:gdLst/>
              <a:ahLst/>
              <a:cxnLst/>
              <a:rect l="l" t="t" r="r" b="b"/>
              <a:pathLst>
                <a:path w="551179" h="551179">
                  <a:moveTo>
                    <a:pt x="275336" y="0"/>
                  </a:moveTo>
                  <a:lnTo>
                    <a:pt x="330835" y="5588"/>
                  </a:lnTo>
                  <a:lnTo>
                    <a:pt x="382905" y="21717"/>
                  </a:lnTo>
                  <a:lnTo>
                    <a:pt x="429387" y="46990"/>
                  </a:lnTo>
                  <a:lnTo>
                    <a:pt x="470153" y="80645"/>
                  </a:lnTo>
                  <a:lnTo>
                    <a:pt x="503809" y="121412"/>
                  </a:lnTo>
                  <a:lnTo>
                    <a:pt x="528955" y="167894"/>
                  </a:lnTo>
                  <a:lnTo>
                    <a:pt x="545211" y="219964"/>
                  </a:lnTo>
                  <a:lnTo>
                    <a:pt x="550799" y="275463"/>
                  </a:lnTo>
                  <a:lnTo>
                    <a:pt x="549275" y="303530"/>
                  </a:lnTo>
                  <a:lnTo>
                    <a:pt x="538352" y="357251"/>
                  </a:lnTo>
                  <a:lnTo>
                    <a:pt x="503809" y="429387"/>
                  </a:lnTo>
                  <a:lnTo>
                    <a:pt x="470153" y="470154"/>
                  </a:lnTo>
                  <a:lnTo>
                    <a:pt x="429387" y="503809"/>
                  </a:lnTo>
                  <a:lnTo>
                    <a:pt x="382905" y="529082"/>
                  </a:lnTo>
                  <a:lnTo>
                    <a:pt x="330835" y="545211"/>
                  </a:lnTo>
                  <a:lnTo>
                    <a:pt x="275336" y="550799"/>
                  </a:lnTo>
                  <a:lnTo>
                    <a:pt x="247269" y="549402"/>
                  </a:lnTo>
                  <a:lnTo>
                    <a:pt x="193421" y="538480"/>
                  </a:lnTo>
                  <a:lnTo>
                    <a:pt x="121285" y="503809"/>
                  </a:lnTo>
                  <a:lnTo>
                    <a:pt x="80645" y="470154"/>
                  </a:lnTo>
                  <a:lnTo>
                    <a:pt x="46989" y="429387"/>
                  </a:lnTo>
                  <a:lnTo>
                    <a:pt x="21717" y="382905"/>
                  </a:lnTo>
                  <a:lnTo>
                    <a:pt x="5587" y="330835"/>
                  </a:lnTo>
                  <a:lnTo>
                    <a:pt x="0" y="275463"/>
                  </a:lnTo>
                  <a:lnTo>
                    <a:pt x="1397" y="247269"/>
                  </a:lnTo>
                  <a:lnTo>
                    <a:pt x="12319" y="193548"/>
                  </a:lnTo>
                  <a:lnTo>
                    <a:pt x="46989" y="121412"/>
                  </a:lnTo>
                  <a:lnTo>
                    <a:pt x="80645" y="80645"/>
                  </a:lnTo>
                  <a:lnTo>
                    <a:pt x="121285" y="46990"/>
                  </a:lnTo>
                  <a:lnTo>
                    <a:pt x="167767" y="21717"/>
                  </a:lnTo>
                  <a:lnTo>
                    <a:pt x="219837" y="5588"/>
                  </a:lnTo>
                  <a:lnTo>
                    <a:pt x="275336"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2" name="object 92"/>
            <p:cNvPicPr/>
            <p:nvPr/>
          </p:nvPicPr>
          <p:blipFill>
            <a:blip r:embed="rId22" cstate="print"/>
            <a:stretch>
              <a:fillRect/>
            </a:stretch>
          </p:blipFill>
          <p:spPr>
            <a:xfrm>
              <a:off x="8255380" y="5485003"/>
              <a:ext cx="540003" cy="539991"/>
            </a:xfrm>
            <a:prstGeom prst="rect">
              <a:avLst/>
            </a:prstGeom>
          </p:spPr>
        </p:pic>
        <p:sp>
          <p:nvSpPr>
            <p:cNvPr id="93" name="object 93"/>
            <p:cNvSpPr/>
            <p:nvPr/>
          </p:nvSpPr>
          <p:spPr>
            <a:xfrm>
              <a:off x="8241029" y="5470652"/>
              <a:ext cx="568960" cy="568960"/>
            </a:xfrm>
            <a:custGeom>
              <a:avLst/>
              <a:gdLst/>
              <a:ahLst/>
              <a:cxnLst/>
              <a:rect l="l" t="t" r="r" b="b"/>
              <a:pathLst>
                <a:path w="568959" h="568960">
                  <a:moveTo>
                    <a:pt x="284352" y="0"/>
                  </a:moveTo>
                  <a:lnTo>
                    <a:pt x="341629" y="5842"/>
                  </a:lnTo>
                  <a:lnTo>
                    <a:pt x="395350" y="22479"/>
                  </a:lnTo>
                  <a:lnTo>
                    <a:pt x="443356" y="48514"/>
                  </a:lnTo>
                  <a:lnTo>
                    <a:pt x="485394" y="83312"/>
                  </a:lnTo>
                  <a:lnTo>
                    <a:pt x="520065" y="125349"/>
                  </a:lnTo>
                  <a:lnTo>
                    <a:pt x="546100" y="173355"/>
                  </a:lnTo>
                  <a:lnTo>
                    <a:pt x="562864" y="227063"/>
                  </a:lnTo>
                  <a:lnTo>
                    <a:pt x="568578" y="284340"/>
                  </a:lnTo>
                  <a:lnTo>
                    <a:pt x="567181" y="313385"/>
                  </a:lnTo>
                  <a:lnTo>
                    <a:pt x="555878" y="368871"/>
                  </a:lnTo>
                  <a:lnTo>
                    <a:pt x="520065" y="443331"/>
                  </a:lnTo>
                  <a:lnTo>
                    <a:pt x="485394" y="485406"/>
                  </a:lnTo>
                  <a:lnTo>
                    <a:pt x="443356" y="520128"/>
                  </a:lnTo>
                  <a:lnTo>
                    <a:pt x="395350" y="546176"/>
                  </a:lnTo>
                  <a:lnTo>
                    <a:pt x="341629" y="562876"/>
                  </a:lnTo>
                  <a:lnTo>
                    <a:pt x="284352" y="568642"/>
                  </a:lnTo>
                  <a:lnTo>
                    <a:pt x="255270" y="567182"/>
                  </a:lnTo>
                  <a:lnTo>
                    <a:pt x="199771" y="555866"/>
                  </a:lnTo>
                  <a:lnTo>
                    <a:pt x="125349" y="520128"/>
                  </a:lnTo>
                  <a:lnTo>
                    <a:pt x="83185" y="485406"/>
                  </a:lnTo>
                  <a:lnTo>
                    <a:pt x="48514" y="443331"/>
                  </a:lnTo>
                  <a:lnTo>
                    <a:pt x="22478" y="395325"/>
                  </a:lnTo>
                  <a:lnTo>
                    <a:pt x="5715" y="341617"/>
                  </a:lnTo>
                  <a:lnTo>
                    <a:pt x="0" y="284340"/>
                  </a:lnTo>
                  <a:lnTo>
                    <a:pt x="1524" y="255295"/>
                  </a:lnTo>
                  <a:lnTo>
                    <a:pt x="12826" y="199809"/>
                  </a:lnTo>
                  <a:lnTo>
                    <a:pt x="48514" y="125349"/>
                  </a:lnTo>
                  <a:lnTo>
                    <a:pt x="83185" y="83312"/>
                  </a:lnTo>
                  <a:lnTo>
                    <a:pt x="125349" y="48514"/>
                  </a:lnTo>
                  <a:lnTo>
                    <a:pt x="173354" y="22479"/>
                  </a:lnTo>
                  <a:lnTo>
                    <a:pt x="227075" y="5842"/>
                  </a:lnTo>
                  <a:lnTo>
                    <a:pt x="284352"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94" name="object 94"/>
            <p:cNvPicPr/>
            <p:nvPr/>
          </p:nvPicPr>
          <p:blipFill>
            <a:blip r:embed="rId23" cstate="print"/>
            <a:stretch>
              <a:fillRect/>
            </a:stretch>
          </p:blipFill>
          <p:spPr>
            <a:xfrm>
              <a:off x="3706494" y="5514213"/>
              <a:ext cx="522185" cy="507377"/>
            </a:xfrm>
            <a:prstGeom prst="rect">
              <a:avLst/>
            </a:prstGeom>
          </p:spPr>
        </p:pic>
        <p:sp>
          <p:nvSpPr>
            <p:cNvPr id="95" name="object 95"/>
            <p:cNvSpPr/>
            <p:nvPr/>
          </p:nvSpPr>
          <p:spPr>
            <a:xfrm>
              <a:off x="3692143" y="5499862"/>
              <a:ext cx="551180" cy="536575"/>
            </a:xfrm>
            <a:custGeom>
              <a:avLst/>
              <a:gdLst/>
              <a:ahLst/>
              <a:cxnLst/>
              <a:rect l="l" t="t" r="r" b="b"/>
              <a:pathLst>
                <a:path w="551179" h="536575">
                  <a:moveTo>
                    <a:pt x="275463" y="0"/>
                  </a:moveTo>
                  <a:lnTo>
                    <a:pt x="330834" y="5460"/>
                  </a:lnTo>
                  <a:lnTo>
                    <a:pt x="382777" y="21081"/>
                  </a:lnTo>
                  <a:lnTo>
                    <a:pt x="429259" y="45593"/>
                  </a:lnTo>
                  <a:lnTo>
                    <a:pt x="470026" y="78359"/>
                  </a:lnTo>
                  <a:lnTo>
                    <a:pt x="503681" y="117970"/>
                  </a:lnTo>
                  <a:lnTo>
                    <a:pt x="528954" y="163220"/>
                  </a:lnTo>
                  <a:lnTo>
                    <a:pt x="545210" y="213931"/>
                  </a:lnTo>
                  <a:lnTo>
                    <a:pt x="550798" y="268008"/>
                  </a:lnTo>
                  <a:lnTo>
                    <a:pt x="549401" y="295440"/>
                  </a:lnTo>
                  <a:lnTo>
                    <a:pt x="538479" y="347814"/>
                  </a:lnTo>
                  <a:lnTo>
                    <a:pt x="503681" y="418058"/>
                  </a:lnTo>
                  <a:lnTo>
                    <a:pt x="470026" y="457707"/>
                  </a:lnTo>
                  <a:lnTo>
                    <a:pt x="429259" y="490397"/>
                  </a:lnTo>
                  <a:lnTo>
                    <a:pt x="382777" y="514908"/>
                  </a:lnTo>
                  <a:lnTo>
                    <a:pt x="330834" y="530606"/>
                  </a:lnTo>
                  <a:lnTo>
                    <a:pt x="275463" y="536041"/>
                  </a:lnTo>
                  <a:lnTo>
                    <a:pt x="247395" y="534657"/>
                  </a:lnTo>
                  <a:lnTo>
                    <a:pt x="193675" y="524014"/>
                  </a:lnTo>
                  <a:lnTo>
                    <a:pt x="121538" y="490397"/>
                  </a:lnTo>
                  <a:lnTo>
                    <a:pt x="80771" y="457707"/>
                  </a:lnTo>
                  <a:lnTo>
                    <a:pt x="47116" y="418058"/>
                  </a:lnTo>
                  <a:lnTo>
                    <a:pt x="21843" y="372808"/>
                  </a:lnTo>
                  <a:lnTo>
                    <a:pt x="5587" y="322084"/>
                  </a:lnTo>
                  <a:lnTo>
                    <a:pt x="0" y="268008"/>
                  </a:lnTo>
                  <a:lnTo>
                    <a:pt x="1523" y="240588"/>
                  </a:lnTo>
                  <a:lnTo>
                    <a:pt x="12445" y="188201"/>
                  </a:lnTo>
                  <a:lnTo>
                    <a:pt x="47116" y="117970"/>
                  </a:lnTo>
                  <a:lnTo>
                    <a:pt x="80771" y="78359"/>
                  </a:lnTo>
                  <a:lnTo>
                    <a:pt x="121538" y="45593"/>
                  </a:lnTo>
                  <a:lnTo>
                    <a:pt x="168020" y="21081"/>
                  </a:lnTo>
                  <a:lnTo>
                    <a:pt x="220090" y="5460"/>
                  </a:lnTo>
                  <a:lnTo>
                    <a:pt x="275463" y="0"/>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6" name="object 96"/>
          <p:cNvSpPr txBox="1"/>
          <p:nvPr/>
        </p:nvSpPr>
        <p:spPr>
          <a:xfrm>
            <a:off x="9034398" y="6448848"/>
            <a:ext cx="281368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4398" y="6449669"/>
            <a:ext cx="281368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sp>
        <p:nvSpPr>
          <p:cNvPr id="9" name="object 9"/>
          <p:cNvSpPr txBox="1">
            <a:spLocks noGrp="1"/>
          </p:cNvSpPr>
          <p:nvPr>
            <p:ph type="title"/>
          </p:nvPr>
        </p:nvSpPr>
        <p:spPr>
          <a:xfrm>
            <a:off x="8116826" y="604572"/>
            <a:ext cx="3318032" cy="505908"/>
          </a:xfrm>
          <a:prstGeom prst="rect">
            <a:avLst/>
          </a:prstGeom>
        </p:spPr>
        <p:txBody>
          <a:bodyPr vert="horz" wrap="square" lIns="0" tIns="13335" rIns="0" bIns="0" rtlCol="0">
            <a:spAutoFit/>
          </a:bodyPr>
          <a:lstStyle/>
          <a:p>
            <a:pPr marL="12700">
              <a:lnSpc>
                <a:spcPct val="100000"/>
              </a:lnSpc>
              <a:spcBef>
                <a:spcPts val="105"/>
              </a:spcBef>
            </a:pPr>
            <a:r>
              <a:rPr lang="en-US" sz="3200" b="0">
                <a:solidFill>
                  <a:srgbClr val="7E7E7E"/>
                </a:solidFill>
                <a:latin typeface="Tahoma"/>
                <a:cs typeface="Tahoma"/>
              </a:rPr>
              <a:t>Local </a:t>
            </a:r>
            <a:r>
              <a:rPr lang="en-US" sz="3200"/>
              <a:t>Expertise</a:t>
            </a:r>
            <a:endParaRPr sz="3200">
              <a:latin typeface="Tahoma"/>
              <a:cs typeface="Tahoma"/>
            </a:endParaRPr>
          </a:p>
        </p:txBody>
      </p:sp>
      <p:grpSp>
        <p:nvGrpSpPr>
          <p:cNvPr id="114" name="Group 113">
            <a:extLst>
              <a:ext uri="{FF2B5EF4-FFF2-40B4-BE49-F238E27FC236}">
                <a16:creationId xmlns:a16="http://schemas.microsoft.com/office/drawing/2014/main" id="{93CE681F-4631-AA93-14A5-B7006FDF06B2}"/>
              </a:ext>
            </a:extLst>
          </p:cNvPr>
          <p:cNvGrpSpPr/>
          <p:nvPr/>
        </p:nvGrpSpPr>
        <p:grpSpPr>
          <a:xfrm>
            <a:off x="745648" y="1700464"/>
            <a:ext cx="10700703" cy="4608896"/>
            <a:chOff x="775017" y="1352992"/>
            <a:chExt cx="10641965" cy="4795078"/>
          </a:xfrm>
        </p:grpSpPr>
        <p:grpSp>
          <p:nvGrpSpPr>
            <p:cNvPr id="103" name="Group 102">
              <a:extLst>
                <a:ext uri="{FF2B5EF4-FFF2-40B4-BE49-F238E27FC236}">
                  <a16:creationId xmlns:a16="http://schemas.microsoft.com/office/drawing/2014/main" id="{052C6F60-A75E-F4D3-3920-FC9D74620E18}"/>
                </a:ext>
              </a:extLst>
            </p:cNvPr>
            <p:cNvGrpSpPr/>
            <p:nvPr/>
          </p:nvGrpSpPr>
          <p:grpSpPr>
            <a:xfrm>
              <a:off x="775017" y="1352992"/>
              <a:ext cx="10641965" cy="4795078"/>
              <a:chOff x="525780" y="1357411"/>
              <a:chExt cx="10641965" cy="4795078"/>
            </a:xfrm>
          </p:grpSpPr>
          <p:sp>
            <p:nvSpPr>
              <p:cNvPr id="34" name="TextBox 33">
                <a:extLst>
                  <a:ext uri="{FF2B5EF4-FFF2-40B4-BE49-F238E27FC236}">
                    <a16:creationId xmlns:a16="http://schemas.microsoft.com/office/drawing/2014/main" id="{59179377-0A2B-49F7-04E0-3368BE5433BD}"/>
                  </a:ext>
                </a:extLst>
              </p:cNvPr>
              <p:cNvSpPr txBox="1"/>
              <p:nvPr/>
            </p:nvSpPr>
            <p:spPr>
              <a:xfrm>
                <a:off x="689273" y="1586407"/>
                <a:ext cx="3314217" cy="35223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ysClr val="windowText" lastClr="000000"/>
                    </a:solidFill>
                    <a:effectLst/>
                    <a:uLnTx/>
                    <a:uFillTx/>
                  </a:rPr>
                  <a:t>Process Automation and </a:t>
                </a:r>
                <a:r>
                  <a:rPr kumimoji="0" lang="en-US" sz="1600" b="1" i="0" u="none" strike="noStrike" kern="0" cap="none" spc="0" normalizeH="0" baseline="0" noProof="0" err="1">
                    <a:ln>
                      <a:noFill/>
                    </a:ln>
                    <a:solidFill>
                      <a:sysClr val="windowText" lastClr="000000"/>
                    </a:solidFill>
                    <a:effectLst/>
                    <a:uLnTx/>
                    <a:uFillTx/>
                  </a:rPr>
                  <a:t>Digitisation</a:t>
                </a:r>
                <a:endParaRPr kumimoji="0" lang="en-NG" sz="1600" b="1" i="0" u="none" strike="noStrike" kern="0" cap="none" spc="0" normalizeH="0" baseline="0" noProof="0">
                  <a:ln>
                    <a:noFill/>
                  </a:ln>
                  <a:solidFill>
                    <a:sysClr val="windowText" lastClr="000000"/>
                  </a:solidFill>
                  <a:effectLst/>
                  <a:uLnTx/>
                  <a:uFillTx/>
                </a:endParaRPr>
              </a:p>
            </p:txBody>
          </p:sp>
          <p:sp>
            <p:nvSpPr>
              <p:cNvPr id="35" name="TextBox 34">
                <a:extLst>
                  <a:ext uri="{FF2B5EF4-FFF2-40B4-BE49-F238E27FC236}">
                    <a16:creationId xmlns:a16="http://schemas.microsoft.com/office/drawing/2014/main" id="{2EF80072-B198-9639-D8B5-3B96C40F339A}"/>
                  </a:ext>
                </a:extLst>
              </p:cNvPr>
              <p:cNvSpPr txBox="1"/>
              <p:nvPr/>
            </p:nvSpPr>
            <p:spPr>
              <a:xfrm>
                <a:off x="4594036" y="1598895"/>
                <a:ext cx="2456333" cy="35223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ysClr val="windowText" lastClr="000000"/>
                    </a:solidFill>
                    <a:effectLst/>
                    <a:uLnTx/>
                    <a:uFillTx/>
                  </a:rPr>
                  <a:t>ERP Deployment</a:t>
                </a:r>
                <a:endParaRPr kumimoji="0" lang="en-NG" sz="1600" b="1" i="0" u="none" strike="noStrike" kern="0" cap="none" spc="0" normalizeH="0" baseline="0" noProof="0">
                  <a:ln>
                    <a:noFill/>
                  </a:ln>
                  <a:solidFill>
                    <a:sysClr val="windowText" lastClr="000000"/>
                  </a:solidFill>
                  <a:effectLst/>
                  <a:uLnTx/>
                  <a:uFillTx/>
                </a:endParaRPr>
              </a:p>
            </p:txBody>
          </p:sp>
          <p:sp>
            <p:nvSpPr>
              <p:cNvPr id="36" name="TextBox 35">
                <a:extLst>
                  <a:ext uri="{FF2B5EF4-FFF2-40B4-BE49-F238E27FC236}">
                    <a16:creationId xmlns:a16="http://schemas.microsoft.com/office/drawing/2014/main" id="{AA4727D7-B622-56DB-0917-8E765172F3F2}"/>
                  </a:ext>
                </a:extLst>
              </p:cNvPr>
              <p:cNvSpPr txBox="1"/>
              <p:nvPr/>
            </p:nvSpPr>
            <p:spPr>
              <a:xfrm>
                <a:off x="8218169" y="1595245"/>
                <a:ext cx="2285999" cy="35223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ysClr val="windowText" lastClr="000000"/>
                    </a:solidFill>
                    <a:effectLst/>
                    <a:uLnTx/>
                    <a:uFillTx/>
                  </a:rPr>
                  <a:t>Security</a:t>
                </a:r>
                <a:endParaRPr kumimoji="0" lang="en-NG" sz="1600" b="1" i="0" u="none" strike="noStrike" kern="0" cap="none" spc="0" normalizeH="0" baseline="0" noProof="0">
                  <a:ln>
                    <a:noFill/>
                  </a:ln>
                  <a:solidFill>
                    <a:sysClr val="windowText" lastClr="000000"/>
                  </a:solidFill>
                  <a:effectLst/>
                  <a:uLnTx/>
                  <a:uFillTx/>
                </a:endParaRPr>
              </a:p>
            </p:txBody>
          </p:sp>
          <p:sp>
            <p:nvSpPr>
              <p:cNvPr id="37" name="Arrow: Down 36">
                <a:extLst>
                  <a:ext uri="{FF2B5EF4-FFF2-40B4-BE49-F238E27FC236}">
                    <a16:creationId xmlns:a16="http://schemas.microsoft.com/office/drawing/2014/main" id="{61ED40E1-3441-577E-AEE5-B4B298B13857}"/>
                  </a:ext>
                </a:extLst>
              </p:cNvPr>
              <p:cNvSpPr/>
              <p:nvPr/>
            </p:nvSpPr>
            <p:spPr>
              <a:xfrm>
                <a:off x="1234282" y="2381026"/>
                <a:ext cx="2020887" cy="366368"/>
              </a:xfrm>
              <a:prstGeom prst="downArrow">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G" sz="1800" b="0" i="0" u="none" strike="noStrike" kern="0" cap="none" spc="0" normalizeH="0" baseline="0" noProof="0">
                  <a:ln>
                    <a:noFill/>
                  </a:ln>
                  <a:solidFill>
                    <a:prstClr val="white"/>
                  </a:solidFill>
                  <a:effectLst/>
                  <a:uLnTx/>
                  <a:uFillTx/>
                  <a:latin typeface="Calibri"/>
                  <a:ea typeface="+mn-ea"/>
                  <a:cs typeface="+mn-cs"/>
                </a:endParaRPr>
              </a:p>
            </p:txBody>
          </p:sp>
          <p:sp>
            <p:nvSpPr>
              <p:cNvPr id="38" name="Arrow: Down 37">
                <a:extLst>
                  <a:ext uri="{FF2B5EF4-FFF2-40B4-BE49-F238E27FC236}">
                    <a16:creationId xmlns:a16="http://schemas.microsoft.com/office/drawing/2014/main" id="{139E2355-6A8C-856C-A654-ED2455BA1930}"/>
                  </a:ext>
                </a:extLst>
              </p:cNvPr>
              <p:cNvSpPr/>
              <p:nvPr/>
            </p:nvSpPr>
            <p:spPr>
              <a:xfrm>
                <a:off x="4854893" y="2392259"/>
                <a:ext cx="2020887" cy="341260"/>
              </a:xfrm>
              <a:prstGeom prst="downArrow">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G" sz="1800" b="0" i="0" u="none" strike="noStrike" kern="0" cap="none" spc="0" normalizeH="0" baseline="0" noProof="0">
                  <a:ln>
                    <a:noFill/>
                  </a:ln>
                  <a:solidFill>
                    <a:prstClr val="white"/>
                  </a:solidFill>
                  <a:effectLst/>
                  <a:uLnTx/>
                  <a:uFillTx/>
                  <a:latin typeface="Calibri"/>
                  <a:ea typeface="+mn-ea"/>
                  <a:cs typeface="+mn-cs"/>
                </a:endParaRPr>
              </a:p>
            </p:txBody>
          </p:sp>
          <p:sp>
            <p:nvSpPr>
              <p:cNvPr id="39" name="Arrow: Down 38">
                <a:extLst>
                  <a:ext uri="{FF2B5EF4-FFF2-40B4-BE49-F238E27FC236}">
                    <a16:creationId xmlns:a16="http://schemas.microsoft.com/office/drawing/2014/main" id="{C24B38F2-A73F-6268-079C-9F381403D866}"/>
                  </a:ext>
                </a:extLst>
              </p:cNvPr>
              <p:cNvSpPr/>
              <p:nvPr/>
            </p:nvSpPr>
            <p:spPr>
              <a:xfrm>
                <a:off x="8356442" y="2392259"/>
                <a:ext cx="2020887" cy="340880"/>
              </a:xfrm>
              <a:prstGeom prst="downArrow">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NG" sz="1800" b="0" i="0" u="none" strike="noStrike" kern="0" cap="none" spc="0" normalizeH="0" baseline="0" noProof="0">
                  <a:ln>
                    <a:noFill/>
                  </a:ln>
                  <a:solidFill>
                    <a:prstClr val="white"/>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1BAAD60F-0755-C2D8-6455-966EE3B87A16}"/>
                  </a:ext>
                </a:extLst>
              </p:cNvPr>
              <p:cNvSpPr txBox="1"/>
              <p:nvPr/>
            </p:nvSpPr>
            <p:spPr>
              <a:xfrm>
                <a:off x="4275342" y="3021236"/>
                <a:ext cx="1281578" cy="288189"/>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Oracle Fusion</a:t>
                </a:r>
                <a:endParaRPr kumimoji="0" lang="en-NG" sz="12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sp>
            <p:nvSpPr>
              <p:cNvPr id="43" name="TextBox 42">
                <a:extLst>
                  <a:ext uri="{FF2B5EF4-FFF2-40B4-BE49-F238E27FC236}">
                    <a16:creationId xmlns:a16="http://schemas.microsoft.com/office/drawing/2014/main" id="{962A6230-8491-5C3B-A23B-C7E9E25A82E7}"/>
                  </a:ext>
                </a:extLst>
              </p:cNvPr>
              <p:cNvSpPr txBox="1"/>
              <p:nvPr/>
            </p:nvSpPr>
            <p:spPr>
              <a:xfrm>
                <a:off x="660085" y="2841605"/>
                <a:ext cx="2057905" cy="864566"/>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err="1">
                    <a:ln>
                      <a:noFill/>
                    </a:ln>
                    <a:solidFill>
                      <a:sysClr val="windowText" lastClr="000000"/>
                    </a:solidFill>
                    <a:effectLst/>
                    <a:uLnTx/>
                    <a:uFillTx/>
                    <a:latin typeface="Century Gothic" panose="020B0502020202020204" pitchFamily="34" charset="0"/>
                  </a:rPr>
                  <a:t>Digitisation</a:t>
                </a: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 of Billing, Vending, Energy Management, Inventory, Unified Collections… </a:t>
                </a:r>
                <a:endParaRPr kumimoji="0" lang="en-NG" sz="12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sp>
            <p:nvSpPr>
              <p:cNvPr id="46" name="TextBox 45">
                <a:extLst>
                  <a:ext uri="{FF2B5EF4-FFF2-40B4-BE49-F238E27FC236}">
                    <a16:creationId xmlns:a16="http://schemas.microsoft.com/office/drawing/2014/main" id="{A81A839B-54D9-4E7B-3224-14BFCF732F9C}"/>
                  </a:ext>
                </a:extLst>
              </p:cNvPr>
              <p:cNvSpPr txBox="1"/>
              <p:nvPr/>
            </p:nvSpPr>
            <p:spPr>
              <a:xfrm>
                <a:off x="684523" y="3884586"/>
                <a:ext cx="2016207" cy="1168764"/>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Process Automation</a:t>
                </a: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0">
                    <a:ln>
                      <a:noFill/>
                    </a:ln>
                    <a:solidFill>
                      <a:sysClr val="windowText" lastClr="000000"/>
                    </a:solidFill>
                    <a:effectLst/>
                    <a:uLnTx/>
                    <a:uFillTx/>
                    <a:latin typeface="Century Gothic" panose="020B0502020202020204" pitchFamily="34" charset="0"/>
                  </a:rPr>
                  <a:t>Visitor management </a:t>
                </a: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0">
                    <a:ln>
                      <a:noFill/>
                    </a:ln>
                    <a:solidFill>
                      <a:sysClr val="windowText" lastClr="000000"/>
                    </a:solidFill>
                    <a:effectLst/>
                    <a:uLnTx/>
                    <a:uFillTx/>
                    <a:latin typeface="Century Gothic" panose="020B0502020202020204" pitchFamily="34" charset="0"/>
                  </a:rPr>
                  <a:t>Payment processing platform</a:t>
                </a: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0" cap="none" spc="0" normalizeH="0" baseline="0" noProof="0">
                    <a:ln>
                      <a:noFill/>
                    </a:ln>
                    <a:solidFill>
                      <a:sysClr val="windowText" lastClr="000000"/>
                    </a:solidFill>
                    <a:effectLst/>
                    <a:uLnTx/>
                    <a:uFillTx/>
                    <a:latin typeface="Century Gothic" panose="020B0502020202020204" pitchFamily="34" charset="0"/>
                  </a:rPr>
                  <a:t>Security Escort request application</a:t>
                </a:r>
                <a:endParaRPr kumimoji="0" lang="en-NG" sz="105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sp>
            <p:nvSpPr>
              <p:cNvPr id="50" name="TextBox 49">
                <a:extLst>
                  <a:ext uri="{FF2B5EF4-FFF2-40B4-BE49-F238E27FC236}">
                    <a16:creationId xmlns:a16="http://schemas.microsoft.com/office/drawing/2014/main" id="{B041FD15-968F-E20C-AF65-1138571882FD}"/>
                  </a:ext>
                </a:extLst>
              </p:cNvPr>
              <p:cNvSpPr txBox="1"/>
              <p:nvPr/>
            </p:nvSpPr>
            <p:spPr>
              <a:xfrm>
                <a:off x="4278710" y="4308585"/>
                <a:ext cx="1208556" cy="288189"/>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Converge</a:t>
                </a:r>
                <a:endParaRPr kumimoji="0" lang="en-NG" sz="12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cxnSp>
            <p:nvCxnSpPr>
              <p:cNvPr id="52" name="Straight Connector 51">
                <a:extLst>
                  <a:ext uri="{FF2B5EF4-FFF2-40B4-BE49-F238E27FC236}">
                    <a16:creationId xmlns:a16="http://schemas.microsoft.com/office/drawing/2014/main" id="{A174C09A-C548-EFAD-5AEE-47007CCB8248}"/>
                  </a:ext>
                </a:extLst>
              </p:cNvPr>
              <p:cNvCxnSpPr>
                <a:cxnSpLocks/>
              </p:cNvCxnSpPr>
              <p:nvPr/>
            </p:nvCxnSpPr>
            <p:spPr>
              <a:xfrm>
                <a:off x="4146391" y="1381515"/>
                <a:ext cx="0" cy="47709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4CD2553-0109-3195-9514-743DFB2FB419}"/>
                  </a:ext>
                </a:extLst>
              </p:cNvPr>
              <p:cNvCxnSpPr>
                <a:cxnSpLocks/>
              </p:cNvCxnSpPr>
              <p:nvPr/>
            </p:nvCxnSpPr>
            <p:spPr>
              <a:xfrm>
                <a:off x="7627619" y="1381515"/>
                <a:ext cx="0" cy="475222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4377EFA-D45E-7DF7-47D4-4DB4EBCEF1CC}"/>
                  </a:ext>
                </a:extLst>
              </p:cNvPr>
              <p:cNvCxnSpPr>
                <a:cxnSpLocks/>
              </p:cNvCxnSpPr>
              <p:nvPr/>
            </p:nvCxnSpPr>
            <p:spPr>
              <a:xfrm>
                <a:off x="11156315" y="1374556"/>
                <a:ext cx="11430" cy="477793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60" name="Picture 59">
                <a:extLst>
                  <a:ext uri="{FF2B5EF4-FFF2-40B4-BE49-F238E27FC236}">
                    <a16:creationId xmlns:a16="http://schemas.microsoft.com/office/drawing/2014/main" id="{BD476D24-DC3F-4D5B-6E68-AE4D5C3E37DC}"/>
                  </a:ext>
                </a:extLst>
              </p:cNvPr>
              <p:cNvPicPr>
                <a:picLocks noChangeAspect="1"/>
              </p:cNvPicPr>
              <p:nvPr/>
            </p:nvPicPr>
            <p:blipFill>
              <a:blip r:embed="rId2"/>
              <a:srcRect l="9647" t="17200" r="10240" b="13600"/>
              <a:stretch>
                <a:fillRect/>
              </a:stretch>
            </p:blipFill>
            <p:spPr>
              <a:xfrm>
                <a:off x="10245486" y="3043545"/>
                <a:ext cx="787955" cy="408372"/>
              </a:xfrm>
              <a:prstGeom prst="rect">
                <a:avLst/>
              </a:prstGeom>
            </p:spPr>
          </p:pic>
          <p:cxnSp>
            <p:nvCxnSpPr>
              <p:cNvPr id="62" name="Straight Connector 61">
                <a:extLst>
                  <a:ext uri="{FF2B5EF4-FFF2-40B4-BE49-F238E27FC236}">
                    <a16:creationId xmlns:a16="http://schemas.microsoft.com/office/drawing/2014/main" id="{0E515B91-33A2-A185-3427-E48057651639}"/>
                  </a:ext>
                </a:extLst>
              </p:cNvPr>
              <p:cNvCxnSpPr>
                <a:cxnSpLocks/>
              </p:cNvCxnSpPr>
              <p:nvPr/>
            </p:nvCxnSpPr>
            <p:spPr>
              <a:xfrm>
                <a:off x="525780" y="3774026"/>
                <a:ext cx="1063053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3D1AE7D-A6E5-B5CE-88B5-5212C8246FF9}"/>
                  </a:ext>
                </a:extLst>
              </p:cNvPr>
              <p:cNvCxnSpPr>
                <a:cxnSpLocks/>
              </p:cNvCxnSpPr>
              <p:nvPr/>
            </p:nvCxnSpPr>
            <p:spPr>
              <a:xfrm>
                <a:off x="525780" y="5045555"/>
                <a:ext cx="1063053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34256DC-E984-7BE9-FC78-FF95547BE8CB}"/>
                  </a:ext>
                </a:extLst>
              </p:cNvPr>
              <p:cNvCxnSpPr>
                <a:cxnSpLocks/>
              </p:cNvCxnSpPr>
              <p:nvPr/>
            </p:nvCxnSpPr>
            <p:spPr>
              <a:xfrm>
                <a:off x="525780" y="6152489"/>
                <a:ext cx="106305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89A912C-2CF9-DB47-7828-8759EE355752}"/>
                  </a:ext>
                </a:extLst>
              </p:cNvPr>
              <p:cNvCxnSpPr>
                <a:cxnSpLocks/>
              </p:cNvCxnSpPr>
              <p:nvPr/>
            </p:nvCxnSpPr>
            <p:spPr>
              <a:xfrm>
                <a:off x="525780" y="1357411"/>
                <a:ext cx="0" cy="479507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67" name="Picture 66">
                <a:extLst>
                  <a:ext uri="{FF2B5EF4-FFF2-40B4-BE49-F238E27FC236}">
                    <a16:creationId xmlns:a16="http://schemas.microsoft.com/office/drawing/2014/main" id="{DB5C9E57-F15B-1C41-CABF-CB1BA433E058}"/>
                  </a:ext>
                </a:extLst>
              </p:cNvPr>
              <p:cNvPicPr>
                <a:picLocks noChangeAspect="1"/>
              </p:cNvPicPr>
              <p:nvPr/>
            </p:nvPicPr>
            <p:blipFill>
              <a:blip r:embed="rId3"/>
              <a:stretch>
                <a:fillRect/>
              </a:stretch>
            </p:blipFill>
            <p:spPr>
              <a:xfrm>
                <a:off x="9727913" y="3009582"/>
                <a:ext cx="469272" cy="459712"/>
              </a:xfrm>
              <a:prstGeom prst="rect">
                <a:avLst/>
              </a:prstGeom>
            </p:spPr>
          </p:pic>
          <p:cxnSp>
            <p:nvCxnSpPr>
              <p:cNvPr id="71" name="Straight Connector 70">
                <a:extLst>
                  <a:ext uri="{FF2B5EF4-FFF2-40B4-BE49-F238E27FC236}">
                    <a16:creationId xmlns:a16="http://schemas.microsoft.com/office/drawing/2014/main" id="{8683F2AB-7D71-3B33-DE48-60A6A353F511}"/>
                  </a:ext>
                </a:extLst>
              </p:cNvPr>
              <p:cNvCxnSpPr>
                <a:cxnSpLocks/>
              </p:cNvCxnSpPr>
              <p:nvPr/>
            </p:nvCxnSpPr>
            <p:spPr>
              <a:xfrm>
                <a:off x="537210" y="1381515"/>
                <a:ext cx="106305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82" name="Picture 81">
                <a:extLst>
                  <a:ext uri="{FF2B5EF4-FFF2-40B4-BE49-F238E27FC236}">
                    <a16:creationId xmlns:a16="http://schemas.microsoft.com/office/drawing/2014/main" id="{09297883-BEC1-4E38-9A43-DD0A75FEC3C2}"/>
                  </a:ext>
                </a:extLst>
              </p:cNvPr>
              <p:cNvPicPr>
                <a:picLocks noChangeAspect="1"/>
              </p:cNvPicPr>
              <p:nvPr/>
            </p:nvPicPr>
            <p:blipFill>
              <a:blip r:embed="rId4"/>
              <a:srcRect l="-67" t="20483" b="30544"/>
              <a:stretch>
                <a:fillRect/>
              </a:stretch>
            </p:blipFill>
            <p:spPr>
              <a:xfrm>
                <a:off x="3114094" y="3084507"/>
                <a:ext cx="864851" cy="317001"/>
              </a:xfrm>
              <a:prstGeom prst="rect">
                <a:avLst/>
              </a:prstGeom>
            </p:spPr>
          </p:pic>
          <p:sp>
            <p:nvSpPr>
              <p:cNvPr id="84" name="TextBox 83">
                <a:extLst>
                  <a:ext uri="{FF2B5EF4-FFF2-40B4-BE49-F238E27FC236}">
                    <a16:creationId xmlns:a16="http://schemas.microsoft.com/office/drawing/2014/main" id="{5EB3A50F-AB3F-AE1A-8F5B-74E3B5C47C3B}"/>
                  </a:ext>
                </a:extLst>
              </p:cNvPr>
              <p:cNvSpPr txBox="1"/>
              <p:nvPr/>
            </p:nvSpPr>
            <p:spPr>
              <a:xfrm>
                <a:off x="7739091" y="2851250"/>
                <a:ext cx="1822768" cy="86456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Checkpoint </a:t>
                </a:r>
                <a:r>
                  <a:rPr kumimoji="0" lang="en-US" sz="1200" b="0" i="0" u="none" strike="noStrike" kern="0" cap="none" spc="0" normalizeH="0" baseline="0" noProof="0" err="1">
                    <a:ln>
                      <a:noFill/>
                    </a:ln>
                    <a:solidFill>
                      <a:sysClr val="windowText" lastClr="000000"/>
                    </a:solidFill>
                    <a:effectLst/>
                    <a:uLnTx/>
                    <a:uFillTx/>
                    <a:latin typeface="Century Gothic" panose="020B0502020202020204" pitchFamily="34" charset="0"/>
                  </a:rPr>
                  <a:t>Cloudguard</a:t>
                </a: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 and Checkpoint Upgrade – Perimeter solution</a:t>
                </a:r>
                <a:endParaRPr kumimoji="0" lang="en-NG" sz="12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sp>
            <p:nvSpPr>
              <p:cNvPr id="88" name="TextBox 87">
                <a:extLst>
                  <a:ext uri="{FF2B5EF4-FFF2-40B4-BE49-F238E27FC236}">
                    <a16:creationId xmlns:a16="http://schemas.microsoft.com/office/drawing/2014/main" id="{E6A63034-30A2-FE74-EE76-EEE016B4FAC0}"/>
                  </a:ext>
                </a:extLst>
              </p:cNvPr>
              <p:cNvSpPr txBox="1"/>
              <p:nvPr/>
            </p:nvSpPr>
            <p:spPr>
              <a:xfrm>
                <a:off x="7755571" y="4077960"/>
                <a:ext cx="1822768" cy="67244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Vulnerability Assessment and Penetration Testing</a:t>
                </a:r>
              </a:p>
            </p:txBody>
          </p:sp>
          <p:sp>
            <p:nvSpPr>
              <p:cNvPr id="92" name="TextBox 91">
                <a:extLst>
                  <a:ext uri="{FF2B5EF4-FFF2-40B4-BE49-F238E27FC236}">
                    <a16:creationId xmlns:a16="http://schemas.microsoft.com/office/drawing/2014/main" id="{BE8FEF7A-9D2C-0622-63E6-D4D2CE213D39}"/>
                  </a:ext>
                </a:extLst>
              </p:cNvPr>
              <p:cNvSpPr txBox="1"/>
              <p:nvPr/>
            </p:nvSpPr>
            <p:spPr>
              <a:xfrm>
                <a:off x="7755570" y="5403777"/>
                <a:ext cx="1822768" cy="28818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IT Audit and Pen Test</a:t>
                </a:r>
              </a:p>
            </p:txBody>
          </p:sp>
          <p:cxnSp>
            <p:nvCxnSpPr>
              <p:cNvPr id="93" name="Straight Connector 92">
                <a:extLst>
                  <a:ext uri="{FF2B5EF4-FFF2-40B4-BE49-F238E27FC236}">
                    <a16:creationId xmlns:a16="http://schemas.microsoft.com/office/drawing/2014/main" id="{D8F2FFFD-2A6A-1B2C-741A-7926F5FC0629}"/>
                  </a:ext>
                </a:extLst>
              </p:cNvPr>
              <p:cNvCxnSpPr>
                <a:cxnSpLocks/>
              </p:cNvCxnSpPr>
              <p:nvPr/>
            </p:nvCxnSpPr>
            <p:spPr>
              <a:xfrm>
                <a:off x="525780" y="2177117"/>
                <a:ext cx="106305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100" name="Picture 99">
                <a:extLst>
                  <a:ext uri="{FF2B5EF4-FFF2-40B4-BE49-F238E27FC236}">
                    <a16:creationId xmlns:a16="http://schemas.microsoft.com/office/drawing/2014/main" id="{F9D60422-68A0-9B69-D0C5-43EEC6F76DD7}"/>
                  </a:ext>
                </a:extLst>
              </p:cNvPr>
              <p:cNvPicPr>
                <a:picLocks noChangeAspect="1"/>
              </p:cNvPicPr>
              <p:nvPr/>
            </p:nvPicPr>
            <p:blipFill>
              <a:blip r:embed="rId5"/>
              <a:stretch>
                <a:fillRect/>
              </a:stretch>
            </p:blipFill>
            <p:spPr>
              <a:xfrm>
                <a:off x="10024113" y="3933697"/>
                <a:ext cx="877490" cy="365907"/>
              </a:xfrm>
              <a:prstGeom prst="rect">
                <a:avLst/>
              </a:prstGeom>
            </p:spPr>
          </p:pic>
          <p:sp>
            <p:nvSpPr>
              <p:cNvPr id="110" name="TextBox 109">
                <a:extLst>
                  <a:ext uri="{FF2B5EF4-FFF2-40B4-BE49-F238E27FC236}">
                    <a16:creationId xmlns:a16="http://schemas.microsoft.com/office/drawing/2014/main" id="{167F9534-0EA6-8A3D-CBF0-3A7CCB0DC4B1}"/>
                  </a:ext>
                </a:extLst>
              </p:cNvPr>
              <p:cNvSpPr txBox="1"/>
              <p:nvPr/>
            </p:nvSpPr>
            <p:spPr>
              <a:xfrm>
                <a:off x="660083" y="5276141"/>
                <a:ext cx="1729996" cy="672440"/>
              </a:xfrm>
              <a:prstGeom prst="rect">
                <a:avLst/>
              </a:prstGeom>
              <a:noFill/>
            </p:spPr>
            <p:txBody>
              <a:bodyPr wrap="square">
                <a:spAutoFit/>
              </a:bodyPr>
              <a:lstStyle/>
              <a:p>
                <a:r>
                  <a:rPr lang="en-US" sz="1200" kern="0">
                    <a:solidFill>
                      <a:sysClr val="windowText" lastClr="000000"/>
                    </a:solidFill>
                    <a:latin typeface="Century Gothic" panose="020B0502020202020204" pitchFamily="34" charset="0"/>
                  </a:rPr>
                  <a:t>Supervisory Control and Data Acquisition</a:t>
                </a:r>
                <a:endParaRPr lang="en-NG" sz="1200" kern="0">
                  <a:solidFill>
                    <a:sysClr val="windowText" lastClr="000000"/>
                  </a:solidFill>
                  <a:latin typeface="Century Gothic" panose="020B0502020202020204" pitchFamily="34" charset="0"/>
                </a:endParaRPr>
              </a:p>
            </p:txBody>
          </p:sp>
          <p:pic>
            <p:nvPicPr>
              <p:cNvPr id="10" name="Picture 9">
                <a:extLst>
                  <a:ext uri="{FF2B5EF4-FFF2-40B4-BE49-F238E27FC236}">
                    <a16:creationId xmlns:a16="http://schemas.microsoft.com/office/drawing/2014/main" id="{DE72AEBC-5741-5530-BD0F-D77E268D6E4F}"/>
                  </a:ext>
                </a:extLst>
              </p:cNvPr>
              <p:cNvPicPr>
                <a:picLocks noChangeAspect="1"/>
              </p:cNvPicPr>
              <p:nvPr/>
            </p:nvPicPr>
            <p:blipFill>
              <a:blip r:embed="rId4"/>
              <a:srcRect l="-67" t="20483" b="30544"/>
              <a:stretch>
                <a:fillRect/>
              </a:stretch>
            </p:blipFill>
            <p:spPr>
              <a:xfrm>
                <a:off x="10002650" y="5139885"/>
                <a:ext cx="864851" cy="317001"/>
              </a:xfrm>
              <a:prstGeom prst="rect">
                <a:avLst/>
              </a:prstGeom>
            </p:spPr>
          </p:pic>
          <p:pic>
            <p:nvPicPr>
              <p:cNvPr id="15" name="Picture 14">
                <a:extLst>
                  <a:ext uri="{FF2B5EF4-FFF2-40B4-BE49-F238E27FC236}">
                    <a16:creationId xmlns:a16="http://schemas.microsoft.com/office/drawing/2014/main" id="{11251829-CA37-2A58-B8C7-C8D2FF8C3FDE}"/>
                  </a:ext>
                </a:extLst>
              </p:cNvPr>
              <p:cNvPicPr>
                <a:picLocks noChangeAspect="1"/>
              </p:cNvPicPr>
              <p:nvPr/>
            </p:nvPicPr>
            <p:blipFill>
              <a:blip r:embed="rId4"/>
              <a:srcRect l="-67" t="20483" b="30544"/>
              <a:stretch>
                <a:fillRect/>
              </a:stretch>
            </p:blipFill>
            <p:spPr>
              <a:xfrm>
                <a:off x="6532336" y="5379865"/>
                <a:ext cx="864851" cy="317001"/>
              </a:xfrm>
              <a:prstGeom prst="rect">
                <a:avLst/>
              </a:prstGeom>
            </p:spPr>
          </p:pic>
        </p:grpSp>
        <p:sp>
          <p:nvSpPr>
            <p:cNvPr id="112" name="TextBox 111">
              <a:extLst>
                <a:ext uri="{FF2B5EF4-FFF2-40B4-BE49-F238E27FC236}">
                  <a16:creationId xmlns:a16="http://schemas.microsoft.com/office/drawing/2014/main" id="{496E50F8-3E37-3E8C-6E27-86B4DE5AD8F7}"/>
                </a:ext>
              </a:extLst>
            </p:cNvPr>
            <p:cNvSpPr txBox="1"/>
            <p:nvPr/>
          </p:nvSpPr>
          <p:spPr>
            <a:xfrm>
              <a:off x="4529898" y="5399358"/>
              <a:ext cx="1353327" cy="288189"/>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Century Gothic" panose="020B0502020202020204" pitchFamily="34" charset="0"/>
                </a:rPr>
                <a:t>Dynamics 365</a:t>
              </a:r>
              <a:endParaRPr kumimoji="0" lang="en-NG" sz="12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grpSp>
      <p:sp>
        <p:nvSpPr>
          <p:cNvPr id="3" name="Text 1">
            <a:extLst>
              <a:ext uri="{FF2B5EF4-FFF2-40B4-BE49-F238E27FC236}">
                <a16:creationId xmlns:a16="http://schemas.microsoft.com/office/drawing/2014/main" id="{83557F74-2889-855A-ECE7-1AD398729C3F}"/>
              </a:ext>
            </a:extLst>
          </p:cNvPr>
          <p:cNvSpPr/>
          <p:nvPr/>
        </p:nvSpPr>
        <p:spPr>
          <a:xfrm>
            <a:off x="757141" y="1130618"/>
            <a:ext cx="10689210" cy="480508"/>
          </a:xfrm>
          <a:prstGeom prst="rect">
            <a:avLst/>
          </a:prstGeom>
          <a:noFill/>
          <a:ln/>
        </p:spPr>
        <p:txBody>
          <a:bodyPr wrap="square" lIns="0" tIns="0" rIns="0" bIns="0" rtlCol="0" anchor="t"/>
          <a:lstStyle/>
          <a:p>
            <a:pPr marL="0" marR="0" lvl="0" indent="0" algn="l" defTabSz="914400" eaLnBrk="1" fontAlgn="auto" latinLnBrk="0" hangingPunct="1">
              <a:lnSpc>
                <a:spcPts val="2850"/>
              </a:lnSpc>
              <a:spcBef>
                <a:spcPts val="0"/>
              </a:spcBef>
              <a:spcAft>
                <a:spcPts val="0"/>
              </a:spcAft>
              <a:buClrTx/>
              <a:buSzTx/>
              <a:buFontTx/>
              <a:buNone/>
              <a:tabLst/>
              <a:defRPr/>
            </a:pPr>
            <a:r>
              <a:rPr kumimoji="0" lang="en-US" sz="1400" b="0" i="0" u="none" strike="noStrike" kern="0" cap="none" spc="0" normalizeH="0" baseline="0" noProof="0">
                <a:ln>
                  <a:noFill/>
                </a:ln>
                <a:solidFill>
                  <a:srgbClr val="4C4C4D"/>
                </a:solidFill>
                <a:effectLst/>
                <a:uLnTx/>
                <a:uFillTx/>
                <a:latin typeface="Century Gothic" panose="020B0502020202020204" pitchFamily="34" charset="0"/>
                <a:ea typeface="Heebo" pitchFamily="34" charset="-122"/>
                <a:cs typeface="Heebo" pitchFamily="34" charset="-120"/>
              </a:rPr>
              <a:t>Heirs Technologies has a reputation for helping </a:t>
            </a:r>
            <a:r>
              <a:rPr kumimoji="0" lang="en-US" sz="1400" b="0" i="0" u="none" strike="noStrike" kern="0" cap="none" spc="0" normalizeH="0" baseline="0" noProof="0" err="1">
                <a:ln>
                  <a:noFill/>
                </a:ln>
                <a:solidFill>
                  <a:srgbClr val="4C4C4D"/>
                </a:solidFill>
                <a:effectLst/>
                <a:uLnTx/>
                <a:uFillTx/>
                <a:latin typeface="Century Gothic" panose="020B0502020202020204" pitchFamily="34" charset="0"/>
                <a:ea typeface="Heebo" pitchFamily="34" charset="-122"/>
                <a:cs typeface="Heebo" pitchFamily="34" charset="-120"/>
              </a:rPr>
              <a:t>organisations</a:t>
            </a:r>
            <a:r>
              <a:rPr kumimoji="0" lang="en-US" sz="1400" b="0" i="0" u="none" strike="noStrike" kern="0" cap="none" spc="0" normalizeH="0" baseline="0" noProof="0">
                <a:ln>
                  <a:noFill/>
                </a:ln>
                <a:solidFill>
                  <a:srgbClr val="4C4C4D"/>
                </a:solidFill>
                <a:effectLst/>
                <a:uLnTx/>
                <a:uFillTx/>
                <a:latin typeface="Century Gothic" panose="020B0502020202020204" pitchFamily="34" charset="0"/>
                <a:ea typeface="Heebo" pitchFamily="34" charset="-122"/>
                <a:cs typeface="Heebo" pitchFamily="34" charset="-120"/>
              </a:rPr>
              <a:t> achieve full implementation of their digital</a:t>
            </a:r>
            <a:r>
              <a:rPr lang="en-US" sz="1400" kern="0">
                <a:solidFill>
                  <a:srgbClr val="4C4C4D"/>
                </a:solidFill>
                <a:latin typeface="Century Gothic" panose="020B0502020202020204" pitchFamily="34" charset="0"/>
                <a:ea typeface="Heebo" pitchFamily="34" charset="-122"/>
                <a:cs typeface="Heebo" pitchFamily="34" charset="-120"/>
              </a:rPr>
              <a:t>l roadmap.</a:t>
            </a:r>
            <a:endParaRPr kumimoji="0" lang="en-US" sz="14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pic>
        <p:nvPicPr>
          <p:cNvPr id="4" name="Picture 3">
            <a:extLst>
              <a:ext uri="{FF2B5EF4-FFF2-40B4-BE49-F238E27FC236}">
                <a16:creationId xmlns:a16="http://schemas.microsoft.com/office/drawing/2014/main" id="{4ECEE9C4-979E-72EB-F649-ECB536DC3C13}"/>
              </a:ext>
            </a:extLst>
          </p:cNvPr>
          <p:cNvPicPr>
            <a:picLocks noChangeAspect="1"/>
          </p:cNvPicPr>
          <p:nvPr/>
        </p:nvPicPr>
        <p:blipFill>
          <a:blip r:embed="rId6"/>
          <a:stretch>
            <a:fillRect/>
          </a:stretch>
        </p:blipFill>
        <p:spPr>
          <a:xfrm>
            <a:off x="2951098" y="4711219"/>
            <a:ext cx="1347138" cy="372277"/>
          </a:xfrm>
          <a:prstGeom prst="rect">
            <a:avLst/>
          </a:prstGeom>
        </p:spPr>
      </p:pic>
      <p:pic>
        <p:nvPicPr>
          <p:cNvPr id="5" name="Picture 4">
            <a:extLst>
              <a:ext uri="{FF2B5EF4-FFF2-40B4-BE49-F238E27FC236}">
                <a16:creationId xmlns:a16="http://schemas.microsoft.com/office/drawing/2014/main" id="{2B056167-3416-7D35-9369-837064478F59}"/>
              </a:ext>
            </a:extLst>
          </p:cNvPr>
          <p:cNvPicPr>
            <a:picLocks noChangeAspect="1"/>
          </p:cNvPicPr>
          <p:nvPr/>
        </p:nvPicPr>
        <p:blipFill>
          <a:blip r:embed="rId7"/>
          <a:stretch>
            <a:fillRect/>
          </a:stretch>
        </p:blipFill>
        <p:spPr>
          <a:xfrm>
            <a:off x="3202514" y="4280007"/>
            <a:ext cx="931173" cy="225388"/>
          </a:xfrm>
          <a:prstGeom prst="rect">
            <a:avLst/>
          </a:prstGeom>
        </p:spPr>
      </p:pic>
      <p:pic>
        <p:nvPicPr>
          <p:cNvPr id="6" name="Picture 5">
            <a:extLst>
              <a:ext uri="{FF2B5EF4-FFF2-40B4-BE49-F238E27FC236}">
                <a16:creationId xmlns:a16="http://schemas.microsoft.com/office/drawing/2014/main" id="{1269952E-B698-6CDB-C193-7E371CCA036E}"/>
              </a:ext>
            </a:extLst>
          </p:cNvPr>
          <p:cNvPicPr>
            <a:picLocks noChangeAspect="1"/>
          </p:cNvPicPr>
          <p:nvPr/>
        </p:nvPicPr>
        <p:blipFill>
          <a:blip r:embed="rId8"/>
          <a:srcRect l="9052" t="41478" r="4225" b="41073"/>
          <a:stretch>
            <a:fillRect/>
          </a:stretch>
        </p:blipFill>
        <p:spPr>
          <a:xfrm>
            <a:off x="2947680" y="5520835"/>
            <a:ext cx="1331115" cy="267822"/>
          </a:xfrm>
          <a:prstGeom prst="rect">
            <a:avLst/>
          </a:prstGeom>
        </p:spPr>
      </p:pic>
      <p:pic>
        <p:nvPicPr>
          <p:cNvPr id="7" name="Picture 6">
            <a:extLst>
              <a:ext uri="{FF2B5EF4-FFF2-40B4-BE49-F238E27FC236}">
                <a16:creationId xmlns:a16="http://schemas.microsoft.com/office/drawing/2014/main" id="{ACC5979D-BD77-EDFF-37BD-0AD60A2A06F0}"/>
              </a:ext>
            </a:extLst>
          </p:cNvPr>
          <p:cNvPicPr>
            <a:picLocks noChangeAspect="1"/>
          </p:cNvPicPr>
          <p:nvPr/>
        </p:nvPicPr>
        <p:blipFill>
          <a:blip r:embed="rId9"/>
          <a:srcRect l="2837" t="13489" r="7312" b="58337"/>
          <a:stretch>
            <a:fillRect/>
          </a:stretch>
        </p:blipFill>
        <p:spPr>
          <a:xfrm>
            <a:off x="2832737" y="5855043"/>
            <a:ext cx="1481661" cy="219677"/>
          </a:xfrm>
          <a:prstGeom prst="rect">
            <a:avLst/>
          </a:prstGeom>
        </p:spPr>
      </p:pic>
      <p:pic>
        <p:nvPicPr>
          <p:cNvPr id="8" name="Picture 7">
            <a:extLst>
              <a:ext uri="{FF2B5EF4-FFF2-40B4-BE49-F238E27FC236}">
                <a16:creationId xmlns:a16="http://schemas.microsoft.com/office/drawing/2014/main" id="{B450F054-7D57-7B29-354E-2D2659C0E2B1}"/>
              </a:ext>
            </a:extLst>
          </p:cNvPr>
          <p:cNvPicPr>
            <a:picLocks noChangeAspect="1"/>
          </p:cNvPicPr>
          <p:nvPr/>
        </p:nvPicPr>
        <p:blipFill>
          <a:blip r:embed="rId10"/>
          <a:srcRect l="6764" t="39432" r="7928" b="42700"/>
          <a:stretch>
            <a:fillRect/>
          </a:stretch>
        </p:blipFill>
        <p:spPr>
          <a:xfrm>
            <a:off x="6420246" y="3264443"/>
            <a:ext cx="1250654" cy="301970"/>
          </a:xfrm>
          <a:prstGeom prst="rect">
            <a:avLst/>
          </a:prstGeom>
        </p:spPr>
      </p:pic>
      <p:pic>
        <p:nvPicPr>
          <p:cNvPr id="11" name="Picture 10">
            <a:extLst>
              <a:ext uri="{FF2B5EF4-FFF2-40B4-BE49-F238E27FC236}">
                <a16:creationId xmlns:a16="http://schemas.microsoft.com/office/drawing/2014/main" id="{4E76B9C0-CA79-75BC-FFB7-45C0A4D71FAF}"/>
              </a:ext>
            </a:extLst>
          </p:cNvPr>
          <p:cNvPicPr>
            <a:picLocks noChangeAspect="1"/>
          </p:cNvPicPr>
          <p:nvPr/>
        </p:nvPicPr>
        <p:blipFill>
          <a:blip r:embed="rId11"/>
          <a:stretch>
            <a:fillRect/>
          </a:stretch>
        </p:blipFill>
        <p:spPr>
          <a:xfrm>
            <a:off x="9786543" y="4663635"/>
            <a:ext cx="1586539" cy="240997"/>
          </a:xfrm>
          <a:prstGeom prst="rect">
            <a:avLst/>
          </a:prstGeom>
        </p:spPr>
      </p:pic>
      <p:pic>
        <p:nvPicPr>
          <p:cNvPr id="12" name="Picture 11">
            <a:extLst>
              <a:ext uri="{FF2B5EF4-FFF2-40B4-BE49-F238E27FC236}">
                <a16:creationId xmlns:a16="http://schemas.microsoft.com/office/drawing/2014/main" id="{A7B59DC7-F1C2-C4C9-CE0F-927311DFE342}"/>
              </a:ext>
            </a:extLst>
          </p:cNvPr>
          <p:cNvPicPr>
            <a:picLocks noChangeAspect="1"/>
          </p:cNvPicPr>
          <p:nvPr/>
        </p:nvPicPr>
        <p:blipFill>
          <a:blip r:embed="rId12"/>
          <a:stretch>
            <a:fillRect/>
          </a:stretch>
        </p:blipFill>
        <p:spPr>
          <a:xfrm>
            <a:off x="6047228" y="4209038"/>
            <a:ext cx="762862" cy="403456"/>
          </a:xfrm>
          <a:prstGeom prst="rect">
            <a:avLst/>
          </a:prstGeom>
        </p:spPr>
      </p:pic>
      <p:pic>
        <p:nvPicPr>
          <p:cNvPr id="13" name="Picture 12">
            <a:extLst>
              <a:ext uri="{FF2B5EF4-FFF2-40B4-BE49-F238E27FC236}">
                <a16:creationId xmlns:a16="http://schemas.microsoft.com/office/drawing/2014/main" id="{D7F3EDE9-E214-7DEB-039A-718EBABE7471}"/>
              </a:ext>
            </a:extLst>
          </p:cNvPr>
          <p:cNvPicPr>
            <a:picLocks noChangeAspect="1"/>
          </p:cNvPicPr>
          <p:nvPr/>
        </p:nvPicPr>
        <p:blipFill>
          <a:blip r:embed="rId13"/>
          <a:srcRect t="35345" b="35398"/>
          <a:stretch>
            <a:fillRect/>
          </a:stretch>
        </p:blipFill>
        <p:spPr>
          <a:xfrm>
            <a:off x="5989500" y="4695022"/>
            <a:ext cx="1681400" cy="459718"/>
          </a:xfrm>
          <a:prstGeom prst="rect">
            <a:avLst/>
          </a:prstGeom>
        </p:spPr>
      </p:pic>
      <p:pic>
        <p:nvPicPr>
          <p:cNvPr id="14" name="Picture 13">
            <a:extLst>
              <a:ext uri="{FF2B5EF4-FFF2-40B4-BE49-F238E27FC236}">
                <a16:creationId xmlns:a16="http://schemas.microsoft.com/office/drawing/2014/main" id="{B417D860-CF96-E625-157B-EF7F6ED8C432}"/>
              </a:ext>
            </a:extLst>
          </p:cNvPr>
          <p:cNvPicPr>
            <a:picLocks noChangeAspect="1"/>
          </p:cNvPicPr>
          <p:nvPr/>
        </p:nvPicPr>
        <p:blipFill>
          <a:blip r:embed="rId14"/>
          <a:stretch>
            <a:fillRect/>
          </a:stretch>
        </p:blipFill>
        <p:spPr>
          <a:xfrm>
            <a:off x="6907991" y="4262767"/>
            <a:ext cx="854798" cy="276998"/>
          </a:xfrm>
          <a:prstGeom prst="rect">
            <a:avLst/>
          </a:prstGeom>
        </p:spPr>
      </p:pic>
      <p:pic>
        <p:nvPicPr>
          <p:cNvPr id="16" name="Picture 15">
            <a:extLst>
              <a:ext uri="{FF2B5EF4-FFF2-40B4-BE49-F238E27FC236}">
                <a16:creationId xmlns:a16="http://schemas.microsoft.com/office/drawing/2014/main" id="{83EC526D-A97D-4FA6-81F6-65F024C1F67B}"/>
              </a:ext>
            </a:extLst>
          </p:cNvPr>
          <p:cNvPicPr>
            <a:picLocks noChangeAspect="1"/>
          </p:cNvPicPr>
          <p:nvPr/>
        </p:nvPicPr>
        <p:blipFill>
          <a:blip r:embed="rId15"/>
          <a:stretch>
            <a:fillRect/>
          </a:stretch>
        </p:blipFill>
        <p:spPr>
          <a:xfrm>
            <a:off x="5994987" y="5405954"/>
            <a:ext cx="626256" cy="626256"/>
          </a:xfrm>
          <a:prstGeom prst="rect">
            <a:avLst/>
          </a:prstGeom>
        </p:spPr>
      </p:pic>
      <p:pic>
        <p:nvPicPr>
          <p:cNvPr id="17" name="Picture 16">
            <a:extLst>
              <a:ext uri="{FF2B5EF4-FFF2-40B4-BE49-F238E27FC236}">
                <a16:creationId xmlns:a16="http://schemas.microsoft.com/office/drawing/2014/main" id="{467DDC46-57CE-1335-E5DE-FF268675EA9C}"/>
              </a:ext>
            </a:extLst>
          </p:cNvPr>
          <p:cNvPicPr>
            <a:picLocks noChangeAspect="1"/>
          </p:cNvPicPr>
          <p:nvPr/>
        </p:nvPicPr>
        <p:blipFill>
          <a:blip r:embed="rId16"/>
          <a:stretch>
            <a:fillRect/>
          </a:stretch>
        </p:blipFill>
        <p:spPr>
          <a:xfrm>
            <a:off x="10133177" y="5738608"/>
            <a:ext cx="1202738" cy="34363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2A7425-E51B-5C5D-9BB1-F2E172B47F9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DB9284-AF69-0124-8BD8-649ACC069A99}"/>
              </a:ext>
            </a:extLst>
          </p:cNvPr>
          <p:cNvSpPr>
            <a:spLocks noGrp="1"/>
          </p:cNvSpPr>
          <p:nvPr>
            <p:ph type="title"/>
          </p:nvPr>
        </p:nvSpPr>
        <p:spPr>
          <a:xfrm>
            <a:off x="524256" y="2743200"/>
            <a:ext cx="3790188" cy="1371600"/>
          </a:xfrm>
        </p:spPr>
        <p:txBody>
          <a:bodyPr>
            <a:normAutofit/>
          </a:bodyPr>
          <a:lstStyle/>
          <a:p>
            <a:pPr algn="ctr"/>
            <a:r>
              <a:rPr lang="en-US" sz="4000" b="1">
                <a:solidFill>
                  <a:schemeClr val="tx1">
                    <a:lumMod val="50000"/>
                    <a:lumOff val="50000"/>
                  </a:schemeClr>
                </a:solidFill>
                <a:latin typeface="Century Gothic" panose="020B0502020202020204" pitchFamily="34" charset="0"/>
              </a:rPr>
              <a:t>Benefits to LFTZ</a:t>
            </a:r>
            <a:endParaRPr lang="en-NG" sz="4000" b="1">
              <a:solidFill>
                <a:schemeClr val="tx1">
                  <a:lumMod val="50000"/>
                  <a:lumOff val="50000"/>
                </a:schemeClr>
              </a:solidFill>
              <a:latin typeface="Century Gothic" panose="020B0502020202020204" pitchFamily="34" charset="0"/>
            </a:endParaRPr>
          </a:p>
        </p:txBody>
      </p:sp>
      <p:sp>
        <p:nvSpPr>
          <p:cNvPr id="16" name="Rectangle 1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003C86B5-4BDB-BC96-BF70-B13096D6CD87}"/>
              </a:ext>
            </a:extLst>
          </p:cNvPr>
          <p:cNvGraphicFramePr>
            <a:graphicFrameLocks noGrp="1"/>
          </p:cNvGraphicFramePr>
          <p:nvPr>
            <p:ph idx="1"/>
            <p:extLst>
              <p:ext uri="{D42A27DB-BD31-4B8C-83A1-F6EECF244321}">
                <p14:modId xmlns:p14="http://schemas.microsoft.com/office/powerpoint/2010/main" val="21573471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4F7E1BD7-A2C4-63FB-98D5-3D74FB422A5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495219776"/>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p:nvPr/>
        </p:nvSpPr>
        <p:spPr>
          <a:xfrm>
            <a:off x="9047098" y="6541405"/>
            <a:ext cx="2788285" cy="172085"/>
          </a:xfrm>
          <a:prstGeom prst="rect">
            <a:avLst/>
          </a:prstGeom>
        </p:spPr>
        <p:txBody>
          <a:bodyPr vert="horz" wrap="square" lIns="0" tIns="1270" rIns="0" bIns="0" rtlCol="0">
            <a:spAutoFit/>
          </a:bodyPr>
          <a:lstStyle/>
          <a:p>
            <a:pPr marL="0" marR="0" lvl="0" indent="0" defTabSz="914400" eaLnBrk="1" fontAlgn="auto" latinLnBrk="0" hangingPunct="1">
              <a:lnSpc>
                <a:spcPct val="100000"/>
              </a:lnSpc>
              <a:spcBef>
                <a:spcPts val="10"/>
              </a:spcBef>
              <a:spcAft>
                <a:spcPts val="0"/>
              </a:spcAft>
              <a:buClrTx/>
              <a:buSzTx/>
              <a:buFontTx/>
              <a:buNone/>
              <a:tabLst/>
              <a:defRPr/>
            </a:pPr>
            <a:r>
              <a:rPr kumimoji="0" lang="en-US" sz="1100" b="0" i="1" u="none" strike="noStrike" kern="0" cap="none" spc="-40" normalizeH="0" baseline="0" noProof="0">
                <a:ln>
                  <a:noFill/>
                </a:ln>
                <a:solidFill>
                  <a:srgbClr val="FF0000"/>
                </a:solidFill>
                <a:effectLst/>
                <a:uLnTx/>
                <a:uFillTx/>
                <a:latin typeface="Century Gothic" panose="020B0502020202020204" pitchFamily="34" charset="0"/>
                <a:cs typeface="Verdana"/>
              </a:rPr>
              <a:t>World</a:t>
            </a:r>
            <a:r>
              <a:rPr kumimoji="0" lang="en-US" sz="1100" b="0" i="1" u="none" strike="noStrike" kern="0" cap="none" spc="-30" normalizeH="0" baseline="0" noProof="0">
                <a:ln>
                  <a:noFill/>
                </a:ln>
                <a:solidFill>
                  <a:srgbClr val="FF0000"/>
                </a:solidFill>
                <a:effectLst/>
                <a:uLnTx/>
                <a:uFillTx/>
                <a:latin typeface="Century Gothic" panose="020B0502020202020204" pitchFamily="34" charset="0"/>
                <a:cs typeface="Verdana"/>
              </a:rPr>
              <a:t> </a:t>
            </a:r>
            <a:r>
              <a:rPr kumimoji="0" lang="en-US" sz="1100" b="0" i="1" u="none" strike="noStrike" kern="0" cap="none" spc="-40" normalizeH="0" baseline="0" noProof="0">
                <a:ln>
                  <a:noFill/>
                </a:ln>
                <a:solidFill>
                  <a:srgbClr val="FF0000"/>
                </a:solidFill>
                <a:effectLst/>
                <a:uLnTx/>
                <a:uFillTx/>
                <a:latin typeface="Century Gothic" panose="020B0502020202020204" pitchFamily="34" charset="0"/>
                <a:cs typeface="Verdana"/>
              </a:rPr>
              <a:t>class </a:t>
            </a:r>
            <a:r>
              <a:rPr kumimoji="0" lang="en-US" sz="1100" b="0" i="1" u="none" strike="noStrike" kern="0" cap="none" spc="-50" normalizeH="0" baseline="0" noProof="0">
                <a:ln>
                  <a:noFill/>
                </a:ln>
                <a:solidFill>
                  <a:srgbClr val="FF0000"/>
                </a:solidFill>
                <a:effectLst/>
                <a:uLnTx/>
                <a:uFillTx/>
                <a:latin typeface="Century Gothic" panose="020B0502020202020204" pitchFamily="34" charset="0"/>
                <a:cs typeface="Verdana"/>
              </a:rPr>
              <a:t>expertise,</a:t>
            </a:r>
            <a:r>
              <a:rPr kumimoji="0" lang="en-US" sz="1100" b="0" i="1" u="none" strike="noStrike" kern="0" cap="none" spc="-70" normalizeH="0" baseline="0" noProof="0">
                <a:ln>
                  <a:noFill/>
                </a:ln>
                <a:solidFill>
                  <a:srgbClr val="FF0000"/>
                </a:solidFill>
                <a:effectLst/>
                <a:uLnTx/>
                <a:uFillTx/>
                <a:latin typeface="Century Gothic" panose="020B0502020202020204" pitchFamily="34" charset="0"/>
                <a:cs typeface="Verdana"/>
              </a:rPr>
              <a:t> </a:t>
            </a:r>
            <a:r>
              <a:rPr kumimoji="0" lang="en-US" sz="1100" b="0" i="1" u="none" strike="noStrike" kern="0" cap="none" spc="0" normalizeH="0" baseline="0" noProof="0">
                <a:ln>
                  <a:noFill/>
                </a:ln>
                <a:solidFill>
                  <a:srgbClr val="FF0000"/>
                </a:solidFill>
                <a:effectLst/>
                <a:uLnTx/>
                <a:uFillTx/>
                <a:latin typeface="Century Gothic" panose="020B0502020202020204" pitchFamily="34" charset="0"/>
                <a:cs typeface="Verdana"/>
              </a:rPr>
              <a:t>local</a:t>
            </a:r>
            <a:r>
              <a:rPr kumimoji="0" lang="en-US" sz="1100" b="0" i="1" u="none" strike="noStrike" kern="0" cap="none" spc="-30" normalizeH="0" baseline="0" noProof="0">
                <a:ln>
                  <a:noFill/>
                </a:ln>
                <a:solidFill>
                  <a:srgbClr val="FF0000"/>
                </a:solidFill>
                <a:effectLst/>
                <a:uLnTx/>
                <a:uFillTx/>
                <a:latin typeface="Century Gothic" panose="020B0502020202020204" pitchFamily="34" charset="0"/>
                <a:cs typeface="Verdana"/>
              </a:rPr>
              <a:t> </a:t>
            </a:r>
            <a:r>
              <a:rPr kumimoji="0" lang="en-US" sz="1100" b="0" i="1" u="none" strike="noStrike" kern="0" cap="none" spc="-10" normalizeH="0" baseline="0" noProof="0">
                <a:ln>
                  <a:noFill/>
                </a:ln>
                <a:solidFill>
                  <a:srgbClr val="FF0000"/>
                </a:solidFill>
                <a:effectLst/>
                <a:uLnTx/>
                <a:uFillTx/>
                <a:latin typeface="Century Gothic" panose="020B0502020202020204" pitchFamily="34" charset="0"/>
                <a:cs typeface="Verdana"/>
              </a:rPr>
              <a:t>accessibility…</a:t>
            </a:r>
            <a:endParaRPr kumimoji="0" lang="en-US" sz="1100" b="0" i="0" u="none" strike="noStrike" kern="0" cap="none" spc="0" normalizeH="0" baseline="0" noProof="0">
              <a:ln>
                <a:noFill/>
              </a:ln>
              <a:solidFill>
                <a:sysClr val="windowText" lastClr="000000"/>
              </a:solidFill>
              <a:effectLst/>
              <a:uLnTx/>
              <a:uFillTx/>
              <a:latin typeface="Century Gothic" panose="020B0502020202020204" pitchFamily="34" charset="0"/>
              <a:cs typeface="Verdana"/>
            </a:endParaRPr>
          </a:p>
        </p:txBody>
      </p:sp>
      <p:pic>
        <p:nvPicPr>
          <p:cNvPr id="4" name="object 4"/>
          <p:cNvPicPr/>
          <p:nvPr/>
        </p:nvPicPr>
        <p:blipFill>
          <a:blip r:embed="rId3" cstate="print"/>
          <a:stretch>
            <a:fillRect/>
          </a:stretch>
        </p:blipFill>
        <p:spPr>
          <a:xfrm>
            <a:off x="6096000" y="0"/>
            <a:ext cx="6096000" cy="6857998"/>
          </a:xfrm>
          <a:prstGeom prst="rect">
            <a:avLst/>
          </a:prstGeom>
        </p:spPr>
      </p:pic>
      <p:sp>
        <p:nvSpPr>
          <p:cNvPr id="5" name="object 5"/>
          <p:cNvSpPr txBox="1"/>
          <p:nvPr/>
        </p:nvSpPr>
        <p:spPr>
          <a:xfrm>
            <a:off x="5810503" y="6624319"/>
            <a:ext cx="156845" cy="155812"/>
          </a:xfrm>
          <a:prstGeom prst="rect">
            <a:avLst/>
          </a:prstGeom>
        </p:spPr>
        <p:txBody>
          <a:bodyPr vert="horz" wrap="square" lIns="0" tIns="17145" rIns="0" bIns="0" rtlCol="0">
            <a:spAutoFit/>
          </a:body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en-NG" sz="900" b="0" i="0" u="none" strike="noStrike" kern="0" cap="none" spc="-25" normalizeH="0" baseline="0" noProof="0">
                <a:ln>
                  <a:noFill/>
                </a:ln>
                <a:solidFill>
                  <a:sysClr val="windowText" lastClr="000000"/>
                </a:solidFill>
                <a:effectLst/>
                <a:uLnTx/>
                <a:uFillTx/>
                <a:latin typeface="Century Gothic" panose="020B0502020202020204" pitchFamily="34" charset="0"/>
                <a:cs typeface="Arial MT"/>
              </a:rPr>
              <a:t>44</a:t>
            </a:r>
            <a:endParaRPr kumimoji="0" lang="en-NG" sz="900" b="0" i="0" u="none" strike="noStrike" kern="0" cap="none" spc="0" normalizeH="0" baseline="0" noProof="0">
              <a:ln>
                <a:noFill/>
              </a:ln>
              <a:solidFill>
                <a:sysClr val="windowText" lastClr="000000"/>
              </a:solidFill>
              <a:effectLst/>
              <a:uLnTx/>
              <a:uFillTx/>
              <a:latin typeface="Century Gothic" panose="020B0502020202020204" pitchFamily="34" charset="0"/>
              <a:cs typeface="Arial MT"/>
            </a:endParaRPr>
          </a:p>
        </p:txBody>
      </p:sp>
      <p:sp>
        <p:nvSpPr>
          <p:cNvPr id="6" name="object 6"/>
          <p:cNvSpPr txBox="1"/>
          <p:nvPr/>
        </p:nvSpPr>
        <p:spPr>
          <a:xfrm>
            <a:off x="1223787" y="3234723"/>
            <a:ext cx="2275840" cy="627736"/>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55" normalizeH="0" baseline="0" noProof="0">
                <a:ln>
                  <a:noFill/>
                </a:ln>
                <a:solidFill>
                  <a:schemeClr val="tx1">
                    <a:lumMod val="50000"/>
                    <a:lumOff val="50000"/>
                  </a:schemeClr>
                </a:solidFill>
                <a:effectLst/>
                <a:uLnTx/>
                <a:uFillTx/>
                <a:latin typeface="Century Gothic" panose="020B0502020202020204" pitchFamily="34" charset="0"/>
                <a:cs typeface="Tahoma"/>
              </a:rPr>
              <a:t>Overview</a:t>
            </a:r>
          </a:p>
        </p:txBody>
      </p:sp>
      <p:sp>
        <p:nvSpPr>
          <p:cNvPr id="7" name="object 7"/>
          <p:cNvSpPr txBox="1">
            <a:spLocks noGrp="1"/>
          </p:cNvSpPr>
          <p:nvPr>
            <p:ph type="title"/>
          </p:nvPr>
        </p:nvSpPr>
        <p:spPr>
          <a:xfrm>
            <a:off x="346862" y="2390902"/>
            <a:ext cx="5620921" cy="843821"/>
          </a:xfrm>
          <a:prstGeom prst="rect">
            <a:avLst/>
          </a:prstGeom>
        </p:spPr>
        <p:txBody>
          <a:bodyPr vert="horz" wrap="square" lIns="0" tIns="12700" rIns="0" bIns="0" rtlCol="0" anchor="t">
            <a:spAutoFit/>
          </a:bodyPr>
          <a:lstStyle/>
          <a:p>
            <a:pPr marL="38100">
              <a:spcBef>
                <a:spcPts val="100"/>
              </a:spcBef>
            </a:pPr>
            <a:r>
              <a:rPr lang="en-US" sz="8100" b="0" spc="-839" baseline="-22119">
                <a:solidFill>
                  <a:schemeClr val="tx1">
                    <a:lumMod val="50000"/>
                    <a:lumOff val="50000"/>
                  </a:schemeClr>
                </a:solidFill>
                <a:latin typeface="Century Gothic"/>
                <a:cs typeface="Arial Black"/>
              </a:rPr>
              <a:t>08</a:t>
            </a:r>
            <a:r>
              <a:rPr lang="en-US" sz="8100" b="0" spc="292" baseline="-22119">
                <a:solidFill>
                  <a:schemeClr val="tx1">
                    <a:lumMod val="50000"/>
                    <a:lumOff val="50000"/>
                  </a:schemeClr>
                </a:solidFill>
                <a:latin typeface="Century Gothic"/>
                <a:cs typeface="Arial Black"/>
              </a:rPr>
              <a:t> </a:t>
            </a:r>
            <a:r>
              <a:rPr lang="en-US" sz="4000" spc="-195">
                <a:solidFill>
                  <a:schemeClr val="tx1">
                    <a:lumMod val="50000"/>
                    <a:lumOff val="50000"/>
                  </a:schemeClr>
                </a:solidFill>
                <a:latin typeface="Century Gothic"/>
              </a:rPr>
              <a:t>Our</a:t>
            </a:r>
            <a:r>
              <a:rPr lang="en-US" sz="4000" spc="-240">
                <a:solidFill>
                  <a:schemeClr val="tx1">
                    <a:lumMod val="50000"/>
                    <a:lumOff val="50000"/>
                  </a:schemeClr>
                </a:solidFill>
                <a:latin typeface="Century Gothic"/>
              </a:rPr>
              <a:t> </a:t>
            </a:r>
            <a:r>
              <a:rPr lang="en-US" sz="4000" spc="-40">
                <a:solidFill>
                  <a:schemeClr val="tx1">
                    <a:lumMod val="50000"/>
                    <a:lumOff val="50000"/>
                  </a:schemeClr>
                </a:solidFill>
                <a:latin typeface="Century Gothic"/>
              </a:rPr>
              <a:t>Support </a:t>
            </a:r>
            <a:r>
              <a:rPr lang="en-US" sz="4000" spc="-65">
                <a:solidFill>
                  <a:schemeClr val="tx1">
                    <a:lumMod val="50000"/>
                    <a:lumOff val="50000"/>
                  </a:schemeClr>
                </a:solidFill>
                <a:latin typeface="Century Gothic"/>
              </a:rPr>
              <a:t>Centre</a:t>
            </a:r>
            <a:endParaRPr lang="en-US" sz="4000">
              <a:solidFill>
                <a:schemeClr val="tx1">
                  <a:lumMod val="50000"/>
                  <a:lumOff val="50000"/>
                </a:schemeClr>
              </a:solidFill>
              <a:latin typeface="Century Gothic"/>
              <a:cs typeface="Arial Black"/>
            </a:endParaRPr>
          </a:p>
        </p:txBody>
      </p:sp>
      <p:grpSp>
        <p:nvGrpSpPr>
          <p:cNvPr id="8" name="object 8"/>
          <p:cNvGrpSpPr/>
          <p:nvPr/>
        </p:nvGrpSpPr>
        <p:grpSpPr>
          <a:xfrm>
            <a:off x="1088326" y="2615945"/>
            <a:ext cx="88847" cy="1137093"/>
            <a:chOff x="1298188" y="2656284"/>
            <a:chExt cx="88847" cy="1137093"/>
          </a:xfrm>
        </p:grpSpPr>
        <p:pic>
          <p:nvPicPr>
            <p:cNvPr id="9" name="object 9"/>
            <p:cNvPicPr/>
            <p:nvPr/>
          </p:nvPicPr>
          <p:blipFill>
            <a:blip r:embed="rId4" cstate="print"/>
            <a:stretch>
              <a:fillRect/>
            </a:stretch>
          </p:blipFill>
          <p:spPr>
            <a:xfrm>
              <a:off x="1298188" y="2656284"/>
              <a:ext cx="88847" cy="1137093"/>
            </a:xfrm>
            <a:prstGeom prst="rect">
              <a:avLst/>
            </a:prstGeom>
          </p:spPr>
        </p:pic>
        <p:sp>
          <p:nvSpPr>
            <p:cNvPr id="10" name="object 10"/>
            <p:cNvSpPr/>
            <p:nvPr/>
          </p:nvSpPr>
          <p:spPr>
            <a:xfrm>
              <a:off x="1344802" y="2669540"/>
              <a:ext cx="0" cy="1080135"/>
            </a:xfrm>
            <a:custGeom>
              <a:avLst/>
              <a:gdLst/>
              <a:ahLst/>
              <a:cxnLst/>
              <a:rect l="l" t="t" r="r" b="b"/>
              <a:pathLst>
                <a:path h="1080135">
                  <a:moveTo>
                    <a:pt x="0" y="0"/>
                  </a:moveTo>
                  <a:lnTo>
                    <a:pt x="0" y="1080135"/>
                  </a:lnTo>
                </a:path>
              </a:pathLst>
            </a:custGeom>
            <a:ln w="254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4398" y="6449669"/>
            <a:ext cx="281368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pSp>
        <p:nvGrpSpPr>
          <p:cNvPr id="3" name="object 3"/>
          <p:cNvGrpSpPr/>
          <p:nvPr/>
        </p:nvGrpSpPr>
        <p:grpSpPr>
          <a:xfrm>
            <a:off x="1945211" y="1772840"/>
            <a:ext cx="1891030" cy="1109980"/>
            <a:chOff x="1945211" y="1772840"/>
            <a:chExt cx="1891030" cy="1109980"/>
          </a:xfrm>
        </p:grpSpPr>
        <p:pic>
          <p:nvPicPr>
            <p:cNvPr id="4" name="object 4"/>
            <p:cNvPicPr/>
            <p:nvPr/>
          </p:nvPicPr>
          <p:blipFill>
            <a:blip r:embed="rId2" cstate="print"/>
            <a:stretch>
              <a:fillRect/>
            </a:stretch>
          </p:blipFill>
          <p:spPr>
            <a:xfrm>
              <a:off x="1945211" y="1772840"/>
              <a:ext cx="583134" cy="684150"/>
            </a:xfrm>
            <a:prstGeom prst="rect">
              <a:avLst/>
            </a:prstGeom>
          </p:spPr>
        </p:pic>
        <p:pic>
          <p:nvPicPr>
            <p:cNvPr id="5" name="object 5"/>
            <p:cNvPicPr/>
            <p:nvPr/>
          </p:nvPicPr>
          <p:blipFill>
            <a:blip r:embed="rId3" cstate="print"/>
            <a:stretch>
              <a:fillRect/>
            </a:stretch>
          </p:blipFill>
          <p:spPr>
            <a:xfrm>
              <a:off x="3194949" y="1982518"/>
              <a:ext cx="641091" cy="750993"/>
            </a:xfrm>
            <a:prstGeom prst="rect">
              <a:avLst/>
            </a:prstGeom>
          </p:spPr>
        </p:pic>
        <p:pic>
          <p:nvPicPr>
            <p:cNvPr id="6" name="object 6"/>
            <p:cNvPicPr/>
            <p:nvPr/>
          </p:nvPicPr>
          <p:blipFill>
            <a:blip r:embed="rId4" cstate="print"/>
            <a:stretch>
              <a:fillRect/>
            </a:stretch>
          </p:blipFill>
          <p:spPr>
            <a:xfrm>
              <a:off x="2140458" y="2157044"/>
              <a:ext cx="725474" cy="725474"/>
            </a:xfrm>
            <a:prstGeom prst="rect">
              <a:avLst/>
            </a:prstGeom>
          </p:spPr>
        </p:pic>
        <p:sp>
          <p:nvSpPr>
            <p:cNvPr id="7" name="object 7"/>
            <p:cNvSpPr/>
            <p:nvPr/>
          </p:nvSpPr>
          <p:spPr>
            <a:xfrm>
              <a:off x="2892552" y="2268854"/>
              <a:ext cx="254635" cy="308610"/>
            </a:xfrm>
            <a:custGeom>
              <a:avLst/>
              <a:gdLst/>
              <a:ahLst/>
              <a:cxnLst/>
              <a:rect l="l" t="t" r="r" b="b"/>
              <a:pathLst>
                <a:path w="254635" h="308610">
                  <a:moveTo>
                    <a:pt x="127127" y="0"/>
                  </a:moveTo>
                  <a:lnTo>
                    <a:pt x="127127" y="77089"/>
                  </a:lnTo>
                  <a:lnTo>
                    <a:pt x="0" y="77089"/>
                  </a:lnTo>
                  <a:lnTo>
                    <a:pt x="0" y="231394"/>
                  </a:lnTo>
                  <a:lnTo>
                    <a:pt x="127127" y="231394"/>
                  </a:lnTo>
                  <a:lnTo>
                    <a:pt x="127127" y="308483"/>
                  </a:lnTo>
                  <a:lnTo>
                    <a:pt x="254254" y="154305"/>
                  </a:lnTo>
                  <a:lnTo>
                    <a:pt x="127127"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2892552" y="2268854"/>
              <a:ext cx="254635" cy="308610"/>
            </a:xfrm>
            <a:custGeom>
              <a:avLst/>
              <a:gdLst/>
              <a:ahLst/>
              <a:cxnLst/>
              <a:rect l="l" t="t" r="r" b="b"/>
              <a:pathLst>
                <a:path w="254635" h="308610">
                  <a:moveTo>
                    <a:pt x="0" y="77089"/>
                  </a:moveTo>
                  <a:lnTo>
                    <a:pt x="127127" y="77089"/>
                  </a:lnTo>
                  <a:lnTo>
                    <a:pt x="127127" y="0"/>
                  </a:lnTo>
                  <a:lnTo>
                    <a:pt x="254254" y="154305"/>
                  </a:lnTo>
                  <a:lnTo>
                    <a:pt x="127127" y="308483"/>
                  </a:lnTo>
                  <a:lnTo>
                    <a:pt x="127127" y="231394"/>
                  </a:lnTo>
                  <a:lnTo>
                    <a:pt x="0" y="231394"/>
                  </a:lnTo>
                  <a:lnTo>
                    <a:pt x="0" y="77089"/>
                  </a:lnTo>
                  <a:close/>
                </a:path>
              </a:pathLst>
            </a:custGeom>
            <a:ln w="25400">
              <a:solidFill>
                <a:srgbClr val="6C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 name="object 9"/>
          <p:cNvSpPr txBox="1"/>
          <p:nvPr/>
        </p:nvSpPr>
        <p:spPr>
          <a:xfrm>
            <a:off x="456387" y="1184275"/>
            <a:ext cx="3154680" cy="544830"/>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lang="en-US" sz="1700" b="1" i="0" u="none" strike="noStrike" kern="0" cap="none" spc="-55" normalizeH="0" baseline="0" noProof="0">
                <a:ln>
                  <a:noFill/>
                </a:ln>
                <a:solidFill>
                  <a:srgbClr val="54535A"/>
                </a:solidFill>
                <a:effectLst/>
                <a:uLnTx/>
                <a:uFillTx/>
                <a:latin typeface="Century Gothic" panose="020B0502020202020204" pitchFamily="34" charset="0"/>
                <a:cs typeface="Tahoma"/>
              </a:rPr>
              <a:t>Delivering</a:t>
            </a:r>
            <a:r>
              <a:rPr kumimoji="0" lang="en-US" sz="1700" b="1"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60" normalizeH="0" baseline="0" noProof="0">
                <a:ln>
                  <a:noFill/>
                </a:ln>
                <a:solidFill>
                  <a:srgbClr val="54535A"/>
                </a:solidFill>
                <a:effectLst/>
                <a:uLnTx/>
                <a:uFillTx/>
                <a:latin typeface="Century Gothic" panose="020B0502020202020204" pitchFamily="34" charset="0"/>
                <a:cs typeface="Tahoma"/>
              </a:rPr>
              <a:t>8x5</a:t>
            </a:r>
            <a:r>
              <a:rPr kumimoji="0" lang="en-US" sz="1700" b="1"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Global</a:t>
            </a:r>
            <a:r>
              <a:rPr kumimoji="0" lang="en-US" sz="1700" b="1" i="0" u="none" strike="noStrike" kern="0" cap="none" spc="500"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85" normalizeH="0" baseline="0" noProof="0">
                <a:ln>
                  <a:noFill/>
                </a:ln>
                <a:solidFill>
                  <a:srgbClr val="54535A"/>
                </a:solidFill>
                <a:effectLst/>
                <a:uLnTx/>
                <a:uFillTx/>
                <a:latin typeface="Century Gothic" panose="020B0502020202020204" pitchFamily="34" charset="0"/>
                <a:cs typeface="Tahoma"/>
              </a:rPr>
              <a:t>Support</a:t>
            </a:r>
            <a:r>
              <a:rPr kumimoji="0" lang="en-US" sz="1700" b="1"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40" normalizeH="0" baseline="0" noProof="0">
                <a:ln>
                  <a:noFill/>
                </a:ln>
                <a:solidFill>
                  <a:srgbClr val="54535A"/>
                </a:solidFill>
                <a:effectLst/>
                <a:uLnTx/>
                <a:uFillTx/>
                <a:latin typeface="Century Gothic" panose="020B0502020202020204" pitchFamily="34" charset="0"/>
                <a:cs typeface="Tahoma"/>
              </a:rPr>
              <a:t>with</a:t>
            </a:r>
            <a:r>
              <a:rPr kumimoji="0" lang="en-US" sz="1700" b="1"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0" normalizeH="0" baseline="0" noProof="0">
                <a:ln>
                  <a:noFill/>
                </a:ln>
                <a:solidFill>
                  <a:srgbClr val="54535A"/>
                </a:solidFill>
                <a:effectLst/>
                <a:uLnTx/>
                <a:uFillTx/>
                <a:latin typeface="Century Gothic" panose="020B0502020202020204" pitchFamily="34" charset="0"/>
                <a:cs typeface="Tahoma"/>
              </a:rPr>
              <a:t>Local</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 Excellence</a:t>
            </a:r>
            <a:endParaRPr kumimoji="0" lang="en-US" sz="17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grpSp>
        <p:nvGrpSpPr>
          <p:cNvPr id="10" name="object 10"/>
          <p:cNvGrpSpPr/>
          <p:nvPr/>
        </p:nvGrpSpPr>
        <p:grpSpPr>
          <a:xfrm>
            <a:off x="1601469" y="2309748"/>
            <a:ext cx="280035" cy="297815"/>
            <a:chOff x="1601469" y="2309748"/>
            <a:chExt cx="280035" cy="297815"/>
          </a:xfrm>
        </p:grpSpPr>
        <p:sp>
          <p:nvSpPr>
            <p:cNvPr id="11" name="object 11"/>
            <p:cNvSpPr/>
            <p:nvPr/>
          </p:nvSpPr>
          <p:spPr>
            <a:xfrm>
              <a:off x="1614169" y="2322448"/>
              <a:ext cx="254635" cy="272415"/>
            </a:xfrm>
            <a:custGeom>
              <a:avLst/>
              <a:gdLst/>
              <a:ahLst/>
              <a:cxnLst/>
              <a:rect l="l" t="t" r="r" b="b"/>
              <a:pathLst>
                <a:path w="254635" h="272414">
                  <a:moveTo>
                    <a:pt x="127381" y="0"/>
                  </a:moveTo>
                  <a:lnTo>
                    <a:pt x="127381" y="68072"/>
                  </a:lnTo>
                  <a:lnTo>
                    <a:pt x="0" y="68072"/>
                  </a:lnTo>
                  <a:lnTo>
                    <a:pt x="0" y="203962"/>
                  </a:lnTo>
                  <a:lnTo>
                    <a:pt x="127381" y="203962"/>
                  </a:lnTo>
                  <a:lnTo>
                    <a:pt x="127381" y="272034"/>
                  </a:lnTo>
                  <a:lnTo>
                    <a:pt x="254635" y="136016"/>
                  </a:lnTo>
                  <a:lnTo>
                    <a:pt x="127381"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p:nvPr/>
          </p:nvSpPr>
          <p:spPr>
            <a:xfrm>
              <a:off x="1614169" y="2322448"/>
              <a:ext cx="254635" cy="272415"/>
            </a:xfrm>
            <a:custGeom>
              <a:avLst/>
              <a:gdLst/>
              <a:ahLst/>
              <a:cxnLst/>
              <a:rect l="l" t="t" r="r" b="b"/>
              <a:pathLst>
                <a:path w="254635" h="272414">
                  <a:moveTo>
                    <a:pt x="0" y="68072"/>
                  </a:moveTo>
                  <a:lnTo>
                    <a:pt x="127381" y="68072"/>
                  </a:lnTo>
                  <a:lnTo>
                    <a:pt x="127381" y="0"/>
                  </a:lnTo>
                  <a:lnTo>
                    <a:pt x="254635" y="136016"/>
                  </a:lnTo>
                  <a:lnTo>
                    <a:pt x="127381" y="272034"/>
                  </a:lnTo>
                  <a:lnTo>
                    <a:pt x="127381" y="203962"/>
                  </a:lnTo>
                  <a:lnTo>
                    <a:pt x="0" y="203962"/>
                  </a:lnTo>
                  <a:lnTo>
                    <a:pt x="0" y="68072"/>
                  </a:lnTo>
                  <a:close/>
                </a:path>
              </a:pathLst>
            </a:custGeom>
            <a:ln w="25400">
              <a:solidFill>
                <a:srgbClr val="6C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13" name="object 13"/>
          <p:cNvGrpSpPr/>
          <p:nvPr/>
        </p:nvGrpSpPr>
        <p:grpSpPr>
          <a:xfrm>
            <a:off x="4010596" y="1911667"/>
            <a:ext cx="4791075" cy="4135754"/>
            <a:chOff x="4010596" y="1911667"/>
            <a:chExt cx="4791075" cy="4135754"/>
          </a:xfrm>
        </p:grpSpPr>
        <p:sp>
          <p:nvSpPr>
            <p:cNvPr id="14" name="object 14"/>
            <p:cNvSpPr/>
            <p:nvPr/>
          </p:nvSpPr>
          <p:spPr>
            <a:xfrm>
              <a:off x="4014089" y="1915159"/>
              <a:ext cx="1891664" cy="2126615"/>
            </a:xfrm>
            <a:custGeom>
              <a:avLst/>
              <a:gdLst/>
              <a:ahLst/>
              <a:cxnLst/>
              <a:rect l="l" t="t" r="r" b="b"/>
              <a:pathLst>
                <a:path w="1891664" h="2126615">
                  <a:moveTo>
                    <a:pt x="1891284" y="106807"/>
                  </a:moveTo>
                  <a:lnTo>
                    <a:pt x="1880641" y="65214"/>
                  </a:lnTo>
                  <a:lnTo>
                    <a:pt x="1851672" y="31267"/>
                  </a:lnTo>
                  <a:lnTo>
                    <a:pt x="1808708" y="8394"/>
                  </a:lnTo>
                  <a:lnTo>
                    <a:pt x="1756156" y="0"/>
                  </a:lnTo>
                  <a:lnTo>
                    <a:pt x="135001" y="0"/>
                  </a:lnTo>
                  <a:lnTo>
                    <a:pt x="82448" y="8394"/>
                  </a:lnTo>
                  <a:lnTo>
                    <a:pt x="39535" y="31267"/>
                  </a:lnTo>
                  <a:lnTo>
                    <a:pt x="10604" y="65214"/>
                  </a:lnTo>
                  <a:lnTo>
                    <a:pt x="0" y="106807"/>
                  </a:lnTo>
                  <a:lnTo>
                    <a:pt x="0" y="1744726"/>
                  </a:lnTo>
                  <a:lnTo>
                    <a:pt x="22263" y="1803488"/>
                  </a:lnTo>
                  <a:lnTo>
                    <a:pt x="81788" y="1842897"/>
                  </a:lnTo>
                  <a:lnTo>
                    <a:pt x="892429" y="2117344"/>
                  </a:lnTo>
                  <a:lnTo>
                    <a:pt x="945591" y="2126018"/>
                  </a:lnTo>
                  <a:lnTo>
                    <a:pt x="972629" y="2123846"/>
                  </a:lnTo>
                  <a:lnTo>
                    <a:pt x="1809369" y="1842897"/>
                  </a:lnTo>
                  <a:lnTo>
                    <a:pt x="1868944" y="1803488"/>
                  </a:lnTo>
                  <a:lnTo>
                    <a:pt x="1891284" y="1744726"/>
                  </a:lnTo>
                  <a:lnTo>
                    <a:pt x="1891284" y="106807"/>
                  </a:lnTo>
                  <a:close/>
                </a:path>
              </a:pathLst>
            </a:custGeom>
            <a:solidFill>
              <a:srgbClr val="BE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15"/>
            <p:cNvSpPr/>
            <p:nvPr/>
          </p:nvSpPr>
          <p:spPr>
            <a:xfrm>
              <a:off x="4014089" y="1915159"/>
              <a:ext cx="1891664" cy="2126615"/>
            </a:xfrm>
            <a:custGeom>
              <a:avLst/>
              <a:gdLst/>
              <a:ahLst/>
              <a:cxnLst/>
              <a:rect l="l" t="t" r="r" b="b"/>
              <a:pathLst>
                <a:path w="1891664" h="2126615">
                  <a:moveTo>
                    <a:pt x="0" y="106806"/>
                  </a:moveTo>
                  <a:lnTo>
                    <a:pt x="10610" y="65204"/>
                  </a:lnTo>
                  <a:lnTo>
                    <a:pt x="39544" y="31257"/>
                  </a:lnTo>
                  <a:lnTo>
                    <a:pt x="82456" y="8383"/>
                  </a:lnTo>
                  <a:lnTo>
                    <a:pt x="135000" y="0"/>
                  </a:lnTo>
                  <a:lnTo>
                    <a:pt x="1756156" y="0"/>
                  </a:lnTo>
                  <a:lnTo>
                    <a:pt x="1808720" y="8383"/>
                  </a:lnTo>
                  <a:lnTo>
                    <a:pt x="1851675" y="31257"/>
                  </a:lnTo>
                  <a:lnTo>
                    <a:pt x="1880653" y="65204"/>
                  </a:lnTo>
                  <a:lnTo>
                    <a:pt x="1891284" y="106806"/>
                  </a:lnTo>
                </a:path>
                <a:path w="1891664" h="2126615">
                  <a:moveTo>
                    <a:pt x="1891284" y="1708277"/>
                  </a:moveTo>
                  <a:lnTo>
                    <a:pt x="1891284" y="106806"/>
                  </a:lnTo>
                </a:path>
                <a:path w="1891664" h="2126615">
                  <a:moveTo>
                    <a:pt x="0" y="106806"/>
                  </a:moveTo>
                  <a:lnTo>
                    <a:pt x="0" y="1708277"/>
                  </a:lnTo>
                </a:path>
                <a:path w="1891664" h="2126615">
                  <a:moveTo>
                    <a:pt x="1891284" y="1708277"/>
                  </a:moveTo>
                  <a:lnTo>
                    <a:pt x="1891284" y="1744726"/>
                  </a:lnTo>
                  <a:lnTo>
                    <a:pt x="1885467" y="1775692"/>
                  </a:lnTo>
                  <a:lnTo>
                    <a:pt x="1843117" y="1826432"/>
                  </a:lnTo>
                  <a:lnTo>
                    <a:pt x="998855" y="2117344"/>
                  </a:lnTo>
                  <a:lnTo>
                    <a:pt x="945594" y="2126011"/>
                  </a:lnTo>
                  <a:lnTo>
                    <a:pt x="918577" y="2123844"/>
                  </a:lnTo>
                  <a:lnTo>
                    <a:pt x="81787" y="1842896"/>
                  </a:lnTo>
                  <a:lnTo>
                    <a:pt x="22272" y="1803479"/>
                  </a:lnTo>
                  <a:lnTo>
                    <a:pt x="0" y="1744726"/>
                  </a:lnTo>
                  <a:lnTo>
                    <a:pt x="0" y="1708277"/>
                  </a:lnTo>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p:cNvSpPr/>
            <p:nvPr/>
          </p:nvSpPr>
          <p:spPr>
            <a:xfrm>
              <a:off x="6118860" y="1915159"/>
              <a:ext cx="1857375" cy="2126615"/>
            </a:xfrm>
            <a:custGeom>
              <a:avLst/>
              <a:gdLst/>
              <a:ahLst/>
              <a:cxnLst/>
              <a:rect l="l" t="t" r="r" b="b"/>
              <a:pathLst>
                <a:path w="1857375" h="2126615">
                  <a:moveTo>
                    <a:pt x="1856994" y="106807"/>
                  </a:moveTo>
                  <a:lnTo>
                    <a:pt x="1846580" y="65214"/>
                  </a:lnTo>
                  <a:lnTo>
                    <a:pt x="1818170" y="31267"/>
                  </a:lnTo>
                  <a:lnTo>
                    <a:pt x="1776031" y="8394"/>
                  </a:lnTo>
                  <a:lnTo>
                    <a:pt x="1724406" y="0"/>
                  </a:lnTo>
                  <a:lnTo>
                    <a:pt x="132588" y="0"/>
                  </a:lnTo>
                  <a:lnTo>
                    <a:pt x="81000" y="8394"/>
                  </a:lnTo>
                  <a:lnTo>
                    <a:pt x="38862" y="31267"/>
                  </a:lnTo>
                  <a:lnTo>
                    <a:pt x="10426" y="65214"/>
                  </a:lnTo>
                  <a:lnTo>
                    <a:pt x="0" y="106807"/>
                  </a:lnTo>
                  <a:lnTo>
                    <a:pt x="0" y="1744726"/>
                  </a:lnTo>
                  <a:lnTo>
                    <a:pt x="21907" y="1803488"/>
                  </a:lnTo>
                  <a:lnTo>
                    <a:pt x="80391" y="1842897"/>
                  </a:lnTo>
                  <a:lnTo>
                    <a:pt x="876300" y="2117344"/>
                  </a:lnTo>
                  <a:lnTo>
                    <a:pt x="928497" y="2126018"/>
                  </a:lnTo>
                  <a:lnTo>
                    <a:pt x="955014" y="2123846"/>
                  </a:lnTo>
                  <a:lnTo>
                    <a:pt x="1776603" y="1842897"/>
                  </a:lnTo>
                  <a:lnTo>
                    <a:pt x="1835086" y="1803488"/>
                  </a:lnTo>
                  <a:lnTo>
                    <a:pt x="1856994" y="1744726"/>
                  </a:lnTo>
                  <a:lnTo>
                    <a:pt x="1856994" y="106807"/>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p:nvPr/>
          </p:nvSpPr>
          <p:spPr>
            <a:xfrm>
              <a:off x="6118860" y="1915159"/>
              <a:ext cx="1857375" cy="2126615"/>
            </a:xfrm>
            <a:custGeom>
              <a:avLst/>
              <a:gdLst/>
              <a:ahLst/>
              <a:cxnLst/>
              <a:rect l="l" t="t" r="r" b="b"/>
              <a:pathLst>
                <a:path w="1857375" h="2126615">
                  <a:moveTo>
                    <a:pt x="0" y="106806"/>
                  </a:moveTo>
                  <a:lnTo>
                    <a:pt x="10429" y="65204"/>
                  </a:lnTo>
                  <a:lnTo>
                    <a:pt x="38862" y="31257"/>
                  </a:lnTo>
                  <a:lnTo>
                    <a:pt x="81010" y="8383"/>
                  </a:lnTo>
                  <a:lnTo>
                    <a:pt x="132587" y="0"/>
                  </a:lnTo>
                  <a:lnTo>
                    <a:pt x="1724406" y="0"/>
                  </a:lnTo>
                  <a:lnTo>
                    <a:pt x="1776037" y="8383"/>
                  </a:lnTo>
                  <a:lnTo>
                    <a:pt x="1818179" y="31257"/>
                  </a:lnTo>
                  <a:lnTo>
                    <a:pt x="1846581" y="65204"/>
                  </a:lnTo>
                  <a:lnTo>
                    <a:pt x="1856993" y="106806"/>
                  </a:lnTo>
                </a:path>
                <a:path w="1857375" h="2126615">
                  <a:moveTo>
                    <a:pt x="1856993" y="1708277"/>
                  </a:moveTo>
                  <a:lnTo>
                    <a:pt x="1856993" y="106806"/>
                  </a:lnTo>
                </a:path>
                <a:path w="1857375" h="2126615">
                  <a:moveTo>
                    <a:pt x="0" y="106806"/>
                  </a:moveTo>
                  <a:lnTo>
                    <a:pt x="0" y="1708277"/>
                  </a:lnTo>
                </a:path>
                <a:path w="1857375" h="2126615">
                  <a:moveTo>
                    <a:pt x="1856993" y="1708277"/>
                  </a:moveTo>
                  <a:lnTo>
                    <a:pt x="1856993" y="1744726"/>
                  </a:lnTo>
                  <a:lnTo>
                    <a:pt x="1851290" y="1775692"/>
                  </a:lnTo>
                  <a:lnTo>
                    <a:pt x="1809738" y="1826432"/>
                  </a:lnTo>
                  <a:lnTo>
                    <a:pt x="980693" y="2117344"/>
                  </a:lnTo>
                  <a:lnTo>
                    <a:pt x="928496" y="2126011"/>
                  </a:lnTo>
                  <a:lnTo>
                    <a:pt x="901969" y="2123844"/>
                  </a:lnTo>
                  <a:lnTo>
                    <a:pt x="80390" y="1842896"/>
                  </a:lnTo>
                  <a:lnTo>
                    <a:pt x="21907" y="1803479"/>
                  </a:lnTo>
                  <a:lnTo>
                    <a:pt x="0" y="1744726"/>
                  </a:lnTo>
                  <a:lnTo>
                    <a:pt x="0" y="1708277"/>
                  </a:lnTo>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p:cNvSpPr/>
            <p:nvPr/>
          </p:nvSpPr>
          <p:spPr>
            <a:xfrm>
              <a:off x="4868164" y="3917137"/>
              <a:ext cx="1891664" cy="2126615"/>
            </a:xfrm>
            <a:custGeom>
              <a:avLst/>
              <a:gdLst/>
              <a:ahLst/>
              <a:cxnLst/>
              <a:rect l="l" t="t" r="r" b="b"/>
              <a:pathLst>
                <a:path w="1891665" h="2126615">
                  <a:moveTo>
                    <a:pt x="1891284" y="418134"/>
                  </a:moveTo>
                  <a:lnTo>
                    <a:pt x="0" y="418134"/>
                  </a:lnTo>
                  <a:lnTo>
                    <a:pt x="0" y="2019731"/>
                  </a:lnTo>
                  <a:lnTo>
                    <a:pt x="10629" y="2061298"/>
                  </a:lnTo>
                  <a:lnTo>
                    <a:pt x="39598" y="2095233"/>
                  </a:lnTo>
                  <a:lnTo>
                    <a:pt x="82562" y="2118118"/>
                  </a:lnTo>
                  <a:lnTo>
                    <a:pt x="135128" y="2126500"/>
                  </a:lnTo>
                  <a:lnTo>
                    <a:pt x="1756283" y="2126500"/>
                  </a:lnTo>
                  <a:lnTo>
                    <a:pt x="1808822" y="2118118"/>
                  </a:lnTo>
                  <a:lnTo>
                    <a:pt x="1851736" y="2095233"/>
                  </a:lnTo>
                  <a:lnTo>
                    <a:pt x="1880666" y="2061298"/>
                  </a:lnTo>
                  <a:lnTo>
                    <a:pt x="1891284" y="2019731"/>
                  </a:lnTo>
                  <a:lnTo>
                    <a:pt x="1891284" y="418134"/>
                  </a:lnTo>
                  <a:close/>
                </a:path>
                <a:path w="1891665" h="2126615">
                  <a:moveTo>
                    <a:pt x="1891284" y="381304"/>
                  </a:moveTo>
                  <a:lnTo>
                    <a:pt x="1869008" y="322554"/>
                  </a:lnTo>
                  <a:lnTo>
                    <a:pt x="1809496" y="283133"/>
                  </a:lnTo>
                  <a:lnTo>
                    <a:pt x="998855" y="8559"/>
                  </a:lnTo>
                  <a:lnTo>
                    <a:pt x="945680" y="0"/>
                  </a:lnTo>
                  <a:lnTo>
                    <a:pt x="918641" y="2133"/>
                  </a:lnTo>
                  <a:lnTo>
                    <a:pt x="81915" y="283133"/>
                  </a:lnTo>
                  <a:lnTo>
                    <a:pt x="22326" y="322554"/>
                  </a:lnTo>
                  <a:lnTo>
                    <a:pt x="0" y="381304"/>
                  </a:lnTo>
                  <a:lnTo>
                    <a:pt x="0" y="417626"/>
                  </a:lnTo>
                  <a:lnTo>
                    <a:pt x="1891284" y="417626"/>
                  </a:lnTo>
                  <a:lnTo>
                    <a:pt x="1891284" y="381304"/>
                  </a:lnTo>
                  <a:close/>
                </a:path>
              </a:pathLst>
            </a:custGeom>
            <a:solidFill>
              <a:srgbClr val="FF666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9" name="object 19"/>
            <p:cNvSpPr/>
            <p:nvPr/>
          </p:nvSpPr>
          <p:spPr>
            <a:xfrm>
              <a:off x="4868164" y="3917124"/>
              <a:ext cx="1891664" cy="2126615"/>
            </a:xfrm>
            <a:custGeom>
              <a:avLst/>
              <a:gdLst/>
              <a:ahLst/>
              <a:cxnLst/>
              <a:rect l="l" t="t" r="r" b="b"/>
              <a:pathLst>
                <a:path w="1891665" h="2126615">
                  <a:moveTo>
                    <a:pt x="1891284" y="2019744"/>
                  </a:moveTo>
                  <a:lnTo>
                    <a:pt x="1880673" y="2061303"/>
                  </a:lnTo>
                  <a:lnTo>
                    <a:pt x="1851739" y="2095241"/>
                  </a:lnTo>
                  <a:lnTo>
                    <a:pt x="1808827" y="2118122"/>
                  </a:lnTo>
                  <a:lnTo>
                    <a:pt x="1756283" y="2126513"/>
                  </a:lnTo>
                  <a:lnTo>
                    <a:pt x="135127" y="2126513"/>
                  </a:lnTo>
                  <a:lnTo>
                    <a:pt x="82563" y="2118122"/>
                  </a:lnTo>
                  <a:lnTo>
                    <a:pt x="39608" y="2095241"/>
                  </a:lnTo>
                  <a:lnTo>
                    <a:pt x="10630" y="2061303"/>
                  </a:lnTo>
                  <a:lnTo>
                    <a:pt x="0" y="2019744"/>
                  </a:lnTo>
                </a:path>
                <a:path w="1891665" h="2126615">
                  <a:moveTo>
                    <a:pt x="1891284" y="2019744"/>
                  </a:moveTo>
                  <a:lnTo>
                    <a:pt x="1891284" y="418147"/>
                  </a:lnTo>
                </a:path>
                <a:path w="1891665" h="2126615">
                  <a:moveTo>
                    <a:pt x="0" y="2019744"/>
                  </a:moveTo>
                  <a:lnTo>
                    <a:pt x="0" y="418147"/>
                  </a:lnTo>
                </a:path>
                <a:path w="1891665" h="2126615">
                  <a:moveTo>
                    <a:pt x="0" y="417639"/>
                  </a:moveTo>
                  <a:lnTo>
                    <a:pt x="0" y="381317"/>
                  </a:lnTo>
                  <a:lnTo>
                    <a:pt x="5816" y="350351"/>
                  </a:lnTo>
                  <a:lnTo>
                    <a:pt x="48166" y="299610"/>
                  </a:lnTo>
                  <a:lnTo>
                    <a:pt x="892428" y="8572"/>
                  </a:lnTo>
                  <a:lnTo>
                    <a:pt x="945689" y="0"/>
                  </a:lnTo>
                  <a:lnTo>
                    <a:pt x="972706" y="2143"/>
                  </a:lnTo>
                  <a:lnTo>
                    <a:pt x="1809495" y="283146"/>
                  </a:lnTo>
                  <a:lnTo>
                    <a:pt x="1869011" y="322564"/>
                  </a:lnTo>
                  <a:lnTo>
                    <a:pt x="1891284" y="381317"/>
                  </a:lnTo>
                  <a:lnTo>
                    <a:pt x="1891284" y="417639"/>
                  </a:lnTo>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p:cNvSpPr/>
            <p:nvPr/>
          </p:nvSpPr>
          <p:spPr>
            <a:xfrm>
              <a:off x="6941058" y="3917137"/>
              <a:ext cx="1857375" cy="2126615"/>
            </a:xfrm>
            <a:custGeom>
              <a:avLst/>
              <a:gdLst/>
              <a:ahLst/>
              <a:cxnLst/>
              <a:rect l="l" t="t" r="r" b="b"/>
              <a:pathLst>
                <a:path w="1857375" h="2126615">
                  <a:moveTo>
                    <a:pt x="1856994" y="418134"/>
                  </a:moveTo>
                  <a:lnTo>
                    <a:pt x="0" y="418134"/>
                  </a:lnTo>
                  <a:lnTo>
                    <a:pt x="0" y="2019731"/>
                  </a:lnTo>
                  <a:lnTo>
                    <a:pt x="10401" y="2061298"/>
                  </a:lnTo>
                  <a:lnTo>
                    <a:pt x="38811" y="2095246"/>
                  </a:lnTo>
                  <a:lnTo>
                    <a:pt x="80949" y="2118131"/>
                  </a:lnTo>
                  <a:lnTo>
                    <a:pt x="132588" y="2126513"/>
                  </a:lnTo>
                  <a:lnTo>
                    <a:pt x="1724406" y="2126513"/>
                  </a:lnTo>
                  <a:lnTo>
                    <a:pt x="1775980" y="2118131"/>
                  </a:lnTo>
                  <a:lnTo>
                    <a:pt x="1818132" y="2095246"/>
                  </a:lnTo>
                  <a:lnTo>
                    <a:pt x="1846554" y="2061298"/>
                  </a:lnTo>
                  <a:lnTo>
                    <a:pt x="1856994" y="2019731"/>
                  </a:lnTo>
                  <a:lnTo>
                    <a:pt x="1856994" y="418134"/>
                  </a:lnTo>
                  <a:close/>
                </a:path>
                <a:path w="1857375" h="2126615">
                  <a:moveTo>
                    <a:pt x="1856994" y="381304"/>
                  </a:moveTo>
                  <a:lnTo>
                    <a:pt x="1835086" y="322554"/>
                  </a:lnTo>
                  <a:lnTo>
                    <a:pt x="1776603" y="283133"/>
                  </a:lnTo>
                  <a:lnTo>
                    <a:pt x="980694" y="8559"/>
                  </a:lnTo>
                  <a:lnTo>
                    <a:pt x="928471" y="0"/>
                  </a:lnTo>
                  <a:lnTo>
                    <a:pt x="901915" y="2133"/>
                  </a:lnTo>
                  <a:lnTo>
                    <a:pt x="80391" y="283133"/>
                  </a:lnTo>
                  <a:lnTo>
                    <a:pt x="21907" y="322554"/>
                  </a:lnTo>
                  <a:lnTo>
                    <a:pt x="0" y="381304"/>
                  </a:lnTo>
                  <a:lnTo>
                    <a:pt x="0" y="417626"/>
                  </a:lnTo>
                  <a:lnTo>
                    <a:pt x="1856994" y="417626"/>
                  </a:lnTo>
                  <a:lnTo>
                    <a:pt x="1856994" y="381304"/>
                  </a:lnTo>
                  <a:close/>
                </a:path>
              </a:pathLst>
            </a:custGeom>
            <a:solidFill>
              <a:srgbClr val="FF99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1"/>
            <p:cNvSpPr/>
            <p:nvPr/>
          </p:nvSpPr>
          <p:spPr>
            <a:xfrm>
              <a:off x="6941058" y="3917124"/>
              <a:ext cx="1857375" cy="2126615"/>
            </a:xfrm>
            <a:custGeom>
              <a:avLst/>
              <a:gdLst/>
              <a:ahLst/>
              <a:cxnLst/>
              <a:rect l="l" t="t" r="r" b="b"/>
              <a:pathLst>
                <a:path w="1857375" h="2126615">
                  <a:moveTo>
                    <a:pt x="1856994" y="2019744"/>
                  </a:moveTo>
                  <a:lnTo>
                    <a:pt x="1846564" y="2061305"/>
                  </a:lnTo>
                  <a:lnTo>
                    <a:pt x="1818132" y="2095247"/>
                  </a:lnTo>
                  <a:lnTo>
                    <a:pt x="1775983" y="2118133"/>
                  </a:lnTo>
                  <a:lnTo>
                    <a:pt x="1724406" y="2126526"/>
                  </a:lnTo>
                  <a:lnTo>
                    <a:pt x="132588" y="2126526"/>
                  </a:lnTo>
                  <a:lnTo>
                    <a:pt x="80956" y="2118133"/>
                  </a:lnTo>
                  <a:lnTo>
                    <a:pt x="38814" y="2095247"/>
                  </a:lnTo>
                  <a:lnTo>
                    <a:pt x="10412" y="2061305"/>
                  </a:lnTo>
                  <a:lnTo>
                    <a:pt x="0" y="2019744"/>
                  </a:lnTo>
                </a:path>
                <a:path w="1857375" h="2126615">
                  <a:moveTo>
                    <a:pt x="1856994" y="2019744"/>
                  </a:moveTo>
                  <a:lnTo>
                    <a:pt x="1856994" y="418147"/>
                  </a:lnTo>
                </a:path>
                <a:path w="1857375" h="2126615">
                  <a:moveTo>
                    <a:pt x="0" y="2019744"/>
                  </a:moveTo>
                  <a:lnTo>
                    <a:pt x="0" y="418147"/>
                  </a:lnTo>
                </a:path>
                <a:path w="1857375" h="2126615">
                  <a:moveTo>
                    <a:pt x="0" y="417639"/>
                  </a:moveTo>
                  <a:lnTo>
                    <a:pt x="0" y="381317"/>
                  </a:lnTo>
                  <a:lnTo>
                    <a:pt x="5703" y="350351"/>
                  </a:lnTo>
                  <a:lnTo>
                    <a:pt x="47255" y="299610"/>
                  </a:lnTo>
                  <a:lnTo>
                    <a:pt x="876173" y="8572"/>
                  </a:lnTo>
                  <a:lnTo>
                    <a:pt x="928481" y="0"/>
                  </a:lnTo>
                  <a:lnTo>
                    <a:pt x="955022" y="2143"/>
                  </a:lnTo>
                  <a:lnTo>
                    <a:pt x="1776602" y="283146"/>
                  </a:lnTo>
                  <a:lnTo>
                    <a:pt x="1835086" y="322564"/>
                  </a:lnTo>
                  <a:lnTo>
                    <a:pt x="1856994" y="381317"/>
                  </a:lnTo>
                  <a:lnTo>
                    <a:pt x="1856994" y="417639"/>
                  </a:lnTo>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2" name="object 22"/>
          <p:cNvSpPr txBox="1"/>
          <p:nvPr/>
        </p:nvSpPr>
        <p:spPr>
          <a:xfrm>
            <a:off x="4495291" y="1348866"/>
            <a:ext cx="2596515" cy="28511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1700" b="1" i="0" u="none" strike="noStrike" kern="0" cap="none" spc="-85" normalizeH="0" baseline="0" noProof="0">
                <a:ln>
                  <a:noFill/>
                </a:ln>
                <a:solidFill>
                  <a:srgbClr val="474747"/>
                </a:solidFill>
                <a:effectLst/>
                <a:uLnTx/>
                <a:uFillTx/>
                <a:latin typeface="Century Gothic" panose="020B0502020202020204" pitchFamily="34" charset="0"/>
                <a:cs typeface="Tahoma"/>
              </a:rPr>
              <a:t>Support</a:t>
            </a:r>
            <a:r>
              <a:rPr kumimoji="0" lang="en-US" sz="1700" b="1" i="0" u="none" strike="noStrike" kern="0" cap="none" spc="-20" normalizeH="0" baseline="0" noProof="0">
                <a:ln>
                  <a:noFill/>
                </a:ln>
                <a:solidFill>
                  <a:srgbClr val="474747"/>
                </a:solidFill>
                <a:effectLst/>
                <a:uLnTx/>
                <a:uFillTx/>
                <a:latin typeface="Century Gothic" panose="020B0502020202020204" pitchFamily="34" charset="0"/>
                <a:cs typeface="Tahoma"/>
              </a:rPr>
              <a:t> </a:t>
            </a:r>
            <a:r>
              <a:rPr kumimoji="0" lang="en-US" sz="1700" b="1" i="0" u="none" strike="noStrike" kern="0" cap="none" spc="-30" normalizeH="0" baseline="0" noProof="0">
                <a:ln>
                  <a:noFill/>
                </a:ln>
                <a:solidFill>
                  <a:srgbClr val="474747"/>
                </a:solidFill>
                <a:effectLst/>
                <a:uLnTx/>
                <a:uFillTx/>
                <a:latin typeface="Century Gothic" panose="020B0502020202020204" pitchFamily="34" charset="0"/>
                <a:cs typeface="Tahoma"/>
              </a:rPr>
              <a:t>Service</a:t>
            </a:r>
            <a:r>
              <a:rPr kumimoji="0" lang="en-US" sz="1700" b="1" i="0" u="none" strike="noStrike" kern="0" cap="none" spc="-40" normalizeH="0" baseline="0" noProof="0">
                <a:ln>
                  <a:noFill/>
                </a:ln>
                <a:solidFill>
                  <a:srgbClr val="474747"/>
                </a:solidFill>
                <a:effectLst/>
                <a:uLnTx/>
                <a:uFillTx/>
                <a:latin typeface="Century Gothic" panose="020B0502020202020204" pitchFamily="34" charset="0"/>
                <a:cs typeface="Tahoma"/>
              </a:rPr>
              <a:t> </a:t>
            </a:r>
            <a:r>
              <a:rPr kumimoji="0" lang="en-US" sz="1700" b="1" i="0" u="none" strike="noStrike" kern="0" cap="none" spc="-50" normalizeH="0" baseline="0" noProof="0">
                <a:ln>
                  <a:noFill/>
                </a:ln>
                <a:solidFill>
                  <a:srgbClr val="474747"/>
                </a:solidFill>
                <a:effectLst/>
                <a:uLnTx/>
                <a:uFillTx/>
                <a:latin typeface="Century Gothic" panose="020B0502020202020204" pitchFamily="34" charset="0"/>
                <a:cs typeface="Tahoma"/>
              </a:rPr>
              <a:t>Features</a:t>
            </a:r>
            <a:endParaRPr kumimoji="0" lang="en-US" sz="17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23" name="object 23"/>
          <p:cNvSpPr txBox="1"/>
          <p:nvPr/>
        </p:nvSpPr>
        <p:spPr>
          <a:xfrm>
            <a:off x="6281165" y="2068448"/>
            <a:ext cx="1591310"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45" normalizeH="0" baseline="0" noProof="0">
                <a:ln>
                  <a:noFill/>
                </a:ln>
                <a:solidFill>
                  <a:srgbClr val="FFFFFF"/>
                </a:solidFill>
                <a:effectLst/>
                <a:uLnTx/>
                <a:uFillTx/>
                <a:latin typeface="Tahoma"/>
                <a:cs typeface="Tahoma"/>
              </a:rPr>
              <a:t>Cultural</a:t>
            </a:r>
            <a:r>
              <a:rPr kumimoji="0" sz="1300" b="1" i="0" u="none" strike="noStrike" kern="0" cap="none" spc="-35" normalizeH="0" baseline="0" noProof="0">
                <a:ln>
                  <a:noFill/>
                </a:ln>
                <a:solidFill>
                  <a:srgbClr val="FFFFFF"/>
                </a:solidFill>
                <a:effectLst/>
                <a:uLnTx/>
                <a:uFillTx/>
                <a:latin typeface="Tahoma"/>
                <a:cs typeface="Tahoma"/>
              </a:rPr>
              <a:t> </a:t>
            </a:r>
            <a:r>
              <a:rPr kumimoji="0" sz="1300" b="1" i="0" u="none" strike="noStrike" kern="0" cap="none" spc="-70" normalizeH="0" baseline="0" noProof="0">
                <a:ln>
                  <a:noFill/>
                </a:ln>
                <a:solidFill>
                  <a:srgbClr val="FFFFFF"/>
                </a:solidFill>
                <a:effectLst/>
                <a:uLnTx/>
                <a:uFillTx/>
                <a:latin typeface="Tahoma"/>
                <a:cs typeface="Tahoma"/>
              </a:rPr>
              <a:t>Immersions</a:t>
            </a:r>
            <a:endParaRPr kumimoji="0" sz="1300" b="0" i="0" u="none" strike="noStrike" kern="0" cap="none" spc="0" normalizeH="0" baseline="0" noProof="0">
              <a:ln>
                <a:noFill/>
              </a:ln>
              <a:solidFill>
                <a:sysClr val="windowText" lastClr="000000"/>
              </a:solidFill>
              <a:effectLst/>
              <a:uLnTx/>
              <a:uFillTx/>
              <a:latin typeface="Tahoma"/>
              <a:cs typeface="Tahoma"/>
            </a:endParaRPr>
          </a:p>
        </p:txBody>
      </p:sp>
      <p:sp>
        <p:nvSpPr>
          <p:cNvPr id="24" name="object 24"/>
          <p:cNvSpPr txBox="1"/>
          <p:nvPr/>
        </p:nvSpPr>
        <p:spPr>
          <a:xfrm>
            <a:off x="4117975" y="2006458"/>
            <a:ext cx="1754505" cy="1344930"/>
          </a:xfrm>
          <a:prstGeom prst="rect">
            <a:avLst/>
          </a:prstGeom>
        </p:spPr>
        <p:txBody>
          <a:bodyPr vert="horz" wrap="square" lIns="0" tIns="74295" rIns="0" bIns="0" rtlCol="0">
            <a:spAutoFit/>
          </a:bodyPr>
          <a:lstStyle/>
          <a:p>
            <a:pPr marL="260350" marR="0" lvl="0" indent="0" defTabSz="914400" eaLnBrk="1" fontAlgn="auto" latinLnBrk="0" hangingPunct="1">
              <a:lnSpc>
                <a:spcPct val="100000"/>
              </a:lnSpc>
              <a:spcBef>
                <a:spcPts val="585"/>
              </a:spcBef>
              <a:spcAft>
                <a:spcPts val="0"/>
              </a:spcAft>
              <a:buClrTx/>
              <a:buSzTx/>
              <a:buFontTx/>
              <a:buNone/>
              <a:tabLst/>
              <a:defRPr/>
            </a:pPr>
            <a:r>
              <a:rPr kumimoji="0" sz="1300" b="1" i="0" u="none" strike="noStrike" kern="0" cap="none" spc="-65" normalizeH="0" baseline="0" noProof="0">
                <a:ln>
                  <a:noFill/>
                </a:ln>
                <a:solidFill>
                  <a:srgbClr val="FFFFFF"/>
                </a:solidFill>
                <a:effectLst/>
                <a:uLnTx/>
                <a:uFillTx/>
                <a:latin typeface="Tahoma"/>
                <a:cs typeface="Tahoma"/>
              </a:rPr>
              <a:t>Support</a:t>
            </a:r>
            <a:r>
              <a:rPr kumimoji="0" sz="1300" b="1" i="0" u="none" strike="noStrike" kern="0" cap="none" spc="15" normalizeH="0" baseline="0" noProof="0">
                <a:ln>
                  <a:noFill/>
                </a:ln>
                <a:solidFill>
                  <a:srgbClr val="FFFFFF"/>
                </a:solidFill>
                <a:effectLst/>
                <a:uLnTx/>
                <a:uFillTx/>
                <a:latin typeface="Tahoma"/>
                <a:cs typeface="Tahoma"/>
              </a:rPr>
              <a:t> </a:t>
            </a:r>
            <a:r>
              <a:rPr kumimoji="0" sz="1300" b="1" i="0" u="none" strike="noStrike" kern="0" cap="none" spc="-10" normalizeH="0" baseline="0" noProof="0">
                <a:ln>
                  <a:noFill/>
                </a:ln>
                <a:solidFill>
                  <a:srgbClr val="FFFFFF"/>
                </a:solidFill>
                <a:effectLst/>
                <a:uLnTx/>
                <a:uFillTx/>
                <a:latin typeface="Tahoma"/>
                <a:cs typeface="Tahoma"/>
              </a:rPr>
              <a:t>Model</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12700" marR="5080" lvl="0" indent="321310" defTabSz="914400" eaLnBrk="1" fontAlgn="auto" latinLnBrk="0" hangingPunct="1">
              <a:lnSpc>
                <a:spcPct val="100000"/>
              </a:lnSpc>
              <a:spcBef>
                <a:spcPts val="415"/>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latin typeface="Tahoma"/>
                <a:cs typeface="Tahoma"/>
              </a:rPr>
              <a:t>8x5</a:t>
            </a:r>
            <a:r>
              <a:rPr kumimoji="0" sz="1100" b="0" i="0" u="none" strike="noStrike" kern="0" cap="none" spc="0" normalizeH="0" baseline="0" noProof="0">
                <a:ln>
                  <a:noFill/>
                </a:ln>
                <a:solidFill>
                  <a:srgbClr val="FFFFFF"/>
                </a:solidFill>
                <a:effectLst/>
                <a:uLnTx/>
                <a:uFillTx/>
                <a:latin typeface="Tahoma"/>
                <a:cs typeface="Tahoma"/>
              </a:rPr>
              <a:t> </a:t>
            </a:r>
            <a:r>
              <a:rPr kumimoji="0" sz="1100" b="0" i="0" u="none" strike="noStrike" kern="0" cap="none" spc="45" normalizeH="0" baseline="0" noProof="0">
                <a:ln>
                  <a:noFill/>
                </a:ln>
                <a:solidFill>
                  <a:srgbClr val="FFFFFF"/>
                </a:solidFill>
                <a:effectLst/>
                <a:uLnTx/>
                <a:uFillTx/>
                <a:latin typeface="Tahoma"/>
                <a:cs typeface="Tahoma"/>
              </a:rPr>
              <a:t>support</a:t>
            </a:r>
            <a:r>
              <a:rPr kumimoji="0" sz="1100" b="0" i="0" u="none" strike="noStrike" kern="0" cap="none" spc="-40" normalizeH="0" baseline="0" noProof="0">
                <a:ln>
                  <a:noFill/>
                </a:ln>
                <a:solidFill>
                  <a:srgbClr val="FFFFFF"/>
                </a:solidFill>
                <a:effectLst/>
                <a:uLnTx/>
                <a:uFillTx/>
                <a:latin typeface="Tahoma"/>
                <a:cs typeface="Tahoma"/>
              </a:rPr>
              <a:t> </a:t>
            </a:r>
            <a:r>
              <a:rPr kumimoji="0" sz="1100" b="0" i="0" u="none" strike="noStrike" kern="0" cap="none" spc="45" normalizeH="0" baseline="0" noProof="0">
                <a:ln>
                  <a:noFill/>
                </a:ln>
                <a:solidFill>
                  <a:srgbClr val="FFFFFF"/>
                </a:solidFill>
                <a:effectLst/>
                <a:uLnTx/>
                <a:uFillTx/>
                <a:latin typeface="Tahoma"/>
                <a:cs typeface="Tahoma"/>
              </a:rPr>
              <a:t>via </a:t>
            </a:r>
            <a:r>
              <a:rPr kumimoji="0" sz="1100" b="0" i="0" u="none" strike="noStrike" kern="0" cap="none" spc="10" normalizeH="0" baseline="0" noProof="0">
                <a:ln>
                  <a:noFill/>
                </a:ln>
                <a:solidFill>
                  <a:srgbClr val="FFFFFF"/>
                </a:solidFill>
                <a:effectLst/>
                <a:uLnTx/>
                <a:uFillTx/>
                <a:latin typeface="Tahoma"/>
                <a:cs typeface="Tahoma"/>
              </a:rPr>
              <a:t>multiple</a:t>
            </a:r>
            <a:r>
              <a:rPr kumimoji="0" sz="1100" b="0" i="0" u="none" strike="noStrike" kern="0" cap="none" spc="60" normalizeH="0" baseline="0" noProof="0">
                <a:ln>
                  <a:noFill/>
                </a:ln>
                <a:solidFill>
                  <a:srgbClr val="FFFFFF"/>
                </a:solidFill>
                <a:effectLst/>
                <a:uLnTx/>
                <a:uFillTx/>
                <a:latin typeface="Tahoma"/>
                <a:cs typeface="Tahoma"/>
              </a:rPr>
              <a:t> </a:t>
            </a:r>
            <a:r>
              <a:rPr kumimoji="0" sz="1100" b="0" i="0" u="none" strike="noStrike" kern="0" cap="none" spc="70" normalizeH="0" baseline="0" noProof="0">
                <a:ln>
                  <a:noFill/>
                </a:ln>
                <a:solidFill>
                  <a:srgbClr val="FFFFFF"/>
                </a:solidFill>
                <a:effectLst/>
                <a:uLnTx/>
                <a:uFillTx/>
                <a:latin typeface="Tahoma"/>
                <a:cs typeface="Tahoma"/>
              </a:rPr>
              <a:t>channels</a:t>
            </a:r>
            <a:r>
              <a:rPr kumimoji="0" sz="1100" b="0" i="0" u="none" strike="noStrike" kern="0" cap="none" spc="80" normalizeH="0" baseline="0" noProof="0">
                <a:ln>
                  <a:noFill/>
                </a:ln>
                <a:solidFill>
                  <a:srgbClr val="FFFFFF"/>
                </a:solidFill>
                <a:effectLst/>
                <a:uLnTx/>
                <a:uFillTx/>
                <a:latin typeface="Tahoma"/>
                <a:cs typeface="Tahoma"/>
              </a:rPr>
              <a:t> </a:t>
            </a:r>
            <a:r>
              <a:rPr kumimoji="0" sz="1100" b="0" i="0" u="none" strike="noStrike" kern="0" cap="none" spc="-10" normalizeH="0" baseline="0" noProof="0">
                <a:ln>
                  <a:noFill/>
                </a:ln>
                <a:solidFill>
                  <a:srgbClr val="FFFFFF"/>
                </a:solidFill>
                <a:effectLst/>
                <a:uLnTx/>
                <a:uFillTx/>
                <a:latin typeface="Tahoma"/>
                <a:cs typeface="Tahoma"/>
              </a:rPr>
              <a:t>(Emails,</a:t>
            </a:r>
            <a:endParaRPr kumimoji="0" sz="11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sz="1100" b="0" i="0" u="none" strike="noStrike" kern="0" cap="none" spc="-60" normalizeH="0" baseline="0" noProof="0">
                <a:ln>
                  <a:noFill/>
                </a:ln>
                <a:solidFill>
                  <a:srgbClr val="FFFFFF"/>
                </a:solidFill>
                <a:effectLst/>
                <a:uLnTx/>
                <a:uFillTx/>
                <a:latin typeface="Tahoma"/>
                <a:cs typeface="Tahoma"/>
              </a:rPr>
              <a:t>ITSM,</a:t>
            </a:r>
            <a:r>
              <a:rPr kumimoji="0" sz="1100" b="0" i="0" u="none" strike="noStrike" kern="0" cap="none" spc="-45" normalizeH="0" baseline="0" noProof="0">
                <a:ln>
                  <a:noFill/>
                </a:ln>
                <a:solidFill>
                  <a:srgbClr val="FFFFFF"/>
                </a:solidFill>
                <a:effectLst/>
                <a:uLnTx/>
                <a:uFillTx/>
                <a:latin typeface="Tahoma"/>
                <a:cs typeface="Tahoma"/>
              </a:rPr>
              <a:t> </a:t>
            </a:r>
            <a:r>
              <a:rPr kumimoji="0" sz="1100" b="0" i="0" u="none" strike="noStrike" kern="0" cap="none" spc="-10" normalizeH="0" baseline="0" noProof="0">
                <a:ln>
                  <a:noFill/>
                </a:ln>
                <a:solidFill>
                  <a:srgbClr val="FFFFFF"/>
                </a:solidFill>
                <a:effectLst/>
                <a:uLnTx/>
                <a:uFillTx/>
                <a:latin typeface="Tahoma"/>
                <a:cs typeface="Tahoma"/>
              </a:rPr>
              <a:t>VoIP)</a:t>
            </a:r>
            <a:endParaRPr kumimoji="0" sz="1100" b="0" i="0" u="none" strike="noStrike" kern="0" cap="none" spc="0" normalizeH="0" baseline="0" noProof="0">
              <a:ln>
                <a:noFill/>
              </a:ln>
              <a:solidFill>
                <a:sysClr val="windowText" lastClr="000000"/>
              </a:solidFill>
              <a:effectLst/>
              <a:uLnTx/>
              <a:uFillTx/>
              <a:latin typeface="Tahoma"/>
              <a:cs typeface="Tahoma"/>
            </a:endParaRPr>
          </a:p>
          <a:p>
            <a:pPr marL="128270" marR="123189" lvl="0" indent="0" algn="ctr" defTabSz="91440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a:ln>
                  <a:noFill/>
                </a:ln>
                <a:solidFill>
                  <a:srgbClr val="FFFFFF"/>
                </a:solidFill>
                <a:effectLst/>
                <a:uLnTx/>
                <a:uFillTx/>
                <a:latin typeface="Tahoma"/>
                <a:cs typeface="Tahoma"/>
              </a:rPr>
              <a:t>with</a:t>
            </a:r>
            <a:r>
              <a:rPr kumimoji="0" sz="1100" b="0" i="0" u="none" strike="noStrike" kern="0" cap="none" spc="114" normalizeH="0" baseline="0" noProof="0">
                <a:ln>
                  <a:noFill/>
                </a:ln>
                <a:solidFill>
                  <a:srgbClr val="FFFFFF"/>
                </a:solidFill>
                <a:effectLst/>
                <a:uLnTx/>
                <a:uFillTx/>
                <a:latin typeface="Tahoma"/>
                <a:cs typeface="Tahoma"/>
              </a:rPr>
              <a:t> </a:t>
            </a:r>
            <a:r>
              <a:rPr kumimoji="0" sz="1100" b="0" i="0" u="none" strike="noStrike" kern="0" cap="none" spc="-10" normalizeH="0" baseline="0" noProof="0">
                <a:ln>
                  <a:noFill/>
                </a:ln>
                <a:solidFill>
                  <a:srgbClr val="FFFFFF"/>
                </a:solidFill>
                <a:effectLst/>
                <a:uLnTx/>
                <a:uFillTx/>
                <a:latin typeface="Tahoma"/>
                <a:cs typeface="Tahoma"/>
              </a:rPr>
              <a:t>SLA-</a:t>
            </a:r>
            <a:r>
              <a:rPr kumimoji="0" sz="1100" b="0" i="0" u="none" strike="noStrike" kern="0" cap="none" spc="40" normalizeH="0" baseline="0" noProof="0">
                <a:ln>
                  <a:noFill/>
                </a:ln>
                <a:solidFill>
                  <a:srgbClr val="FFFFFF"/>
                </a:solidFill>
                <a:effectLst/>
                <a:uLnTx/>
                <a:uFillTx/>
                <a:latin typeface="Tahoma"/>
                <a:cs typeface="Tahoma"/>
              </a:rPr>
              <a:t>driven </a:t>
            </a:r>
            <a:r>
              <a:rPr kumimoji="0" sz="1100" b="0" i="0" u="none" strike="noStrike" kern="0" cap="none" spc="0" normalizeH="0" baseline="0" noProof="0">
                <a:ln>
                  <a:noFill/>
                </a:ln>
                <a:solidFill>
                  <a:srgbClr val="FFFFFF"/>
                </a:solidFill>
                <a:effectLst/>
                <a:uLnTx/>
                <a:uFillTx/>
                <a:latin typeface="Tahoma"/>
                <a:cs typeface="Tahoma"/>
              </a:rPr>
              <a:t>workflows,</a:t>
            </a:r>
            <a:r>
              <a:rPr kumimoji="0" sz="1100" b="0" i="0" u="none" strike="noStrike" kern="0" cap="none" spc="145" normalizeH="0" baseline="0" noProof="0">
                <a:ln>
                  <a:noFill/>
                </a:ln>
                <a:solidFill>
                  <a:srgbClr val="FFFFFF"/>
                </a:solidFill>
                <a:effectLst/>
                <a:uLnTx/>
                <a:uFillTx/>
                <a:latin typeface="Tahoma"/>
                <a:cs typeface="Tahoma"/>
              </a:rPr>
              <a:t> </a:t>
            </a:r>
            <a:r>
              <a:rPr kumimoji="0" sz="1100" b="0" i="0" u="none" strike="noStrike" kern="0" cap="none" spc="75" normalizeH="0" baseline="0" noProof="0">
                <a:ln>
                  <a:noFill/>
                </a:ln>
                <a:solidFill>
                  <a:srgbClr val="FFFFFF"/>
                </a:solidFill>
                <a:effectLst/>
                <a:uLnTx/>
                <a:uFillTx/>
                <a:latin typeface="Tahoma"/>
                <a:cs typeface="Tahoma"/>
              </a:rPr>
              <a:t>knowledge </a:t>
            </a:r>
            <a:r>
              <a:rPr kumimoji="0" sz="1100" b="0" i="0" u="none" strike="noStrike" kern="0" cap="none" spc="90" normalizeH="0" baseline="0" noProof="0">
                <a:ln>
                  <a:noFill/>
                </a:ln>
                <a:solidFill>
                  <a:srgbClr val="FFFFFF"/>
                </a:solidFill>
                <a:effectLst/>
                <a:uLnTx/>
                <a:uFillTx/>
                <a:latin typeface="Tahoma"/>
                <a:cs typeface="Tahoma"/>
              </a:rPr>
              <a:t>base</a:t>
            </a:r>
            <a:r>
              <a:rPr kumimoji="0" sz="1100" b="0" i="0" u="none" strike="noStrike" kern="0" cap="none" spc="-55" normalizeH="0" baseline="0" noProof="0">
                <a:ln>
                  <a:noFill/>
                </a:ln>
                <a:solidFill>
                  <a:srgbClr val="FFFFFF"/>
                </a:solidFill>
                <a:effectLst/>
                <a:uLnTx/>
                <a:uFillTx/>
                <a:latin typeface="Tahoma"/>
                <a:cs typeface="Tahoma"/>
              </a:rPr>
              <a:t> </a:t>
            </a:r>
            <a:r>
              <a:rPr kumimoji="0" sz="1100" b="0" i="0" u="none" strike="noStrike" kern="0" cap="none" spc="85" normalizeH="0" baseline="0" noProof="0">
                <a:ln>
                  <a:noFill/>
                </a:ln>
                <a:solidFill>
                  <a:srgbClr val="FFFFFF"/>
                </a:solidFill>
                <a:effectLst/>
                <a:uLnTx/>
                <a:uFillTx/>
                <a:latin typeface="Tahoma"/>
                <a:cs typeface="Tahoma"/>
              </a:rPr>
              <a:t>management.</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sp>
        <p:nvSpPr>
          <p:cNvPr id="25" name="object 25"/>
          <p:cNvSpPr txBox="1"/>
          <p:nvPr/>
        </p:nvSpPr>
        <p:spPr>
          <a:xfrm>
            <a:off x="6229603" y="2571114"/>
            <a:ext cx="1619885" cy="696595"/>
          </a:xfrm>
          <a:prstGeom prst="rect">
            <a:avLst/>
          </a:prstGeom>
        </p:spPr>
        <p:txBody>
          <a:bodyPr vert="horz" wrap="square" lIns="0" tIns="13335" rIns="0" bIns="0" rtlCol="0">
            <a:spAutoFit/>
          </a:bodyPr>
          <a:lstStyle/>
          <a:p>
            <a:pPr marL="12700" marR="5080" lvl="0" indent="1270" algn="ctr" defTabSz="914400" eaLnBrk="1" fontAlgn="auto" latinLnBrk="0" hangingPunct="1">
              <a:lnSpc>
                <a:spcPct val="100000"/>
              </a:lnSpc>
              <a:spcBef>
                <a:spcPts val="105"/>
              </a:spcBef>
              <a:spcAft>
                <a:spcPts val="0"/>
              </a:spcAft>
              <a:buClrTx/>
              <a:buSzTx/>
              <a:buFontTx/>
              <a:buNone/>
              <a:tabLst/>
              <a:defRPr/>
            </a:pPr>
            <a:r>
              <a:rPr kumimoji="0" sz="1100" b="0" i="0" u="none" strike="noStrike" kern="0" cap="none" spc="60" normalizeH="0" baseline="0" noProof="0">
                <a:ln>
                  <a:noFill/>
                </a:ln>
                <a:solidFill>
                  <a:srgbClr val="FFFFFF"/>
                </a:solidFill>
                <a:effectLst/>
                <a:uLnTx/>
                <a:uFillTx/>
                <a:latin typeface="Tahoma"/>
                <a:cs typeface="Tahoma"/>
              </a:rPr>
              <a:t>Agents</a:t>
            </a:r>
            <a:r>
              <a:rPr kumimoji="0" sz="1100" b="0" i="0" u="none" strike="noStrike" kern="0" cap="none" spc="-20" normalizeH="0" baseline="0" noProof="0">
                <a:ln>
                  <a:noFill/>
                </a:ln>
                <a:solidFill>
                  <a:srgbClr val="FFFFFF"/>
                </a:solidFill>
                <a:effectLst/>
                <a:uLnTx/>
                <a:uFillTx/>
                <a:latin typeface="Tahoma"/>
                <a:cs typeface="Tahoma"/>
              </a:rPr>
              <a:t> </a:t>
            </a:r>
            <a:r>
              <a:rPr kumimoji="0" sz="1100" b="0" i="0" u="none" strike="noStrike" kern="0" cap="none" spc="55" normalizeH="0" baseline="0" noProof="0">
                <a:ln>
                  <a:noFill/>
                </a:ln>
                <a:solidFill>
                  <a:srgbClr val="FFFFFF"/>
                </a:solidFill>
                <a:effectLst/>
                <a:uLnTx/>
                <a:uFillTx/>
                <a:latin typeface="Tahoma"/>
                <a:cs typeface="Tahoma"/>
              </a:rPr>
              <a:t>trained</a:t>
            </a:r>
            <a:r>
              <a:rPr kumimoji="0" sz="1100" b="0" i="0" u="none" strike="noStrike" kern="0" cap="none" spc="-40" normalizeH="0" baseline="0" noProof="0">
                <a:ln>
                  <a:noFill/>
                </a:ln>
                <a:solidFill>
                  <a:srgbClr val="FFFFFF"/>
                </a:solidFill>
                <a:effectLst/>
                <a:uLnTx/>
                <a:uFillTx/>
                <a:latin typeface="Tahoma"/>
                <a:cs typeface="Tahoma"/>
              </a:rPr>
              <a:t> </a:t>
            </a:r>
            <a:r>
              <a:rPr kumimoji="0" sz="1100" b="0" i="0" u="none" strike="noStrike" kern="0" cap="none" spc="65" normalizeH="0" baseline="0" noProof="0">
                <a:ln>
                  <a:noFill/>
                </a:ln>
                <a:solidFill>
                  <a:srgbClr val="FFFFFF"/>
                </a:solidFill>
                <a:effectLst/>
                <a:uLnTx/>
                <a:uFillTx/>
                <a:latin typeface="Tahoma"/>
                <a:cs typeface="Tahoma"/>
              </a:rPr>
              <a:t>on </a:t>
            </a:r>
            <a:r>
              <a:rPr kumimoji="0" sz="1100" b="0" i="0" u="none" strike="noStrike" kern="0" cap="none" spc="60" normalizeH="0" baseline="0" noProof="0">
                <a:ln>
                  <a:noFill/>
                </a:ln>
                <a:solidFill>
                  <a:srgbClr val="FFFFFF"/>
                </a:solidFill>
                <a:effectLst/>
                <a:uLnTx/>
                <a:uFillTx/>
                <a:latin typeface="Tahoma"/>
                <a:cs typeface="Tahoma"/>
              </a:rPr>
              <a:t>regional</a:t>
            </a:r>
            <a:r>
              <a:rPr kumimoji="0" sz="1100" b="0" i="0" u="none" strike="noStrike" kern="0" cap="none" spc="-60" normalizeH="0" baseline="0" noProof="0">
                <a:ln>
                  <a:noFill/>
                </a:ln>
                <a:solidFill>
                  <a:srgbClr val="FFFFFF"/>
                </a:solidFill>
                <a:effectLst/>
                <a:uLnTx/>
                <a:uFillTx/>
                <a:latin typeface="Tahoma"/>
                <a:cs typeface="Tahoma"/>
              </a:rPr>
              <a:t> </a:t>
            </a:r>
            <a:r>
              <a:rPr kumimoji="0" sz="1100" b="0" i="0" u="none" strike="noStrike" kern="0" cap="none" spc="45" normalizeH="0" baseline="0" noProof="0">
                <a:ln>
                  <a:noFill/>
                </a:ln>
                <a:solidFill>
                  <a:srgbClr val="FFFFFF"/>
                </a:solidFill>
                <a:effectLst/>
                <a:uLnTx/>
                <a:uFillTx/>
                <a:latin typeface="Tahoma"/>
                <a:cs typeface="Tahoma"/>
              </a:rPr>
              <a:t>etiquette, </a:t>
            </a:r>
            <a:r>
              <a:rPr kumimoji="0" sz="1100" b="0" i="0" u="none" strike="noStrike" kern="0" cap="none" spc="60" normalizeH="0" baseline="0" noProof="0">
                <a:ln>
                  <a:noFill/>
                </a:ln>
                <a:solidFill>
                  <a:srgbClr val="FFFFFF"/>
                </a:solidFill>
                <a:effectLst/>
                <a:uLnTx/>
                <a:uFillTx/>
                <a:latin typeface="Tahoma"/>
                <a:cs typeface="Tahoma"/>
              </a:rPr>
              <a:t>empathy.,</a:t>
            </a:r>
            <a:r>
              <a:rPr kumimoji="0" sz="1100" b="0" i="0" u="none" strike="noStrike" kern="0" cap="none" spc="-40" normalizeH="0" baseline="0" noProof="0">
                <a:ln>
                  <a:noFill/>
                </a:ln>
                <a:solidFill>
                  <a:srgbClr val="FFFFFF"/>
                </a:solidFill>
                <a:effectLst/>
                <a:uLnTx/>
                <a:uFillTx/>
                <a:latin typeface="Tahoma"/>
                <a:cs typeface="Tahoma"/>
              </a:rPr>
              <a:t> </a:t>
            </a:r>
            <a:r>
              <a:rPr kumimoji="0" sz="1100" b="0" i="0" u="none" strike="noStrike" kern="0" cap="none" spc="45" normalizeH="0" baseline="0" noProof="0">
                <a:ln>
                  <a:noFill/>
                </a:ln>
                <a:solidFill>
                  <a:srgbClr val="FFFFFF"/>
                </a:solidFill>
                <a:effectLst/>
                <a:uLnTx/>
                <a:uFillTx/>
                <a:latin typeface="Tahoma"/>
                <a:cs typeface="Tahoma"/>
              </a:rPr>
              <a:t>environment </a:t>
            </a:r>
            <a:r>
              <a:rPr kumimoji="0" sz="1100" b="0" i="0" u="none" strike="noStrike" kern="0" cap="none" spc="65" normalizeH="0" baseline="0" noProof="0">
                <a:ln>
                  <a:noFill/>
                </a:ln>
                <a:solidFill>
                  <a:srgbClr val="FFFFFF"/>
                </a:solidFill>
                <a:effectLst/>
                <a:uLnTx/>
                <a:uFillTx/>
                <a:latin typeface="Tahoma"/>
                <a:cs typeface="Tahoma"/>
              </a:rPr>
              <a:t>appreciation.</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sp>
        <p:nvSpPr>
          <p:cNvPr id="26" name="object 26"/>
          <p:cNvSpPr txBox="1"/>
          <p:nvPr/>
        </p:nvSpPr>
        <p:spPr>
          <a:xfrm>
            <a:off x="5097271" y="4894834"/>
            <a:ext cx="1479550" cy="22352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30" normalizeH="0" baseline="0" noProof="0">
                <a:ln>
                  <a:noFill/>
                </a:ln>
                <a:solidFill>
                  <a:srgbClr val="FFFFFF"/>
                </a:solidFill>
                <a:effectLst/>
                <a:uLnTx/>
                <a:uFillTx/>
                <a:latin typeface="Tahoma"/>
                <a:cs typeface="Tahoma"/>
              </a:rPr>
              <a:t>Quality</a:t>
            </a:r>
            <a:r>
              <a:rPr kumimoji="0" sz="1300" b="1" i="0" u="none" strike="noStrike" kern="0" cap="none" spc="-35" normalizeH="0" baseline="0" noProof="0">
                <a:ln>
                  <a:noFill/>
                </a:ln>
                <a:solidFill>
                  <a:srgbClr val="FFFFFF"/>
                </a:solidFill>
                <a:effectLst/>
                <a:uLnTx/>
                <a:uFillTx/>
                <a:latin typeface="Tahoma"/>
                <a:cs typeface="Tahoma"/>
              </a:rPr>
              <a:t> </a:t>
            </a:r>
            <a:r>
              <a:rPr kumimoji="0" sz="1300" b="1" i="0" u="none" strike="noStrike" kern="0" cap="none" spc="-10" normalizeH="0" baseline="0" noProof="0">
                <a:ln>
                  <a:noFill/>
                </a:ln>
                <a:solidFill>
                  <a:srgbClr val="FFFFFF"/>
                </a:solidFill>
                <a:effectLst/>
                <a:uLnTx/>
                <a:uFillTx/>
                <a:latin typeface="Tahoma"/>
                <a:cs typeface="Tahoma"/>
              </a:rPr>
              <a:t>Assurance</a:t>
            </a:r>
            <a:endParaRPr kumimoji="0" sz="1300" b="0" i="0" u="none" strike="noStrike" kern="0" cap="none" spc="0" normalizeH="0" baseline="0" noProof="0">
              <a:ln>
                <a:noFill/>
              </a:ln>
              <a:solidFill>
                <a:sysClr val="windowText" lastClr="000000"/>
              </a:solidFill>
              <a:effectLst/>
              <a:uLnTx/>
              <a:uFillTx/>
              <a:latin typeface="Tahoma"/>
              <a:cs typeface="Tahoma"/>
            </a:endParaRPr>
          </a:p>
        </p:txBody>
      </p:sp>
      <p:sp>
        <p:nvSpPr>
          <p:cNvPr id="27" name="object 27"/>
          <p:cNvSpPr txBox="1"/>
          <p:nvPr/>
        </p:nvSpPr>
        <p:spPr>
          <a:xfrm>
            <a:off x="7290054" y="4821377"/>
            <a:ext cx="1194435" cy="589915"/>
          </a:xfrm>
          <a:prstGeom prst="rect">
            <a:avLst/>
          </a:prstGeom>
        </p:spPr>
        <p:txBody>
          <a:bodyPr vert="horz" wrap="square" lIns="0" tIns="12065" rIns="0" bIns="0" rtlCol="0">
            <a:spAutoFit/>
          </a:bodyPr>
          <a:lstStyle/>
          <a:p>
            <a:pPr marL="0" marR="0" lvl="0" indent="0" algn="ctr"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55" normalizeH="0" baseline="0" noProof="0">
                <a:ln>
                  <a:noFill/>
                </a:ln>
                <a:solidFill>
                  <a:srgbClr val="FFFFFF"/>
                </a:solidFill>
                <a:effectLst/>
                <a:uLnTx/>
                <a:uFillTx/>
                <a:latin typeface="Tahoma"/>
                <a:cs typeface="Tahoma"/>
              </a:rPr>
              <a:t>Rotational</a:t>
            </a:r>
            <a:r>
              <a:rPr kumimoji="0" sz="1300" b="1" i="0" u="none" strike="noStrike" kern="0" cap="none" spc="0" normalizeH="0" baseline="0" noProof="0">
                <a:ln>
                  <a:noFill/>
                </a:ln>
                <a:solidFill>
                  <a:srgbClr val="FFFFFF"/>
                </a:solidFill>
                <a:effectLst/>
                <a:uLnTx/>
                <a:uFillTx/>
                <a:latin typeface="Tahoma"/>
                <a:cs typeface="Tahoma"/>
              </a:rPr>
              <a:t> </a:t>
            </a:r>
            <a:r>
              <a:rPr kumimoji="0" sz="1300" b="1" i="0" u="none" strike="noStrike" kern="0" cap="none" spc="-75" normalizeH="0" baseline="0" noProof="0">
                <a:ln>
                  <a:noFill/>
                </a:ln>
                <a:solidFill>
                  <a:srgbClr val="FFFFFF"/>
                </a:solidFill>
                <a:effectLst/>
                <a:uLnTx/>
                <a:uFillTx/>
                <a:latin typeface="Tahoma"/>
                <a:cs typeface="Tahoma"/>
              </a:rPr>
              <a:t>Shift</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ct val="100000"/>
              </a:lnSpc>
              <a:spcBef>
                <a:spcPts val="5"/>
              </a:spcBef>
              <a:spcAft>
                <a:spcPts val="0"/>
              </a:spcAft>
              <a:buClrTx/>
              <a:buSzTx/>
              <a:buFontTx/>
              <a:buNone/>
              <a:tabLst/>
              <a:defRPr/>
            </a:pPr>
            <a:r>
              <a:rPr kumimoji="0" sz="1300" b="1" i="0" u="none" strike="noStrike" kern="0" cap="none" spc="-10" normalizeH="0" baseline="0" noProof="0">
                <a:ln>
                  <a:noFill/>
                </a:ln>
                <a:solidFill>
                  <a:srgbClr val="FFFFFF"/>
                </a:solidFill>
                <a:effectLst/>
                <a:uLnTx/>
                <a:uFillTx/>
                <a:latin typeface="Tahoma"/>
                <a:cs typeface="Tahoma"/>
              </a:rPr>
              <a:t>Structure</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27940" marR="0" lvl="0" indent="0" algn="ctr" defTabSz="914400" eaLnBrk="1" fontAlgn="auto" latinLnBrk="0" hangingPunct="1">
              <a:lnSpc>
                <a:spcPct val="100000"/>
              </a:lnSpc>
              <a:spcBef>
                <a:spcPts val="120"/>
              </a:spcBef>
              <a:spcAft>
                <a:spcPts val="0"/>
              </a:spcAft>
              <a:buClrTx/>
              <a:buSzTx/>
              <a:buFontTx/>
              <a:buNone/>
              <a:tabLst/>
              <a:defRPr/>
            </a:pPr>
            <a:r>
              <a:rPr kumimoji="0" sz="1000" b="0" i="0" u="none" strike="noStrike" kern="0" cap="none" spc="-20" normalizeH="0" baseline="0" noProof="0">
                <a:ln>
                  <a:noFill/>
                </a:ln>
                <a:solidFill>
                  <a:srgbClr val="FFFFFF"/>
                </a:solidFill>
                <a:effectLst/>
                <a:uLnTx/>
                <a:uFillTx/>
                <a:latin typeface="Tahoma"/>
                <a:cs typeface="Tahoma"/>
              </a:rPr>
              <a:t>8-</a:t>
            </a:r>
            <a:r>
              <a:rPr kumimoji="0" sz="1000" b="0" i="0" u="none" strike="noStrike" kern="0" cap="none" spc="0" normalizeH="0" baseline="0" noProof="0">
                <a:ln>
                  <a:noFill/>
                </a:ln>
                <a:solidFill>
                  <a:srgbClr val="FFFFFF"/>
                </a:solidFill>
                <a:effectLst/>
                <a:uLnTx/>
                <a:uFillTx/>
                <a:latin typeface="Tahoma"/>
                <a:cs typeface="Tahoma"/>
              </a:rPr>
              <a:t>hour</a:t>
            </a:r>
            <a:r>
              <a:rPr kumimoji="0" sz="1000" b="0" i="0" u="none" strike="noStrike" kern="0" cap="none" spc="90"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shift</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28" name="object 28"/>
          <p:cNvSpPr txBox="1"/>
          <p:nvPr/>
        </p:nvSpPr>
        <p:spPr>
          <a:xfrm>
            <a:off x="7289672" y="5386196"/>
            <a:ext cx="1224280" cy="1778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000" b="0" i="0" u="none" strike="noStrike" kern="0" cap="none" spc="80" normalizeH="0" baseline="0" noProof="0">
                <a:ln>
                  <a:noFill/>
                </a:ln>
                <a:solidFill>
                  <a:srgbClr val="FFFFFF"/>
                </a:solidFill>
                <a:effectLst/>
                <a:uLnTx/>
                <a:uFillTx/>
                <a:latin typeface="Tahoma"/>
                <a:cs typeface="Tahoma"/>
              </a:rPr>
              <a:t>Day</a:t>
            </a:r>
            <a:r>
              <a:rPr kumimoji="0" sz="1000" b="0" i="0" u="none" strike="noStrike" kern="0" cap="none" spc="65" normalizeH="0" baseline="0" noProof="0">
                <a:ln>
                  <a:noFill/>
                </a:ln>
                <a:solidFill>
                  <a:srgbClr val="FFFFFF"/>
                </a:solidFill>
                <a:effectLst/>
                <a:uLnTx/>
                <a:uFillTx/>
                <a:latin typeface="Tahoma"/>
                <a:cs typeface="Tahoma"/>
              </a:rPr>
              <a:t> </a:t>
            </a:r>
            <a:r>
              <a:rPr kumimoji="0" sz="1000" b="0" i="0" u="none" strike="noStrike" kern="0" cap="none" spc="0" normalizeH="0" baseline="0" noProof="0">
                <a:ln>
                  <a:noFill/>
                </a:ln>
                <a:solidFill>
                  <a:srgbClr val="FFFFFF"/>
                </a:solidFill>
                <a:effectLst/>
                <a:uLnTx/>
                <a:uFillTx/>
                <a:latin typeface="Tahoma"/>
                <a:cs typeface="Tahoma"/>
              </a:rPr>
              <a:t>time</a:t>
            </a:r>
            <a:r>
              <a:rPr kumimoji="0" sz="1000" b="0" i="0" u="none" strike="noStrike" kern="0" cap="none" spc="50" normalizeH="0" baseline="0" noProof="0">
                <a:ln>
                  <a:noFill/>
                </a:ln>
                <a:solidFill>
                  <a:srgbClr val="FFFFFF"/>
                </a:solidFill>
                <a:effectLst/>
                <a:uLnTx/>
                <a:uFillTx/>
                <a:latin typeface="Tahoma"/>
                <a:cs typeface="Tahoma"/>
              </a:rPr>
              <a:t> </a:t>
            </a:r>
            <a:r>
              <a:rPr kumimoji="0" sz="1000" b="0" i="0" u="none" strike="noStrike" kern="0" cap="none" spc="80" normalizeH="0" baseline="0" noProof="0">
                <a:ln>
                  <a:noFill/>
                </a:ln>
                <a:solidFill>
                  <a:srgbClr val="FFFFFF"/>
                </a:solidFill>
                <a:effectLst/>
                <a:uLnTx/>
                <a:uFillTx/>
                <a:latin typeface="Tahoma"/>
                <a:cs typeface="Tahoma"/>
              </a:rPr>
              <a:t>coverage</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29" name="object 29"/>
          <p:cNvSpPr txBox="1"/>
          <p:nvPr/>
        </p:nvSpPr>
        <p:spPr>
          <a:xfrm>
            <a:off x="6976998" y="5538622"/>
            <a:ext cx="1848485" cy="1778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000" b="0" i="0" u="none" strike="noStrike" kern="0" cap="none" spc="45" normalizeH="0" baseline="0" noProof="0">
                <a:ln>
                  <a:noFill/>
                </a:ln>
                <a:solidFill>
                  <a:srgbClr val="FFFFFF"/>
                </a:solidFill>
                <a:effectLst/>
                <a:uLnTx/>
                <a:uFillTx/>
                <a:latin typeface="Tahoma"/>
                <a:cs typeface="Tahoma"/>
              </a:rPr>
              <a:t>Afternoon/Evening</a:t>
            </a:r>
            <a:r>
              <a:rPr kumimoji="0" sz="1000" b="0" i="0" u="none" strike="noStrike" kern="0" cap="none" spc="25" normalizeH="0" baseline="0" noProof="0">
                <a:ln>
                  <a:noFill/>
                </a:ln>
                <a:solidFill>
                  <a:srgbClr val="FFFFFF"/>
                </a:solidFill>
                <a:effectLst/>
                <a:uLnTx/>
                <a:uFillTx/>
                <a:latin typeface="Tahoma"/>
                <a:cs typeface="Tahoma"/>
              </a:rPr>
              <a:t> </a:t>
            </a:r>
            <a:r>
              <a:rPr kumimoji="0" sz="1000" b="0" i="0" u="none" strike="noStrike" kern="0" cap="none" spc="85" normalizeH="0" baseline="0" noProof="0">
                <a:ln>
                  <a:noFill/>
                </a:ln>
                <a:solidFill>
                  <a:srgbClr val="FFFFFF"/>
                </a:solidFill>
                <a:effectLst/>
                <a:uLnTx/>
                <a:uFillTx/>
                <a:latin typeface="Tahoma"/>
                <a:cs typeface="Tahoma"/>
              </a:rPr>
              <a:t>Coverage</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30" name="object 30"/>
          <p:cNvSpPr txBox="1"/>
          <p:nvPr/>
        </p:nvSpPr>
        <p:spPr>
          <a:xfrm>
            <a:off x="7258939" y="5691022"/>
            <a:ext cx="1287780" cy="1778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000" b="0" i="0" u="none" strike="noStrike" kern="0" cap="none" spc="20" normalizeH="0" baseline="0" noProof="0">
                <a:ln>
                  <a:noFill/>
                </a:ln>
                <a:solidFill>
                  <a:srgbClr val="FFFFFF"/>
                </a:solidFill>
                <a:effectLst/>
                <a:uLnTx/>
                <a:uFillTx/>
                <a:latin typeface="Tahoma"/>
                <a:cs typeface="Tahoma"/>
              </a:rPr>
              <a:t>Nighttime</a:t>
            </a:r>
            <a:r>
              <a:rPr kumimoji="0" sz="1000" b="0" i="0" u="none" strike="noStrike" kern="0" cap="none" spc="170" normalizeH="0" baseline="0" noProof="0">
                <a:ln>
                  <a:noFill/>
                </a:ln>
                <a:solidFill>
                  <a:srgbClr val="FFFFFF"/>
                </a:solidFill>
                <a:effectLst/>
                <a:uLnTx/>
                <a:uFillTx/>
                <a:latin typeface="Tahoma"/>
                <a:cs typeface="Tahoma"/>
              </a:rPr>
              <a:t> </a:t>
            </a:r>
            <a:r>
              <a:rPr kumimoji="0" sz="1000" b="0" i="0" u="none" strike="noStrike" kern="0" cap="none" spc="85" normalizeH="0" baseline="0" noProof="0">
                <a:ln>
                  <a:noFill/>
                </a:ln>
                <a:solidFill>
                  <a:srgbClr val="FFFFFF"/>
                </a:solidFill>
                <a:effectLst/>
                <a:uLnTx/>
                <a:uFillTx/>
                <a:latin typeface="Tahoma"/>
                <a:cs typeface="Tahoma"/>
              </a:rPr>
              <a:t>Coverage</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31" name="object 31"/>
          <p:cNvSpPr txBox="1"/>
          <p:nvPr/>
        </p:nvSpPr>
        <p:spPr>
          <a:xfrm>
            <a:off x="5005196" y="5357241"/>
            <a:ext cx="1640839" cy="528955"/>
          </a:xfrm>
          <a:prstGeom prst="rect">
            <a:avLst/>
          </a:prstGeom>
        </p:spPr>
        <p:txBody>
          <a:bodyPr vert="horz" wrap="square" lIns="0" tIns="12700" rIns="0" bIns="0" rtlCol="0">
            <a:spAutoFit/>
          </a:bodyPr>
          <a:lstStyle/>
          <a:p>
            <a:pPr marL="241300" marR="233679" lvl="0" indent="0" algn="ctr" defTabSz="914400" eaLnBrk="1" fontAlgn="auto" latinLnBrk="0" hangingPunct="1">
              <a:lnSpc>
                <a:spcPct val="100000"/>
              </a:lnSpc>
              <a:spcBef>
                <a:spcPts val="100"/>
              </a:spcBef>
              <a:spcAft>
                <a:spcPts val="0"/>
              </a:spcAft>
              <a:buClrTx/>
              <a:buSzTx/>
              <a:buFontTx/>
              <a:buNone/>
              <a:tabLst/>
              <a:defRPr/>
            </a:pPr>
            <a:r>
              <a:rPr kumimoji="0" sz="1100" b="0" i="0" u="none" strike="noStrike" kern="0" cap="none" spc="0" normalizeH="0" baseline="0" noProof="0">
                <a:ln>
                  <a:noFill/>
                </a:ln>
                <a:solidFill>
                  <a:srgbClr val="FFFFFF"/>
                </a:solidFill>
                <a:effectLst/>
                <a:uLnTx/>
                <a:uFillTx/>
                <a:latin typeface="Tahoma"/>
                <a:cs typeface="Tahoma"/>
              </a:rPr>
              <a:t>Daily</a:t>
            </a:r>
            <a:r>
              <a:rPr kumimoji="0" sz="1100" b="0" i="0" u="none" strike="noStrike" kern="0" cap="none" spc="165" normalizeH="0" baseline="0" noProof="0">
                <a:ln>
                  <a:noFill/>
                </a:ln>
                <a:solidFill>
                  <a:srgbClr val="FFFFFF"/>
                </a:solidFill>
                <a:effectLst/>
                <a:uLnTx/>
                <a:uFillTx/>
                <a:latin typeface="Tahoma"/>
                <a:cs typeface="Tahoma"/>
              </a:rPr>
              <a:t> </a:t>
            </a:r>
            <a:r>
              <a:rPr kumimoji="0" sz="1100" b="0" i="0" u="none" strike="noStrike" kern="0" cap="none" spc="45" normalizeH="0" baseline="0" noProof="0">
                <a:ln>
                  <a:noFill/>
                </a:ln>
                <a:solidFill>
                  <a:srgbClr val="FFFFFF"/>
                </a:solidFill>
                <a:effectLst/>
                <a:uLnTx/>
                <a:uFillTx/>
                <a:latin typeface="Tahoma"/>
                <a:cs typeface="Tahoma"/>
              </a:rPr>
              <a:t>scorecards, </a:t>
            </a:r>
            <a:r>
              <a:rPr kumimoji="0" sz="1100" b="0" i="0" u="none" strike="noStrike" kern="0" cap="none" spc="80" normalizeH="0" baseline="0" noProof="0">
                <a:ln>
                  <a:noFill/>
                </a:ln>
                <a:solidFill>
                  <a:srgbClr val="FFFFFF"/>
                </a:solidFill>
                <a:effectLst/>
                <a:uLnTx/>
                <a:uFillTx/>
                <a:latin typeface="Tahoma"/>
                <a:cs typeface="Tahoma"/>
              </a:rPr>
              <a:t>call</a:t>
            </a:r>
            <a:r>
              <a:rPr kumimoji="0" sz="1100" b="0" i="0" u="none" strike="noStrike" kern="0" cap="none" spc="70" normalizeH="0" baseline="0" noProof="0">
                <a:ln>
                  <a:noFill/>
                </a:ln>
                <a:solidFill>
                  <a:srgbClr val="FFFFFF"/>
                </a:solidFill>
                <a:effectLst/>
                <a:uLnTx/>
                <a:uFillTx/>
                <a:latin typeface="Tahoma"/>
                <a:cs typeface="Tahoma"/>
              </a:rPr>
              <a:t> </a:t>
            </a:r>
            <a:r>
              <a:rPr kumimoji="0" sz="1100" b="0" i="0" u="none" strike="noStrike" kern="0" cap="none" spc="0" normalizeH="0" baseline="0" noProof="0">
                <a:ln>
                  <a:noFill/>
                </a:ln>
                <a:solidFill>
                  <a:srgbClr val="FFFFFF"/>
                </a:solidFill>
                <a:effectLst/>
                <a:uLnTx/>
                <a:uFillTx/>
                <a:latin typeface="Tahoma"/>
                <a:cs typeface="Tahoma"/>
              </a:rPr>
              <a:t>audits,</a:t>
            </a:r>
            <a:r>
              <a:rPr kumimoji="0" sz="1100" b="0" i="0" u="none" strike="noStrike" kern="0" cap="none" spc="55" normalizeH="0" baseline="0" noProof="0">
                <a:ln>
                  <a:noFill/>
                </a:ln>
                <a:solidFill>
                  <a:srgbClr val="FFFFFF"/>
                </a:solidFill>
                <a:effectLst/>
                <a:uLnTx/>
                <a:uFillTx/>
                <a:latin typeface="Tahoma"/>
                <a:cs typeface="Tahoma"/>
              </a:rPr>
              <a:t> </a:t>
            </a:r>
            <a:r>
              <a:rPr kumimoji="0" sz="1100" b="0" i="0" u="none" strike="noStrike" kern="0" cap="none" spc="95" normalizeH="0" baseline="0" noProof="0">
                <a:ln>
                  <a:noFill/>
                </a:ln>
                <a:solidFill>
                  <a:srgbClr val="FFFFFF"/>
                </a:solidFill>
                <a:effectLst/>
                <a:uLnTx/>
                <a:uFillTx/>
                <a:latin typeface="Tahoma"/>
                <a:cs typeface="Tahoma"/>
              </a:rPr>
              <a:t>and</a:t>
            </a:r>
            <a:endParaRPr kumimoji="0" sz="11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ct val="100000"/>
              </a:lnSpc>
              <a:spcBef>
                <a:spcPts val="5"/>
              </a:spcBef>
              <a:spcAft>
                <a:spcPts val="0"/>
              </a:spcAft>
              <a:buClrTx/>
              <a:buSzTx/>
              <a:buFontTx/>
              <a:buNone/>
              <a:tabLst/>
              <a:defRPr/>
            </a:pPr>
            <a:r>
              <a:rPr kumimoji="0" sz="1100" b="0" i="0" u="none" strike="noStrike" kern="0" cap="none" spc="10" normalizeH="0" baseline="0" noProof="0">
                <a:ln>
                  <a:noFill/>
                </a:ln>
                <a:solidFill>
                  <a:srgbClr val="FFFFFF"/>
                </a:solidFill>
                <a:effectLst/>
                <a:uLnTx/>
                <a:uFillTx/>
                <a:latin typeface="Tahoma"/>
                <a:cs typeface="Tahoma"/>
              </a:rPr>
              <a:t>resolution</a:t>
            </a:r>
            <a:r>
              <a:rPr kumimoji="0" sz="1100" b="0" i="0" u="none" strike="noStrike" kern="0" cap="none" spc="130" normalizeH="0" baseline="0" noProof="0">
                <a:ln>
                  <a:noFill/>
                </a:ln>
                <a:solidFill>
                  <a:srgbClr val="FFFFFF"/>
                </a:solidFill>
                <a:effectLst/>
                <a:uLnTx/>
                <a:uFillTx/>
                <a:latin typeface="Tahoma"/>
                <a:cs typeface="Tahoma"/>
              </a:rPr>
              <a:t> </a:t>
            </a:r>
            <a:r>
              <a:rPr kumimoji="0" sz="1100" b="0" i="0" u="none" strike="noStrike" kern="0" cap="none" spc="35" normalizeH="0" baseline="0" noProof="0">
                <a:ln>
                  <a:noFill/>
                </a:ln>
                <a:solidFill>
                  <a:srgbClr val="FFFFFF"/>
                </a:solidFill>
                <a:effectLst/>
                <a:uLnTx/>
                <a:uFillTx/>
                <a:latin typeface="Tahoma"/>
                <a:cs typeface="Tahoma"/>
              </a:rPr>
              <a:t>effectiveness.</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grpSp>
        <p:nvGrpSpPr>
          <p:cNvPr id="32" name="object 32"/>
          <p:cNvGrpSpPr/>
          <p:nvPr/>
        </p:nvGrpSpPr>
        <p:grpSpPr>
          <a:xfrm>
            <a:off x="4768181" y="3402361"/>
            <a:ext cx="3422015" cy="1397000"/>
            <a:chOff x="4768181" y="3402361"/>
            <a:chExt cx="3422015" cy="1397000"/>
          </a:xfrm>
        </p:grpSpPr>
        <p:sp>
          <p:nvSpPr>
            <p:cNvPr id="33" name="object 33"/>
            <p:cNvSpPr/>
            <p:nvPr/>
          </p:nvSpPr>
          <p:spPr>
            <a:xfrm>
              <a:off x="4827143" y="3405854"/>
              <a:ext cx="267335" cy="511809"/>
            </a:xfrm>
            <a:custGeom>
              <a:avLst/>
              <a:gdLst/>
              <a:ahLst/>
              <a:cxnLst/>
              <a:rect l="l" t="t" r="r" b="b"/>
              <a:pathLst>
                <a:path w="267335" h="511810">
                  <a:moveTo>
                    <a:pt x="255778" y="455961"/>
                  </a:moveTo>
                  <a:lnTo>
                    <a:pt x="241369" y="475378"/>
                  </a:lnTo>
                  <a:lnTo>
                    <a:pt x="216423" y="485282"/>
                  </a:lnTo>
                  <a:lnTo>
                    <a:pt x="188930" y="488876"/>
                  </a:lnTo>
                  <a:lnTo>
                    <a:pt x="166878" y="489362"/>
                  </a:lnTo>
                </a:path>
                <a:path w="267335" h="511810">
                  <a:moveTo>
                    <a:pt x="59436" y="113823"/>
                  </a:moveTo>
                  <a:lnTo>
                    <a:pt x="94894" y="95178"/>
                  </a:lnTo>
                  <a:lnTo>
                    <a:pt x="133461" y="88963"/>
                  </a:lnTo>
                  <a:lnTo>
                    <a:pt x="172003" y="95178"/>
                  </a:lnTo>
                  <a:lnTo>
                    <a:pt x="207391" y="113823"/>
                  </a:lnTo>
                </a:path>
                <a:path w="267335" h="511810">
                  <a:moveTo>
                    <a:pt x="0" y="44481"/>
                  </a:moveTo>
                  <a:lnTo>
                    <a:pt x="41752" y="19769"/>
                  </a:lnTo>
                  <a:lnTo>
                    <a:pt x="86792" y="4942"/>
                  </a:lnTo>
                  <a:lnTo>
                    <a:pt x="133476" y="0"/>
                  </a:lnTo>
                  <a:lnTo>
                    <a:pt x="180161" y="4942"/>
                  </a:lnTo>
                  <a:lnTo>
                    <a:pt x="225201" y="19769"/>
                  </a:lnTo>
                  <a:lnTo>
                    <a:pt x="266954" y="44481"/>
                  </a:lnTo>
                </a:path>
                <a:path w="267335" h="511810">
                  <a:moveTo>
                    <a:pt x="166878" y="489362"/>
                  </a:moveTo>
                  <a:lnTo>
                    <a:pt x="165117" y="498032"/>
                  </a:lnTo>
                  <a:lnTo>
                    <a:pt x="160321" y="505094"/>
                  </a:lnTo>
                  <a:lnTo>
                    <a:pt x="153215" y="509847"/>
                  </a:lnTo>
                  <a:lnTo>
                    <a:pt x="144526" y="511587"/>
                  </a:lnTo>
                  <a:lnTo>
                    <a:pt x="122301" y="511587"/>
                  </a:lnTo>
                  <a:lnTo>
                    <a:pt x="113684" y="509847"/>
                  </a:lnTo>
                  <a:lnTo>
                    <a:pt x="106616" y="505094"/>
                  </a:lnTo>
                  <a:lnTo>
                    <a:pt x="101834" y="498032"/>
                  </a:lnTo>
                  <a:lnTo>
                    <a:pt x="100076" y="489362"/>
                  </a:lnTo>
                  <a:lnTo>
                    <a:pt x="101834" y="480693"/>
                  </a:lnTo>
                  <a:lnTo>
                    <a:pt x="106616" y="473630"/>
                  </a:lnTo>
                  <a:lnTo>
                    <a:pt x="113684" y="468878"/>
                  </a:lnTo>
                  <a:lnTo>
                    <a:pt x="122301" y="467137"/>
                  </a:lnTo>
                  <a:lnTo>
                    <a:pt x="144526" y="467137"/>
                  </a:lnTo>
                  <a:lnTo>
                    <a:pt x="153215" y="468878"/>
                  </a:lnTo>
                  <a:lnTo>
                    <a:pt x="160321" y="473630"/>
                  </a:lnTo>
                  <a:lnTo>
                    <a:pt x="165117" y="480693"/>
                  </a:lnTo>
                  <a:lnTo>
                    <a:pt x="166878" y="489362"/>
                  </a:lnTo>
                  <a:close/>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4" name="object 34"/>
            <p:cNvPicPr/>
            <p:nvPr/>
          </p:nvPicPr>
          <p:blipFill>
            <a:blip r:embed="rId5" cstate="print"/>
            <a:stretch>
              <a:fillRect/>
            </a:stretch>
          </p:blipFill>
          <p:spPr>
            <a:xfrm>
              <a:off x="4768181" y="3602701"/>
              <a:ext cx="384877" cy="262449"/>
            </a:xfrm>
            <a:prstGeom prst="rect">
              <a:avLst/>
            </a:prstGeom>
          </p:spPr>
        </p:pic>
        <p:sp>
          <p:nvSpPr>
            <p:cNvPr id="35" name="object 35"/>
            <p:cNvSpPr/>
            <p:nvPr/>
          </p:nvSpPr>
          <p:spPr>
            <a:xfrm>
              <a:off x="5591047" y="3444493"/>
              <a:ext cx="2595245" cy="1351280"/>
            </a:xfrm>
            <a:custGeom>
              <a:avLst/>
              <a:gdLst/>
              <a:ahLst/>
              <a:cxnLst/>
              <a:rect l="l" t="t" r="r" b="b"/>
              <a:pathLst>
                <a:path w="2595245" h="1351279">
                  <a:moveTo>
                    <a:pt x="1445386" y="253"/>
                  </a:moveTo>
                  <a:lnTo>
                    <a:pt x="1414798" y="37272"/>
                  </a:lnTo>
                  <a:lnTo>
                    <a:pt x="1389771" y="75936"/>
                  </a:lnTo>
                  <a:lnTo>
                    <a:pt x="1370306" y="116058"/>
                  </a:lnTo>
                  <a:lnTo>
                    <a:pt x="1356402" y="157447"/>
                  </a:lnTo>
                  <a:lnTo>
                    <a:pt x="1348060" y="199913"/>
                  </a:lnTo>
                  <a:lnTo>
                    <a:pt x="1345279" y="243268"/>
                  </a:lnTo>
                  <a:lnTo>
                    <a:pt x="1348060" y="287321"/>
                  </a:lnTo>
                  <a:lnTo>
                    <a:pt x="1356402" y="331883"/>
                  </a:lnTo>
                  <a:lnTo>
                    <a:pt x="1370306" y="376765"/>
                  </a:lnTo>
                  <a:lnTo>
                    <a:pt x="1389771" y="421776"/>
                  </a:lnTo>
                  <a:lnTo>
                    <a:pt x="1414798" y="466727"/>
                  </a:lnTo>
                  <a:lnTo>
                    <a:pt x="1445386" y="511428"/>
                  </a:lnTo>
                </a:path>
                <a:path w="2595245" h="1351279">
                  <a:moveTo>
                    <a:pt x="1467484" y="378078"/>
                  </a:moveTo>
                  <a:lnTo>
                    <a:pt x="1231646" y="378078"/>
                  </a:lnTo>
                </a:path>
                <a:path w="2595245" h="1351279">
                  <a:moveTo>
                    <a:pt x="1467484" y="133476"/>
                  </a:moveTo>
                  <a:lnTo>
                    <a:pt x="1231646" y="133476"/>
                  </a:lnTo>
                </a:path>
                <a:path w="2595245" h="1351279">
                  <a:moveTo>
                    <a:pt x="1467484" y="244601"/>
                  </a:moveTo>
                  <a:lnTo>
                    <a:pt x="1200784" y="244601"/>
                  </a:lnTo>
                </a:path>
                <a:path w="2595245" h="1351279">
                  <a:moveTo>
                    <a:pt x="1623186" y="244601"/>
                  </a:moveTo>
                  <a:lnTo>
                    <a:pt x="1623186" y="444880"/>
                  </a:lnTo>
                </a:path>
                <a:path w="2595245" h="1351279">
                  <a:moveTo>
                    <a:pt x="1712213" y="88900"/>
                  </a:moveTo>
                  <a:lnTo>
                    <a:pt x="1623186" y="244601"/>
                  </a:lnTo>
                  <a:lnTo>
                    <a:pt x="1534159" y="88900"/>
                  </a:lnTo>
                </a:path>
                <a:path w="2595245" h="1351279">
                  <a:moveTo>
                    <a:pt x="1534159" y="266826"/>
                  </a:moveTo>
                  <a:lnTo>
                    <a:pt x="1712213" y="266826"/>
                  </a:lnTo>
                </a:path>
                <a:path w="2595245" h="1351279">
                  <a:moveTo>
                    <a:pt x="1534159" y="333628"/>
                  </a:moveTo>
                  <a:lnTo>
                    <a:pt x="1712213" y="333628"/>
                  </a:lnTo>
                </a:path>
                <a:path w="2595245" h="1351279">
                  <a:moveTo>
                    <a:pt x="1456308" y="511555"/>
                  </a:moveTo>
                  <a:lnTo>
                    <a:pt x="1410304" y="507433"/>
                  </a:lnTo>
                  <a:lnTo>
                    <a:pt x="1367007" y="495549"/>
                  </a:lnTo>
                  <a:lnTo>
                    <a:pt x="1327140" y="476626"/>
                  </a:lnTo>
                  <a:lnTo>
                    <a:pt x="1291425" y="451387"/>
                  </a:lnTo>
                  <a:lnTo>
                    <a:pt x="1260583" y="420556"/>
                  </a:lnTo>
                  <a:lnTo>
                    <a:pt x="1235338" y="384857"/>
                  </a:lnTo>
                  <a:lnTo>
                    <a:pt x="1216411" y="345011"/>
                  </a:lnTo>
                  <a:lnTo>
                    <a:pt x="1204526" y="301744"/>
                  </a:lnTo>
                  <a:lnTo>
                    <a:pt x="1200403" y="255777"/>
                  </a:lnTo>
                  <a:lnTo>
                    <a:pt x="1204526" y="209778"/>
                  </a:lnTo>
                  <a:lnTo>
                    <a:pt x="1216411" y="166492"/>
                  </a:lnTo>
                  <a:lnTo>
                    <a:pt x="1235338" y="126642"/>
                  </a:lnTo>
                  <a:lnTo>
                    <a:pt x="1260583" y="90946"/>
                  </a:lnTo>
                  <a:lnTo>
                    <a:pt x="1291425" y="60126"/>
                  </a:lnTo>
                  <a:lnTo>
                    <a:pt x="1327140" y="34901"/>
                  </a:lnTo>
                  <a:lnTo>
                    <a:pt x="1367007" y="15991"/>
                  </a:lnTo>
                  <a:lnTo>
                    <a:pt x="1410304" y="4118"/>
                  </a:lnTo>
                  <a:lnTo>
                    <a:pt x="1456308" y="0"/>
                  </a:lnTo>
                  <a:lnTo>
                    <a:pt x="1467357" y="0"/>
                  </a:lnTo>
                  <a:lnTo>
                    <a:pt x="1467357" y="511555"/>
                  </a:lnTo>
                  <a:lnTo>
                    <a:pt x="1456308" y="511555"/>
                  </a:lnTo>
                  <a:close/>
                </a:path>
                <a:path w="2595245" h="1351279">
                  <a:moveTo>
                    <a:pt x="311403" y="1050416"/>
                  </a:moveTo>
                  <a:lnTo>
                    <a:pt x="311403" y="950340"/>
                  </a:lnTo>
                  <a:lnTo>
                    <a:pt x="66801" y="950340"/>
                  </a:lnTo>
                  <a:lnTo>
                    <a:pt x="66801" y="1239519"/>
                  </a:lnTo>
                  <a:lnTo>
                    <a:pt x="200278" y="1239519"/>
                  </a:lnTo>
                </a:path>
                <a:path w="2595245" h="1351279">
                  <a:moveTo>
                    <a:pt x="222503" y="1306194"/>
                  </a:moveTo>
                  <a:lnTo>
                    <a:pt x="22225" y="1306194"/>
                  </a:lnTo>
                  <a:lnTo>
                    <a:pt x="13608" y="1304454"/>
                  </a:lnTo>
                  <a:lnTo>
                    <a:pt x="6540" y="1299702"/>
                  </a:lnTo>
                  <a:lnTo>
                    <a:pt x="1758" y="1292639"/>
                  </a:lnTo>
                  <a:lnTo>
                    <a:pt x="0" y="1283969"/>
                  </a:lnTo>
                  <a:lnTo>
                    <a:pt x="0" y="905890"/>
                  </a:lnTo>
                  <a:lnTo>
                    <a:pt x="1758" y="897221"/>
                  </a:lnTo>
                  <a:lnTo>
                    <a:pt x="6540" y="890158"/>
                  </a:lnTo>
                  <a:lnTo>
                    <a:pt x="13608" y="885406"/>
                  </a:lnTo>
                  <a:lnTo>
                    <a:pt x="22225" y="883665"/>
                  </a:lnTo>
                  <a:lnTo>
                    <a:pt x="121285" y="883665"/>
                  </a:lnTo>
                  <a:lnTo>
                    <a:pt x="132738" y="865308"/>
                  </a:lnTo>
                  <a:lnTo>
                    <a:pt x="148621" y="851296"/>
                  </a:lnTo>
                  <a:lnTo>
                    <a:pt x="167790" y="842357"/>
                  </a:lnTo>
                  <a:lnTo>
                    <a:pt x="189102" y="839215"/>
                  </a:lnTo>
                  <a:lnTo>
                    <a:pt x="210488" y="842357"/>
                  </a:lnTo>
                  <a:lnTo>
                    <a:pt x="229695" y="851296"/>
                  </a:lnTo>
                  <a:lnTo>
                    <a:pt x="245592" y="865308"/>
                  </a:lnTo>
                  <a:lnTo>
                    <a:pt x="257048" y="883665"/>
                  </a:lnTo>
                  <a:lnTo>
                    <a:pt x="355980" y="883665"/>
                  </a:lnTo>
                  <a:lnTo>
                    <a:pt x="364597" y="885406"/>
                  </a:lnTo>
                  <a:lnTo>
                    <a:pt x="371665" y="890158"/>
                  </a:lnTo>
                  <a:lnTo>
                    <a:pt x="376447" y="897221"/>
                  </a:lnTo>
                  <a:lnTo>
                    <a:pt x="378205" y="905890"/>
                  </a:lnTo>
                  <a:lnTo>
                    <a:pt x="378205" y="1028191"/>
                  </a:lnTo>
                </a:path>
                <a:path w="2595245" h="1351279">
                  <a:moveTo>
                    <a:pt x="244728" y="1017015"/>
                  </a:moveTo>
                  <a:lnTo>
                    <a:pt x="133476" y="1017015"/>
                  </a:lnTo>
                </a:path>
                <a:path w="2595245" h="1351279">
                  <a:moveTo>
                    <a:pt x="133476" y="1083817"/>
                  </a:moveTo>
                  <a:lnTo>
                    <a:pt x="244728" y="1083817"/>
                  </a:lnTo>
                </a:path>
                <a:path w="2595245" h="1351279">
                  <a:moveTo>
                    <a:pt x="133476" y="1150492"/>
                  </a:moveTo>
                  <a:lnTo>
                    <a:pt x="200278" y="1150492"/>
                  </a:lnTo>
                </a:path>
                <a:path w="2595245" h="1351279">
                  <a:moveTo>
                    <a:pt x="367664" y="1106042"/>
                  </a:moveTo>
                  <a:lnTo>
                    <a:pt x="406888" y="1113956"/>
                  </a:lnTo>
                  <a:lnTo>
                    <a:pt x="438943" y="1135538"/>
                  </a:lnTo>
                  <a:lnTo>
                    <a:pt x="460569" y="1167550"/>
                  </a:lnTo>
                  <a:lnTo>
                    <a:pt x="468502" y="1206753"/>
                  </a:lnTo>
                  <a:lnTo>
                    <a:pt x="460569" y="1246030"/>
                  </a:lnTo>
                  <a:lnTo>
                    <a:pt x="438943" y="1278080"/>
                  </a:lnTo>
                  <a:lnTo>
                    <a:pt x="406888" y="1299676"/>
                  </a:lnTo>
                  <a:lnTo>
                    <a:pt x="367664" y="1307591"/>
                  </a:lnTo>
                  <a:lnTo>
                    <a:pt x="328461" y="1299676"/>
                  </a:lnTo>
                  <a:lnTo>
                    <a:pt x="296449" y="1278080"/>
                  </a:lnTo>
                  <a:lnTo>
                    <a:pt x="274867" y="1246030"/>
                  </a:lnTo>
                  <a:lnTo>
                    <a:pt x="266953" y="1206753"/>
                  </a:lnTo>
                  <a:lnTo>
                    <a:pt x="274867" y="1167550"/>
                  </a:lnTo>
                  <a:lnTo>
                    <a:pt x="296449" y="1135538"/>
                  </a:lnTo>
                  <a:lnTo>
                    <a:pt x="328461" y="1113956"/>
                  </a:lnTo>
                  <a:lnTo>
                    <a:pt x="367664" y="1106042"/>
                  </a:lnTo>
                  <a:close/>
                </a:path>
                <a:path w="2595245" h="1351279">
                  <a:moveTo>
                    <a:pt x="511682" y="1350771"/>
                  </a:moveTo>
                  <a:lnTo>
                    <a:pt x="439419" y="1278508"/>
                  </a:lnTo>
                </a:path>
                <a:path w="2595245" h="1351279">
                  <a:moveTo>
                    <a:pt x="2275712" y="1214373"/>
                  </a:moveTo>
                  <a:lnTo>
                    <a:pt x="2129662" y="1214373"/>
                  </a:lnTo>
                  <a:lnTo>
                    <a:pt x="2112004" y="1210806"/>
                  </a:lnTo>
                  <a:lnTo>
                    <a:pt x="2097547" y="1201070"/>
                  </a:lnTo>
                  <a:lnTo>
                    <a:pt x="2087782" y="1186620"/>
                  </a:lnTo>
                  <a:lnTo>
                    <a:pt x="2084197" y="1168907"/>
                  </a:lnTo>
                  <a:lnTo>
                    <a:pt x="2084197" y="884681"/>
                  </a:lnTo>
                  <a:lnTo>
                    <a:pt x="2087782" y="866969"/>
                  </a:lnTo>
                  <a:lnTo>
                    <a:pt x="2097547" y="852519"/>
                  </a:lnTo>
                  <a:lnTo>
                    <a:pt x="2112004" y="842783"/>
                  </a:lnTo>
                  <a:lnTo>
                    <a:pt x="2129662" y="839215"/>
                  </a:lnTo>
                  <a:lnTo>
                    <a:pt x="2470784" y="839215"/>
                  </a:lnTo>
                  <a:lnTo>
                    <a:pt x="2488497" y="842783"/>
                  </a:lnTo>
                  <a:lnTo>
                    <a:pt x="2502947" y="852519"/>
                  </a:lnTo>
                  <a:lnTo>
                    <a:pt x="2512683" y="866969"/>
                  </a:lnTo>
                  <a:lnTo>
                    <a:pt x="2516251" y="884681"/>
                  </a:lnTo>
                  <a:lnTo>
                    <a:pt x="2516251" y="1032509"/>
                  </a:lnTo>
                </a:path>
                <a:path w="2595245" h="1351279">
                  <a:moveTo>
                    <a:pt x="2516251" y="927988"/>
                  </a:moveTo>
                  <a:lnTo>
                    <a:pt x="2084197" y="927988"/>
                  </a:lnTo>
                </a:path>
                <a:path w="2595245" h="1351279">
                  <a:moveTo>
                    <a:pt x="2294001" y="1116710"/>
                  </a:moveTo>
                  <a:lnTo>
                    <a:pt x="2084197" y="1116710"/>
                  </a:lnTo>
                </a:path>
                <a:path w="2595245" h="1351279">
                  <a:moveTo>
                    <a:pt x="2516251" y="1022476"/>
                  </a:moveTo>
                  <a:lnTo>
                    <a:pt x="2084197" y="1022476"/>
                  </a:lnTo>
                </a:path>
                <a:path w="2595245" h="1351279">
                  <a:moveTo>
                    <a:pt x="2260727" y="1214373"/>
                  </a:moveTo>
                  <a:lnTo>
                    <a:pt x="2260727" y="927988"/>
                  </a:lnTo>
                </a:path>
                <a:path w="2595245" h="1351279">
                  <a:moveTo>
                    <a:pt x="2387219" y="1032509"/>
                  </a:moveTo>
                  <a:lnTo>
                    <a:pt x="2387219" y="927988"/>
                  </a:lnTo>
                </a:path>
                <a:path w="2595245" h="1351279">
                  <a:moveTo>
                    <a:pt x="2458720" y="1350898"/>
                  </a:moveTo>
                  <a:lnTo>
                    <a:pt x="2415615" y="1343942"/>
                  </a:lnTo>
                  <a:lnTo>
                    <a:pt x="2378173" y="1324568"/>
                  </a:lnTo>
                  <a:lnTo>
                    <a:pt x="2348644" y="1295020"/>
                  </a:lnTo>
                  <a:lnTo>
                    <a:pt x="2329277" y="1257540"/>
                  </a:lnTo>
                  <a:lnTo>
                    <a:pt x="2322322" y="1214373"/>
                  </a:lnTo>
                  <a:lnTo>
                    <a:pt x="2329277" y="1171269"/>
                  </a:lnTo>
                  <a:lnTo>
                    <a:pt x="2348644" y="1133827"/>
                  </a:lnTo>
                  <a:lnTo>
                    <a:pt x="2378173" y="1104298"/>
                  </a:lnTo>
                  <a:lnTo>
                    <a:pt x="2415615" y="1084931"/>
                  </a:lnTo>
                  <a:lnTo>
                    <a:pt x="2458720" y="1077975"/>
                  </a:lnTo>
                  <a:lnTo>
                    <a:pt x="2501824" y="1084931"/>
                  </a:lnTo>
                  <a:lnTo>
                    <a:pt x="2539266" y="1104298"/>
                  </a:lnTo>
                  <a:lnTo>
                    <a:pt x="2568795" y="1133827"/>
                  </a:lnTo>
                  <a:lnTo>
                    <a:pt x="2588162" y="1171269"/>
                  </a:lnTo>
                  <a:lnTo>
                    <a:pt x="2595118" y="1214373"/>
                  </a:lnTo>
                  <a:lnTo>
                    <a:pt x="2588162" y="1257540"/>
                  </a:lnTo>
                  <a:lnTo>
                    <a:pt x="2568795" y="1295020"/>
                  </a:lnTo>
                  <a:lnTo>
                    <a:pt x="2539266" y="1324568"/>
                  </a:lnTo>
                  <a:lnTo>
                    <a:pt x="2501824" y="1343942"/>
                  </a:lnTo>
                  <a:lnTo>
                    <a:pt x="2458720" y="1350898"/>
                  </a:lnTo>
                  <a:close/>
                </a:path>
                <a:path w="2595245" h="1351279">
                  <a:moveTo>
                    <a:pt x="2458720" y="1136649"/>
                  </a:moveTo>
                  <a:lnTo>
                    <a:pt x="2458720" y="1214500"/>
                  </a:lnTo>
                  <a:lnTo>
                    <a:pt x="2533523" y="1214500"/>
                  </a:lnTo>
                </a:path>
              </a:pathLst>
            </a:custGeom>
            <a:ln w="6671">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6" name="object 36"/>
          <p:cNvSpPr txBox="1"/>
          <p:nvPr/>
        </p:nvSpPr>
        <p:spPr>
          <a:xfrm>
            <a:off x="636828" y="2982848"/>
            <a:ext cx="5257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140" normalizeH="0" baseline="0" noProof="0">
                <a:ln>
                  <a:noFill/>
                </a:ln>
                <a:solidFill>
                  <a:srgbClr val="FF0000"/>
                </a:solidFill>
                <a:effectLst/>
                <a:uLnTx/>
                <a:uFillTx/>
                <a:latin typeface="Tahoma"/>
                <a:cs typeface="Tahoma"/>
              </a:rPr>
              <a:t>Tier</a:t>
            </a:r>
            <a:r>
              <a:rPr kumimoji="0" sz="1600" b="1" i="0" u="none" strike="noStrike" kern="0" cap="none" spc="20" normalizeH="0" baseline="0" noProof="0">
                <a:ln>
                  <a:noFill/>
                </a:ln>
                <a:solidFill>
                  <a:srgbClr val="FF0000"/>
                </a:solidFill>
                <a:effectLst/>
                <a:uLnTx/>
                <a:uFillTx/>
                <a:latin typeface="Tahoma"/>
                <a:cs typeface="Tahoma"/>
              </a:rPr>
              <a:t> </a:t>
            </a:r>
            <a:r>
              <a:rPr kumimoji="0" sz="1600" b="1" i="0" u="none" strike="noStrike" kern="0" cap="none" spc="-90" normalizeH="0" baseline="0" noProof="0">
                <a:ln>
                  <a:noFill/>
                </a:ln>
                <a:solidFill>
                  <a:srgbClr val="FF0000"/>
                </a:solidFill>
                <a:effectLst/>
                <a:uLnTx/>
                <a:uFillTx/>
                <a:latin typeface="Tahoma"/>
                <a:cs typeface="Tahoma"/>
              </a:rPr>
              <a:t>1</a:t>
            </a:r>
            <a:endParaRPr kumimoji="0" sz="1600" b="0" i="0" u="none" strike="noStrike" kern="0" cap="none" spc="0" normalizeH="0" baseline="0" noProof="0">
              <a:ln>
                <a:noFill/>
              </a:ln>
              <a:solidFill>
                <a:sysClr val="windowText" lastClr="000000"/>
              </a:solidFill>
              <a:effectLst/>
              <a:uLnTx/>
              <a:uFillTx/>
              <a:latin typeface="Tahoma"/>
              <a:cs typeface="Tahoma"/>
            </a:endParaRPr>
          </a:p>
        </p:txBody>
      </p:sp>
      <p:sp>
        <p:nvSpPr>
          <p:cNvPr id="37" name="object 37"/>
          <p:cNvSpPr txBox="1"/>
          <p:nvPr/>
        </p:nvSpPr>
        <p:spPr>
          <a:xfrm>
            <a:off x="2192782" y="2963925"/>
            <a:ext cx="1529080" cy="26924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tab pos="1015365" algn="l"/>
              </a:tabLst>
              <a:defRPr/>
            </a:pPr>
            <a:r>
              <a:rPr kumimoji="0" sz="2400" b="1" i="0" u="none" strike="noStrike" kern="0" cap="none" spc="-209" normalizeH="0" baseline="1736" noProof="0">
                <a:ln>
                  <a:noFill/>
                </a:ln>
                <a:solidFill>
                  <a:srgbClr val="FF0000"/>
                </a:solidFill>
                <a:effectLst/>
                <a:uLnTx/>
                <a:uFillTx/>
                <a:latin typeface="Tahoma"/>
                <a:cs typeface="Tahoma"/>
              </a:rPr>
              <a:t>Tier</a:t>
            </a:r>
            <a:r>
              <a:rPr kumimoji="0" sz="2400" b="1" i="0" u="none" strike="noStrike" kern="0" cap="none" spc="30" normalizeH="0" baseline="1736" noProof="0">
                <a:ln>
                  <a:noFill/>
                </a:ln>
                <a:solidFill>
                  <a:srgbClr val="FF0000"/>
                </a:solidFill>
                <a:effectLst/>
                <a:uLnTx/>
                <a:uFillTx/>
                <a:latin typeface="Tahoma"/>
                <a:cs typeface="Tahoma"/>
              </a:rPr>
              <a:t> </a:t>
            </a:r>
            <a:r>
              <a:rPr kumimoji="0" sz="2400" b="1" i="0" u="none" strike="noStrike" kern="0" cap="none" spc="-75" normalizeH="0" baseline="1736" noProof="0">
                <a:ln>
                  <a:noFill/>
                </a:ln>
                <a:solidFill>
                  <a:srgbClr val="FF0000"/>
                </a:solidFill>
                <a:effectLst/>
                <a:uLnTx/>
                <a:uFillTx/>
                <a:latin typeface="Tahoma"/>
                <a:cs typeface="Tahoma"/>
              </a:rPr>
              <a:t>2</a:t>
            </a:r>
            <a:r>
              <a:rPr kumimoji="0" sz="2400" b="1" i="0" u="none" strike="noStrike" kern="0" cap="none" spc="0" normalizeH="0" baseline="1736" noProof="0">
                <a:ln>
                  <a:noFill/>
                </a:ln>
                <a:solidFill>
                  <a:srgbClr val="FF0000"/>
                </a:solidFill>
                <a:effectLst/>
                <a:uLnTx/>
                <a:uFillTx/>
                <a:latin typeface="Tahoma"/>
                <a:cs typeface="Tahoma"/>
              </a:rPr>
              <a:t>	</a:t>
            </a:r>
            <a:r>
              <a:rPr kumimoji="0" sz="1600" b="1" i="0" u="none" strike="noStrike" kern="0" cap="none" spc="-140" normalizeH="0" baseline="0" noProof="0">
                <a:ln>
                  <a:noFill/>
                </a:ln>
                <a:solidFill>
                  <a:srgbClr val="FF0000"/>
                </a:solidFill>
                <a:effectLst/>
                <a:uLnTx/>
                <a:uFillTx/>
                <a:latin typeface="Tahoma"/>
                <a:cs typeface="Tahoma"/>
              </a:rPr>
              <a:t>Tier</a:t>
            </a:r>
            <a:r>
              <a:rPr kumimoji="0" sz="1600" b="1" i="0" u="none" strike="noStrike" kern="0" cap="none" spc="20" normalizeH="0" baseline="0" noProof="0">
                <a:ln>
                  <a:noFill/>
                </a:ln>
                <a:solidFill>
                  <a:srgbClr val="FF0000"/>
                </a:solidFill>
                <a:effectLst/>
                <a:uLnTx/>
                <a:uFillTx/>
                <a:latin typeface="Tahoma"/>
                <a:cs typeface="Tahoma"/>
              </a:rPr>
              <a:t> </a:t>
            </a:r>
            <a:r>
              <a:rPr kumimoji="0" sz="1600" b="1" i="0" u="none" strike="noStrike" kern="0" cap="none" spc="-85" normalizeH="0" baseline="0" noProof="0">
                <a:ln>
                  <a:noFill/>
                </a:ln>
                <a:solidFill>
                  <a:srgbClr val="FF0000"/>
                </a:solidFill>
                <a:effectLst/>
                <a:uLnTx/>
                <a:uFillTx/>
                <a:latin typeface="Tahoma"/>
                <a:cs typeface="Tahoma"/>
              </a:rPr>
              <a:t>3</a:t>
            </a:r>
            <a:endParaRPr kumimoji="0" sz="1600" b="0" i="0" u="none" strike="noStrike" kern="0" cap="none" spc="0" normalizeH="0" baseline="0" noProof="0">
              <a:ln>
                <a:noFill/>
              </a:ln>
              <a:solidFill>
                <a:sysClr val="windowText" lastClr="000000"/>
              </a:solidFill>
              <a:effectLst/>
              <a:uLnTx/>
              <a:uFillTx/>
              <a:latin typeface="Tahoma"/>
              <a:cs typeface="Tahoma"/>
            </a:endParaRPr>
          </a:p>
        </p:txBody>
      </p:sp>
      <p:grpSp>
        <p:nvGrpSpPr>
          <p:cNvPr id="38" name="object 38"/>
          <p:cNvGrpSpPr/>
          <p:nvPr/>
        </p:nvGrpSpPr>
        <p:grpSpPr>
          <a:xfrm>
            <a:off x="284645" y="1790979"/>
            <a:ext cx="1238250" cy="1206500"/>
            <a:chOff x="284645" y="1790979"/>
            <a:chExt cx="1238250" cy="1206500"/>
          </a:xfrm>
        </p:grpSpPr>
        <p:pic>
          <p:nvPicPr>
            <p:cNvPr id="39" name="object 39"/>
            <p:cNvPicPr/>
            <p:nvPr/>
          </p:nvPicPr>
          <p:blipFill>
            <a:blip r:embed="rId6" cstate="print"/>
            <a:stretch>
              <a:fillRect/>
            </a:stretch>
          </p:blipFill>
          <p:spPr>
            <a:xfrm>
              <a:off x="284645" y="2175289"/>
              <a:ext cx="429951" cy="503134"/>
            </a:xfrm>
            <a:prstGeom prst="rect">
              <a:avLst/>
            </a:prstGeom>
          </p:spPr>
        </p:pic>
        <p:pic>
          <p:nvPicPr>
            <p:cNvPr id="40" name="object 40"/>
            <p:cNvPicPr/>
            <p:nvPr/>
          </p:nvPicPr>
          <p:blipFill>
            <a:blip r:embed="rId7" cstate="print"/>
            <a:stretch>
              <a:fillRect/>
            </a:stretch>
          </p:blipFill>
          <p:spPr>
            <a:xfrm>
              <a:off x="377583" y="2309393"/>
              <a:ext cx="535152" cy="535152"/>
            </a:xfrm>
            <a:prstGeom prst="rect">
              <a:avLst/>
            </a:prstGeom>
          </p:spPr>
        </p:pic>
        <p:pic>
          <p:nvPicPr>
            <p:cNvPr id="41" name="object 41"/>
            <p:cNvPicPr/>
            <p:nvPr/>
          </p:nvPicPr>
          <p:blipFill>
            <a:blip r:embed="rId7" cstate="print"/>
            <a:stretch>
              <a:fillRect/>
            </a:stretch>
          </p:blipFill>
          <p:spPr>
            <a:xfrm>
              <a:off x="529983" y="2461793"/>
              <a:ext cx="535152" cy="535152"/>
            </a:xfrm>
            <a:prstGeom prst="rect">
              <a:avLst/>
            </a:prstGeom>
          </p:spPr>
        </p:pic>
        <p:pic>
          <p:nvPicPr>
            <p:cNvPr id="42" name="object 42"/>
            <p:cNvPicPr/>
            <p:nvPr/>
          </p:nvPicPr>
          <p:blipFill>
            <a:blip r:embed="rId7" cstate="print"/>
            <a:stretch>
              <a:fillRect/>
            </a:stretch>
          </p:blipFill>
          <p:spPr>
            <a:xfrm>
              <a:off x="682815" y="1790979"/>
              <a:ext cx="535152" cy="535152"/>
            </a:xfrm>
            <a:prstGeom prst="rect">
              <a:avLst/>
            </a:prstGeom>
          </p:spPr>
        </p:pic>
        <p:pic>
          <p:nvPicPr>
            <p:cNvPr id="43" name="object 43"/>
            <p:cNvPicPr/>
            <p:nvPr/>
          </p:nvPicPr>
          <p:blipFill>
            <a:blip r:embed="rId7" cstate="print"/>
            <a:stretch>
              <a:fillRect/>
            </a:stretch>
          </p:blipFill>
          <p:spPr>
            <a:xfrm>
              <a:off x="835215" y="1943379"/>
              <a:ext cx="535152" cy="535152"/>
            </a:xfrm>
            <a:prstGeom prst="rect">
              <a:avLst/>
            </a:prstGeom>
          </p:spPr>
        </p:pic>
        <p:pic>
          <p:nvPicPr>
            <p:cNvPr id="44" name="object 44"/>
            <p:cNvPicPr/>
            <p:nvPr/>
          </p:nvPicPr>
          <p:blipFill>
            <a:blip r:embed="rId7" cstate="print"/>
            <a:stretch>
              <a:fillRect/>
            </a:stretch>
          </p:blipFill>
          <p:spPr>
            <a:xfrm>
              <a:off x="987615" y="2095779"/>
              <a:ext cx="535152" cy="535152"/>
            </a:xfrm>
            <a:prstGeom prst="rect">
              <a:avLst/>
            </a:prstGeom>
          </p:spPr>
        </p:pic>
      </p:grpSp>
      <p:pic>
        <p:nvPicPr>
          <p:cNvPr id="45" name="object 45"/>
          <p:cNvPicPr/>
          <p:nvPr/>
        </p:nvPicPr>
        <p:blipFill>
          <a:blip r:embed="rId8" cstate="print"/>
          <a:stretch>
            <a:fillRect/>
          </a:stretch>
        </p:blipFill>
        <p:spPr>
          <a:xfrm>
            <a:off x="9008309" y="2425137"/>
            <a:ext cx="1246867" cy="3365862"/>
          </a:xfrm>
          <a:prstGeom prst="rect">
            <a:avLst/>
          </a:prstGeom>
        </p:spPr>
      </p:pic>
      <p:sp>
        <p:nvSpPr>
          <p:cNvPr id="46" name="object 46"/>
          <p:cNvSpPr txBox="1"/>
          <p:nvPr/>
        </p:nvSpPr>
        <p:spPr>
          <a:xfrm>
            <a:off x="9158096" y="2143124"/>
            <a:ext cx="1160145" cy="1778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000" b="0" i="0" u="none" strike="noStrike" kern="0" cap="none" spc="0" normalizeH="0" baseline="0" noProof="0">
                <a:ln>
                  <a:noFill/>
                </a:ln>
                <a:solidFill>
                  <a:srgbClr val="474747"/>
                </a:solidFill>
                <a:effectLst/>
                <a:uLnTx/>
                <a:uFillTx/>
                <a:latin typeface="Tahoma"/>
                <a:cs typeface="Tahoma"/>
              </a:rPr>
              <a:t>Long-Term</a:t>
            </a:r>
            <a:r>
              <a:rPr kumimoji="0" sz="1000" b="0" i="0" u="none" strike="noStrike" kern="0" cap="none" spc="165" normalizeH="0" baseline="0" noProof="0">
                <a:ln>
                  <a:noFill/>
                </a:ln>
                <a:solidFill>
                  <a:srgbClr val="474747"/>
                </a:solidFill>
                <a:effectLst/>
                <a:uLnTx/>
                <a:uFillTx/>
                <a:latin typeface="Tahoma"/>
                <a:cs typeface="Tahoma"/>
              </a:rPr>
              <a:t> </a:t>
            </a:r>
            <a:r>
              <a:rPr kumimoji="0" sz="1000" b="0" i="0" u="none" strike="noStrike" kern="0" cap="none" spc="50" normalizeH="0" baseline="0" noProof="0">
                <a:ln>
                  <a:noFill/>
                </a:ln>
                <a:solidFill>
                  <a:srgbClr val="474747"/>
                </a:solidFill>
                <a:effectLst/>
                <a:uLnTx/>
                <a:uFillTx/>
                <a:latin typeface="Tahoma"/>
                <a:cs typeface="Tahoma"/>
              </a:rPr>
              <a:t>Growth</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47" name="object 47"/>
          <p:cNvSpPr txBox="1"/>
          <p:nvPr/>
        </p:nvSpPr>
        <p:spPr>
          <a:xfrm>
            <a:off x="10361168" y="2548163"/>
            <a:ext cx="1586230" cy="1997075"/>
          </a:xfrm>
          <a:prstGeom prst="rect">
            <a:avLst/>
          </a:prstGeom>
        </p:spPr>
        <p:txBody>
          <a:bodyPr vert="horz" wrap="square" lIns="0" tIns="49530" rIns="0" bIns="0" rtlCol="0">
            <a:spAutoFit/>
          </a:bodyPr>
          <a:lstStyle/>
          <a:p>
            <a:pPr marL="12700" marR="0" lvl="0" indent="0" defTabSz="914400" eaLnBrk="1" fontAlgn="auto" latinLnBrk="0" hangingPunct="1">
              <a:lnSpc>
                <a:spcPct val="100000"/>
              </a:lnSpc>
              <a:spcBef>
                <a:spcPts val="390"/>
              </a:spcBef>
              <a:spcAft>
                <a:spcPts val="0"/>
              </a:spcAft>
              <a:buClrTx/>
              <a:buSzTx/>
              <a:buFontTx/>
              <a:buNone/>
              <a:tabLst/>
              <a:defRPr/>
            </a:pPr>
            <a:r>
              <a:rPr kumimoji="0" sz="1300" b="1" i="0" u="none" strike="noStrike" kern="0" cap="none" spc="-70" normalizeH="0" baseline="0" noProof="0">
                <a:ln>
                  <a:noFill/>
                </a:ln>
                <a:solidFill>
                  <a:srgbClr val="474747"/>
                </a:solidFill>
                <a:effectLst/>
                <a:uLnTx/>
                <a:uFillTx/>
                <a:latin typeface="Tahoma"/>
                <a:cs typeface="Tahoma"/>
              </a:rPr>
              <a:t>Retention</a:t>
            </a:r>
            <a:r>
              <a:rPr kumimoji="0" sz="1300" b="1" i="0" u="none" strike="noStrike" kern="0" cap="none" spc="-15" normalizeH="0" baseline="0" noProof="0">
                <a:ln>
                  <a:noFill/>
                </a:ln>
                <a:solidFill>
                  <a:srgbClr val="474747"/>
                </a:solidFill>
                <a:effectLst/>
                <a:uLnTx/>
                <a:uFillTx/>
                <a:latin typeface="Tahoma"/>
                <a:cs typeface="Tahoma"/>
              </a:rPr>
              <a:t> </a:t>
            </a:r>
            <a:r>
              <a:rPr kumimoji="0" sz="1300" b="1" i="0" u="none" strike="noStrike" kern="0" cap="none" spc="-10" normalizeH="0" baseline="0" noProof="0">
                <a:ln>
                  <a:noFill/>
                </a:ln>
                <a:solidFill>
                  <a:srgbClr val="474747"/>
                </a:solidFill>
                <a:effectLst/>
                <a:uLnTx/>
                <a:uFillTx/>
                <a:latin typeface="Tahoma"/>
                <a:cs typeface="Tahoma"/>
              </a:rPr>
              <a:t>Model</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12700" marR="255904" lvl="0" indent="0" defTabSz="914400" eaLnBrk="1" fontAlgn="auto" latinLnBrk="0" hangingPunct="1">
              <a:lnSpc>
                <a:spcPct val="100000"/>
              </a:lnSpc>
              <a:spcBef>
                <a:spcPts val="225"/>
              </a:spcBef>
              <a:spcAft>
                <a:spcPts val="0"/>
              </a:spcAft>
              <a:buClrTx/>
              <a:buSzTx/>
              <a:buFontTx/>
              <a:buNone/>
              <a:tabLst/>
              <a:defRPr/>
            </a:pPr>
            <a:r>
              <a:rPr kumimoji="0" sz="1000" b="0" i="0" u="none" strike="noStrike" kern="0" cap="none" spc="0" normalizeH="0" baseline="0" noProof="0">
                <a:ln>
                  <a:noFill/>
                </a:ln>
                <a:solidFill>
                  <a:srgbClr val="474747"/>
                </a:solidFill>
                <a:effectLst/>
                <a:uLnTx/>
                <a:uFillTx/>
                <a:latin typeface="Tahoma"/>
                <a:cs typeface="Tahoma"/>
              </a:rPr>
              <a:t>Internal</a:t>
            </a:r>
            <a:r>
              <a:rPr kumimoji="0" sz="1000" b="0" i="0" u="none" strike="noStrike" kern="0" cap="none" spc="70" normalizeH="0" baseline="0" noProof="0">
                <a:ln>
                  <a:noFill/>
                </a:ln>
                <a:solidFill>
                  <a:srgbClr val="474747"/>
                </a:solidFill>
                <a:effectLst/>
                <a:uLnTx/>
                <a:uFillTx/>
                <a:latin typeface="Tahoma"/>
                <a:cs typeface="Tahoma"/>
              </a:rPr>
              <a:t> </a:t>
            </a:r>
            <a:r>
              <a:rPr kumimoji="0" sz="1000" b="0" i="0" u="none" strike="noStrike" kern="0" cap="none" spc="60" normalizeH="0" baseline="0" noProof="0">
                <a:ln>
                  <a:noFill/>
                </a:ln>
                <a:solidFill>
                  <a:srgbClr val="474747"/>
                </a:solidFill>
                <a:effectLst/>
                <a:uLnTx/>
                <a:uFillTx/>
                <a:latin typeface="Tahoma"/>
                <a:cs typeface="Tahoma"/>
              </a:rPr>
              <a:t>career </a:t>
            </a:r>
            <a:r>
              <a:rPr kumimoji="0" sz="1000" b="0" i="0" u="none" strike="noStrike" kern="0" cap="none" spc="10" normalizeH="0" baseline="0" noProof="0">
                <a:ln>
                  <a:noFill/>
                </a:ln>
                <a:solidFill>
                  <a:srgbClr val="474747"/>
                </a:solidFill>
                <a:effectLst/>
                <a:uLnTx/>
                <a:uFillTx/>
                <a:latin typeface="Tahoma"/>
                <a:cs typeface="Tahoma"/>
              </a:rPr>
              <a:t>progression</a:t>
            </a:r>
            <a:r>
              <a:rPr kumimoji="0" sz="1000" b="0" i="0" u="none" strike="noStrike" kern="0" cap="none" spc="210"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paths, </a:t>
            </a:r>
            <a:r>
              <a:rPr kumimoji="0" sz="1000" b="0" i="0" u="none" strike="noStrike" kern="0" cap="none" spc="10" normalizeH="0" baseline="0" noProof="0">
                <a:ln>
                  <a:noFill/>
                </a:ln>
                <a:solidFill>
                  <a:srgbClr val="474747"/>
                </a:solidFill>
                <a:effectLst/>
                <a:uLnTx/>
                <a:uFillTx/>
                <a:latin typeface="Tahoma"/>
                <a:cs typeface="Tahoma"/>
              </a:rPr>
              <a:t>Quarterly</a:t>
            </a:r>
            <a:r>
              <a:rPr kumimoji="0" sz="1000" b="0" i="0" u="none" strike="noStrike" kern="0" cap="none" spc="210" normalizeH="0" baseline="0" noProof="0">
                <a:ln>
                  <a:noFill/>
                </a:ln>
                <a:solidFill>
                  <a:srgbClr val="474747"/>
                </a:solidFill>
                <a:effectLst/>
                <a:uLnTx/>
                <a:uFillTx/>
                <a:latin typeface="Tahoma"/>
                <a:cs typeface="Tahoma"/>
              </a:rPr>
              <a:t> </a:t>
            </a:r>
            <a:r>
              <a:rPr kumimoji="0" sz="1000" b="0" i="0" u="none" strike="noStrike" kern="0" cap="none" spc="45" normalizeH="0" baseline="0" noProof="0">
                <a:ln>
                  <a:noFill/>
                </a:ln>
                <a:solidFill>
                  <a:srgbClr val="474747"/>
                </a:solidFill>
                <a:effectLst/>
                <a:uLnTx/>
                <a:uFillTx/>
                <a:latin typeface="Tahoma"/>
                <a:cs typeface="Tahoma"/>
              </a:rPr>
              <a:t>recognition </a:t>
            </a:r>
            <a:r>
              <a:rPr kumimoji="0" sz="1000" b="0" i="0" u="none" strike="noStrike" kern="0" cap="none" spc="10" normalizeH="0" baseline="0" noProof="0">
                <a:ln>
                  <a:noFill/>
                </a:ln>
                <a:solidFill>
                  <a:srgbClr val="474747"/>
                </a:solidFill>
                <a:effectLst/>
                <a:uLnTx/>
                <a:uFillTx/>
                <a:latin typeface="Tahoma"/>
                <a:cs typeface="Tahoma"/>
              </a:rPr>
              <a:t>programs,</a:t>
            </a:r>
            <a:r>
              <a:rPr kumimoji="0" sz="1000" b="0" i="0" u="none" strike="noStrike" kern="0" cap="none" spc="235"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wellness </a:t>
            </a:r>
            <a:r>
              <a:rPr kumimoji="0" sz="1000" b="0" i="0" u="none" strike="noStrike" kern="0" cap="none" spc="0" normalizeH="0" baseline="0" noProof="0">
                <a:ln>
                  <a:noFill/>
                </a:ln>
                <a:solidFill>
                  <a:srgbClr val="474747"/>
                </a:solidFill>
                <a:effectLst/>
                <a:uLnTx/>
                <a:uFillTx/>
                <a:latin typeface="Tahoma"/>
                <a:cs typeface="Tahoma"/>
              </a:rPr>
              <a:t>support,</a:t>
            </a:r>
            <a:r>
              <a:rPr kumimoji="0" sz="1000" b="0" i="0" u="none" strike="noStrike" kern="0" cap="none" spc="220" normalizeH="0" baseline="0" noProof="0">
                <a:ln>
                  <a:noFill/>
                </a:ln>
                <a:solidFill>
                  <a:srgbClr val="474747"/>
                </a:solidFill>
                <a:effectLst/>
                <a:uLnTx/>
                <a:uFillTx/>
                <a:latin typeface="Tahoma"/>
                <a:cs typeface="Tahoma"/>
              </a:rPr>
              <a:t> </a:t>
            </a:r>
            <a:r>
              <a:rPr kumimoji="0" sz="1000" b="0" i="0" u="none" strike="noStrike" kern="0" cap="none" spc="80" normalizeH="0" baseline="0" noProof="0">
                <a:ln>
                  <a:noFill/>
                </a:ln>
                <a:solidFill>
                  <a:srgbClr val="474747"/>
                </a:solidFill>
                <a:effectLst/>
                <a:uLnTx/>
                <a:uFillTx/>
                <a:latin typeface="Tahoma"/>
                <a:cs typeface="Tahoma"/>
              </a:rPr>
              <a:t>check-</a:t>
            </a:r>
            <a:r>
              <a:rPr kumimoji="0" sz="1000" b="0" i="0" u="none" strike="noStrike" kern="0" cap="none" spc="-25" normalizeH="0" baseline="0" noProof="0">
                <a:ln>
                  <a:noFill/>
                </a:ln>
                <a:solidFill>
                  <a:srgbClr val="474747"/>
                </a:solidFill>
                <a:effectLst/>
                <a:uLnTx/>
                <a:uFillTx/>
                <a:latin typeface="Tahoma"/>
                <a:cs typeface="Tahoma"/>
              </a:rPr>
              <a:t>ins</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2700" marR="0" lvl="0" indent="0" defTabSz="914400" eaLnBrk="1" fontAlgn="auto" latinLnBrk="0" hangingPunct="1">
              <a:lnSpc>
                <a:spcPct val="100000"/>
              </a:lnSpc>
              <a:spcBef>
                <a:spcPts val="760"/>
              </a:spcBef>
              <a:spcAft>
                <a:spcPts val="0"/>
              </a:spcAft>
              <a:buClrTx/>
              <a:buSzTx/>
              <a:buFontTx/>
              <a:buNone/>
              <a:tabLst/>
              <a:defRPr/>
            </a:pPr>
            <a:r>
              <a:rPr kumimoji="0" sz="1300" b="1" i="0" u="none" strike="noStrike" kern="0" cap="none" spc="0" normalizeH="0" baseline="0" noProof="0">
                <a:ln>
                  <a:noFill/>
                </a:ln>
                <a:solidFill>
                  <a:srgbClr val="474747"/>
                </a:solidFill>
                <a:effectLst/>
                <a:uLnTx/>
                <a:uFillTx/>
                <a:latin typeface="Tahoma"/>
                <a:cs typeface="Tahoma"/>
              </a:rPr>
              <a:t>Ongoing</a:t>
            </a:r>
            <a:r>
              <a:rPr kumimoji="0" sz="1300" b="1" i="0" u="none" strike="noStrike" kern="0" cap="none" spc="-50" normalizeH="0" baseline="0" noProof="0">
                <a:ln>
                  <a:noFill/>
                </a:ln>
                <a:solidFill>
                  <a:srgbClr val="474747"/>
                </a:solidFill>
                <a:effectLst/>
                <a:uLnTx/>
                <a:uFillTx/>
                <a:latin typeface="Tahoma"/>
                <a:cs typeface="Tahoma"/>
              </a:rPr>
              <a:t> </a:t>
            </a:r>
            <a:r>
              <a:rPr kumimoji="0" sz="1300" b="1" i="0" u="none" strike="noStrike" kern="0" cap="none" spc="-10" normalizeH="0" baseline="0" noProof="0">
                <a:ln>
                  <a:noFill/>
                </a:ln>
                <a:solidFill>
                  <a:srgbClr val="474747"/>
                </a:solidFill>
                <a:effectLst/>
                <a:uLnTx/>
                <a:uFillTx/>
                <a:latin typeface="Tahoma"/>
                <a:cs typeface="Tahoma"/>
              </a:rPr>
              <a:t>Training</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12700" marR="5080" lvl="0" indent="0" defTabSz="914400" eaLnBrk="1" fontAlgn="auto" latinLnBrk="0" hangingPunct="1">
              <a:lnSpc>
                <a:spcPct val="100000"/>
              </a:lnSpc>
              <a:spcBef>
                <a:spcPts val="325"/>
              </a:spcBef>
              <a:spcAft>
                <a:spcPts val="0"/>
              </a:spcAft>
              <a:buClrTx/>
              <a:buSzTx/>
              <a:buFontTx/>
              <a:buNone/>
              <a:tabLst/>
              <a:defRPr/>
            </a:pPr>
            <a:r>
              <a:rPr kumimoji="0" sz="1000" b="0" i="0" u="none" strike="noStrike" kern="0" cap="none" spc="75" normalizeH="0" baseline="0" noProof="0">
                <a:ln>
                  <a:noFill/>
                </a:ln>
                <a:solidFill>
                  <a:srgbClr val="474747"/>
                </a:solidFill>
                <a:effectLst/>
                <a:uLnTx/>
                <a:uFillTx/>
                <a:latin typeface="Tahoma"/>
                <a:cs typeface="Tahoma"/>
              </a:rPr>
              <a:t>Knowledge</a:t>
            </a:r>
            <a:r>
              <a:rPr kumimoji="0" sz="1000" b="0" i="0" u="none" strike="noStrike" kern="0" cap="none" spc="-20"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Transfers, </a:t>
            </a:r>
            <a:r>
              <a:rPr kumimoji="0" sz="1000" b="0" i="0" u="none" strike="noStrike" kern="0" cap="none" spc="60" normalizeH="0" baseline="0" noProof="0">
                <a:ln>
                  <a:noFill/>
                </a:ln>
                <a:solidFill>
                  <a:srgbClr val="474747"/>
                </a:solidFill>
                <a:effectLst/>
                <a:uLnTx/>
                <a:uFillTx/>
                <a:latin typeface="Tahoma"/>
                <a:cs typeface="Tahoma"/>
              </a:rPr>
              <a:t>Product</a:t>
            </a:r>
            <a:r>
              <a:rPr kumimoji="0" sz="1000" b="0" i="0" u="none" strike="noStrike" kern="0" cap="none" spc="5" normalizeH="0" baseline="0" noProof="0">
                <a:ln>
                  <a:noFill/>
                </a:ln>
                <a:solidFill>
                  <a:srgbClr val="474747"/>
                </a:solidFill>
                <a:effectLst/>
                <a:uLnTx/>
                <a:uFillTx/>
                <a:latin typeface="Tahoma"/>
                <a:cs typeface="Tahoma"/>
              </a:rPr>
              <a:t> </a:t>
            </a:r>
            <a:r>
              <a:rPr kumimoji="0" sz="1000" b="0" i="0" u="none" strike="noStrike" kern="0" cap="none" spc="55" normalizeH="0" baseline="0" noProof="0">
                <a:ln>
                  <a:noFill/>
                </a:ln>
                <a:solidFill>
                  <a:srgbClr val="474747"/>
                </a:solidFill>
                <a:effectLst/>
                <a:uLnTx/>
                <a:uFillTx/>
                <a:latin typeface="Tahoma"/>
                <a:cs typeface="Tahoma"/>
              </a:rPr>
              <a:t>updates,</a:t>
            </a:r>
            <a:r>
              <a:rPr kumimoji="0" sz="1000" b="0" i="0" u="none" strike="noStrike" kern="0" cap="none" spc="-10" normalizeH="0" baseline="0" noProof="0">
                <a:ln>
                  <a:noFill/>
                </a:ln>
                <a:solidFill>
                  <a:srgbClr val="474747"/>
                </a:solidFill>
                <a:effectLst/>
                <a:uLnTx/>
                <a:uFillTx/>
                <a:latin typeface="Tahoma"/>
                <a:cs typeface="Tahoma"/>
              </a:rPr>
              <a:t> cross- </a:t>
            </a:r>
            <a:r>
              <a:rPr kumimoji="0" sz="1000" b="0" i="0" u="none" strike="noStrike" kern="0" cap="none" spc="-40" normalizeH="0" baseline="0" noProof="0">
                <a:ln>
                  <a:noFill/>
                </a:ln>
                <a:solidFill>
                  <a:srgbClr val="474747"/>
                </a:solidFill>
                <a:effectLst/>
                <a:uLnTx/>
                <a:uFillTx/>
                <a:latin typeface="Tahoma"/>
                <a:cs typeface="Tahoma"/>
              </a:rPr>
              <a:t>skills</a:t>
            </a:r>
            <a:r>
              <a:rPr kumimoji="0" sz="1000" b="0" i="0" u="none" strike="noStrike" kern="0" cap="none" spc="120" normalizeH="0" baseline="0" noProof="0">
                <a:ln>
                  <a:noFill/>
                </a:ln>
                <a:solidFill>
                  <a:srgbClr val="474747"/>
                </a:solidFill>
                <a:effectLst/>
                <a:uLnTx/>
                <a:uFillTx/>
                <a:latin typeface="Tahoma"/>
                <a:cs typeface="Tahoma"/>
              </a:rPr>
              <a:t> </a:t>
            </a:r>
            <a:r>
              <a:rPr kumimoji="0" sz="1000" b="0" i="0" u="none" strike="noStrike" kern="0" cap="none" spc="0" normalizeH="0" baseline="0" noProof="0">
                <a:ln>
                  <a:noFill/>
                </a:ln>
                <a:solidFill>
                  <a:srgbClr val="474747"/>
                </a:solidFill>
                <a:effectLst/>
                <a:uLnTx/>
                <a:uFillTx/>
                <a:latin typeface="Tahoma"/>
                <a:cs typeface="Tahoma"/>
              </a:rPr>
              <a:t>programs,</a:t>
            </a:r>
            <a:r>
              <a:rPr kumimoji="0" sz="1000" b="0" i="0" u="none" strike="noStrike" kern="0" cap="none" spc="165" normalizeH="0" baseline="0" noProof="0">
                <a:ln>
                  <a:noFill/>
                </a:ln>
                <a:solidFill>
                  <a:srgbClr val="474747"/>
                </a:solidFill>
                <a:effectLst/>
                <a:uLnTx/>
                <a:uFillTx/>
                <a:latin typeface="Tahoma"/>
                <a:cs typeface="Tahoma"/>
              </a:rPr>
              <a:t> </a:t>
            </a:r>
            <a:r>
              <a:rPr kumimoji="0" sz="1000" b="0" i="0" u="none" strike="noStrike" kern="0" cap="none" spc="35" normalizeH="0" baseline="0" noProof="0">
                <a:ln>
                  <a:noFill/>
                </a:ln>
                <a:solidFill>
                  <a:srgbClr val="474747"/>
                </a:solidFill>
                <a:effectLst/>
                <a:uLnTx/>
                <a:uFillTx/>
                <a:latin typeface="Tahoma"/>
                <a:cs typeface="Tahoma"/>
              </a:rPr>
              <a:t>mentoring</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2700"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a:ln>
                  <a:noFill/>
                </a:ln>
                <a:solidFill>
                  <a:srgbClr val="474747"/>
                </a:solidFill>
                <a:effectLst/>
                <a:uLnTx/>
                <a:uFillTx/>
                <a:latin typeface="Tahoma"/>
                <a:cs typeface="Tahoma"/>
              </a:rPr>
              <a:t>/</a:t>
            </a:r>
            <a:r>
              <a:rPr kumimoji="0" sz="1000" b="0" i="0" u="none" strike="noStrike" kern="0" cap="none" spc="5" normalizeH="0" baseline="0" noProof="0">
                <a:ln>
                  <a:noFill/>
                </a:ln>
                <a:solidFill>
                  <a:srgbClr val="474747"/>
                </a:solidFill>
                <a:effectLst/>
                <a:uLnTx/>
                <a:uFillTx/>
                <a:latin typeface="Tahoma"/>
                <a:cs typeface="Tahoma"/>
              </a:rPr>
              <a:t> </a:t>
            </a:r>
            <a:r>
              <a:rPr kumimoji="0" sz="1000" b="0" i="0" u="none" strike="noStrike" kern="0" cap="none" spc="45" normalizeH="0" baseline="0" noProof="0">
                <a:ln>
                  <a:noFill/>
                </a:ln>
                <a:solidFill>
                  <a:srgbClr val="474747"/>
                </a:solidFill>
                <a:effectLst/>
                <a:uLnTx/>
                <a:uFillTx/>
                <a:latin typeface="Tahoma"/>
                <a:cs typeface="Tahoma"/>
              </a:rPr>
              <a:t>modelling</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48" name="object 48"/>
          <p:cNvSpPr txBox="1"/>
          <p:nvPr/>
        </p:nvSpPr>
        <p:spPr>
          <a:xfrm>
            <a:off x="10361168" y="4684014"/>
            <a:ext cx="1700530" cy="1047115"/>
          </a:xfrm>
          <a:prstGeom prst="rect">
            <a:avLst/>
          </a:prstGeom>
        </p:spPr>
        <p:txBody>
          <a:bodyPr vert="horz" wrap="square" lIns="0" tIns="12065" rIns="0" bIns="0" rtlCol="0">
            <a:spAutoFit/>
          </a:bodyPr>
          <a:lstStyle/>
          <a:p>
            <a:pPr marL="12700" marR="712470" lvl="0" indent="0" defTabSz="914400" eaLnBrk="1" fontAlgn="auto" latinLnBrk="0" hangingPunct="1">
              <a:lnSpc>
                <a:spcPct val="100000"/>
              </a:lnSpc>
              <a:spcBef>
                <a:spcPts val="95"/>
              </a:spcBef>
              <a:spcAft>
                <a:spcPts val="0"/>
              </a:spcAft>
              <a:buClrTx/>
              <a:buSzTx/>
              <a:buFontTx/>
              <a:buNone/>
              <a:tabLst/>
              <a:defRPr/>
            </a:pPr>
            <a:r>
              <a:rPr kumimoji="0" sz="1300" b="1" i="0" u="none" strike="noStrike" kern="0" cap="none" spc="-10" normalizeH="0" baseline="0" noProof="0">
                <a:ln>
                  <a:noFill/>
                </a:ln>
                <a:solidFill>
                  <a:srgbClr val="474747"/>
                </a:solidFill>
                <a:effectLst/>
                <a:uLnTx/>
                <a:uFillTx/>
                <a:latin typeface="Tahoma"/>
                <a:cs typeface="Tahoma"/>
              </a:rPr>
              <a:t>Onboarding Curriculum</a:t>
            </a:r>
            <a:endParaRPr kumimoji="0" sz="1300" b="0" i="0" u="none" strike="noStrike" kern="0" cap="none" spc="0" normalizeH="0" baseline="0" noProof="0">
              <a:ln>
                <a:noFill/>
              </a:ln>
              <a:solidFill>
                <a:sysClr val="windowText" lastClr="000000"/>
              </a:solidFill>
              <a:effectLst/>
              <a:uLnTx/>
              <a:uFillTx/>
              <a:latin typeface="Tahoma"/>
              <a:cs typeface="Tahoma"/>
            </a:endParaRPr>
          </a:p>
          <a:p>
            <a:pPr marL="12700" marR="5080" lvl="0" indent="0" defTabSz="914400" eaLnBrk="1" fontAlgn="auto" latinLnBrk="0" hangingPunct="1">
              <a:lnSpc>
                <a:spcPct val="100000"/>
              </a:lnSpc>
              <a:spcBef>
                <a:spcPts val="125"/>
              </a:spcBef>
              <a:spcAft>
                <a:spcPts val="0"/>
              </a:spcAft>
              <a:buClrTx/>
              <a:buSzTx/>
              <a:buFontTx/>
              <a:buNone/>
              <a:tabLst/>
              <a:defRPr/>
            </a:pPr>
            <a:r>
              <a:rPr kumimoji="0" sz="1000" b="0" i="0" u="none" strike="noStrike" kern="0" cap="none" spc="55" normalizeH="0" baseline="0" noProof="0">
                <a:ln>
                  <a:noFill/>
                </a:ln>
                <a:solidFill>
                  <a:srgbClr val="474747"/>
                </a:solidFill>
                <a:effectLst/>
                <a:uLnTx/>
                <a:uFillTx/>
                <a:latin typeface="Tahoma"/>
                <a:cs typeface="Tahoma"/>
              </a:rPr>
              <a:t>Product/tool</a:t>
            </a:r>
            <a:r>
              <a:rPr kumimoji="0" sz="1000" b="0" i="0" u="none" strike="noStrike" kern="0" cap="none" spc="85" normalizeH="0" baseline="0" noProof="0">
                <a:ln>
                  <a:noFill/>
                </a:ln>
                <a:solidFill>
                  <a:srgbClr val="474747"/>
                </a:solidFill>
                <a:effectLst/>
                <a:uLnTx/>
                <a:uFillTx/>
                <a:latin typeface="Tahoma"/>
                <a:cs typeface="Tahoma"/>
              </a:rPr>
              <a:t> </a:t>
            </a:r>
            <a:r>
              <a:rPr kumimoji="0" sz="1000" b="0" i="0" u="none" strike="noStrike" kern="0" cap="none" spc="0" normalizeH="0" baseline="0" noProof="0">
                <a:ln>
                  <a:noFill/>
                </a:ln>
                <a:solidFill>
                  <a:srgbClr val="474747"/>
                </a:solidFill>
                <a:effectLst/>
                <a:uLnTx/>
                <a:uFillTx/>
                <a:latin typeface="Tahoma"/>
                <a:cs typeface="Tahoma"/>
              </a:rPr>
              <a:t>training</a:t>
            </a:r>
            <a:r>
              <a:rPr kumimoji="0" sz="1000" b="0" i="0" u="none" strike="noStrike" kern="0" cap="none" spc="60"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(ITSM, </a:t>
            </a:r>
            <a:r>
              <a:rPr kumimoji="0" sz="1000" b="0" i="0" u="none" strike="noStrike" kern="0" cap="none" spc="0" normalizeH="0" baseline="0" noProof="0">
                <a:ln>
                  <a:noFill/>
                </a:ln>
                <a:solidFill>
                  <a:srgbClr val="474747"/>
                </a:solidFill>
                <a:effectLst/>
                <a:uLnTx/>
                <a:uFillTx/>
                <a:latin typeface="Tahoma"/>
                <a:cs typeface="Tahoma"/>
              </a:rPr>
              <a:t>Ticketing,</a:t>
            </a:r>
            <a:r>
              <a:rPr kumimoji="0" sz="1000" b="0" i="0" u="none" strike="noStrike" kern="0" cap="none" spc="35" normalizeH="0" baseline="0" noProof="0">
                <a:ln>
                  <a:noFill/>
                </a:ln>
                <a:solidFill>
                  <a:srgbClr val="474747"/>
                </a:solidFill>
                <a:effectLst/>
                <a:uLnTx/>
                <a:uFillTx/>
                <a:latin typeface="Tahoma"/>
                <a:cs typeface="Tahoma"/>
              </a:rPr>
              <a:t> </a:t>
            </a:r>
            <a:r>
              <a:rPr kumimoji="0" sz="1000" b="0" i="0" u="none" strike="noStrike" kern="0" cap="none" spc="0" normalizeH="0" baseline="0" noProof="0">
                <a:ln>
                  <a:noFill/>
                </a:ln>
                <a:solidFill>
                  <a:srgbClr val="474747"/>
                </a:solidFill>
                <a:effectLst/>
                <a:uLnTx/>
                <a:uFillTx/>
                <a:latin typeface="Tahoma"/>
                <a:cs typeface="Tahoma"/>
              </a:rPr>
              <a:t>soft</a:t>
            </a:r>
            <a:r>
              <a:rPr kumimoji="0" sz="1000" b="0" i="0" u="none" strike="noStrike" kern="0" cap="none" spc="70" normalizeH="0" baseline="0" noProof="0">
                <a:ln>
                  <a:noFill/>
                </a:ln>
                <a:solidFill>
                  <a:srgbClr val="474747"/>
                </a:solidFill>
                <a:effectLst/>
                <a:uLnTx/>
                <a:uFillTx/>
                <a:latin typeface="Tahoma"/>
                <a:cs typeface="Tahoma"/>
              </a:rPr>
              <a:t> </a:t>
            </a:r>
            <a:r>
              <a:rPr kumimoji="0" sz="1000" b="0" i="0" u="none" strike="noStrike" kern="0" cap="none" spc="-35" normalizeH="0" baseline="0" noProof="0">
                <a:ln>
                  <a:noFill/>
                </a:ln>
                <a:solidFill>
                  <a:srgbClr val="474747"/>
                </a:solidFill>
                <a:effectLst/>
                <a:uLnTx/>
                <a:uFillTx/>
                <a:latin typeface="Tahoma"/>
                <a:cs typeface="Tahoma"/>
              </a:rPr>
              <a:t>skill</a:t>
            </a:r>
            <a:r>
              <a:rPr kumimoji="0" sz="1000" b="0" i="0" u="none" strike="noStrike" kern="0" cap="none" spc="25"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training, </a:t>
            </a:r>
            <a:r>
              <a:rPr kumimoji="0" sz="1000" b="0" i="0" u="none" strike="noStrike" kern="0" cap="none" spc="0" normalizeH="0" baseline="0" noProof="0">
                <a:ln>
                  <a:noFill/>
                </a:ln>
                <a:solidFill>
                  <a:srgbClr val="474747"/>
                </a:solidFill>
                <a:effectLst/>
                <a:uLnTx/>
                <a:uFillTx/>
                <a:latin typeface="Tahoma"/>
                <a:cs typeface="Tahoma"/>
              </a:rPr>
              <a:t>culture</a:t>
            </a:r>
            <a:r>
              <a:rPr kumimoji="0" sz="1000" b="0" i="0" u="none" strike="noStrike" kern="0" cap="none" spc="155" normalizeH="0" baseline="0" noProof="0">
                <a:ln>
                  <a:noFill/>
                </a:ln>
                <a:solidFill>
                  <a:srgbClr val="474747"/>
                </a:solidFill>
                <a:effectLst/>
                <a:uLnTx/>
                <a:uFillTx/>
                <a:latin typeface="Tahoma"/>
                <a:cs typeface="Tahoma"/>
              </a:rPr>
              <a:t> </a:t>
            </a:r>
            <a:r>
              <a:rPr kumimoji="0" sz="1000" b="0" i="0" u="none" strike="noStrike" kern="0" cap="none" spc="0" normalizeH="0" baseline="0" noProof="0">
                <a:ln>
                  <a:noFill/>
                </a:ln>
                <a:solidFill>
                  <a:srgbClr val="474747"/>
                </a:solidFill>
                <a:effectLst/>
                <a:uLnTx/>
                <a:uFillTx/>
                <a:latin typeface="Tahoma"/>
                <a:cs typeface="Tahoma"/>
              </a:rPr>
              <a:t>immersion</a:t>
            </a:r>
            <a:r>
              <a:rPr kumimoji="0" sz="1000" b="0" i="0" u="none" strike="noStrike" kern="0" cap="none" spc="150" normalizeH="0" baseline="0" noProof="0">
                <a:ln>
                  <a:noFill/>
                </a:ln>
                <a:solidFill>
                  <a:srgbClr val="474747"/>
                </a:solidFill>
                <a:effectLst/>
                <a:uLnTx/>
                <a:uFillTx/>
                <a:latin typeface="Tahoma"/>
                <a:cs typeface="Tahoma"/>
              </a:rPr>
              <a:t> </a:t>
            </a:r>
            <a:r>
              <a:rPr kumimoji="0" sz="1000" b="0" i="0" u="none" strike="noStrike" kern="0" cap="none" spc="-60" normalizeH="0" baseline="0" noProof="0">
                <a:ln>
                  <a:noFill/>
                </a:ln>
                <a:solidFill>
                  <a:srgbClr val="474747"/>
                </a:solidFill>
                <a:effectLst/>
                <a:uLnTx/>
                <a:uFillTx/>
                <a:latin typeface="Tahoma"/>
                <a:cs typeface="Tahoma"/>
              </a:rPr>
              <a:t>–</a:t>
            </a:r>
            <a:r>
              <a:rPr kumimoji="0" sz="1000" b="0" i="0" u="none" strike="noStrike" kern="0" cap="none" spc="140" normalizeH="0" baseline="0" noProof="0">
                <a:ln>
                  <a:noFill/>
                </a:ln>
                <a:solidFill>
                  <a:srgbClr val="474747"/>
                </a:solidFill>
                <a:effectLst/>
                <a:uLnTx/>
                <a:uFillTx/>
                <a:latin typeface="Tahoma"/>
                <a:cs typeface="Tahoma"/>
              </a:rPr>
              <a:t> </a:t>
            </a:r>
            <a:r>
              <a:rPr kumimoji="0" sz="1000" b="0" i="0" u="none" strike="noStrike" kern="0" cap="none" spc="-20" normalizeH="0" baseline="0" noProof="0">
                <a:ln>
                  <a:noFill/>
                </a:ln>
                <a:solidFill>
                  <a:srgbClr val="474747"/>
                </a:solidFill>
                <a:effectLst/>
                <a:uLnTx/>
                <a:uFillTx/>
                <a:latin typeface="Tahoma"/>
                <a:cs typeface="Tahoma"/>
              </a:rPr>
              <a:t>US/UK </a:t>
            </a:r>
            <a:r>
              <a:rPr kumimoji="0" sz="1000" b="0" i="0" u="none" strike="noStrike" kern="0" cap="none" spc="0" normalizeH="0" baseline="0" noProof="0">
                <a:ln>
                  <a:noFill/>
                </a:ln>
                <a:solidFill>
                  <a:srgbClr val="474747"/>
                </a:solidFill>
                <a:effectLst/>
                <a:uLnTx/>
                <a:uFillTx/>
                <a:latin typeface="Tahoma"/>
                <a:cs typeface="Tahoma"/>
              </a:rPr>
              <a:t>norms,</a:t>
            </a:r>
            <a:r>
              <a:rPr kumimoji="0" sz="1000" b="0" i="0" u="none" strike="noStrike" kern="0" cap="none" spc="10" normalizeH="0" baseline="0" noProof="0">
                <a:ln>
                  <a:noFill/>
                </a:ln>
                <a:solidFill>
                  <a:srgbClr val="474747"/>
                </a:solidFill>
                <a:effectLst/>
                <a:uLnTx/>
                <a:uFillTx/>
                <a:latin typeface="Tahoma"/>
                <a:cs typeface="Tahoma"/>
              </a:rPr>
              <a:t> </a:t>
            </a:r>
            <a:r>
              <a:rPr kumimoji="0" sz="1000" b="0" i="0" u="none" strike="noStrike" kern="0" cap="none" spc="75" normalizeH="0" baseline="0" noProof="0">
                <a:ln>
                  <a:noFill/>
                </a:ln>
                <a:solidFill>
                  <a:srgbClr val="474747"/>
                </a:solidFill>
                <a:effectLst/>
                <a:uLnTx/>
                <a:uFillTx/>
                <a:latin typeface="Tahoma"/>
                <a:cs typeface="Tahoma"/>
              </a:rPr>
              <a:t>workplace</a:t>
            </a:r>
            <a:r>
              <a:rPr kumimoji="0" sz="1000" b="0" i="0" u="none" strike="noStrike" kern="0" cap="none" spc="10" normalizeH="0" baseline="0" noProof="0">
                <a:ln>
                  <a:noFill/>
                </a:ln>
                <a:solidFill>
                  <a:srgbClr val="474747"/>
                </a:solidFill>
                <a:effectLst/>
                <a:uLnTx/>
                <a:uFillTx/>
                <a:latin typeface="Tahoma"/>
                <a:cs typeface="Tahoma"/>
              </a:rPr>
              <a:t> </a:t>
            </a:r>
            <a:r>
              <a:rPr kumimoji="0" sz="1000" b="0" i="0" u="none" strike="noStrike" kern="0" cap="none" spc="50" normalizeH="0" baseline="0" noProof="0">
                <a:ln>
                  <a:noFill/>
                </a:ln>
                <a:solidFill>
                  <a:srgbClr val="474747"/>
                </a:solidFill>
                <a:effectLst/>
                <a:uLnTx/>
                <a:uFillTx/>
                <a:latin typeface="Tahoma"/>
                <a:cs typeface="Tahoma"/>
              </a:rPr>
              <a:t>behavior</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49" name="object 49"/>
          <p:cNvSpPr txBox="1"/>
          <p:nvPr/>
        </p:nvSpPr>
        <p:spPr>
          <a:xfrm>
            <a:off x="9207754" y="5916879"/>
            <a:ext cx="1045844" cy="177800"/>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000" b="0" i="0" u="none" strike="noStrike" kern="0" cap="none" spc="-10" normalizeH="0" baseline="0" noProof="0">
                <a:ln>
                  <a:noFill/>
                </a:ln>
                <a:solidFill>
                  <a:srgbClr val="474747"/>
                </a:solidFill>
                <a:effectLst/>
                <a:uLnTx/>
                <a:uFillTx/>
                <a:latin typeface="Tahoma"/>
                <a:cs typeface="Tahoma"/>
              </a:rPr>
              <a:t>Initial</a:t>
            </a:r>
            <a:r>
              <a:rPr kumimoji="0" sz="1000" b="0" i="0" u="none" strike="noStrike" kern="0" cap="none" spc="-25" normalizeH="0" baseline="0" noProof="0">
                <a:ln>
                  <a:noFill/>
                </a:ln>
                <a:solidFill>
                  <a:srgbClr val="474747"/>
                </a:solidFill>
                <a:effectLst/>
                <a:uLnTx/>
                <a:uFillTx/>
                <a:latin typeface="Tahoma"/>
                <a:cs typeface="Tahoma"/>
              </a:rPr>
              <a:t> </a:t>
            </a:r>
            <a:r>
              <a:rPr kumimoji="0" sz="1000" b="0" i="0" u="none" strike="noStrike" kern="0" cap="none" spc="-10" normalizeH="0" baseline="0" noProof="0">
                <a:ln>
                  <a:noFill/>
                </a:ln>
                <a:solidFill>
                  <a:srgbClr val="474747"/>
                </a:solidFill>
                <a:effectLst/>
                <a:uLnTx/>
                <a:uFillTx/>
                <a:latin typeface="Tahoma"/>
                <a:cs typeface="Tahoma"/>
              </a:rPr>
              <a:t>Integration</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50" name="object 50"/>
          <p:cNvSpPr txBox="1"/>
          <p:nvPr/>
        </p:nvSpPr>
        <p:spPr>
          <a:xfrm>
            <a:off x="8920733" y="1391157"/>
            <a:ext cx="2954655" cy="544195"/>
          </a:xfrm>
          <a:prstGeom prst="rect">
            <a:avLst/>
          </a:prstGeom>
        </p:spPr>
        <p:txBody>
          <a:bodyPr vert="horz" wrap="square" lIns="0" tIns="13335" rIns="0" bIns="0" rtlCol="0">
            <a:spAutoFit/>
          </a:bodyPr>
          <a:lstStyle/>
          <a:p>
            <a:pPr marL="12700" marR="5080" lvl="0" indent="0" defTabSz="914400" eaLnBrk="1" fontAlgn="auto" latinLnBrk="0" hangingPunct="1">
              <a:lnSpc>
                <a:spcPct val="100000"/>
              </a:lnSpc>
              <a:spcBef>
                <a:spcPts val="105"/>
              </a:spcBef>
              <a:spcAft>
                <a:spcPts val="0"/>
              </a:spcAft>
              <a:buClrTx/>
              <a:buSzTx/>
              <a:buFontTx/>
              <a:buNone/>
              <a:tabLst/>
              <a:defRPr/>
            </a:pPr>
            <a:r>
              <a:rPr kumimoji="0" lang="en-US" sz="1700" b="1" i="0" u="none" strike="noStrike" kern="0" cap="none" spc="0" normalizeH="0" baseline="0" noProof="0">
                <a:ln>
                  <a:noFill/>
                </a:ln>
                <a:solidFill>
                  <a:srgbClr val="54535A"/>
                </a:solidFill>
                <a:effectLst/>
                <a:uLnTx/>
                <a:uFillTx/>
                <a:latin typeface="Century Gothic" panose="020B0502020202020204" pitchFamily="34" charset="0"/>
                <a:cs typeface="Tahoma"/>
              </a:rPr>
              <a:t>People</a:t>
            </a:r>
            <a:r>
              <a:rPr kumimoji="0" lang="en-US" sz="1700" b="1" i="0" u="none" strike="noStrike" kern="0" cap="none" spc="-65"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65" normalizeH="0" baseline="0" noProof="0" err="1">
                <a:ln>
                  <a:noFill/>
                </a:ln>
                <a:solidFill>
                  <a:srgbClr val="54535A"/>
                </a:solidFill>
                <a:effectLst/>
                <a:uLnTx/>
                <a:uFillTx/>
                <a:latin typeface="Century Gothic" panose="020B0502020202020204" pitchFamily="34" charset="0"/>
                <a:cs typeface="Tahoma"/>
              </a:rPr>
              <a:t>NRSt</a:t>
            </a:r>
            <a:r>
              <a:rPr kumimoji="0" lang="en-US" sz="1700" b="1" i="0" u="none" strike="noStrike" kern="0" cap="none" spc="-165" normalizeH="0" baseline="0" noProof="0">
                <a:ln>
                  <a:noFill/>
                </a:ln>
                <a:solidFill>
                  <a:srgbClr val="54535A"/>
                </a:solidFill>
                <a:effectLst/>
                <a:uLnTx/>
                <a:uFillTx/>
                <a:latin typeface="Century Gothic" panose="020B0502020202020204" pitchFamily="34" charset="0"/>
                <a:cs typeface="Tahoma"/>
              </a:rPr>
              <a:t>:</a:t>
            </a:r>
            <a:r>
              <a:rPr kumimoji="0" lang="en-US" sz="1700" b="1"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Training, </a:t>
            </a:r>
            <a:r>
              <a:rPr kumimoji="0" lang="en-US" sz="1700" b="1" i="0" u="none" strike="noStrike" kern="0" cap="none" spc="-60" normalizeH="0" baseline="0" noProof="0">
                <a:ln>
                  <a:noFill/>
                </a:ln>
                <a:solidFill>
                  <a:srgbClr val="54535A"/>
                </a:solidFill>
                <a:effectLst/>
                <a:uLnTx/>
                <a:uFillTx/>
                <a:latin typeface="Century Gothic" panose="020B0502020202020204" pitchFamily="34" charset="0"/>
                <a:cs typeface="Tahoma"/>
              </a:rPr>
              <a:t>Culture</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180" normalizeH="0" baseline="0" noProof="0">
                <a:ln>
                  <a:noFill/>
                </a:ln>
                <a:solidFill>
                  <a:srgbClr val="54535A"/>
                </a:solidFill>
                <a:effectLst/>
                <a:uLnTx/>
                <a:uFillTx/>
                <a:latin typeface="Century Gothic" panose="020B0502020202020204" pitchFamily="34" charset="0"/>
                <a:cs typeface="Tahoma"/>
              </a:rPr>
              <a:t>&amp;</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85" normalizeH="0" baseline="0" noProof="0">
                <a:ln>
                  <a:noFill/>
                </a:ln>
                <a:solidFill>
                  <a:srgbClr val="54535A"/>
                </a:solidFill>
                <a:effectLst/>
                <a:uLnTx/>
                <a:uFillTx/>
                <a:latin typeface="Century Gothic" panose="020B0502020202020204" pitchFamily="34" charset="0"/>
                <a:cs typeface="Tahoma"/>
              </a:rPr>
              <a:t>Retention</a:t>
            </a:r>
            <a:r>
              <a:rPr kumimoji="0" lang="en-US" sz="17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US" sz="1700" b="1" i="0" u="none" strike="noStrike" kern="0" cap="none" spc="-65" normalizeH="0" baseline="0" noProof="0">
                <a:ln>
                  <a:noFill/>
                </a:ln>
                <a:solidFill>
                  <a:srgbClr val="54535A"/>
                </a:solidFill>
                <a:effectLst/>
                <a:uLnTx/>
                <a:uFillTx/>
                <a:latin typeface="Century Gothic" panose="020B0502020202020204" pitchFamily="34" charset="0"/>
                <a:cs typeface="Tahoma"/>
              </a:rPr>
              <a:t>Strategy</a:t>
            </a:r>
            <a:endParaRPr kumimoji="0" lang="en-US" sz="17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51" name="object 51"/>
          <p:cNvSpPr txBox="1"/>
          <p:nvPr/>
        </p:nvSpPr>
        <p:spPr>
          <a:xfrm>
            <a:off x="269849" y="4815282"/>
            <a:ext cx="3090097" cy="875881"/>
          </a:xfrm>
          <a:prstGeom prst="rect">
            <a:avLst/>
          </a:prstGeom>
        </p:spPr>
        <p:txBody>
          <a:bodyPr vert="horz" wrap="square" lIns="0" tIns="100330" rIns="0" bIns="0" rtlCol="0">
            <a:spAutoFit/>
          </a:bodyPr>
          <a:lstStyle/>
          <a:p>
            <a:pPr marL="347980" marR="0" lvl="0" indent="0" defTabSz="914400" eaLnBrk="1" fontAlgn="auto" latinLnBrk="0" hangingPunct="1">
              <a:lnSpc>
                <a:spcPct val="100000"/>
              </a:lnSpc>
              <a:spcBef>
                <a:spcPts val="790"/>
              </a:spcBef>
              <a:spcAft>
                <a:spcPts val="0"/>
              </a:spcAft>
              <a:buClrTx/>
              <a:buSzTx/>
              <a:buFontTx/>
              <a:buNone/>
              <a:tabLst/>
              <a:defRPr/>
            </a:pPr>
            <a:r>
              <a:rPr kumimoji="0" lang="en-US" sz="1700" b="1" i="0" u="none" strike="noStrike" kern="0" cap="none" spc="0" normalizeH="0" baseline="0" noProof="0">
                <a:ln>
                  <a:noFill/>
                </a:ln>
                <a:solidFill>
                  <a:srgbClr val="52555A"/>
                </a:solidFill>
                <a:effectLst/>
                <a:uLnTx/>
                <a:uFillTx/>
                <a:latin typeface="Century Gothic" panose="020B0502020202020204" pitchFamily="34" charset="0"/>
                <a:cs typeface="Tahoma"/>
              </a:rPr>
              <a:t>Feedback</a:t>
            </a:r>
            <a:r>
              <a:rPr kumimoji="0" lang="en-US" sz="1700" b="1" i="0" u="none" strike="noStrike" kern="0" cap="none" spc="245" normalizeH="0" baseline="0" noProof="0">
                <a:ln>
                  <a:noFill/>
                </a:ln>
                <a:solidFill>
                  <a:srgbClr val="52555A"/>
                </a:solidFill>
                <a:effectLst/>
                <a:uLnTx/>
                <a:uFillTx/>
                <a:latin typeface="Century Gothic" panose="020B0502020202020204" pitchFamily="34" charset="0"/>
                <a:cs typeface="Tahoma"/>
              </a:rPr>
              <a:t> </a:t>
            </a:r>
            <a:r>
              <a:rPr kumimoji="0" lang="en-US" sz="1700" b="1" i="0" u="none" strike="noStrike" kern="0" cap="none" spc="-10" normalizeH="0" baseline="0" noProof="0">
                <a:ln>
                  <a:noFill/>
                </a:ln>
                <a:solidFill>
                  <a:srgbClr val="52555A"/>
                </a:solidFill>
                <a:effectLst/>
                <a:uLnTx/>
                <a:uFillTx/>
                <a:latin typeface="Century Gothic" panose="020B0502020202020204" pitchFamily="34" charset="0"/>
                <a:cs typeface="Tahoma"/>
              </a:rPr>
              <a:t>Mechanisms</a:t>
            </a:r>
            <a:endParaRPr kumimoji="0" lang="en-US" sz="17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a:p>
            <a:pPr marL="183515" marR="84455" lvl="0" indent="-171450" defTabSz="914400" eaLnBrk="1" fontAlgn="auto" latinLnBrk="0" hangingPunct="1">
              <a:lnSpc>
                <a:spcPct val="100000"/>
              </a:lnSpc>
              <a:spcBef>
                <a:spcPts val="395"/>
              </a:spcBef>
              <a:spcAft>
                <a:spcPts val="0"/>
              </a:spcAft>
              <a:buClrTx/>
              <a:buSzTx/>
              <a:buFont typeface="Wingdings"/>
              <a:buChar char=""/>
              <a:tabLst>
                <a:tab pos="184785" algn="l"/>
              </a:tabLst>
              <a:defRPr/>
            </a:pPr>
            <a:r>
              <a:rPr kumimoji="0" sz="1000" b="0" i="0" u="none" strike="noStrike" kern="0" cap="none" spc="0" normalizeH="0" baseline="0" noProof="0">
                <a:ln>
                  <a:noFill/>
                </a:ln>
                <a:solidFill>
                  <a:srgbClr val="54535A"/>
                </a:solidFill>
                <a:effectLst/>
                <a:uLnTx/>
                <a:uFillTx/>
                <a:latin typeface="Tahoma"/>
                <a:cs typeface="Tahoma"/>
              </a:rPr>
              <a:t>Post-</a:t>
            </a:r>
            <a:r>
              <a:rPr kumimoji="0" sz="1000" b="0" i="0" u="none" strike="noStrike" kern="0" cap="none" spc="45" normalizeH="0" baseline="0" noProof="0">
                <a:ln>
                  <a:noFill/>
                </a:ln>
                <a:solidFill>
                  <a:srgbClr val="54535A"/>
                </a:solidFill>
                <a:effectLst/>
                <a:uLnTx/>
                <a:uFillTx/>
                <a:latin typeface="Tahoma"/>
                <a:cs typeface="Tahoma"/>
              </a:rPr>
              <a:t>interaction</a:t>
            </a:r>
            <a:r>
              <a:rPr kumimoji="0" sz="1000" b="0" i="0" u="none" strike="noStrike" kern="0" cap="none" spc="-10" normalizeH="0" baseline="0" noProof="0">
                <a:ln>
                  <a:noFill/>
                </a:ln>
                <a:solidFill>
                  <a:srgbClr val="54535A"/>
                </a:solidFill>
                <a:effectLst/>
                <a:uLnTx/>
                <a:uFillTx/>
                <a:latin typeface="Tahoma"/>
                <a:cs typeface="Tahoma"/>
              </a:rPr>
              <a:t> </a:t>
            </a:r>
            <a:r>
              <a:rPr kumimoji="0" sz="1000" b="0" i="0" u="none" strike="noStrike" kern="0" cap="none" spc="0" normalizeH="0" baseline="0" noProof="0">
                <a:ln>
                  <a:noFill/>
                </a:ln>
                <a:solidFill>
                  <a:srgbClr val="54535A"/>
                </a:solidFill>
                <a:effectLst/>
                <a:uLnTx/>
                <a:uFillTx/>
                <a:latin typeface="Tahoma"/>
                <a:cs typeface="Tahoma"/>
              </a:rPr>
              <a:t>surveys</a:t>
            </a:r>
            <a:r>
              <a:rPr kumimoji="0" sz="1000" b="0" i="0" u="none" strike="noStrike" kern="0" cap="none" spc="40" normalizeH="0" baseline="0" noProof="0">
                <a:ln>
                  <a:noFill/>
                </a:ln>
                <a:solidFill>
                  <a:srgbClr val="54535A"/>
                </a:solidFill>
                <a:effectLst/>
                <a:uLnTx/>
                <a:uFillTx/>
                <a:latin typeface="Tahoma"/>
                <a:cs typeface="Tahoma"/>
              </a:rPr>
              <a:t> </a:t>
            </a:r>
            <a:r>
              <a:rPr kumimoji="0" sz="1000" b="0" i="0" u="none" strike="noStrike" kern="0" cap="none" spc="0" normalizeH="0" baseline="0" noProof="0">
                <a:ln>
                  <a:noFill/>
                </a:ln>
                <a:solidFill>
                  <a:srgbClr val="54535A"/>
                </a:solidFill>
                <a:effectLst/>
                <a:uLnTx/>
                <a:uFillTx/>
                <a:latin typeface="Tahoma"/>
                <a:cs typeface="Tahoma"/>
              </a:rPr>
              <a:t>(Email/</a:t>
            </a:r>
            <a:r>
              <a:rPr kumimoji="0" sz="1000" b="0" i="0" u="none" strike="noStrike" kern="0" cap="none" spc="60" normalizeH="0" baseline="0" noProof="0">
                <a:ln>
                  <a:noFill/>
                </a:ln>
                <a:solidFill>
                  <a:srgbClr val="54535A"/>
                </a:solidFill>
                <a:effectLst/>
                <a:uLnTx/>
                <a:uFillTx/>
                <a:latin typeface="Tahoma"/>
                <a:cs typeface="Tahoma"/>
              </a:rPr>
              <a:t> </a:t>
            </a:r>
            <a:r>
              <a:rPr kumimoji="0" sz="1000" b="0" i="0" u="none" strike="noStrike" kern="0" cap="none" spc="105" normalizeH="0" baseline="0" noProof="0">
                <a:ln>
                  <a:noFill/>
                </a:ln>
                <a:solidFill>
                  <a:srgbClr val="54535A"/>
                </a:solidFill>
                <a:effectLst/>
                <a:uLnTx/>
                <a:uFillTx/>
                <a:latin typeface="Tahoma"/>
                <a:cs typeface="Tahoma"/>
              </a:rPr>
              <a:t>and</a:t>
            </a:r>
            <a:r>
              <a:rPr kumimoji="0" sz="1000" b="0" i="0" u="none" strike="noStrike" kern="0" cap="none" spc="20" normalizeH="0" baseline="0" noProof="0">
                <a:ln>
                  <a:noFill/>
                </a:ln>
                <a:solidFill>
                  <a:srgbClr val="54535A"/>
                </a:solidFill>
                <a:effectLst/>
                <a:uLnTx/>
                <a:uFillTx/>
                <a:latin typeface="Tahoma"/>
                <a:cs typeface="Tahoma"/>
              </a:rPr>
              <a:t> </a:t>
            </a:r>
            <a:r>
              <a:rPr kumimoji="0" sz="1000" b="0" i="0" u="none" strike="noStrike" kern="0" cap="none" spc="-20" normalizeH="0" baseline="0" noProof="0">
                <a:ln>
                  <a:noFill/>
                </a:ln>
                <a:solidFill>
                  <a:srgbClr val="54535A"/>
                </a:solidFill>
                <a:effectLst/>
                <a:uLnTx/>
                <a:uFillTx/>
                <a:latin typeface="Tahoma"/>
                <a:cs typeface="Tahoma"/>
              </a:rPr>
              <a:t>other 	</a:t>
            </a:r>
            <a:r>
              <a:rPr kumimoji="0" sz="1000" b="0" i="0" u="none" strike="noStrike" kern="0" cap="none" spc="35" normalizeH="0" baseline="0" noProof="0">
                <a:ln>
                  <a:noFill/>
                </a:ln>
                <a:solidFill>
                  <a:srgbClr val="54535A"/>
                </a:solidFill>
                <a:effectLst/>
                <a:uLnTx/>
                <a:uFillTx/>
                <a:latin typeface="Tahoma"/>
                <a:cs typeface="Tahoma"/>
              </a:rPr>
              <a:t>channels)</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84150" marR="0" lvl="0" indent="-171450" defTabSz="914400" eaLnBrk="1" fontAlgn="auto" latinLnBrk="0" hangingPunct="1">
              <a:lnSpc>
                <a:spcPct val="100000"/>
              </a:lnSpc>
              <a:spcBef>
                <a:spcPts val="0"/>
              </a:spcBef>
              <a:spcAft>
                <a:spcPts val="0"/>
              </a:spcAft>
              <a:buClrTx/>
              <a:buSzTx/>
              <a:buFont typeface="Wingdings"/>
              <a:buChar char=""/>
              <a:tabLst>
                <a:tab pos="184150" algn="l"/>
              </a:tabLst>
              <a:defRPr/>
            </a:pPr>
            <a:r>
              <a:rPr kumimoji="0" sz="1000" b="0" i="0" u="none" strike="noStrike" kern="0" cap="none" spc="10" normalizeH="0" baseline="0" noProof="0">
                <a:ln>
                  <a:noFill/>
                </a:ln>
                <a:solidFill>
                  <a:srgbClr val="54535A"/>
                </a:solidFill>
                <a:effectLst/>
                <a:uLnTx/>
                <a:uFillTx/>
                <a:latin typeface="Tahoma"/>
                <a:cs typeface="Tahoma"/>
              </a:rPr>
              <a:t>Sentiment</a:t>
            </a:r>
            <a:r>
              <a:rPr kumimoji="0" sz="1000" b="0" i="0" u="none" strike="noStrike" kern="0" cap="none" spc="190" normalizeH="0" baseline="0" noProof="0">
                <a:ln>
                  <a:noFill/>
                </a:ln>
                <a:solidFill>
                  <a:srgbClr val="54535A"/>
                </a:solidFill>
                <a:effectLst/>
                <a:uLnTx/>
                <a:uFillTx/>
                <a:latin typeface="Tahoma"/>
                <a:cs typeface="Tahoma"/>
              </a:rPr>
              <a:t> </a:t>
            </a:r>
            <a:r>
              <a:rPr kumimoji="0" sz="1000" b="0" i="0" u="none" strike="noStrike" kern="0" cap="none" spc="-10" normalizeH="0" baseline="0" noProof="0">
                <a:ln>
                  <a:noFill/>
                </a:ln>
                <a:solidFill>
                  <a:srgbClr val="54535A"/>
                </a:solidFill>
                <a:effectLst/>
                <a:uLnTx/>
                <a:uFillTx/>
                <a:latin typeface="Tahoma"/>
                <a:cs typeface="Tahoma"/>
              </a:rPr>
              <a:t>analysis</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pic>
        <p:nvPicPr>
          <p:cNvPr id="52" name="object 52"/>
          <p:cNvPicPr/>
          <p:nvPr/>
        </p:nvPicPr>
        <p:blipFill>
          <a:blip r:embed="rId9" cstate="print"/>
          <a:stretch>
            <a:fillRect/>
          </a:stretch>
        </p:blipFill>
        <p:spPr>
          <a:xfrm>
            <a:off x="171916" y="5784196"/>
            <a:ext cx="642741" cy="687068"/>
          </a:xfrm>
          <a:prstGeom prst="rect">
            <a:avLst/>
          </a:prstGeom>
        </p:spPr>
      </p:pic>
      <p:pic>
        <p:nvPicPr>
          <p:cNvPr id="53" name="object 53"/>
          <p:cNvPicPr/>
          <p:nvPr/>
        </p:nvPicPr>
        <p:blipFill>
          <a:blip r:embed="rId10" cstate="print"/>
          <a:stretch>
            <a:fillRect/>
          </a:stretch>
        </p:blipFill>
        <p:spPr>
          <a:xfrm>
            <a:off x="3195954" y="5817565"/>
            <a:ext cx="646328" cy="646328"/>
          </a:xfrm>
          <a:prstGeom prst="rect">
            <a:avLst/>
          </a:prstGeom>
        </p:spPr>
      </p:pic>
      <p:pic>
        <p:nvPicPr>
          <p:cNvPr id="54" name="object 54"/>
          <p:cNvPicPr/>
          <p:nvPr/>
        </p:nvPicPr>
        <p:blipFill>
          <a:blip r:embed="rId11" cstate="print"/>
          <a:stretch>
            <a:fillRect/>
          </a:stretch>
        </p:blipFill>
        <p:spPr>
          <a:xfrm>
            <a:off x="1071112" y="5836018"/>
            <a:ext cx="636229" cy="646328"/>
          </a:xfrm>
          <a:prstGeom prst="rect">
            <a:avLst/>
          </a:prstGeom>
        </p:spPr>
      </p:pic>
      <p:pic>
        <p:nvPicPr>
          <p:cNvPr id="55" name="object 55"/>
          <p:cNvPicPr/>
          <p:nvPr/>
        </p:nvPicPr>
        <p:blipFill>
          <a:blip r:embed="rId12" cstate="print"/>
          <a:stretch>
            <a:fillRect/>
          </a:stretch>
        </p:blipFill>
        <p:spPr>
          <a:xfrm>
            <a:off x="2112296" y="5792357"/>
            <a:ext cx="687068" cy="664904"/>
          </a:xfrm>
          <a:prstGeom prst="rect">
            <a:avLst/>
          </a:prstGeom>
        </p:spPr>
      </p:pic>
      <p:sp>
        <p:nvSpPr>
          <p:cNvPr id="56" name="object 56"/>
          <p:cNvSpPr txBox="1"/>
          <p:nvPr/>
        </p:nvSpPr>
        <p:spPr>
          <a:xfrm>
            <a:off x="201879" y="6510629"/>
            <a:ext cx="524510" cy="25840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1" i="0" u="none" strike="noStrike" kern="0" cap="none" spc="-50" normalizeH="0" baseline="0" noProof="0">
                <a:ln>
                  <a:noFill/>
                </a:ln>
                <a:solidFill>
                  <a:srgbClr val="FF0000"/>
                </a:solidFill>
                <a:effectLst/>
                <a:uLnTx/>
                <a:uFillTx/>
                <a:latin typeface="Century Gothic" panose="020B0502020202020204" pitchFamily="34" charset="0"/>
                <a:cs typeface="Tahoma"/>
              </a:rPr>
              <a:t>CSAT</a:t>
            </a:r>
            <a:endParaRPr kumimoji="0" lang="en-US" sz="16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57" name="object 57"/>
          <p:cNvSpPr txBox="1"/>
          <p:nvPr/>
        </p:nvSpPr>
        <p:spPr>
          <a:xfrm>
            <a:off x="1144930" y="6530137"/>
            <a:ext cx="392430" cy="25840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1" i="0" u="none" strike="noStrike" kern="0" cap="none" spc="-130" normalizeH="0" baseline="0" noProof="0">
                <a:ln>
                  <a:noFill/>
                </a:ln>
                <a:solidFill>
                  <a:srgbClr val="FF0000"/>
                </a:solidFill>
                <a:effectLst/>
                <a:uLnTx/>
                <a:uFillTx/>
                <a:latin typeface="Century Gothic" panose="020B0502020202020204" pitchFamily="34" charset="0"/>
                <a:cs typeface="Tahoma"/>
              </a:rPr>
              <a:t>NPS</a:t>
            </a:r>
            <a:endParaRPr kumimoji="0" lang="en-US" sz="16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58" name="object 58"/>
          <p:cNvSpPr txBox="1"/>
          <p:nvPr/>
        </p:nvSpPr>
        <p:spPr>
          <a:xfrm>
            <a:off x="2198370" y="6530137"/>
            <a:ext cx="1783080" cy="25840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tab pos="638175" algn="l"/>
              </a:tabLst>
              <a:defRPr/>
            </a:pPr>
            <a:r>
              <a:rPr kumimoji="0" lang="en-US" sz="1600" b="1" i="0" u="none" strike="noStrike" kern="0" cap="none" spc="-25" normalizeH="0" baseline="0" noProof="0">
                <a:ln>
                  <a:noFill/>
                </a:ln>
                <a:solidFill>
                  <a:srgbClr val="FF0000"/>
                </a:solidFill>
                <a:effectLst/>
                <a:uLnTx/>
                <a:uFillTx/>
                <a:latin typeface="Century Gothic" panose="020B0502020202020204" pitchFamily="34" charset="0"/>
                <a:cs typeface="Tahoma"/>
              </a:rPr>
              <a:t>CES</a:t>
            </a:r>
            <a:r>
              <a:rPr kumimoji="0" lang="en-US" sz="1600" b="1" i="0" u="none" strike="noStrike" kern="0" cap="none" spc="0" normalizeH="0" baseline="0" noProof="0">
                <a:ln>
                  <a:noFill/>
                </a:ln>
                <a:solidFill>
                  <a:srgbClr val="FF0000"/>
                </a:solidFill>
                <a:effectLst/>
                <a:uLnTx/>
                <a:uFillTx/>
                <a:latin typeface="Century Gothic" panose="020B0502020202020204" pitchFamily="34" charset="0"/>
                <a:cs typeface="Tahoma"/>
              </a:rPr>
              <a:t>	</a:t>
            </a:r>
            <a:r>
              <a:rPr kumimoji="0" lang="en-US" sz="1600" b="1" i="0" u="none" strike="noStrike" kern="0" cap="none" spc="-175" normalizeH="0" baseline="0" noProof="0">
                <a:ln>
                  <a:noFill/>
                </a:ln>
                <a:solidFill>
                  <a:srgbClr val="FF0000"/>
                </a:solidFill>
                <a:effectLst/>
                <a:uLnTx/>
                <a:uFillTx/>
                <a:latin typeface="Century Gothic" panose="020B0502020202020204" pitchFamily="34" charset="0"/>
                <a:cs typeface="Tahoma"/>
              </a:rPr>
              <a:t>SENTIMENTS</a:t>
            </a:r>
            <a:endParaRPr kumimoji="0" lang="en-US" sz="16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59" name="object 59"/>
          <p:cNvSpPr/>
          <p:nvPr/>
        </p:nvSpPr>
        <p:spPr>
          <a:xfrm>
            <a:off x="3923665" y="1273683"/>
            <a:ext cx="4937760" cy="5577840"/>
          </a:xfrm>
          <a:custGeom>
            <a:avLst/>
            <a:gdLst/>
            <a:ahLst/>
            <a:cxnLst/>
            <a:rect l="l" t="t" r="r" b="b"/>
            <a:pathLst>
              <a:path w="4937759" h="5577840">
                <a:moveTo>
                  <a:pt x="0" y="0"/>
                </a:moveTo>
                <a:lnTo>
                  <a:pt x="78994" y="5577287"/>
                </a:lnTo>
              </a:path>
              <a:path w="4937759" h="5577840">
                <a:moveTo>
                  <a:pt x="4906391" y="0"/>
                </a:moveTo>
                <a:lnTo>
                  <a:pt x="4937506" y="5547310"/>
                </a:lnTo>
              </a:path>
            </a:pathLst>
          </a:custGeom>
          <a:ln w="9525">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0" name="object 60"/>
          <p:cNvSpPr txBox="1"/>
          <p:nvPr/>
        </p:nvSpPr>
        <p:spPr>
          <a:xfrm>
            <a:off x="1973960" y="3267506"/>
            <a:ext cx="1876425" cy="769620"/>
          </a:xfrm>
          <a:prstGeom prst="rect">
            <a:avLst/>
          </a:prstGeom>
          <a:solidFill>
            <a:srgbClr val="FF9999"/>
          </a:solidFill>
        </p:spPr>
        <p:txBody>
          <a:bodyPr vert="horz" wrap="square" lIns="0" tIns="0" rIns="0" bIns="0" rtlCol="0">
            <a:spAutoFit/>
          </a:bodyPr>
          <a:lstStyle/>
          <a:p>
            <a:pPr marL="0" marR="0" lvl="0" indent="0" defTabSz="914400" eaLnBrk="1" fontAlgn="auto" latinLnBrk="0" hangingPunct="1">
              <a:lnSpc>
                <a:spcPts val="1190"/>
              </a:lnSpc>
              <a:spcBef>
                <a:spcPts val="0"/>
              </a:spcBef>
              <a:spcAft>
                <a:spcPts val="0"/>
              </a:spcAft>
              <a:buClrTx/>
              <a:buSzTx/>
              <a:buFontTx/>
              <a:buNone/>
              <a:tabLst/>
              <a:defRPr/>
            </a:pPr>
            <a:r>
              <a:rPr kumimoji="0" sz="1000" b="1" i="0" u="none" strike="noStrike" kern="0" cap="none" spc="-25" normalizeH="0" baseline="0" noProof="0">
                <a:ln>
                  <a:noFill/>
                </a:ln>
                <a:solidFill>
                  <a:srgbClr val="FFFFFF"/>
                </a:solidFill>
                <a:effectLst/>
                <a:uLnTx/>
                <a:uFillTx/>
                <a:latin typeface="Tahoma"/>
                <a:cs typeface="Tahoma"/>
              </a:rPr>
              <a:t>Performance</a:t>
            </a:r>
            <a:r>
              <a:rPr kumimoji="0" sz="1000" b="1" i="0" u="none" strike="noStrike" kern="0" cap="none" spc="-20" normalizeH="0" baseline="0" noProof="0">
                <a:ln>
                  <a:noFill/>
                </a:ln>
                <a:solidFill>
                  <a:srgbClr val="FFFFFF"/>
                </a:solidFill>
                <a:effectLst/>
                <a:uLnTx/>
                <a:uFillTx/>
                <a:latin typeface="Tahoma"/>
                <a:cs typeface="Tahoma"/>
              </a:rPr>
              <a:t> </a:t>
            </a:r>
            <a:r>
              <a:rPr kumimoji="0" sz="1000" b="1" i="0" u="none" strike="noStrike" kern="0" cap="none" spc="-10" normalizeH="0" baseline="0" noProof="0">
                <a:ln>
                  <a:noFill/>
                </a:ln>
                <a:solidFill>
                  <a:srgbClr val="FFFFFF"/>
                </a:solidFill>
                <a:effectLst/>
                <a:uLnTx/>
                <a:uFillTx/>
                <a:latin typeface="Tahoma"/>
                <a:cs typeface="Tahoma"/>
              </a:rPr>
              <a:t>Management</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206375" marR="0" lvl="0" indent="-206375" defTabSz="914400" eaLnBrk="1" fontAlgn="auto" latinLnBrk="0" hangingPunct="1">
              <a:lnSpc>
                <a:spcPct val="100000"/>
              </a:lnSpc>
              <a:spcBef>
                <a:spcPts val="0"/>
              </a:spcBef>
              <a:spcAft>
                <a:spcPts val="0"/>
              </a:spcAft>
              <a:buClrTx/>
              <a:buSzTx/>
              <a:buFont typeface="Wingdings"/>
              <a:buChar char=""/>
              <a:tabLst>
                <a:tab pos="206375" algn="l"/>
              </a:tabLst>
              <a:defRPr/>
            </a:pPr>
            <a:r>
              <a:rPr kumimoji="0" sz="1000" b="0" i="0" u="none" strike="noStrike" kern="0" cap="none" spc="0" normalizeH="0" baseline="0" noProof="0">
                <a:ln>
                  <a:noFill/>
                </a:ln>
                <a:solidFill>
                  <a:srgbClr val="FFFFFF"/>
                </a:solidFill>
                <a:effectLst/>
                <a:uLnTx/>
                <a:uFillTx/>
                <a:latin typeface="Tahoma"/>
                <a:cs typeface="Tahoma"/>
              </a:rPr>
              <a:t>SLA</a:t>
            </a:r>
            <a:r>
              <a:rPr kumimoji="0" sz="1000" b="0" i="0" u="none" strike="noStrike" kern="0" cap="none" spc="-5" normalizeH="0" baseline="0" noProof="0">
                <a:ln>
                  <a:noFill/>
                </a:ln>
                <a:solidFill>
                  <a:srgbClr val="FFFFFF"/>
                </a:solidFill>
                <a:effectLst/>
                <a:uLnTx/>
                <a:uFillTx/>
                <a:latin typeface="Tahoma"/>
                <a:cs typeface="Tahoma"/>
              </a:rPr>
              <a:t> </a:t>
            </a:r>
            <a:r>
              <a:rPr kumimoji="0" sz="1000" b="0" i="0" u="none" strike="noStrike" kern="0" cap="none" spc="90" normalizeH="0" baseline="0" noProof="0">
                <a:ln>
                  <a:noFill/>
                </a:ln>
                <a:solidFill>
                  <a:srgbClr val="FFFFFF"/>
                </a:solidFill>
                <a:effectLst/>
                <a:uLnTx/>
                <a:uFillTx/>
                <a:latin typeface="Tahoma"/>
                <a:cs typeface="Tahoma"/>
              </a:rPr>
              <a:t>compliance</a:t>
            </a:r>
            <a:r>
              <a:rPr kumimoji="0" sz="1000" b="0" i="0" u="none" strike="noStrike" kern="0" cap="none" spc="5" normalizeH="0" baseline="0" noProof="0">
                <a:ln>
                  <a:noFill/>
                </a:ln>
                <a:solidFill>
                  <a:srgbClr val="FFFFFF"/>
                </a:solidFill>
                <a:effectLst/>
                <a:uLnTx/>
                <a:uFillTx/>
                <a:latin typeface="Tahoma"/>
                <a:cs typeface="Tahoma"/>
              </a:rPr>
              <a:t> </a:t>
            </a:r>
            <a:r>
              <a:rPr kumimoji="0" sz="1000" b="0" i="0" u="none" strike="noStrike" kern="0" cap="none" spc="30" normalizeH="0" baseline="0" noProof="0">
                <a:ln>
                  <a:noFill/>
                </a:ln>
                <a:solidFill>
                  <a:srgbClr val="FFFFFF"/>
                </a:solidFill>
                <a:effectLst/>
                <a:uLnTx/>
                <a:uFillTx/>
                <a:latin typeface="Tahoma"/>
                <a:cs typeface="Tahoma"/>
              </a:rPr>
              <a:t>rate</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1450" defTabSz="914400" eaLnBrk="1" fontAlgn="auto" latinLnBrk="0" hangingPunct="1">
              <a:lnSpc>
                <a:spcPct val="100000"/>
              </a:lnSpc>
              <a:spcBef>
                <a:spcPts val="0"/>
              </a:spcBef>
              <a:spcAft>
                <a:spcPts val="0"/>
              </a:spcAft>
              <a:buClrTx/>
              <a:buSzTx/>
              <a:buFont typeface="Wingdings"/>
              <a:buChar char=""/>
              <a:tabLst>
                <a:tab pos="171450" algn="l"/>
              </a:tabLst>
              <a:defRPr/>
            </a:pPr>
            <a:r>
              <a:rPr kumimoji="0" lang="en-US" sz="1000" b="0" i="0" u="none" strike="noStrike" kern="0" cap="none" spc="-40" normalizeH="0" baseline="0" noProof="0" err="1">
                <a:ln>
                  <a:noFill/>
                </a:ln>
                <a:solidFill>
                  <a:srgbClr val="FFFFFF"/>
                </a:solidFill>
                <a:effectLst/>
                <a:uLnTx/>
                <a:uFillTx/>
                <a:latin typeface="Tahoma"/>
                <a:cs typeface="Tahoma"/>
              </a:rPr>
              <a:t>NRS</a:t>
            </a:r>
            <a:r>
              <a:rPr kumimoji="0" sz="1000" b="0" i="0" u="none" strike="noStrike" kern="0" cap="none" spc="-40" normalizeH="0" baseline="0" noProof="0" err="1">
                <a:ln>
                  <a:noFill/>
                </a:ln>
                <a:solidFill>
                  <a:srgbClr val="FFFFFF"/>
                </a:solidFill>
                <a:effectLst/>
                <a:uLnTx/>
                <a:uFillTx/>
                <a:latin typeface="Tahoma"/>
                <a:cs typeface="Tahoma"/>
              </a:rPr>
              <a:t>t</a:t>
            </a:r>
            <a:r>
              <a:rPr kumimoji="0" sz="1000" b="0" i="0" u="none" strike="noStrike" kern="0" cap="none" spc="55" normalizeH="0" baseline="0" noProof="0">
                <a:ln>
                  <a:noFill/>
                </a:ln>
                <a:solidFill>
                  <a:srgbClr val="FFFFFF"/>
                </a:solidFill>
                <a:effectLst/>
                <a:uLnTx/>
                <a:uFillTx/>
                <a:latin typeface="Tahoma"/>
                <a:cs typeface="Tahoma"/>
              </a:rPr>
              <a:t> </a:t>
            </a:r>
            <a:r>
              <a:rPr kumimoji="0" sz="1000" b="0" i="0" u="none" strike="noStrike" kern="0" cap="none" spc="95" normalizeH="0" baseline="0" noProof="0">
                <a:ln>
                  <a:noFill/>
                </a:ln>
                <a:solidFill>
                  <a:srgbClr val="FFFFFF"/>
                </a:solidFill>
                <a:effectLst/>
                <a:uLnTx/>
                <a:uFillTx/>
                <a:latin typeface="Tahoma"/>
                <a:cs typeface="Tahoma"/>
              </a:rPr>
              <a:t>Contact</a:t>
            </a:r>
            <a:r>
              <a:rPr kumimoji="0" sz="1000" b="0" i="0" u="none" strike="noStrike" kern="0" cap="none" spc="45" normalizeH="0" baseline="0" noProof="0">
                <a:ln>
                  <a:noFill/>
                </a:ln>
                <a:solidFill>
                  <a:srgbClr val="FFFFFF"/>
                </a:solidFill>
                <a:effectLst/>
                <a:uLnTx/>
                <a:uFillTx/>
                <a:latin typeface="Tahoma"/>
                <a:cs typeface="Tahoma"/>
              </a:rPr>
              <a:t> </a:t>
            </a:r>
            <a:r>
              <a:rPr kumimoji="0" sz="1000" b="0" i="0" u="none" strike="noStrike" kern="0" cap="none" spc="0" normalizeH="0" baseline="0" noProof="0">
                <a:ln>
                  <a:noFill/>
                </a:ln>
                <a:solidFill>
                  <a:srgbClr val="FFFFFF"/>
                </a:solidFill>
                <a:effectLst/>
                <a:uLnTx/>
                <a:uFillTx/>
                <a:latin typeface="Tahoma"/>
                <a:cs typeface="Tahoma"/>
              </a:rPr>
              <a:t>Resolution</a:t>
            </a:r>
            <a:r>
              <a:rPr kumimoji="0" sz="1000" b="0" i="0" u="none" strike="noStrike" kern="0" cap="none" spc="65" normalizeH="0" baseline="0" noProof="0">
                <a:ln>
                  <a:noFill/>
                </a:ln>
                <a:solidFill>
                  <a:srgbClr val="FFFFFF"/>
                </a:solidFill>
                <a:effectLst/>
                <a:uLnTx/>
                <a:uFillTx/>
                <a:latin typeface="Tahoma"/>
                <a:cs typeface="Tahoma"/>
              </a:rPr>
              <a:t> </a:t>
            </a:r>
            <a:r>
              <a:rPr kumimoji="0" sz="1000" b="0" i="0" u="none" strike="noStrike" kern="0" cap="none" spc="-50" normalizeH="0" baseline="0" noProof="0">
                <a:ln>
                  <a:noFill/>
                </a:ln>
                <a:solidFill>
                  <a:srgbClr val="FFFFFF"/>
                </a:solidFill>
                <a:effectLst/>
                <a:uLnTx/>
                <a:uFillTx/>
                <a:latin typeface="Tahoma"/>
                <a:cs typeface="Tahoma"/>
              </a:rPr>
              <a:t>%</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1450"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80" normalizeH="0" baseline="0" noProof="0">
                <a:ln>
                  <a:noFill/>
                </a:ln>
                <a:solidFill>
                  <a:srgbClr val="FFFFFF"/>
                </a:solidFill>
                <a:effectLst/>
                <a:uLnTx/>
                <a:uFillTx/>
                <a:latin typeface="Tahoma"/>
                <a:cs typeface="Tahoma"/>
              </a:rPr>
              <a:t>Average</a:t>
            </a:r>
            <a:r>
              <a:rPr kumimoji="0" sz="1000" b="0" i="0" u="none" strike="noStrike" kern="0" cap="none" spc="15" normalizeH="0" baseline="0" noProof="0">
                <a:ln>
                  <a:noFill/>
                </a:ln>
                <a:solidFill>
                  <a:srgbClr val="FFFFFF"/>
                </a:solidFill>
                <a:effectLst/>
                <a:uLnTx/>
                <a:uFillTx/>
                <a:latin typeface="Tahoma"/>
                <a:cs typeface="Tahoma"/>
              </a:rPr>
              <a:t> </a:t>
            </a:r>
            <a:r>
              <a:rPr kumimoji="0" sz="1000" b="0" i="0" u="none" strike="noStrike" kern="0" cap="none" spc="50" normalizeH="0" baseline="0" noProof="0">
                <a:ln>
                  <a:noFill/>
                </a:ln>
                <a:solidFill>
                  <a:srgbClr val="FFFFFF"/>
                </a:solidFill>
                <a:effectLst/>
                <a:uLnTx/>
                <a:uFillTx/>
                <a:latin typeface="Tahoma"/>
                <a:cs typeface="Tahoma"/>
              </a:rPr>
              <a:t>Handling</a:t>
            </a:r>
            <a:r>
              <a:rPr kumimoji="0" sz="1000" b="0" i="0" u="none" strike="noStrike" kern="0" cap="none" spc="-10" normalizeH="0" baseline="0" noProof="0">
                <a:ln>
                  <a:noFill/>
                </a:ln>
                <a:solidFill>
                  <a:srgbClr val="FFFFFF"/>
                </a:solidFill>
                <a:effectLst/>
                <a:uLnTx/>
                <a:uFillTx/>
                <a:latin typeface="Tahoma"/>
                <a:cs typeface="Tahoma"/>
              </a:rPr>
              <a:t> </a:t>
            </a:r>
            <a:r>
              <a:rPr kumimoji="0" sz="1000" b="0" i="0" u="none" strike="noStrike" kern="0" cap="none" spc="-20" normalizeH="0" baseline="0" noProof="0">
                <a:ln>
                  <a:noFill/>
                </a:ln>
                <a:solidFill>
                  <a:srgbClr val="FFFFFF"/>
                </a:solidFill>
                <a:effectLst/>
                <a:uLnTx/>
                <a:uFillTx/>
                <a:latin typeface="Tahoma"/>
                <a:cs typeface="Tahoma"/>
              </a:rPr>
              <a:t>Time</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1450"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45" normalizeH="0" baseline="0" noProof="0">
                <a:ln>
                  <a:noFill/>
                </a:ln>
                <a:solidFill>
                  <a:srgbClr val="FFFFFF"/>
                </a:solidFill>
                <a:effectLst/>
                <a:uLnTx/>
                <a:uFillTx/>
                <a:latin typeface="Tahoma"/>
                <a:cs typeface="Tahoma"/>
              </a:rPr>
              <a:t>Escalation</a:t>
            </a:r>
            <a:r>
              <a:rPr kumimoji="0" sz="1000" b="0" i="0" u="none" strike="noStrike" kern="0" cap="none" spc="-25" normalizeH="0" baseline="0" noProof="0">
                <a:ln>
                  <a:noFill/>
                </a:ln>
                <a:solidFill>
                  <a:srgbClr val="FFFFFF"/>
                </a:solidFill>
                <a:effectLst/>
                <a:uLnTx/>
                <a:uFillTx/>
                <a:latin typeface="Tahoma"/>
                <a:cs typeface="Tahoma"/>
              </a:rPr>
              <a:t> </a:t>
            </a:r>
            <a:r>
              <a:rPr kumimoji="0" sz="1000" b="0" i="0" u="none" strike="noStrike" kern="0" cap="none" spc="30" normalizeH="0" baseline="0" noProof="0">
                <a:ln>
                  <a:noFill/>
                </a:ln>
                <a:solidFill>
                  <a:srgbClr val="FFFFFF"/>
                </a:solidFill>
                <a:effectLst/>
                <a:uLnTx/>
                <a:uFillTx/>
                <a:latin typeface="Tahoma"/>
                <a:cs typeface="Tahoma"/>
              </a:rPr>
              <a:t>rate</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61" name="object 61"/>
          <p:cNvSpPr txBox="1"/>
          <p:nvPr/>
        </p:nvSpPr>
        <p:spPr>
          <a:xfrm>
            <a:off x="1973960" y="4498670"/>
            <a:ext cx="1876425" cy="307975"/>
          </a:xfrm>
          <a:prstGeom prst="rect">
            <a:avLst/>
          </a:prstGeom>
          <a:solidFill>
            <a:srgbClr val="FF9999"/>
          </a:solidFill>
        </p:spPr>
        <p:txBody>
          <a:bodyPr vert="horz" wrap="square" lIns="0" tIns="0" rIns="0" bIns="0" rtlCol="0">
            <a:spAutoFit/>
          </a:bodyPr>
          <a:lstStyle/>
          <a:p>
            <a:pPr marL="0" marR="0" lvl="0" indent="0" defTabSz="914400" eaLnBrk="1" fontAlgn="auto" latinLnBrk="0" hangingPunct="1">
              <a:lnSpc>
                <a:spcPts val="1190"/>
              </a:lnSpc>
              <a:spcBef>
                <a:spcPts val="0"/>
              </a:spcBef>
              <a:spcAft>
                <a:spcPts val="0"/>
              </a:spcAft>
              <a:buClrTx/>
              <a:buSzTx/>
              <a:buFontTx/>
              <a:buNone/>
              <a:tabLst/>
              <a:defRPr/>
            </a:pPr>
            <a:r>
              <a:rPr kumimoji="0" sz="1000" b="1" i="0" u="none" strike="noStrike" kern="0" cap="none" spc="-10" normalizeH="0" baseline="0" noProof="0">
                <a:ln>
                  <a:noFill/>
                </a:ln>
                <a:solidFill>
                  <a:srgbClr val="FFFFFF"/>
                </a:solidFill>
                <a:effectLst/>
                <a:uLnTx/>
                <a:uFillTx/>
                <a:latin typeface="Tahoma"/>
                <a:cs typeface="Tahoma"/>
              </a:rPr>
              <a:t>Tools</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206375" marR="0" lvl="0" indent="-206375" defTabSz="914400" eaLnBrk="1" fontAlgn="auto" latinLnBrk="0" hangingPunct="1">
              <a:lnSpc>
                <a:spcPct val="100000"/>
              </a:lnSpc>
              <a:spcBef>
                <a:spcPts val="0"/>
              </a:spcBef>
              <a:spcAft>
                <a:spcPts val="0"/>
              </a:spcAft>
              <a:buClrTx/>
              <a:buSzTx/>
              <a:buFont typeface="Wingdings"/>
              <a:buChar char=""/>
              <a:tabLst>
                <a:tab pos="206375" algn="l"/>
              </a:tabLst>
              <a:defRPr/>
            </a:pPr>
            <a:r>
              <a:rPr kumimoji="0" sz="1000" b="0" i="0" u="none" strike="noStrike" kern="0" cap="none" spc="-20" normalizeH="0" baseline="0" noProof="0">
                <a:ln>
                  <a:noFill/>
                </a:ln>
                <a:solidFill>
                  <a:srgbClr val="FFFFFF"/>
                </a:solidFill>
                <a:effectLst/>
                <a:uLnTx/>
                <a:uFillTx/>
                <a:latin typeface="Tahoma"/>
                <a:cs typeface="Tahoma"/>
              </a:rPr>
              <a:t>ITSM</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62" name="object 62"/>
          <p:cNvSpPr txBox="1"/>
          <p:nvPr/>
        </p:nvSpPr>
        <p:spPr>
          <a:xfrm>
            <a:off x="1973960" y="4037431"/>
            <a:ext cx="1876425" cy="462280"/>
          </a:xfrm>
          <a:prstGeom prst="rect">
            <a:avLst/>
          </a:prstGeom>
          <a:solidFill>
            <a:srgbClr val="BE0000"/>
          </a:solidFill>
        </p:spPr>
        <p:txBody>
          <a:bodyPr vert="horz" wrap="square" lIns="0" tIns="0" rIns="0" bIns="0" rtlCol="0">
            <a:spAutoFit/>
          </a:bodyPr>
          <a:lstStyle/>
          <a:p>
            <a:pPr marL="0" marR="0" lvl="0" indent="0" defTabSz="914400" eaLnBrk="1" fontAlgn="auto" latinLnBrk="0" hangingPunct="1">
              <a:lnSpc>
                <a:spcPts val="1190"/>
              </a:lnSpc>
              <a:spcBef>
                <a:spcPts val="0"/>
              </a:spcBef>
              <a:spcAft>
                <a:spcPts val="0"/>
              </a:spcAft>
              <a:buClrTx/>
              <a:buSzTx/>
              <a:buFontTx/>
              <a:buNone/>
              <a:tabLst/>
              <a:defRPr/>
            </a:pPr>
            <a:r>
              <a:rPr kumimoji="0" sz="1000" b="1" i="0" u="none" strike="noStrike" kern="0" cap="none" spc="-25" normalizeH="0" baseline="0" noProof="0">
                <a:ln>
                  <a:noFill/>
                </a:ln>
                <a:solidFill>
                  <a:srgbClr val="FFFFFF"/>
                </a:solidFill>
                <a:effectLst/>
                <a:uLnTx/>
                <a:uFillTx/>
                <a:latin typeface="Tahoma"/>
                <a:cs typeface="Tahoma"/>
              </a:rPr>
              <a:t>Scalability</a:t>
            </a:r>
            <a:r>
              <a:rPr kumimoji="0" sz="1000" b="1" i="0" u="none" strike="noStrike" kern="0" cap="none" spc="-10" normalizeH="0" baseline="0" noProof="0">
                <a:ln>
                  <a:noFill/>
                </a:ln>
                <a:solidFill>
                  <a:srgbClr val="FFFFFF"/>
                </a:solidFill>
                <a:effectLst/>
                <a:uLnTx/>
                <a:uFillTx/>
                <a:latin typeface="Tahoma"/>
                <a:cs typeface="Tahoma"/>
              </a:rPr>
              <a:t> </a:t>
            </a:r>
            <a:r>
              <a:rPr kumimoji="0" sz="1000" b="1" i="0" u="none" strike="noStrike" kern="0" cap="none" spc="-120" normalizeH="0" baseline="0" noProof="0">
                <a:ln>
                  <a:noFill/>
                </a:ln>
                <a:solidFill>
                  <a:srgbClr val="FFFFFF"/>
                </a:solidFill>
                <a:effectLst/>
                <a:uLnTx/>
                <a:uFillTx/>
                <a:latin typeface="Tahoma"/>
                <a:cs typeface="Tahoma"/>
              </a:rPr>
              <a:t>&amp;</a:t>
            </a:r>
            <a:r>
              <a:rPr kumimoji="0" sz="1000" b="1" i="0" u="none" strike="noStrike" kern="0" cap="none" spc="-5" normalizeH="0" baseline="0" noProof="0">
                <a:ln>
                  <a:noFill/>
                </a:ln>
                <a:solidFill>
                  <a:srgbClr val="FFFFFF"/>
                </a:solidFill>
                <a:effectLst/>
                <a:uLnTx/>
                <a:uFillTx/>
                <a:latin typeface="Tahoma"/>
                <a:cs typeface="Tahoma"/>
              </a:rPr>
              <a:t> </a:t>
            </a:r>
            <a:r>
              <a:rPr kumimoji="0" sz="1000" b="1" i="0" u="none" strike="noStrike" kern="0" cap="none" spc="-10" normalizeH="0" baseline="0" noProof="0">
                <a:ln>
                  <a:noFill/>
                </a:ln>
                <a:solidFill>
                  <a:srgbClr val="FFFFFF"/>
                </a:solidFill>
                <a:effectLst/>
                <a:uLnTx/>
                <a:uFillTx/>
                <a:latin typeface="Tahoma"/>
                <a:cs typeface="Tahoma"/>
              </a:rPr>
              <a:t>Customization</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1450"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0" normalizeH="0" baseline="0" noProof="0">
                <a:ln>
                  <a:noFill/>
                </a:ln>
                <a:solidFill>
                  <a:srgbClr val="FFFFFF"/>
                </a:solidFill>
                <a:effectLst/>
                <a:uLnTx/>
                <a:uFillTx/>
                <a:latin typeface="Tahoma"/>
                <a:cs typeface="Tahoma"/>
              </a:rPr>
              <a:t>Team</a:t>
            </a:r>
            <a:r>
              <a:rPr kumimoji="0" sz="1000" b="0" i="0" u="none" strike="noStrike" kern="0" cap="none" spc="165"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scalability</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1450"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10" normalizeH="0" baseline="0" noProof="0">
                <a:ln>
                  <a:noFill/>
                </a:ln>
                <a:solidFill>
                  <a:srgbClr val="FFFFFF"/>
                </a:solidFill>
                <a:effectLst/>
                <a:uLnTx/>
                <a:uFillTx/>
                <a:latin typeface="Tahoma"/>
                <a:cs typeface="Tahoma"/>
              </a:rPr>
              <a:t>Multilingual</a:t>
            </a:r>
            <a:r>
              <a:rPr kumimoji="0" sz="1000" b="0" i="0" u="none" strike="noStrike" kern="0" cap="none" spc="229" normalizeH="0" baseline="0" noProof="0">
                <a:ln>
                  <a:noFill/>
                </a:ln>
                <a:solidFill>
                  <a:srgbClr val="FFFFFF"/>
                </a:solidFill>
                <a:effectLst/>
                <a:uLnTx/>
                <a:uFillTx/>
                <a:latin typeface="Tahoma"/>
                <a:cs typeface="Tahoma"/>
              </a:rPr>
              <a:t> </a:t>
            </a:r>
            <a:r>
              <a:rPr kumimoji="0" sz="1000" b="0" i="0" u="none" strike="noStrike" kern="0" cap="none" spc="35" normalizeH="0" baseline="0" noProof="0">
                <a:ln>
                  <a:noFill/>
                </a:ln>
                <a:solidFill>
                  <a:srgbClr val="FFFFFF"/>
                </a:solidFill>
                <a:effectLst/>
                <a:uLnTx/>
                <a:uFillTx/>
                <a:latin typeface="Tahoma"/>
                <a:cs typeface="Tahoma"/>
              </a:rPr>
              <a:t>teams</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63" name="object 63"/>
          <p:cNvSpPr txBox="1"/>
          <p:nvPr/>
        </p:nvSpPr>
        <p:spPr>
          <a:xfrm>
            <a:off x="88201" y="3275965"/>
            <a:ext cx="1876425" cy="1539240"/>
          </a:xfrm>
          <a:prstGeom prst="rect">
            <a:avLst/>
          </a:prstGeom>
          <a:solidFill>
            <a:srgbClr val="BE0000"/>
          </a:solidFill>
        </p:spPr>
        <p:txBody>
          <a:bodyPr vert="horz" wrap="square" lIns="0" tIns="0" rIns="0" bIns="0" rtlCol="0">
            <a:spAutoFit/>
          </a:bodyPr>
          <a:lstStyle/>
          <a:p>
            <a:pPr marL="0" marR="0" lvl="0" indent="0" defTabSz="914400" eaLnBrk="1" fontAlgn="auto" latinLnBrk="0" hangingPunct="1">
              <a:lnSpc>
                <a:spcPts val="1190"/>
              </a:lnSpc>
              <a:spcBef>
                <a:spcPts val="0"/>
              </a:spcBef>
              <a:spcAft>
                <a:spcPts val="0"/>
              </a:spcAft>
              <a:buClrTx/>
              <a:buSzTx/>
              <a:buFontTx/>
              <a:buNone/>
              <a:tabLst/>
              <a:defRPr/>
            </a:pPr>
            <a:r>
              <a:rPr kumimoji="0" sz="1000" b="1" i="0" u="none" strike="noStrike" kern="0" cap="none" spc="-45" normalizeH="0" baseline="0" noProof="0">
                <a:ln>
                  <a:noFill/>
                </a:ln>
                <a:solidFill>
                  <a:srgbClr val="FFFFFF"/>
                </a:solidFill>
                <a:effectLst/>
                <a:uLnTx/>
                <a:uFillTx/>
                <a:latin typeface="Tahoma"/>
                <a:cs typeface="Tahoma"/>
              </a:rPr>
              <a:t>Security</a:t>
            </a:r>
            <a:r>
              <a:rPr kumimoji="0" sz="1000" b="1" i="0" u="none" strike="noStrike" kern="0" cap="none" spc="-5" normalizeH="0" baseline="0" noProof="0">
                <a:ln>
                  <a:noFill/>
                </a:ln>
                <a:solidFill>
                  <a:srgbClr val="FFFFFF"/>
                </a:solidFill>
                <a:effectLst/>
                <a:uLnTx/>
                <a:uFillTx/>
                <a:latin typeface="Tahoma"/>
                <a:cs typeface="Tahoma"/>
              </a:rPr>
              <a:t> </a:t>
            </a:r>
            <a:r>
              <a:rPr kumimoji="0" sz="1000" b="1" i="0" u="none" strike="noStrike" kern="0" cap="none" spc="-120" normalizeH="0" baseline="0" noProof="0">
                <a:ln>
                  <a:noFill/>
                </a:ln>
                <a:solidFill>
                  <a:srgbClr val="FFFFFF"/>
                </a:solidFill>
                <a:effectLst/>
                <a:uLnTx/>
                <a:uFillTx/>
                <a:latin typeface="Tahoma"/>
                <a:cs typeface="Tahoma"/>
              </a:rPr>
              <a:t>&amp;</a:t>
            </a:r>
            <a:r>
              <a:rPr kumimoji="0" sz="1000" b="1" i="0" u="none" strike="noStrike" kern="0" cap="none" spc="-15" normalizeH="0" baseline="0" noProof="0">
                <a:ln>
                  <a:noFill/>
                </a:ln>
                <a:solidFill>
                  <a:srgbClr val="FFFFFF"/>
                </a:solidFill>
                <a:effectLst/>
                <a:uLnTx/>
                <a:uFillTx/>
                <a:latin typeface="Tahoma"/>
                <a:cs typeface="Tahoma"/>
              </a:rPr>
              <a:t> </a:t>
            </a:r>
            <a:r>
              <a:rPr kumimoji="0" sz="1000" b="1" i="0" u="none" strike="noStrike" kern="0" cap="none" spc="-10" normalizeH="0" baseline="0" noProof="0">
                <a:ln>
                  <a:noFill/>
                </a:ln>
                <a:solidFill>
                  <a:srgbClr val="FFFFFF"/>
                </a:solidFill>
                <a:effectLst/>
                <a:uLnTx/>
                <a:uFillTx/>
                <a:latin typeface="Tahoma"/>
                <a:cs typeface="Tahoma"/>
              </a:rPr>
              <a:t>Compliance</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2085" marR="206375" lvl="0" indent="-172720" defTabSz="914400" eaLnBrk="1" fontAlgn="auto" latinLnBrk="0" hangingPunct="1">
              <a:lnSpc>
                <a:spcPct val="100000"/>
              </a:lnSpc>
              <a:spcBef>
                <a:spcPts val="0"/>
              </a:spcBef>
              <a:spcAft>
                <a:spcPts val="0"/>
              </a:spcAft>
              <a:buClrTx/>
              <a:buSzTx/>
              <a:buFont typeface="Wingdings"/>
              <a:buChar char=""/>
              <a:tabLst>
                <a:tab pos="172085" algn="l"/>
                <a:tab pos="206375" algn="l"/>
              </a:tabLst>
              <a:defRPr/>
            </a:pPr>
            <a:r>
              <a:rPr kumimoji="0" sz="1000" b="0" i="0" u="none" strike="noStrike" kern="0" cap="none" spc="0" normalizeH="0" baseline="0" noProof="0">
                <a:ln>
                  <a:noFill/>
                </a:ln>
                <a:solidFill>
                  <a:srgbClr val="FFFFFF"/>
                </a:solidFill>
                <a:effectLst/>
                <a:uLnTx/>
                <a:uFillTx/>
                <a:latin typeface="Tahoma"/>
                <a:cs typeface="Tahoma"/>
              </a:rPr>
              <a:t>	</a:t>
            </a:r>
            <a:r>
              <a:rPr kumimoji="0" sz="1000" b="0" i="0" u="none" strike="noStrike" kern="0" cap="none" spc="-160" normalizeH="0" baseline="0" noProof="0">
                <a:ln>
                  <a:noFill/>
                </a:ln>
                <a:solidFill>
                  <a:srgbClr val="FFFFFF"/>
                </a:solidFill>
                <a:effectLst/>
                <a:uLnTx/>
                <a:uFillTx/>
                <a:latin typeface="Tahoma"/>
                <a:cs typeface="Tahoma"/>
              </a:rPr>
              <a:t>IT</a:t>
            </a:r>
            <a:r>
              <a:rPr kumimoji="0" sz="1000" b="0" i="0" u="none" strike="noStrike" kern="0" cap="none" spc="90" normalizeH="0" baseline="0" noProof="0">
                <a:ln>
                  <a:noFill/>
                </a:ln>
                <a:solidFill>
                  <a:srgbClr val="FFFFFF"/>
                </a:solidFill>
                <a:effectLst/>
                <a:uLnTx/>
                <a:uFillTx/>
                <a:latin typeface="Tahoma"/>
                <a:cs typeface="Tahoma"/>
              </a:rPr>
              <a:t> </a:t>
            </a:r>
            <a:r>
              <a:rPr kumimoji="0" sz="1000" b="0" i="0" u="none" strike="noStrike" kern="0" cap="none" spc="0" normalizeH="0" baseline="0" noProof="0">
                <a:ln>
                  <a:noFill/>
                </a:ln>
                <a:solidFill>
                  <a:srgbClr val="FFFFFF"/>
                </a:solidFill>
                <a:effectLst/>
                <a:uLnTx/>
                <a:uFillTx/>
                <a:latin typeface="Tahoma"/>
                <a:cs typeface="Tahoma"/>
              </a:rPr>
              <a:t>Service</a:t>
            </a:r>
            <a:r>
              <a:rPr kumimoji="0" sz="1000" b="0" i="0" u="none" strike="noStrike" kern="0" cap="none" spc="135" normalizeH="0" baseline="0" noProof="0">
                <a:ln>
                  <a:noFill/>
                </a:ln>
                <a:solidFill>
                  <a:srgbClr val="FFFFFF"/>
                </a:solidFill>
                <a:effectLst/>
                <a:uLnTx/>
                <a:uFillTx/>
                <a:latin typeface="Tahoma"/>
                <a:cs typeface="Tahoma"/>
              </a:rPr>
              <a:t> </a:t>
            </a:r>
            <a:r>
              <a:rPr kumimoji="0" sz="1000" b="0" i="0" u="none" strike="noStrike" kern="0" cap="none" spc="85" normalizeH="0" baseline="0" noProof="0">
                <a:ln>
                  <a:noFill/>
                </a:ln>
                <a:solidFill>
                  <a:srgbClr val="FFFFFF"/>
                </a:solidFill>
                <a:effectLst/>
                <a:uLnTx/>
                <a:uFillTx/>
                <a:latin typeface="Tahoma"/>
                <a:cs typeface="Tahoma"/>
              </a:rPr>
              <a:t>Management </a:t>
            </a:r>
            <a:r>
              <a:rPr kumimoji="0" sz="1000" b="0" i="0" u="none" strike="noStrike" kern="0" cap="none" spc="0" normalizeH="0" baseline="0" noProof="0">
                <a:ln>
                  <a:noFill/>
                </a:ln>
                <a:solidFill>
                  <a:srgbClr val="FFFFFF"/>
                </a:solidFill>
                <a:effectLst/>
                <a:uLnTx/>
                <a:uFillTx/>
                <a:latin typeface="Tahoma"/>
                <a:cs typeface="Tahoma"/>
              </a:rPr>
              <a:t>(ISO/IEC</a:t>
            </a:r>
            <a:r>
              <a:rPr kumimoji="0" sz="1000" b="0" i="0" u="none" strike="noStrike" kern="0" cap="none" spc="-45"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20000-1:2018)</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2085"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0" normalizeH="0" baseline="0" noProof="0">
                <a:ln>
                  <a:noFill/>
                </a:ln>
                <a:solidFill>
                  <a:srgbClr val="FFFFFF"/>
                </a:solidFill>
                <a:effectLst/>
                <a:uLnTx/>
                <a:uFillTx/>
                <a:latin typeface="Tahoma"/>
                <a:cs typeface="Tahoma"/>
              </a:rPr>
              <a:t>Quality</a:t>
            </a:r>
            <a:r>
              <a:rPr kumimoji="0" sz="1000" b="0" i="0" u="none" strike="noStrike" kern="0" cap="none" spc="95" normalizeH="0" baseline="0" noProof="0">
                <a:ln>
                  <a:noFill/>
                </a:ln>
                <a:solidFill>
                  <a:srgbClr val="FFFFFF"/>
                </a:solidFill>
                <a:effectLst/>
                <a:uLnTx/>
                <a:uFillTx/>
                <a:latin typeface="Tahoma"/>
                <a:cs typeface="Tahoma"/>
              </a:rPr>
              <a:t> </a:t>
            </a:r>
            <a:r>
              <a:rPr kumimoji="0" sz="1000" b="0" i="0" u="none" strike="noStrike" kern="0" cap="none" spc="-20" normalizeH="0" baseline="0" noProof="0">
                <a:ln>
                  <a:noFill/>
                </a:ln>
                <a:solidFill>
                  <a:srgbClr val="FFFFFF"/>
                </a:solidFill>
                <a:effectLst/>
                <a:uLnTx/>
                <a:uFillTx/>
                <a:latin typeface="Tahoma"/>
                <a:cs typeface="Tahoma"/>
              </a:rPr>
              <a:t>(ISO</a:t>
            </a:r>
            <a:r>
              <a:rPr kumimoji="0" sz="1000" b="0" i="0" u="none" strike="noStrike" kern="0" cap="none" spc="140"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9001:2015</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2085" marR="443865" lvl="0" indent="-172720" defTabSz="914400" eaLnBrk="1" fontAlgn="auto" latinLnBrk="0" hangingPunct="1">
              <a:lnSpc>
                <a:spcPct val="100000"/>
              </a:lnSpc>
              <a:spcBef>
                <a:spcPts val="0"/>
              </a:spcBef>
              <a:spcAft>
                <a:spcPts val="0"/>
              </a:spcAft>
              <a:buClrTx/>
              <a:buSzTx/>
              <a:buFont typeface="Wingdings"/>
              <a:buChar char=""/>
              <a:tabLst>
                <a:tab pos="172085" algn="l"/>
              </a:tabLst>
              <a:defRPr/>
            </a:pPr>
            <a:r>
              <a:rPr kumimoji="0" sz="1000" b="0" i="0" u="none" strike="noStrike" kern="0" cap="none" spc="10" normalizeH="0" baseline="0" noProof="0">
                <a:ln>
                  <a:noFill/>
                </a:ln>
                <a:solidFill>
                  <a:srgbClr val="FFFFFF"/>
                </a:solidFill>
                <a:effectLst/>
                <a:uLnTx/>
                <a:uFillTx/>
                <a:latin typeface="Tahoma"/>
                <a:cs typeface="Tahoma"/>
              </a:rPr>
              <a:t>Information</a:t>
            </a:r>
            <a:r>
              <a:rPr kumimoji="0" sz="1000" b="0" i="0" u="none" strike="noStrike" kern="0" cap="none" spc="120"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Security </a:t>
            </a:r>
            <a:r>
              <a:rPr kumimoji="0" sz="1000" b="0" i="0" u="none" strike="noStrike" kern="0" cap="none" spc="0" normalizeH="0" baseline="0" noProof="0">
                <a:ln>
                  <a:noFill/>
                </a:ln>
                <a:solidFill>
                  <a:srgbClr val="FFFFFF"/>
                </a:solidFill>
                <a:effectLst/>
                <a:uLnTx/>
                <a:uFillTx/>
                <a:latin typeface="Tahoma"/>
                <a:cs typeface="Tahoma"/>
              </a:rPr>
              <a:t>(ISO/IEC</a:t>
            </a:r>
            <a:r>
              <a:rPr kumimoji="0" sz="1000" b="0" i="0" u="none" strike="noStrike" kern="0" cap="none" spc="-60" normalizeH="0" baseline="0" noProof="0">
                <a:ln>
                  <a:noFill/>
                </a:ln>
                <a:solidFill>
                  <a:srgbClr val="FFFFFF"/>
                </a:solidFill>
                <a:effectLst/>
                <a:uLnTx/>
                <a:uFillTx/>
                <a:latin typeface="Tahoma"/>
                <a:cs typeface="Tahoma"/>
              </a:rPr>
              <a:t> </a:t>
            </a:r>
            <a:r>
              <a:rPr kumimoji="0" sz="1000" b="0" i="0" u="none" strike="noStrike" kern="0" cap="none" spc="-10" normalizeH="0" baseline="0" noProof="0">
                <a:ln>
                  <a:noFill/>
                </a:ln>
                <a:solidFill>
                  <a:srgbClr val="FFFFFF"/>
                </a:solidFill>
                <a:effectLst/>
                <a:uLnTx/>
                <a:uFillTx/>
                <a:latin typeface="Tahoma"/>
                <a:cs typeface="Tahoma"/>
              </a:rPr>
              <a:t>27001:2022)</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2085" marR="271780" lvl="0" indent="-172720" defTabSz="914400" eaLnBrk="1" fontAlgn="auto" latinLnBrk="0" hangingPunct="1">
              <a:lnSpc>
                <a:spcPct val="100000"/>
              </a:lnSpc>
              <a:spcBef>
                <a:spcPts val="0"/>
              </a:spcBef>
              <a:spcAft>
                <a:spcPts val="0"/>
              </a:spcAft>
              <a:buClrTx/>
              <a:buSzTx/>
              <a:buFont typeface="Wingdings"/>
              <a:buChar char=""/>
              <a:tabLst>
                <a:tab pos="172085" algn="l"/>
              </a:tabLst>
              <a:defRPr/>
            </a:pPr>
            <a:r>
              <a:rPr kumimoji="0" sz="1000" b="0" i="0" u="none" strike="noStrike" kern="0" cap="none" spc="0" normalizeH="0" baseline="0" noProof="0">
                <a:ln>
                  <a:noFill/>
                </a:ln>
                <a:solidFill>
                  <a:srgbClr val="FFFFFF"/>
                </a:solidFill>
                <a:effectLst/>
                <a:uLnTx/>
                <a:uFillTx/>
                <a:latin typeface="Tahoma"/>
                <a:cs typeface="Tahoma"/>
              </a:rPr>
              <a:t>Business</a:t>
            </a:r>
            <a:r>
              <a:rPr kumimoji="0" sz="1000" b="0" i="0" u="none" strike="noStrike" kern="0" cap="none" spc="155" normalizeH="0" baseline="0" noProof="0">
                <a:ln>
                  <a:noFill/>
                </a:ln>
                <a:solidFill>
                  <a:srgbClr val="FFFFFF"/>
                </a:solidFill>
                <a:effectLst/>
                <a:uLnTx/>
                <a:uFillTx/>
                <a:latin typeface="Tahoma"/>
                <a:cs typeface="Tahoma"/>
              </a:rPr>
              <a:t> </a:t>
            </a:r>
            <a:r>
              <a:rPr kumimoji="0" sz="1000" b="0" i="0" u="none" strike="noStrike" kern="0" cap="none" spc="0" normalizeH="0" baseline="0" noProof="0">
                <a:ln>
                  <a:noFill/>
                </a:ln>
                <a:solidFill>
                  <a:srgbClr val="FFFFFF"/>
                </a:solidFill>
                <a:effectLst/>
                <a:uLnTx/>
                <a:uFillTx/>
                <a:latin typeface="Tahoma"/>
                <a:cs typeface="Tahoma"/>
              </a:rPr>
              <a:t>Continuity</a:t>
            </a:r>
            <a:r>
              <a:rPr kumimoji="0" sz="1000" b="0" i="0" u="none" strike="noStrike" kern="0" cap="none" spc="114" normalizeH="0" baseline="0" noProof="0">
                <a:ln>
                  <a:noFill/>
                </a:ln>
                <a:solidFill>
                  <a:srgbClr val="FFFFFF"/>
                </a:solidFill>
                <a:effectLst/>
                <a:uLnTx/>
                <a:uFillTx/>
                <a:latin typeface="Tahoma"/>
                <a:cs typeface="Tahoma"/>
              </a:rPr>
              <a:t> </a:t>
            </a:r>
            <a:r>
              <a:rPr kumimoji="0" sz="1000" b="0" i="0" u="none" strike="noStrike" kern="0" cap="none" spc="-20" normalizeH="0" baseline="0" noProof="0">
                <a:ln>
                  <a:noFill/>
                </a:ln>
                <a:solidFill>
                  <a:srgbClr val="FFFFFF"/>
                </a:solidFill>
                <a:effectLst/>
                <a:uLnTx/>
                <a:uFillTx/>
                <a:latin typeface="Tahoma"/>
                <a:cs typeface="Tahoma"/>
              </a:rPr>
              <a:t>(ISO </a:t>
            </a:r>
            <a:r>
              <a:rPr kumimoji="0" sz="1000" b="0" i="0" u="none" strike="noStrike" kern="0" cap="none" spc="-10" normalizeH="0" baseline="0" noProof="0">
                <a:ln>
                  <a:noFill/>
                </a:ln>
                <a:solidFill>
                  <a:srgbClr val="FFFFFF"/>
                </a:solidFill>
                <a:effectLst/>
                <a:uLnTx/>
                <a:uFillTx/>
                <a:latin typeface="Tahoma"/>
                <a:cs typeface="Tahoma"/>
              </a:rPr>
              <a:t>22301:2019)</a:t>
            </a:r>
            <a:endParaRPr kumimoji="0" sz="1000" b="0" i="0" u="none" strike="noStrike" kern="0" cap="none" spc="0" normalizeH="0" baseline="0" noProof="0">
              <a:ln>
                <a:noFill/>
              </a:ln>
              <a:solidFill>
                <a:sysClr val="windowText" lastClr="000000"/>
              </a:solidFill>
              <a:effectLst/>
              <a:uLnTx/>
              <a:uFillTx/>
              <a:latin typeface="Tahoma"/>
              <a:cs typeface="Tahoma"/>
            </a:endParaRPr>
          </a:p>
          <a:p>
            <a:pPr marL="171450" marR="0" lvl="0" indent="-172085" defTabSz="914400" eaLnBrk="1" fontAlgn="auto" latinLnBrk="0" hangingPunct="1">
              <a:lnSpc>
                <a:spcPct val="100000"/>
              </a:lnSpc>
              <a:spcBef>
                <a:spcPts val="0"/>
              </a:spcBef>
              <a:spcAft>
                <a:spcPts val="0"/>
              </a:spcAft>
              <a:buClrTx/>
              <a:buSzTx/>
              <a:buFont typeface="Wingdings"/>
              <a:buChar char=""/>
              <a:tabLst>
                <a:tab pos="171450" algn="l"/>
              </a:tabLst>
              <a:defRPr/>
            </a:pPr>
            <a:r>
              <a:rPr kumimoji="0" sz="1000" b="0" i="0" u="none" strike="noStrike" kern="0" cap="none" spc="65" normalizeH="0" baseline="0" noProof="0">
                <a:ln>
                  <a:noFill/>
                </a:ln>
                <a:solidFill>
                  <a:srgbClr val="FFFFFF"/>
                </a:solidFill>
                <a:effectLst/>
                <a:uLnTx/>
                <a:uFillTx/>
                <a:latin typeface="Tahoma"/>
                <a:cs typeface="Tahoma"/>
              </a:rPr>
              <a:t>GDPR</a:t>
            </a:r>
            <a:r>
              <a:rPr kumimoji="0" sz="1000" b="0" i="0" u="none" strike="noStrike" kern="0" cap="none" spc="-15" normalizeH="0" baseline="0" noProof="0">
                <a:ln>
                  <a:noFill/>
                </a:ln>
                <a:solidFill>
                  <a:srgbClr val="FFFFFF"/>
                </a:solidFill>
                <a:effectLst/>
                <a:uLnTx/>
                <a:uFillTx/>
                <a:latin typeface="Tahoma"/>
                <a:cs typeface="Tahoma"/>
              </a:rPr>
              <a:t> </a:t>
            </a:r>
            <a:r>
              <a:rPr kumimoji="0" sz="1000" b="0" i="0" u="none" strike="noStrike" kern="0" cap="none" spc="60" normalizeH="0" baseline="0" noProof="0">
                <a:ln>
                  <a:noFill/>
                </a:ln>
                <a:solidFill>
                  <a:srgbClr val="FFFFFF"/>
                </a:solidFill>
                <a:effectLst/>
                <a:uLnTx/>
                <a:uFillTx/>
                <a:latin typeface="Tahoma"/>
                <a:cs typeface="Tahoma"/>
              </a:rPr>
              <a:t>Compliant</a:t>
            </a:r>
            <a:endParaRPr kumimoji="0" sz="1000" b="0" i="0" u="none" strike="noStrike" kern="0" cap="none" spc="0" normalizeH="0" baseline="0" noProof="0">
              <a:ln>
                <a:noFill/>
              </a:ln>
              <a:solidFill>
                <a:sysClr val="windowText" lastClr="000000"/>
              </a:solidFill>
              <a:effectLst/>
              <a:uLnTx/>
              <a:uFillTx/>
              <a:latin typeface="Tahoma"/>
              <a:cs typeface="Tahoma"/>
            </a:endParaRPr>
          </a:p>
        </p:txBody>
      </p:sp>
      <p:sp>
        <p:nvSpPr>
          <p:cNvPr id="64" name="object 64"/>
          <p:cNvSpPr txBox="1">
            <a:spLocks noGrp="1"/>
          </p:cNvSpPr>
          <p:nvPr>
            <p:ph type="title"/>
          </p:nvPr>
        </p:nvSpPr>
        <p:spPr>
          <a:xfrm>
            <a:off x="372872" y="586232"/>
            <a:ext cx="6819900" cy="391160"/>
          </a:xfrm>
          <a:prstGeom prst="rect">
            <a:avLst/>
          </a:prstGeom>
        </p:spPr>
        <p:txBody>
          <a:bodyPr vert="horz" wrap="square" lIns="0" tIns="12700" rIns="0" bIns="0" rtlCol="0">
            <a:spAutoFit/>
          </a:bodyPr>
          <a:lstStyle/>
          <a:p>
            <a:pPr marL="12700">
              <a:lnSpc>
                <a:spcPct val="100000"/>
              </a:lnSpc>
              <a:spcBef>
                <a:spcPts val="100"/>
              </a:spcBef>
            </a:pPr>
            <a:r>
              <a:rPr lang="en-US" spc="-50">
                <a:solidFill>
                  <a:schemeClr val="tx1">
                    <a:lumMod val="50000"/>
                    <a:lumOff val="50000"/>
                  </a:schemeClr>
                </a:solidFill>
                <a:latin typeface="Century Gothic" panose="020B0502020202020204" pitchFamily="34" charset="0"/>
              </a:rPr>
              <a:t>Our</a:t>
            </a:r>
            <a:r>
              <a:rPr lang="en-US" spc="-100">
                <a:solidFill>
                  <a:schemeClr val="tx1">
                    <a:lumMod val="50000"/>
                    <a:lumOff val="50000"/>
                  </a:schemeClr>
                </a:solidFill>
                <a:latin typeface="Century Gothic" panose="020B0502020202020204" pitchFamily="34" charset="0"/>
              </a:rPr>
              <a:t> </a:t>
            </a:r>
            <a:r>
              <a:rPr lang="en-US" spc="-50">
                <a:solidFill>
                  <a:schemeClr val="tx1">
                    <a:lumMod val="50000"/>
                    <a:lumOff val="50000"/>
                  </a:schemeClr>
                </a:solidFill>
                <a:latin typeface="Century Gothic" panose="020B0502020202020204" pitchFamily="34" charset="0"/>
              </a:rPr>
              <a:t>Customer</a:t>
            </a:r>
            <a:r>
              <a:rPr lang="en-US" spc="-65">
                <a:solidFill>
                  <a:schemeClr val="tx1">
                    <a:lumMod val="50000"/>
                    <a:lumOff val="50000"/>
                  </a:schemeClr>
                </a:solidFill>
                <a:latin typeface="Century Gothic" panose="020B0502020202020204" pitchFamily="34" charset="0"/>
              </a:rPr>
              <a:t> </a:t>
            </a:r>
            <a:r>
              <a:rPr lang="en-US">
                <a:solidFill>
                  <a:schemeClr val="tx1">
                    <a:lumMod val="50000"/>
                    <a:lumOff val="50000"/>
                  </a:schemeClr>
                </a:solidFill>
                <a:latin typeface="Century Gothic" panose="020B0502020202020204" pitchFamily="34" charset="0"/>
              </a:rPr>
              <a:t>Call</a:t>
            </a:r>
            <a:r>
              <a:rPr lang="en-US" spc="-60">
                <a:solidFill>
                  <a:schemeClr val="tx1">
                    <a:lumMod val="50000"/>
                    <a:lumOff val="50000"/>
                  </a:schemeClr>
                </a:solidFill>
                <a:latin typeface="Century Gothic" panose="020B0502020202020204" pitchFamily="34" charset="0"/>
              </a:rPr>
              <a:t> </a:t>
            </a:r>
            <a:r>
              <a:rPr lang="en-US" spc="-250">
                <a:solidFill>
                  <a:schemeClr val="tx1">
                    <a:lumMod val="50000"/>
                    <a:lumOff val="50000"/>
                  </a:schemeClr>
                </a:solidFill>
                <a:latin typeface="Century Gothic" panose="020B0502020202020204" pitchFamily="34" charset="0"/>
              </a:rPr>
              <a:t>&amp;</a:t>
            </a:r>
            <a:r>
              <a:rPr lang="en-US" spc="-25">
                <a:solidFill>
                  <a:schemeClr val="tx1">
                    <a:lumMod val="50000"/>
                    <a:lumOff val="50000"/>
                  </a:schemeClr>
                </a:solidFill>
                <a:latin typeface="Century Gothic" panose="020B0502020202020204" pitchFamily="34" charset="0"/>
              </a:rPr>
              <a:t> </a:t>
            </a:r>
            <a:r>
              <a:rPr lang="en-US" spc="-110">
                <a:solidFill>
                  <a:schemeClr val="tx1">
                    <a:lumMod val="50000"/>
                    <a:lumOff val="50000"/>
                  </a:schemeClr>
                </a:solidFill>
                <a:latin typeface="Century Gothic" panose="020B0502020202020204" pitchFamily="34" charset="0"/>
              </a:rPr>
              <a:t>Support</a:t>
            </a:r>
            <a:r>
              <a:rPr lang="en-US" spc="-55">
                <a:solidFill>
                  <a:schemeClr val="tx1">
                    <a:lumMod val="50000"/>
                    <a:lumOff val="50000"/>
                  </a:schemeClr>
                </a:solidFill>
                <a:latin typeface="Century Gothic" panose="020B0502020202020204" pitchFamily="34" charset="0"/>
              </a:rPr>
              <a:t> </a:t>
            </a:r>
            <a:r>
              <a:rPr lang="en-US" spc="-10">
                <a:solidFill>
                  <a:schemeClr val="tx1">
                    <a:lumMod val="50000"/>
                    <a:lumOff val="50000"/>
                  </a:schemeClr>
                </a:solidFill>
                <a:latin typeface="Century Gothic" panose="020B0502020202020204" pitchFamily="34" charset="0"/>
              </a:rPr>
              <a:t>Centre</a:t>
            </a:r>
            <a:r>
              <a:rPr lang="en-US" spc="-50">
                <a:solidFill>
                  <a:schemeClr val="tx1">
                    <a:lumMod val="50000"/>
                    <a:lumOff val="50000"/>
                  </a:schemeClr>
                </a:solidFill>
                <a:latin typeface="Century Gothic" panose="020B0502020202020204" pitchFamily="34" charset="0"/>
              </a:rPr>
              <a:t> </a:t>
            </a:r>
            <a:r>
              <a:rPr lang="en-US" spc="-10">
                <a:solidFill>
                  <a:schemeClr val="tx1">
                    <a:lumMod val="50000"/>
                    <a:lumOff val="50000"/>
                  </a:schemeClr>
                </a:solidFill>
                <a:latin typeface="Century Gothic" panose="020B0502020202020204" pitchFamily="34" charset="0"/>
              </a:rPr>
              <a:t>Overview</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3DAF1C-EC17-0CFD-5B01-37270041244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16" name="Freeform: Shape 15">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018CA1D-7BB4-CEC7-E20E-8111F3B38098}"/>
              </a:ext>
            </a:extLst>
          </p:cNvPr>
          <p:cNvSpPr>
            <a:spLocks noGrp="1"/>
          </p:cNvSpPr>
          <p:nvPr>
            <p:ph type="title"/>
          </p:nvPr>
        </p:nvSpPr>
        <p:spPr>
          <a:xfrm>
            <a:off x="804672" y="3011660"/>
            <a:ext cx="3659777" cy="844060"/>
          </a:xfrm>
        </p:spPr>
        <p:txBody>
          <a:bodyPr vert="horz" lIns="91440" tIns="45720" rIns="91440" bIns="45720" rtlCol="0" anchor="ctr">
            <a:normAutofit/>
          </a:bodyPr>
          <a:lstStyle/>
          <a:p>
            <a:r>
              <a:rPr lang="en-US" sz="2800" b="1" kern="1200">
                <a:solidFill>
                  <a:schemeClr val="tx2"/>
                </a:solidFill>
                <a:latin typeface="Century Gothic" panose="020B0502020202020204" pitchFamily="34" charset="0"/>
              </a:rPr>
              <a:t>Next Steps</a:t>
            </a:r>
          </a:p>
        </p:txBody>
      </p:sp>
      <p:graphicFrame>
        <p:nvGraphicFramePr>
          <p:cNvPr id="7" name="TextBox 4">
            <a:extLst>
              <a:ext uri="{FF2B5EF4-FFF2-40B4-BE49-F238E27FC236}">
                <a16:creationId xmlns:a16="http://schemas.microsoft.com/office/drawing/2014/main" id="{88D2E1FD-DCE4-D2E2-3440-A0B3BA6A7629}"/>
              </a:ext>
            </a:extLst>
          </p:cNvPr>
          <p:cNvGraphicFramePr/>
          <p:nvPr>
            <p:extLst>
              <p:ext uri="{D42A27DB-BD31-4B8C-83A1-F6EECF244321}">
                <p14:modId xmlns:p14="http://schemas.microsoft.com/office/powerpoint/2010/main" val="2683075529"/>
              </p:ext>
            </p:extLst>
          </p:nvPr>
        </p:nvGraphicFramePr>
        <p:xfrm>
          <a:off x="6091238" y="955653"/>
          <a:ext cx="5115491" cy="4947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2E213F36-C8CD-738B-E252-EF0D42ED1C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4130759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1E23D4-C226-B003-68B3-89A40B71F19F}"/>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0823BB-0575-D462-0353-6DC1CB8F831B}"/>
              </a:ext>
            </a:extLst>
          </p:cNvPr>
          <p:cNvSpPr>
            <a:spLocks noGrp="1"/>
          </p:cNvSpPr>
          <p:nvPr>
            <p:ph type="title"/>
          </p:nvPr>
        </p:nvSpPr>
        <p:spPr>
          <a:xfrm>
            <a:off x="941070" y="876610"/>
            <a:ext cx="2766706" cy="592933"/>
          </a:xfrm>
        </p:spPr>
        <p:txBody>
          <a:bodyPr>
            <a:normAutofit/>
          </a:bodyPr>
          <a:lstStyle/>
          <a:p>
            <a:r>
              <a:rPr lang="en-US" sz="2800" b="1">
                <a:latin typeface="Century Gothic" panose="020B0502020202020204" pitchFamily="34" charset="0"/>
              </a:rPr>
              <a:t>Conclusion</a:t>
            </a:r>
            <a:endParaRPr lang="en-NG" sz="2800" b="1">
              <a:latin typeface="Century Gothic" panose="020B0502020202020204" pitchFamily="34" charset="0"/>
            </a:endParaRPr>
          </a:p>
        </p:txBody>
      </p:sp>
      <p:sp>
        <p:nvSpPr>
          <p:cNvPr id="3" name="Content Placeholder 2">
            <a:extLst>
              <a:ext uri="{FF2B5EF4-FFF2-40B4-BE49-F238E27FC236}">
                <a16:creationId xmlns:a16="http://schemas.microsoft.com/office/drawing/2014/main" id="{9B218935-8EB8-BBFD-BACE-694AFAD15D38}"/>
              </a:ext>
            </a:extLst>
          </p:cNvPr>
          <p:cNvSpPr>
            <a:spLocks noGrp="1"/>
          </p:cNvSpPr>
          <p:nvPr>
            <p:ph idx="1"/>
          </p:nvPr>
        </p:nvSpPr>
        <p:spPr>
          <a:xfrm>
            <a:off x="941070" y="1611383"/>
            <a:ext cx="5391150" cy="1200398"/>
          </a:xfrm>
        </p:spPr>
        <p:txBody>
          <a:bodyPr>
            <a:normAutofit/>
          </a:bodyPr>
          <a:lstStyle/>
          <a:p>
            <a:pPr marL="0" indent="0">
              <a:buNone/>
            </a:pPr>
            <a:r>
              <a:rPr lang="en-US" sz="1800">
                <a:latin typeface="Century Gothic" panose="020B0502020202020204" pitchFamily="34" charset="0"/>
              </a:rPr>
              <a:t>This phased, hybrid financial model minimizes upfront risk while enabling LFZDC to scale into a full Smart Zone ecosystem with predictable long-term costs.</a:t>
            </a:r>
            <a:endParaRPr lang="en-NG" sz="1800">
              <a:latin typeface="Century Gothic" panose="020B0502020202020204" pitchFamily="34" charset="0"/>
            </a:endParaRPr>
          </a:p>
        </p:txBody>
      </p:sp>
      <p:pic>
        <p:nvPicPr>
          <p:cNvPr id="5" name="Picture 4" descr="Magnifying glass showing decling performance">
            <a:extLst>
              <a:ext uri="{FF2B5EF4-FFF2-40B4-BE49-F238E27FC236}">
                <a16:creationId xmlns:a16="http://schemas.microsoft.com/office/drawing/2014/main" id="{7E5453E3-BBDF-58CE-6EE4-6D68B34CA9F5}"/>
              </a:ext>
            </a:extLst>
          </p:cNvPr>
          <p:cNvPicPr>
            <a:picLocks noChangeAspect="1"/>
          </p:cNvPicPr>
          <p:nvPr/>
        </p:nvPicPr>
        <p:blipFill>
          <a:blip r:embed="rId2"/>
          <a:srcRect l="12493" r="2947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4" name="Picture 3">
            <a:extLst>
              <a:ext uri="{FF2B5EF4-FFF2-40B4-BE49-F238E27FC236}">
                <a16:creationId xmlns:a16="http://schemas.microsoft.com/office/drawing/2014/main" id="{EB96E6EE-6B25-0230-B72D-B67D9A03D3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781" y="198876"/>
            <a:ext cx="2280602" cy="351191"/>
          </a:xfrm>
          <a:prstGeom prst="rect">
            <a:avLst/>
          </a:prstGeom>
        </p:spPr>
      </p:pic>
    </p:spTree>
    <p:extLst>
      <p:ext uri="{BB962C8B-B14F-4D97-AF65-F5344CB8AC3E}">
        <p14:creationId xmlns:p14="http://schemas.microsoft.com/office/powerpoint/2010/main" val="11272441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3021-678C-3E9C-BB3F-2C4393173BD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0D6428-A364-0162-B275-0AD3F8B39E5D}"/>
              </a:ext>
            </a:extLst>
          </p:cNvPr>
          <p:cNvSpPr txBox="1">
            <a:spLocks noGrp="1"/>
          </p:cNvSpPr>
          <p:nvPr>
            <p:ph type="title"/>
          </p:nvPr>
        </p:nvSpPr>
        <p:spPr>
          <a:xfrm>
            <a:off x="372262" y="2614040"/>
            <a:ext cx="5005070" cy="848360"/>
          </a:xfrm>
          <a:prstGeom prst="rect">
            <a:avLst/>
          </a:prstGeom>
        </p:spPr>
        <p:txBody>
          <a:bodyPr vert="horz" wrap="square" lIns="0" tIns="12700" rIns="0" bIns="0" rtlCol="0">
            <a:spAutoFit/>
          </a:bodyPr>
          <a:lstStyle/>
          <a:p>
            <a:pPr marL="12700">
              <a:lnSpc>
                <a:spcPct val="100000"/>
              </a:lnSpc>
              <a:spcBef>
                <a:spcPts val="100"/>
              </a:spcBef>
            </a:pPr>
            <a:r>
              <a:rPr lang="en-US" sz="8100" b="0" spc="-839" baseline="-4115" dirty="0">
                <a:solidFill>
                  <a:schemeClr val="tx1">
                    <a:lumMod val="50000"/>
                    <a:lumOff val="50000"/>
                  </a:schemeClr>
                </a:solidFill>
                <a:latin typeface="Century Gothic" panose="020B0502020202020204" pitchFamily="34" charset="0"/>
                <a:cs typeface="Arial Black"/>
              </a:rPr>
              <a:t>09</a:t>
            </a:r>
            <a:r>
              <a:rPr lang="en-US" sz="8100" b="0" spc="337" baseline="-4115" dirty="0">
                <a:solidFill>
                  <a:schemeClr val="tx1">
                    <a:lumMod val="50000"/>
                    <a:lumOff val="50000"/>
                  </a:schemeClr>
                </a:solidFill>
                <a:latin typeface="Century Gothic" panose="020B0502020202020204" pitchFamily="34" charset="0"/>
                <a:cs typeface="Arial Black"/>
              </a:rPr>
              <a:t> </a:t>
            </a:r>
            <a:r>
              <a:rPr lang="en-US" sz="4000" spc="-130" dirty="0">
                <a:solidFill>
                  <a:schemeClr val="tx1">
                    <a:lumMod val="50000"/>
                    <a:lumOff val="50000"/>
                  </a:schemeClr>
                </a:solidFill>
                <a:latin typeface="Century Gothic" panose="020B0502020202020204" pitchFamily="34" charset="0"/>
              </a:rPr>
              <a:t>Corporate</a:t>
            </a:r>
            <a:r>
              <a:rPr lang="en-US" sz="4000" spc="-245" dirty="0">
                <a:solidFill>
                  <a:schemeClr val="tx1">
                    <a:lumMod val="50000"/>
                    <a:lumOff val="50000"/>
                  </a:schemeClr>
                </a:solidFill>
                <a:latin typeface="Century Gothic" panose="020B0502020202020204" pitchFamily="34" charset="0"/>
              </a:rPr>
              <a:t> </a:t>
            </a:r>
            <a:r>
              <a:rPr lang="en-US" sz="4000" spc="-315" dirty="0">
                <a:solidFill>
                  <a:schemeClr val="tx1">
                    <a:lumMod val="50000"/>
                    <a:lumOff val="50000"/>
                  </a:schemeClr>
                </a:solidFill>
                <a:latin typeface="Century Gothic" panose="020B0502020202020204" pitchFamily="34" charset="0"/>
              </a:rPr>
              <a:t>Profile</a:t>
            </a:r>
            <a:endParaRPr lang="en-US" sz="4000" dirty="0">
              <a:solidFill>
                <a:schemeClr val="tx1">
                  <a:lumMod val="50000"/>
                  <a:lumOff val="50000"/>
                </a:schemeClr>
              </a:solidFill>
              <a:latin typeface="Century Gothic" panose="020B0502020202020204" pitchFamily="34" charset="0"/>
              <a:cs typeface="Arial Black"/>
            </a:endParaRPr>
          </a:p>
        </p:txBody>
      </p:sp>
      <p:grpSp>
        <p:nvGrpSpPr>
          <p:cNvPr id="3" name="object 3">
            <a:extLst>
              <a:ext uri="{FF2B5EF4-FFF2-40B4-BE49-F238E27FC236}">
                <a16:creationId xmlns:a16="http://schemas.microsoft.com/office/drawing/2014/main" id="{E061398F-E324-910A-65A2-5E59148B6492}"/>
              </a:ext>
            </a:extLst>
          </p:cNvPr>
          <p:cNvGrpSpPr/>
          <p:nvPr/>
        </p:nvGrpSpPr>
        <p:grpSpPr>
          <a:xfrm>
            <a:off x="1103316" y="2610292"/>
            <a:ext cx="88847" cy="1137093"/>
            <a:chOff x="1298188" y="2656284"/>
            <a:chExt cx="88847" cy="1137093"/>
          </a:xfrm>
        </p:grpSpPr>
        <p:pic>
          <p:nvPicPr>
            <p:cNvPr id="4" name="object 4">
              <a:extLst>
                <a:ext uri="{FF2B5EF4-FFF2-40B4-BE49-F238E27FC236}">
                  <a16:creationId xmlns:a16="http://schemas.microsoft.com/office/drawing/2014/main" id="{45F5AE21-8935-99DF-E627-183C91297F39}"/>
                </a:ext>
              </a:extLst>
            </p:cNvPr>
            <p:cNvPicPr/>
            <p:nvPr/>
          </p:nvPicPr>
          <p:blipFill>
            <a:blip r:embed="rId2" cstate="print"/>
            <a:stretch>
              <a:fillRect/>
            </a:stretch>
          </p:blipFill>
          <p:spPr>
            <a:xfrm>
              <a:off x="1298188" y="2656284"/>
              <a:ext cx="88847" cy="1137093"/>
            </a:xfrm>
            <a:prstGeom prst="rect">
              <a:avLst/>
            </a:prstGeom>
          </p:spPr>
        </p:pic>
        <p:sp>
          <p:nvSpPr>
            <p:cNvPr id="5" name="object 5">
              <a:extLst>
                <a:ext uri="{FF2B5EF4-FFF2-40B4-BE49-F238E27FC236}">
                  <a16:creationId xmlns:a16="http://schemas.microsoft.com/office/drawing/2014/main" id="{AE5A8524-7378-EC75-1EB6-CE6707349F56}"/>
                </a:ext>
              </a:extLst>
            </p:cNvPr>
            <p:cNvSpPr/>
            <p:nvPr/>
          </p:nvSpPr>
          <p:spPr>
            <a:xfrm>
              <a:off x="1344802" y="2669540"/>
              <a:ext cx="0" cy="1080135"/>
            </a:xfrm>
            <a:custGeom>
              <a:avLst/>
              <a:gdLst/>
              <a:ahLst/>
              <a:cxnLst/>
              <a:rect l="l" t="t" r="r" b="b"/>
              <a:pathLst>
                <a:path h="1080135">
                  <a:moveTo>
                    <a:pt x="0" y="0"/>
                  </a:moveTo>
                  <a:lnTo>
                    <a:pt x="0" y="1080135"/>
                  </a:lnTo>
                </a:path>
              </a:pathLst>
            </a:custGeom>
            <a:ln w="254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entury Gothic" panose="020B0502020202020204" pitchFamily="34" charset="0"/>
              </a:endParaRPr>
            </a:p>
          </p:txBody>
        </p:sp>
      </p:grpSp>
    </p:spTree>
    <p:extLst>
      <p:ext uri="{BB962C8B-B14F-4D97-AF65-F5344CB8AC3E}">
        <p14:creationId xmlns:p14="http://schemas.microsoft.com/office/powerpoint/2010/main" val="801339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grpSp>
        <p:nvGrpSpPr>
          <p:cNvPr id="4" name="object 4"/>
          <p:cNvGrpSpPr/>
          <p:nvPr/>
        </p:nvGrpSpPr>
        <p:grpSpPr>
          <a:xfrm>
            <a:off x="4005579" y="829310"/>
            <a:ext cx="4037965" cy="5200015"/>
            <a:chOff x="4005579" y="829310"/>
            <a:chExt cx="4037965" cy="5200015"/>
          </a:xfrm>
        </p:grpSpPr>
        <p:pic>
          <p:nvPicPr>
            <p:cNvPr id="5" name="object 5"/>
            <p:cNvPicPr/>
            <p:nvPr/>
          </p:nvPicPr>
          <p:blipFill>
            <a:blip r:embed="rId3" cstate="print"/>
            <a:stretch>
              <a:fillRect/>
            </a:stretch>
          </p:blipFill>
          <p:spPr>
            <a:xfrm>
              <a:off x="4005579" y="829310"/>
              <a:ext cx="3691763" cy="5199443"/>
            </a:xfrm>
            <a:prstGeom prst="rect">
              <a:avLst/>
            </a:prstGeom>
          </p:spPr>
        </p:pic>
        <p:sp>
          <p:nvSpPr>
            <p:cNvPr id="6" name="object 6"/>
            <p:cNvSpPr/>
            <p:nvPr/>
          </p:nvSpPr>
          <p:spPr>
            <a:xfrm>
              <a:off x="7354442" y="1087755"/>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51"/>
                  </a:lnTo>
                  <a:lnTo>
                    <a:pt x="673549" y="434093"/>
                  </a:lnTo>
                  <a:lnTo>
                    <a:pt x="658850" y="476416"/>
                  </a:lnTo>
                  <a:lnTo>
                    <a:pt x="638979" y="516015"/>
                  </a:lnTo>
                  <a:lnTo>
                    <a:pt x="614345" y="552480"/>
                  </a:lnTo>
                  <a:lnTo>
                    <a:pt x="585358" y="585406"/>
                  </a:lnTo>
                  <a:lnTo>
                    <a:pt x="552426" y="614384"/>
                  </a:lnTo>
                  <a:lnTo>
                    <a:pt x="515958" y="639007"/>
                  </a:lnTo>
                  <a:lnTo>
                    <a:pt x="476363" y="658868"/>
                  </a:lnTo>
                  <a:lnTo>
                    <a:pt x="434048" y="673558"/>
                  </a:lnTo>
                  <a:lnTo>
                    <a:pt x="389424" y="682671"/>
                  </a:lnTo>
                  <a:lnTo>
                    <a:pt x="342900" y="685800"/>
                  </a:lnTo>
                  <a:lnTo>
                    <a:pt x="296375" y="682671"/>
                  </a:lnTo>
                  <a:lnTo>
                    <a:pt x="251751" y="673558"/>
                  </a:lnTo>
                  <a:lnTo>
                    <a:pt x="209436" y="658868"/>
                  </a:lnTo>
                  <a:lnTo>
                    <a:pt x="169841" y="639007"/>
                  </a:lnTo>
                  <a:lnTo>
                    <a:pt x="133373" y="614384"/>
                  </a:lnTo>
                  <a:lnTo>
                    <a:pt x="100441" y="585406"/>
                  </a:lnTo>
                  <a:lnTo>
                    <a:pt x="71454" y="552480"/>
                  </a:lnTo>
                  <a:lnTo>
                    <a:pt x="46820" y="516015"/>
                  </a:lnTo>
                  <a:lnTo>
                    <a:pt x="26949" y="476416"/>
                  </a:lnTo>
                  <a:lnTo>
                    <a:pt x="12250" y="434093"/>
                  </a:lnTo>
                  <a:lnTo>
                    <a:pt x="3130" y="389451"/>
                  </a:lnTo>
                  <a:lnTo>
                    <a:pt x="0" y="342900"/>
                  </a:lnTo>
                  <a:close/>
                </a:path>
              </a:pathLst>
            </a:custGeom>
            <a:ln w="6350">
              <a:solidFill>
                <a:srgbClr val="BEBEB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p:nvPr/>
          </p:nvSpPr>
          <p:spPr>
            <a:xfrm>
              <a:off x="7411592" y="1144905"/>
              <a:ext cx="571500" cy="571500"/>
            </a:xfrm>
            <a:custGeom>
              <a:avLst/>
              <a:gdLst/>
              <a:ahLst/>
              <a:cxnLst/>
              <a:rect l="l" t="t" r="r" b="b"/>
              <a:pathLst>
                <a:path w="571500" h="571500">
                  <a:moveTo>
                    <a:pt x="285750" y="0"/>
                  </a:moveTo>
                  <a:lnTo>
                    <a:pt x="239388" y="3742"/>
                  </a:lnTo>
                  <a:lnTo>
                    <a:pt x="195413" y="14575"/>
                  </a:lnTo>
                  <a:lnTo>
                    <a:pt x="154411" y="31910"/>
                  </a:lnTo>
                  <a:lnTo>
                    <a:pt x="116970" y="55156"/>
                  </a:lnTo>
                  <a:lnTo>
                    <a:pt x="83677" y="83724"/>
                  </a:lnTo>
                  <a:lnTo>
                    <a:pt x="55120" y="117024"/>
                  </a:lnTo>
                  <a:lnTo>
                    <a:pt x="31886" y="154467"/>
                  </a:lnTo>
                  <a:lnTo>
                    <a:pt x="14563" y="195462"/>
                  </a:lnTo>
                  <a:lnTo>
                    <a:pt x="3738" y="239419"/>
                  </a:lnTo>
                  <a:lnTo>
                    <a:pt x="0" y="285750"/>
                  </a:lnTo>
                  <a:lnTo>
                    <a:pt x="3738" y="332111"/>
                  </a:lnTo>
                  <a:lnTo>
                    <a:pt x="14563" y="376086"/>
                  </a:lnTo>
                  <a:lnTo>
                    <a:pt x="31886" y="417088"/>
                  </a:lnTo>
                  <a:lnTo>
                    <a:pt x="55120" y="454529"/>
                  </a:lnTo>
                  <a:lnTo>
                    <a:pt x="83677" y="487822"/>
                  </a:lnTo>
                  <a:lnTo>
                    <a:pt x="116970" y="516379"/>
                  </a:lnTo>
                  <a:lnTo>
                    <a:pt x="154411" y="539613"/>
                  </a:lnTo>
                  <a:lnTo>
                    <a:pt x="195413" y="556936"/>
                  </a:lnTo>
                  <a:lnTo>
                    <a:pt x="239388" y="567761"/>
                  </a:lnTo>
                  <a:lnTo>
                    <a:pt x="285750" y="571500"/>
                  </a:lnTo>
                  <a:lnTo>
                    <a:pt x="332111" y="567761"/>
                  </a:lnTo>
                  <a:lnTo>
                    <a:pt x="376086" y="556936"/>
                  </a:lnTo>
                  <a:lnTo>
                    <a:pt x="417088" y="539613"/>
                  </a:lnTo>
                  <a:lnTo>
                    <a:pt x="454529" y="516379"/>
                  </a:lnTo>
                  <a:lnTo>
                    <a:pt x="487822" y="487822"/>
                  </a:lnTo>
                  <a:lnTo>
                    <a:pt x="516379" y="454529"/>
                  </a:lnTo>
                  <a:lnTo>
                    <a:pt x="539613" y="417088"/>
                  </a:lnTo>
                  <a:lnTo>
                    <a:pt x="556936" y="376086"/>
                  </a:lnTo>
                  <a:lnTo>
                    <a:pt x="567761" y="332111"/>
                  </a:lnTo>
                  <a:lnTo>
                    <a:pt x="571500" y="285750"/>
                  </a:lnTo>
                  <a:lnTo>
                    <a:pt x="567761" y="239419"/>
                  </a:lnTo>
                  <a:lnTo>
                    <a:pt x="556936" y="195462"/>
                  </a:lnTo>
                  <a:lnTo>
                    <a:pt x="539613" y="154467"/>
                  </a:lnTo>
                  <a:lnTo>
                    <a:pt x="516379" y="117024"/>
                  </a:lnTo>
                  <a:lnTo>
                    <a:pt x="487822" y="83724"/>
                  </a:lnTo>
                  <a:lnTo>
                    <a:pt x="454529" y="55156"/>
                  </a:lnTo>
                  <a:lnTo>
                    <a:pt x="417088" y="31910"/>
                  </a:lnTo>
                  <a:lnTo>
                    <a:pt x="376086" y="14575"/>
                  </a:lnTo>
                  <a:lnTo>
                    <a:pt x="332111" y="3742"/>
                  </a:lnTo>
                  <a:lnTo>
                    <a:pt x="285750"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p:nvPr/>
          </p:nvSpPr>
          <p:spPr>
            <a:xfrm>
              <a:off x="7631683" y="1348740"/>
              <a:ext cx="131445" cy="152400"/>
            </a:xfrm>
            <a:custGeom>
              <a:avLst/>
              <a:gdLst/>
              <a:ahLst/>
              <a:cxnLst/>
              <a:rect l="l" t="t" r="r" b="b"/>
              <a:pathLst>
                <a:path w="131445" h="152400">
                  <a:moveTo>
                    <a:pt x="0" y="0"/>
                  </a:moveTo>
                  <a:lnTo>
                    <a:pt x="0" y="152400"/>
                  </a:lnTo>
                  <a:lnTo>
                    <a:pt x="131318" y="76200"/>
                  </a:lnTo>
                  <a:lnTo>
                    <a:pt x="0"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 name="object 9"/>
          <p:cNvSpPr txBox="1"/>
          <p:nvPr/>
        </p:nvSpPr>
        <p:spPr>
          <a:xfrm>
            <a:off x="1126947" y="1347977"/>
            <a:ext cx="851535" cy="182742"/>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1100" b="0" i="0" u="none" strike="noStrike" kern="0" cap="none" spc="-10" normalizeH="0" baseline="0" noProof="0">
                <a:ln>
                  <a:noFill/>
                </a:ln>
                <a:solidFill>
                  <a:srgbClr val="7E7E7E"/>
                </a:solidFill>
                <a:effectLst/>
                <a:uLnTx/>
                <a:uFillTx/>
                <a:latin typeface="Century Gothic" panose="020B0502020202020204" pitchFamily="34" charset="0"/>
                <a:cs typeface="Tahoma"/>
              </a:rPr>
              <a:t>Introduction</a:t>
            </a:r>
            <a:endParaRPr kumimoji="0" lang="en-US" sz="11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10" name="object 10"/>
          <p:cNvSpPr/>
          <p:nvPr/>
        </p:nvSpPr>
        <p:spPr>
          <a:xfrm>
            <a:off x="659218" y="1445767"/>
            <a:ext cx="224154" cy="0"/>
          </a:xfrm>
          <a:custGeom>
            <a:avLst/>
            <a:gdLst/>
            <a:ahLst/>
            <a:cxnLst/>
            <a:rect l="l" t="t" r="r" b="b"/>
            <a:pathLst>
              <a:path w="224155">
                <a:moveTo>
                  <a:pt x="0" y="0"/>
                </a:moveTo>
                <a:lnTo>
                  <a:pt x="223748" y="0"/>
                </a:lnTo>
              </a:path>
            </a:pathLst>
          </a:custGeom>
          <a:ln w="9525">
            <a:solidFill>
              <a:srgbClr val="6D6C74"/>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a:spLocks noGrp="1"/>
          </p:cNvSpPr>
          <p:nvPr>
            <p:ph type="title"/>
          </p:nvPr>
        </p:nvSpPr>
        <p:spPr>
          <a:xfrm>
            <a:off x="1089761" y="1669542"/>
            <a:ext cx="1773555" cy="513715"/>
          </a:xfrm>
          <a:prstGeom prst="rect">
            <a:avLst/>
          </a:prstGeom>
        </p:spPr>
        <p:txBody>
          <a:bodyPr vert="horz" wrap="square" lIns="0" tIns="13335" rIns="0" bIns="0" rtlCol="0">
            <a:spAutoFit/>
          </a:bodyPr>
          <a:lstStyle/>
          <a:p>
            <a:pPr marL="12700">
              <a:lnSpc>
                <a:spcPct val="100000"/>
              </a:lnSpc>
              <a:spcBef>
                <a:spcPts val="105"/>
              </a:spcBef>
            </a:pPr>
            <a:r>
              <a:rPr lang="en-US" sz="3200" spc="-10">
                <a:solidFill>
                  <a:srgbClr val="5F5F5F"/>
                </a:solidFill>
                <a:latin typeface="Century Gothic" panose="020B0502020202020204" pitchFamily="34" charset="0"/>
              </a:rPr>
              <a:t>About</a:t>
            </a:r>
            <a:r>
              <a:rPr lang="en-US" sz="3200" spc="-220">
                <a:solidFill>
                  <a:srgbClr val="5F5F5F"/>
                </a:solidFill>
                <a:latin typeface="Century Gothic" panose="020B0502020202020204" pitchFamily="34" charset="0"/>
              </a:rPr>
              <a:t> </a:t>
            </a:r>
            <a:r>
              <a:rPr lang="en-US" sz="3200" spc="-310">
                <a:latin typeface="Century Gothic" panose="020B0502020202020204" pitchFamily="34" charset="0"/>
              </a:rPr>
              <a:t>Us</a:t>
            </a:r>
            <a:endParaRPr lang="en-US" sz="3200">
              <a:latin typeface="Century Gothic" panose="020B0502020202020204" pitchFamily="34" charset="0"/>
            </a:endParaRPr>
          </a:p>
        </p:txBody>
      </p:sp>
      <p:sp>
        <p:nvSpPr>
          <p:cNvPr id="15" name="object 15"/>
          <p:cNvSpPr txBox="1"/>
          <p:nvPr/>
        </p:nvSpPr>
        <p:spPr>
          <a:xfrm>
            <a:off x="9037066" y="6596981"/>
            <a:ext cx="281495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sp>
        <p:nvSpPr>
          <p:cNvPr id="12" name="object 12"/>
          <p:cNvSpPr txBox="1"/>
          <p:nvPr/>
        </p:nvSpPr>
        <p:spPr>
          <a:xfrm>
            <a:off x="8213217" y="1803908"/>
            <a:ext cx="3022473" cy="3270126"/>
          </a:xfrm>
          <a:prstGeom prst="rect">
            <a:avLst/>
          </a:prstGeom>
        </p:spPr>
        <p:txBody>
          <a:bodyPr vert="horz" wrap="square" lIns="0" tIns="12700" rIns="0" bIns="0" rtlCol="0">
            <a:spAutoFit/>
          </a:bodyPr>
          <a:lstStyle/>
          <a:p>
            <a:pPr marL="12700" marR="64135" lvl="0" indent="0" algn="just" defTabSz="914400" eaLnBrk="1" fontAlgn="auto" latinLnBrk="0" hangingPunct="1">
              <a:lnSpc>
                <a:spcPct val="100000"/>
              </a:lnSpc>
              <a:spcBef>
                <a:spcPts val="100"/>
              </a:spcBef>
              <a:spcAft>
                <a:spcPts val="0"/>
              </a:spcAft>
              <a:buClrTx/>
              <a:buSzTx/>
              <a:buFontTx/>
              <a:buNone/>
              <a:tabLst/>
              <a:defRPr/>
            </a:pPr>
            <a:r>
              <a:rPr kumimoji="0" lang="en-GB" sz="1200" b="0" i="0" u="none" strike="noStrike" kern="0" cap="none" spc="-125" normalizeH="0" baseline="0" noProof="0">
                <a:ln>
                  <a:noFill/>
                </a:ln>
                <a:solidFill>
                  <a:srgbClr val="54535A"/>
                </a:solidFill>
                <a:effectLst/>
                <a:uLnTx/>
                <a:uFillTx/>
                <a:latin typeface="Century Gothic" panose="020B0502020202020204" pitchFamily="34" charset="0"/>
                <a:cs typeface="Tahoma"/>
              </a:rPr>
              <a:t>Is</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75" normalizeH="0" baseline="0" noProof="0">
                <a:ln>
                  <a:noFill/>
                </a:ln>
                <a:solidFill>
                  <a:srgbClr val="54535A"/>
                </a:solidFill>
                <a:effectLst/>
                <a:uLnTx/>
                <a:uFillTx/>
                <a:latin typeface="Century Gothic" panose="020B0502020202020204" pitchFamily="34" charset="0"/>
                <a:cs typeface="Tahoma"/>
              </a:rPr>
              <a:t>more</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than</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90" normalizeH="0" baseline="0" noProof="0">
                <a:ln>
                  <a:noFill/>
                </a:ln>
                <a:solidFill>
                  <a:srgbClr val="54535A"/>
                </a:solidFill>
                <a:effectLst/>
                <a:uLnTx/>
                <a:uFillTx/>
                <a:latin typeface="Century Gothic" panose="020B0502020202020204" pitchFamily="34" charset="0"/>
                <a:cs typeface="Tahoma"/>
              </a:rPr>
              <a:t>a</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85" normalizeH="0" baseline="0" noProof="0">
                <a:ln>
                  <a:noFill/>
                </a:ln>
                <a:solidFill>
                  <a:srgbClr val="54535A"/>
                </a:solidFill>
                <a:effectLst/>
                <a:uLnTx/>
                <a:uFillTx/>
                <a:latin typeface="Century Gothic" panose="020B0502020202020204" pitchFamily="34" charset="0"/>
                <a:cs typeface="Tahoma"/>
              </a:rPr>
              <a:t>technology</a:t>
            </a:r>
            <a:r>
              <a:rPr kumimoji="0" lang="en-GB" sz="1200" b="0" i="0" u="none" strike="noStrike" kern="0" cap="none" spc="-1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provider</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25" normalizeH="0" baseline="0" noProof="0">
                <a:ln>
                  <a:noFill/>
                </a:ln>
                <a:solidFill>
                  <a:srgbClr val="54535A"/>
                </a:solidFill>
                <a:effectLst/>
                <a:uLnTx/>
                <a:uFillTx/>
                <a:latin typeface="Century Gothic" panose="020B0502020202020204" pitchFamily="34" charset="0"/>
                <a:cs typeface="Tahoma"/>
              </a:rPr>
              <a:t>we</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80" normalizeH="0" baseline="0" noProof="0">
                <a:ln>
                  <a:noFill/>
                </a:ln>
                <a:solidFill>
                  <a:srgbClr val="54535A"/>
                </a:solidFill>
                <a:effectLst/>
                <a:uLnTx/>
                <a:uFillTx/>
                <a:latin typeface="Century Gothic" panose="020B0502020202020204" pitchFamily="34" charset="0"/>
                <a:cs typeface="Tahoma"/>
              </a:rPr>
              <a:t>are</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architects</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of</a:t>
            </a:r>
            <a:r>
              <a:rPr kumimoji="0" lang="en-GB" sz="1200" b="0" i="0" u="none" strike="noStrike" kern="0" cap="none" spc="-1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Africa’s</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40" normalizeH="0" baseline="0" noProof="0">
                <a:ln>
                  <a:noFill/>
                </a:ln>
                <a:solidFill>
                  <a:srgbClr val="54535A"/>
                </a:solidFill>
                <a:effectLst/>
                <a:uLnTx/>
                <a:uFillTx/>
                <a:latin typeface="Century Gothic" panose="020B0502020202020204" pitchFamily="34" charset="0"/>
                <a:cs typeface="Tahoma"/>
              </a:rPr>
              <a:t>digital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future. With</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90" normalizeH="0" baseline="0" noProof="0">
                <a:ln>
                  <a:noFill/>
                </a:ln>
                <a:solidFill>
                  <a:srgbClr val="54535A"/>
                </a:solidFill>
                <a:effectLst/>
                <a:uLnTx/>
                <a:uFillTx/>
                <a:latin typeface="Century Gothic" panose="020B0502020202020204" pitchFamily="34" charset="0"/>
                <a:cs typeface="Tahoma"/>
              </a:rPr>
              <a:t>a</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40" normalizeH="0" baseline="0" noProof="0">
                <a:ln>
                  <a:noFill/>
                </a:ln>
                <a:solidFill>
                  <a:srgbClr val="54535A"/>
                </a:solidFill>
                <a:effectLst/>
                <a:uLnTx/>
                <a:uFillTx/>
                <a:latin typeface="Century Gothic" panose="020B0502020202020204" pitchFamily="34" charset="0"/>
                <a:cs typeface="Tahoma"/>
              </a:rPr>
              <a:t>deep</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understanding</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of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the</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continent’s</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unique</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business </a:t>
            </a:r>
            <a:r>
              <a:rPr kumimoji="0" lang="en-GB" sz="1200" b="0" i="0" u="none" strike="noStrike" kern="0" cap="none" spc="95" normalizeH="0" baseline="0" noProof="0">
                <a:ln>
                  <a:noFill/>
                </a:ln>
                <a:solidFill>
                  <a:srgbClr val="54535A"/>
                </a:solidFill>
                <a:effectLst/>
                <a:uLnTx/>
                <a:uFillTx/>
                <a:latin typeface="Century Gothic" panose="020B0502020202020204" pitchFamily="34" charset="0"/>
                <a:cs typeface="Tahoma"/>
              </a:rPr>
              <a:t>landscape,</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25" normalizeH="0" baseline="0" noProof="0">
                <a:ln>
                  <a:noFill/>
                </a:ln>
                <a:solidFill>
                  <a:srgbClr val="54535A"/>
                </a:solidFill>
                <a:effectLst/>
                <a:uLnTx/>
                <a:uFillTx/>
                <a:latin typeface="Century Gothic" panose="020B0502020202020204" pitchFamily="34" charset="0"/>
                <a:cs typeface="Tahoma"/>
              </a:rPr>
              <a:t>we</a:t>
            </a:r>
            <a:r>
              <a:rPr kumimoji="0" lang="en-GB" sz="1200" b="0" i="0" u="none" strike="noStrike" kern="0" cap="none" spc="-4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deliver</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40" normalizeH="0" baseline="0" noProof="0">
                <a:ln>
                  <a:noFill/>
                </a:ln>
                <a:solidFill>
                  <a:srgbClr val="54535A"/>
                </a:solidFill>
                <a:effectLst/>
                <a:uLnTx/>
                <a:uFillTx/>
                <a:latin typeface="Century Gothic" panose="020B0502020202020204" pitchFamily="34" charset="0"/>
                <a:cs typeface="Tahoma"/>
              </a:rPr>
              <a:t>innovative,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tailored</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solutions</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that </a:t>
            </a:r>
            <a:r>
              <a:rPr kumimoji="0" lang="en-GB" sz="1200" b="0" i="0" u="none" strike="noStrike" kern="0" cap="none" spc="90" normalizeH="0" baseline="0" noProof="0">
                <a:ln>
                  <a:noFill/>
                </a:ln>
                <a:solidFill>
                  <a:srgbClr val="54535A"/>
                </a:solidFill>
                <a:effectLst/>
                <a:uLnTx/>
                <a:uFillTx/>
                <a:latin typeface="Century Gothic" panose="020B0502020202020204" pitchFamily="34" charset="0"/>
                <a:cs typeface="Tahoma"/>
              </a:rPr>
              <a:t>empower </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organisations</a:t>
            </a:r>
            <a:r>
              <a:rPr kumimoji="0" lang="en-GB" sz="1200" b="0" i="0" u="none" strike="noStrike" kern="0" cap="none" spc="7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to</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thrive</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in</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20" normalizeH="0" baseline="0" noProof="0">
                <a:ln>
                  <a:noFill/>
                </a:ln>
                <a:solidFill>
                  <a:srgbClr val="54535A"/>
                </a:solidFill>
                <a:effectLst/>
                <a:uLnTx/>
                <a:uFillTx/>
                <a:latin typeface="Century Gothic" panose="020B0502020202020204" pitchFamily="34" charset="0"/>
                <a:cs typeface="Tahoma"/>
              </a:rPr>
              <a:t>an</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ever-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evolving</a:t>
            </a:r>
            <a:r>
              <a:rPr kumimoji="0" lang="en-GB" sz="1200" b="0" i="0" u="none" strike="noStrike" kern="0" cap="none" spc="-4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digital</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85" normalizeH="0" baseline="0" noProof="0">
                <a:ln>
                  <a:noFill/>
                </a:ln>
                <a:solidFill>
                  <a:srgbClr val="54535A"/>
                </a:solidFill>
                <a:effectLst/>
                <a:uLnTx/>
                <a:uFillTx/>
                <a:latin typeface="Century Gothic" panose="020B0502020202020204" pitchFamily="34" charset="0"/>
                <a:cs typeface="Tahoma"/>
              </a:rPr>
              <a:t>economy.</a:t>
            </a:r>
            <a:endParaRPr kumimoji="0" lang="en-GB" sz="12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a:p>
            <a:pPr marL="12700" marR="5080" lvl="0" indent="0" algn="just" defTabSz="914400" eaLnBrk="1" fontAlgn="auto" latinLnBrk="0" hangingPunct="1">
              <a:lnSpc>
                <a:spcPct val="100000"/>
              </a:lnSpc>
              <a:spcBef>
                <a:spcPts val="1440"/>
              </a:spcBef>
              <a:spcAft>
                <a:spcPts val="0"/>
              </a:spcAft>
              <a:buClrTx/>
              <a:buSzTx/>
              <a:buFontTx/>
              <a:buNone/>
              <a:tabLst/>
              <a:defRPr/>
            </a:pP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Our</a:t>
            </a:r>
            <a:r>
              <a:rPr kumimoji="0" lang="en-GB" sz="1200" b="0" i="0" u="none" strike="noStrike" kern="0" cap="none" spc="1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expertise</a:t>
            </a:r>
            <a:r>
              <a:rPr kumimoji="0" lang="en-GB" sz="1200" b="0" i="0" u="none" strike="noStrike" kern="0" cap="none" spc="16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spans</a:t>
            </a:r>
            <a:r>
              <a:rPr kumimoji="0" lang="en-GB" sz="1200" b="0" i="0" u="none" strike="noStrike" kern="0" cap="none" spc="15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Managed</a:t>
            </a:r>
            <a:r>
              <a:rPr kumimoji="0" lang="en-GB" sz="1200" b="1" i="0" u="none" strike="noStrike" kern="0" cap="none" spc="50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35" normalizeH="0" baseline="0" noProof="0">
                <a:ln>
                  <a:noFill/>
                </a:ln>
                <a:solidFill>
                  <a:srgbClr val="54535A"/>
                </a:solidFill>
                <a:effectLst/>
                <a:uLnTx/>
                <a:uFillTx/>
                <a:latin typeface="Century Gothic" panose="020B0502020202020204" pitchFamily="34" charset="0"/>
                <a:cs typeface="Tahoma"/>
              </a:rPr>
              <a:t>Services</a:t>
            </a:r>
            <a:r>
              <a:rPr kumimoji="0" lang="en-GB" sz="1200" b="1"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60" normalizeH="0" baseline="0" noProof="0">
                <a:ln>
                  <a:noFill/>
                </a:ln>
                <a:solidFill>
                  <a:srgbClr val="54535A"/>
                </a:solidFill>
                <a:effectLst/>
                <a:uLnTx/>
                <a:uFillTx/>
                <a:latin typeface="Century Gothic" panose="020B0502020202020204" pitchFamily="34" charset="0"/>
                <a:cs typeface="Tahoma"/>
              </a:rPr>
              <a:t>(IT,</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0" normalizeH="0" baseline="0" noProof="0">
                <a:ln>
                  <a:noFill/>
                </a:ln>
                <a:solidFill>
                  <a:srgbClr val="54535A"/>
                </a:solidFill>
                <a:effectLst/>
                <a:uLnTx/>
                <a:uFillTx/>
                <a:latin typeface="Century Gothic" panose="020B0502020202020204" pitchFamily="34" charset="0"/>
                <a:cs typeface="Tahoma"/>
              </a:rPr>
              <a:t>Cloud,</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0" normalizeH="0" baseline="0" noProof="0">
                <a:ln>
                  <a:noFill/>
                </a:ln>
                <a:solidFill>
                  <a:srgbClr val="54535A"/>
                </a:solidFill>
                <a:effectLst/>
                <a:uLnTx/>
                <a:uFillTx/>
                <a:latin typeface="Century Gothic" panose="020B0502020202020204" pitchFamily="34" charset="0"/>
                <a:cs typeface="Tahoma"/>
              </a:rPr>
              <a:t>Cyber,</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 Networks)</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Data</a:t>
            </a:r>
            <a:r>
              <a:rPr kumimoji="0" lang="en-GB" sz="1200" b="1"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30" normalizeH="0" baseline="0" noProof="0">
                <a:ln>
                  <a:noFill/>
                </a:ln>
                <a:solidFill>
                  <a:srgbClr val="54535A"/>
                </a:solidFill>
                <a:effectLst/>
                <a:uLnTx/>
                <a:uFillTx/>
                <a:latin typeface="Century Gothic" panose="020B0502020202020204" pitchFamily="34" charset="0"/>
                <a:cs typeface="Tahoma"/>
              </a:rPr>
              <a:t>&amp;</a:t>
            </a:r>
            <a:r>
              <a:rPr kumimoji="0" lang="en-GB" sz="1200" b="1" i="0" u="none" strike="noStrike" kern="0" cap="none" spc="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00" normalizeH="0" baseline="0" noProof="0">
                <a:ln>
                  <a:noFill/>
                </a:ln>
                <a:solidFill>
                  <a:srgbClr val="54535A"/>
                </a:solidFill>
                <a:effectLst/>
                <a:uLnTx/>
                <a:uFillTx/>
                <a:latin typeface="Century Gothic" panose="020B0502020202020204" pitchFamily="34" charset="0"/>
                <a:cs typeface="Tahoma"/>
              </a:rPr>
              <a:t>AI</a:t>
            </a:r>
            <a:r>
              <a:rPr kumimoji="0" lang="en-GB" sz="1200" b="1"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75" normalizeH="0" baseline="0" noProof="0">
                <a:ln>
                  <a:noFill/>
                </a:ln>
                <a:solidFill>
                  <a:srgbClr val="54535A"/>
                </a:solidFill>
                <a:effectLst/>
                <a:uLnTx/>
                <a:uFillTx/>
                <a:latin typeface="Century Gothic" panose="020B0502020202020204" pitchFamily="34" charset="0"/>
                <a:cs typeface="Tahoma"/>
              </a:rPr>
              <a:t>Business</a:t>
            </a:r>
            <a:r>
              <a:rPr kumimoji="0" lang="en-GB" sz="1200" b="1"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65" normalizeH="0" baseline="0" noProof="0">
                <a:ln>
                  <a:noFill/>
                </a:ln>
                <a:solidFill>
                  <a:srgbClr val="54535A"/>
                </a:solidFill>
                <a:effectLst/>
                <a:uLnTx/>
                <a:uFillTx/>
                <a:latin typeface="Century Gothic" panose="020B0502020202020204" pitchFamily="34" charset="0"/>
                <a:cs typeface="Tahoma"/>
              </a:rPr>
              <a:t>Transformation</a:t>
            </a:r>
            <a:r>
              <a:rPr kumimoji="0" lang="en-GB" sz="1200" b="1"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25" normalizeH="0" baseline="0" noProof="0">
                <a:ln>
                  <a:noFill/>
                </a:ln>
                <a:solidFill>
                  <a:srgbClr val="54535A"/>
                </a:solidFill>
                <a:effectLst/>
                <a:uLnTx/>
                <a:uFillTx/>
                <a:latin typeface="Century Gothic" panose="020B0502020202020204" pitchFamily="34" charset="0"/>
                <a:cs typeface="Tahoma"/>
              </a:rPr>
              <a:t>and </a:t>
            </a:r>
            <a:r>
              <a:rPr kumimoji="0" lang="en-GB" sz="1200" b="1" i="0" u="none" strike="noStrike" kern="0" cap="none" spc="-35" normalizeH="0" baseline="0" noProof="0">
                <a:ln>
                  <a:noFill/>
                </a:ln>
                <a:solidFill>
                  <a:srgbClr val="54535A"/>
                </a:solidFill>
                <a:effectLst/>
                <a:uLnTx/>
                <a:uFillTx/>
                <a:latin typeface="Century Gothic" panose="020B0502020202020204" pitchFamily="34" charset="0"/>
                <a:cs typeface="Tahoma"/>
              </a:rPr>
              <a:t>Consulting</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40" normalizeH="0" baseline="0" noProof="0">
                <a:ln>
                  <a:noFill/>
                </a:ln>
                <a:solidFill>
                  <a:srgbClr val="54535A"/>
                </a:solidFill>
                <a:effectLst/>
                <a:uLnTx/>
                <a:uFillTx/>
                <a:latin typeface="Century Gothic" panose="020B0502020202020204" pitchFamily="34" charset="0"/>
                <a:cs typeface="Tahoma"/>
              </a:rPr>
              <a:t>Product</a:t>
            </a:r>
            <a:r>
              <a:rPr kumimoji="0" lang="en-GB" sz="1200" b="1"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50" normalizeH="0" baseline="0" noProof="0">
                <a:ln>
                  <a:noFill/>
                </a:ln>
                <a:solidFill>
                  <a:srgbClr val="54535A"/>
                </a:solidFill>
                <a:effectLst/>
                <a:uLnTx/>
                <a:uFillTx/>
                <a:latin typeface="Century Gothic" panose="020B0502020202020204" pitchFamily="34" charset="0"/>
                <a:cs typeface="Tahoma"/>
              </a:rPr>
              <a:t>Innovation,</a:t>
            </a:r>
            <a:r>
              <a:rPr kumimoji="0" lang="en-GB" sz="1200" b="1"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Talent </a:t>
            </a:r>
            <a:r>
              <a:rPr kumimoji="0" lang="en-GB" sz="1200" b="1" i="0" u="none" strike="noStrike" kern="0" cap="none" spc="0" normalizeH="0" baseline="0" noProof="0">
                <a:ln>
                  <a:noFill/>
                </a:ln>
                <a:solidFill>
                  <a:srgbClr val="54535A"/>
                </a:solidFill>
                <a:effectLst/>
                <a:uLnTx/>
                <a:uFillTx/>
                <a:latin typeface="Century Gothic" panose="020B0502020202020204" pitchFamily="34" charset="0"/>
                <a:cs typeface="Tahoma"/>
              </a:rPr>
              <a:t>Management</a:t>
            </a:r>
            <a:r>
              <a:rPr kumimoji="0" lang="en-GB" sz="1200" b="1"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30" normalizeH="0" baseline="0" noProof="0">
                <a:ln>
                  <a:noFill/>
                </a:ln>
                <a:solidFill>
                  <a:srgbClr val="54535A"/>
                </a:solidFill>
                <a:effectLst/>
                <a:uLnTx/>
                <a:uFillTx/>
                <a:latin typeface="Century Gothic" panose="020B0502020202020204" pitchFamily="34" charset="0"/>
                <a:cs typeface="Tahoma"/>
              </a:rPr>
              <a:t>Outsourcing</a:t>
            </a:r>
            <a:r>
              <a:rPr kumimoji="0" lang="en-GB" sz="1200" b="1"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30" normalizeH="0" baseline="0" noProof="0">
                <a:ln>
                  <a:noFill/>
                </a:ln>
                <a:solidFill>
                  <a:srgbClr val="54535A"/>
                </a:solidFill>
                <a:effectLst/>
                <a:uLnTx/>
                <a:uFillTx/>
                <a:latin typeface="Century Gothic" panose="020B0502020202020204" pitchFamily="34" charset="0"/>
                <a:cs typeface="Tahoma"/>
              </a:rPr>
              <a:t>and</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25" normalizeH="0" baseline="0" noProof="0">
                <a:ln>
                  <a:noFill/>
                </a:ln>
                <a:solidFill>
                  <a:srgbClr val="54535A"/>
                </a:solidFill>
                <a:effectLst/>
                <a:uLnTx/>
                <a:uFillTx/>
                <a:latin typeface="Century Gothic" panose="020B0502020202020204" pitchFamily="34" charset="0"/>
                <a:cs typeface="Tahoma"/>
              </a:rPr>
              <a:t>OEM </a:t>
            </a:r>
            <a:r>
              <a:rPr kumimoji="0" lang="en-GB" sz="1200" b="1" i="0" u="none" strike="noStrike" kern="0" cap="none" spc="-35" normalizeH="0" baseline="0" noProof="0">
                <a:ln>
                  <a:noFill/>
                </a:ln>
                <a:solidFill>
                  <a:srgbClr val="54535A"/>
                </a:solidFill>
                <a:effectLst/>
                <a:uLnTx/>
                <a:uFillTx/>
                <a:latin typeface="Century Gothic" panose="020B0502020202020204" pitchFamily="34" charset="0"/>
                <a:cs typeface="Tahoma"/>
              </a:rPr>
              <a:t>Licensing</a:t>
            </a:r>
            <a:r>
              <a:rPr kumimoji="0" lang="en-GB" sz="1200" b="1"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0" normalizeH="0" baseline="0" noProof="0">
                <a:ln>
                  <a:noFill/>
                </a:ln>
                <a:solidFill>
                  <a:srgbClr val="54535A"/>
                </a:solidFill>
                <a:effectLst/>
                <a:uLnTx/>
                <a:uFillTx/>
                <a:latin typeface="Century Gothic" panose="020B0502020202020204" pitchFamily="34" charset="0"/>
                <a:cs typeface="Tahoma"/>
              </a:rPr>
              <a:t>and</a:t>
            </a:r>
            <a:r>
              <a:rPr kumimoji="0" lang="en-GB" sz="1200" b="1"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1" i="0" u="none" strike="noStrike" kern="0" cap="none" spc="-45" normalizeH="0" baseline="0" noProof="0">
                <a:ln>
                  <a:noFill/>
                </a:ln>
                <a:solidFill>
                  <a:srgbClr val="54535A"/>
                </a:solidFill>
                <a:effectLst/>
                <a:uLnTx/>
                <a:uFillTx/>
                <a:latin typeface="Century Gothic" panose="020B0502020202020204" pitchFamily="34" charset="0"/>
                <a:cs typeface="Tahoma"/>
              </a:rPr>
              <a:t>Renewals</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a:t>
            </a:r>
            <a:r>
              <a:rPr kumimoji="0" lang="en-GB" sz="1200" b="0" i="0" u="none" strike="noStrike" kern="0" cap="none" spc="-1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establishing</a:t>
            </a:r>
            <a:r>
              <a:rPr kumimoji="0" lang="en-GB" sz="1200" b="0" i="0" u="none" strike="noStrike" kern="0" cap="none" spc="50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us</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as</a:t>
            </a:r>
            <a:r>
              <a:rPr kumimoji="0" lang="en-GB" sz="1200" b="0" i="0" u="none" strike="noStrike" kern="0" cap="none" spc="-1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90" normalizeH="0" baseline="0" noProof="0">
                <a:ln>
                  <a:noFill/>
                </a:ln>
                <a:solidFill>
                  <a:srgbClr val="54535A"/>
                </a:solidFill>
                <a:effectLst/>
                <a:uLnTx/>
                <a:uFillTx/>
                <a:latin typeface="Century Gothic" panose="020B0502020202020204" pitchFamily="34" charset="0"/>
                <a:cs typeface="Tahoma"/>
              </a:rPr>
              <a:t>a</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trusted</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partner</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for</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businesses </a:t>
            </a:r>
            <a:r>
              <a:rPr kumimoji="0" lang="en-GB" sz="1200" b="0" i="0" u="none" strike="noStrike" kern="0" cap="none" spc="50" normalizeH="0" baseline="0" noProof="0">
                <a:ln>
                  <a:noFill/>
                </a:ln>
                <a:solidFill>
                  <a:srgbClr val="54535A"/>
                </a:solidFill>
                <a:effectLst/>
                <a:uLnTx/>
                <a:uFillTx/>
                <a:latin typeface="Century Gothic" panose="020B0502020202020204" pitchFamily="34" charset="0"/>
                <a:cs typeface="Tahoma"/>
              </a:rPr>
              <a:t>seeking</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efficiency,</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growth,</a:t>
            </a:r>
            <a:r>
              <a:rPr kumimoji="0" lang="en-GB" sz="1200" b="0" i="0" u="none" strike="noStrike" kern="0" cap="none" spc="13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5" normalizeH="0" baseline="0" noProof="0">
                <a:ln>
                  <a:noFill/>
                </a:ln>
                <a:solidFill>
                  <a:srgbClr val="54535A"/>
                </a:solidFill>
                <a:effectLst/>
                <a:uLnTx/>
                <a:uFillTx/>
                <a:latin typeface="Century Gothic" panose="020B0502020202020204" pitchFamily="34" charset="0"/>
                <a:cs typeface="Tahoma"/>
              </a:rPr>
              <a:t>and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resilience.</a:t>
            </a:r>
            <a:endParaRPr kumimoji="0" lang="en-GB" sz="12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13" name="object 13"/>
          <p:cNvSpPr txBox="1"/>
          <p:nvPr/>
        </p:nvSpPr>
        <p:spPr>
          <a:xfrm>
            <a:off x="8213203" y="5121209"/>
            <a:ext cx="3022472" cy="1305486"/>
          </a:xfrm>
          <a:prstGeom prst="rect">
            <a:avLst/>
          </a:prstGeom>
        </p:spPr>
        <p:txBody>
          <a:bodyPr vert="horz" wrap="square" lIns="0" tIns="12700" rIns="0" bIns="0" rtlCol="0">
            <a:spAutoFit/>
          </a:bodyPr>
          <a:lstStyle/>
          <a:p>
            <a:pPr marL="12700" marR="5080" lvl="0" indent="0" algn="just" defTabSz="914400" eaLnBrk="1" fontAlgn="auto" latinLnBrk="0" hangingPunct="1">
              <a:lnSpc>
                <a:spcPct val="100000"/>
              </a:lnSpc>
              <a:spcBef>
                <a:spcPts val="100"/>
              </a:spcBef>
              <a:spcAft>
                <a:spcPts val="0"/>
              </a:spcAft>
              <a:buClrTx/>
              <a:buSzTx/>
              <a:buFontTx/>
              <a:buNone/>
              <a:tabLst/>
              <a:defRPr/>
            </a:pP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With</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90" normalizeH="0" baseline="0" noProof="0">
                <a:ln>
                  <a:noFill/>
                </a:ln>
                <a:solidFill>
                  <a:srgbClr val="54535A"/>
                </a:solidFill>
                <a:effectLst/>
                <a:uLnTx/>
                <a:uFillTx/>
                <a:latin typeface="Century Gothic" panose="020B0502020202020204" pitchFamily="34" charset="0"/>
                <a:cs typeface="Tahoma"/>
              </a:rPr>
              <a:t>a</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strong</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pipeline</a:t>
            </a:r>
            <a:r>
              <a:rPr kumimoji="0" lang="en-GB" sz="1200" b="0" i="0" u="none" strike="noStrike" kern="0" cap="none" spc="-4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of</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skilled </a:t>
            </a:r>
            <a:r>
              <a:rPr kumimoji="0" lang="en-GB" sz="1200" b="0" i="0" u="none" strike="noStrike" kern="0" cap="none" spc="85" normalizeH="0" baseline="0" noProof="0">
                <a:ln>
                  <a:noFill/>
                </a:ln>
                <a:solidFill>
                  <a:srgbClr val="54535A"/>
                </a:solidFill>
                <a:effectLst/>
                <a:uLnTx/>
                <a:uFillTx/>
                <a:latin typeface="Century Gothic" panose="020B0502020202020204" pitchFamily="34" charset="0"/>
                <a:cs typeface="Tahoma"/>
              </a:rPr>
              <a:t>technical</a:t>
            </a:r>
            <a:r>
              <a:rPr kumimoji="0" lang="en-GB" sz="1200" b="0" i="0" u="none" strike="noStrike" kern="0" cap="none" spc="11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engineers,</a:t>
            </a:r>
            <a:r>
              <a:rPr kumimoji="0" lang="en-GB" sz="1200" b="0" i="0" u="none" strike="noStrike" kern="0" cap="none" spc="10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25" normalizeH="0" baseline="0" noProof="0">
                <a:ln>
                  <a:noFill/>
                </a:ln>
                <a:solidFill>
                  <a:srgbClr val="54535A"/>
                </a:solidFill>
                <a:effectLst/>
                <a:uLnTx/>
                <a:uFillTx/>
                <a:latin typeface="Century Gothic" panose="020B0502020202020204" pitchFamily="34" charset="0"/>
                <a:cs typeface="Tahoma"/>
              </a:rPr>
              <a:t>we</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55" normalizeH="0" baseline="0" noProof="0">
                <a:ln>
                  <a:noFill/>
                </a:ln>
                <a:solidFill>
                  <a:srgbClr val="54535A"/>
                </a:solidFill>
                <a:effectLst/>
                <a:uLnTx/>
                <a:uFillTx/>
                <a:latin typeface="Century Gothic" panose="020B0502020202020204" pitchFamily="34" charset="0"/>
                <a:cs typeface="Tahoma"/>
              </a:rPr>
              <a:t>are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transforming</a:t>
            </a:r>
            <a:r>
              <a:rPr kumimoji="0" lang="en-GB" sz="1200" b="0" i="0" u="none" strike="noStrike" kern="0" cap="none" spc="204"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54535A"/>
                </a:solidFill>
                <a:effectLst/>
                <a:uLnTx/>
                <a:uFillTx/>
                <a:latin typeface="Century Gothic" panose="020B0502020202020204" pitchFamily="34" charset="0"/>
                <a:cs typeface="Tahoma"/>
              </a:rPr>
              <a:t>Africa’s</a:t>
            </a:r>
            <a:r>
              <a:rPr kumimoji="0" lang="en-GB" sz="1200" b="0" i="0" u="none" strike="noStrike" kern="0" cap="none" spc="16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54535A"/>
                </a:solidFill>
                <a:effectLst/>
                <a:uLnTx/>
                <a:uFillTx/>
                <a:latin typeface="Century Gothic" panose="020B0502020202020204" pitchFamily="34" charset="0"/>
                <a:cs typeface="Tahoma"/>
              </a:rPr>
              <a:t>technology </a:t>
            </a:r>
            <a:r>
              <a:rPr kumimoji="0" lang="en-GB" sz="1200" b="0" i="0" u="none" strike="noStrike" kern="0" cap="none" spc="65" normalizeH="0" baseline="0" noProof="0">
                <a:ln>
                  <a:noFill/>
                </a:ln>
                <a:solidFill>
                  <a:srgbClr val="54535A"/>
                </a:solidFill>
                <a:effectLst/>
                <a:uLnTx/>
                <a:uFillTx/>
                <a:latin typeface="Century Gothic" panose="020B0502020202020204" pitchFamily="34" charset="0"/>
                <a:cs typeface="Tahoma"/>
              </a:rPr>
              <a:t>ecosystem</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25" normalizeH="0" baseline="0" noProof="0">
                <a:ln>
                  <a:noFill/>
                </a:ln>
                <a:solidFill>
                  <a:srgbClr val="54535A"/>
                </a:solidFill>
                <a:effectLst/>
                <a:uLnTx/>
                <a:uFillTx/>
                <a:latin typeface="Century Gothic" panose="020B0502020202020204" pitchFamily="34" charset="0"/>
                <a:cs typeface="Tahoma"/>
              </a:rPr>
              <a:t>and</a:t>
            </a:r>
            <a:r>
              <a:rPr kumimoji="0" lang="en-GB" sz="1200" b="0" i="0" u="none" strike="noStrike" kern="0" cap="none" spc="-1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54535A"/>
                </a:solidFill>
                <a:effectLst/>
                <a:uLnTx/>
                <a:uFillTx/>
                <a:latin typeface="Century Gothic" panose="020B0502020202020204" pitchFamily="34" charset="0"/>
                <a:cs typeface="Tahoma"/>
              </a:rPr>
              <a:t>shaping</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90" normalizeH="0" baseline="0" noProof="0">
                <a:ln>
                  <a:noFill/>
                </a:ln>
                <a:solidFill>
                  <a:srgbClr val="54535A"/>
                </a:solidFill>
                <a:effectLst/>
                <a:uLnTx/>
                <a:uFillTx/>
                <a:latin typeface="Century Gothic" panose="020B0502020202020204" pitchFamily="34" charset="0"/>
                <a:cs typeface="Tahoma"/>
              </a:rPr>
              <a:t>a</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54535A"/>
                </a:solidFill>
                <a:effectLst/>
                <a:uLnTx/>
                <a:uFillTx/>
                <a:latin typeface="Century Gothic" panose="020B0502020202020204" pitchFamily="34" charset="0"/>
                <a:cs typeface="Tahoma"/>
              </a:rPr>
              <a:t>future </a:t>
            </a:r>
            <a:r>
              <a:rPr kumimoji="0" lang="en-GB" sz="1200" b="0" i="0" u="none" strike="noStrike" kern="0" cap="none" spc="70" normalizeH="0" baseline="0" noProof="0">
                <a:ln>
                  <a:noFill/>
                </a:ln>
                <a:solidFill>
                  <a:srgbClr val="54535A"/>
                </a:solidFill>
                <a:effectLst/>
                <a:uLnTx/>
                <a:uFillTx/>
                <a:latin typeface="Century Gothic" panose="020B0502020202020204" pitchFamily="34" charset="0"/>
                <a:cs typeface="Tahoma"/>
              </a:rPr>
              <a:t>where</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54535A"/>
                </a:solidFill>
                <a:effectLst/>
                <a:uLnTx/>
                <a:uFillTx/>
                <a:latin typeface="Century Gothic" panose="020B0502020202020204" pitchFamily="34" charset="0"/>
                <a:cs typeface="Tahoma"/>
              </a:rPr>
              <a:t>African</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businesses</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set</a:t>
            </a:r>
            <a:r>
              <a:rPr kumimoji="0" lang="en-GB" sz="1200" b="0" i="0" u="none" strike="noStrike" kern="0" cap="none" spc="20"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30" normalizeH="0" baseline="0" noProof="0">
                <a:ln>
                  <a:noFill/>
                </a:ln>
                <a:solidFill>
                  <a:srgbClr val="54535A"/>
                </a:solidFill>
                <a:effectLst/>
                <a:uLnTx/>
                <a:uFillTx/>
                <a:latin typeface="Century Gothic" panose="020B0502020202020204" pitchFamily="34" charset="0"/>
                <a:cs typeface="Tahoma"/>
              </a:rPr>
              <a:t>the </a:t>
            </a:r>
            <a:r>
              <a:rPr kumimoji="0" lang="en-GB" sz="1200" b="0" i="0" u="none" strike="noStrike" kern="0" cap="none" spc="85" normalizeH="0" baseline="0" noProof="0">
                <a:ln>
                  <a:noFill/>
                </a:ln>
                <a:solidFill>
                  <a:srgbClr val="54535A"/>
                </a:solidFill>
                <a:effectLst/>
                <a:uLnTx/>
                <a:uFillTx/>
                <a:latin typeface="Century Gothic" panose="020B0502020202020204" pitchFamily="34" charset="0"/>
                <a:cs typeface="Tahoma"/>
              </a:rPr>
              <a:t>global</a:t>
            </a:r>
            <a:r>
              <a:rPr kumimoji="0" lang="en-GB" sz="1200" b="0" i="0" u="none" strike="noStrike" kern="0" cap="none" spc="-3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90" normalizeH="0" baseline="0" noProof="0">
                <a:ln>
                  <a:noFill/>
                </a:ln>
                <a:solidFill>
                  <a:srgbClr val="54535A"/>
                </a:solidFill>
                <a:effectLst/>
                <a:uLnTx/>
                <a:uFillTx/>
                <a:latin typeface="Century Gothic" panose="020B0502020202020204" pitchFamily="34" charset="0"/>
                <a:cs typeface="Tahoma"/>
              </a:rPr>
              <a:t>benchmark</a:t>
            </a:r>
            <a:r>
              <a:rPr kumimoji="0" lang="en-GB" sz="1200" b="0" i="0" u="none" strike="noStrike" kern="0" cap="none" spc="-2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54535A"/>
                </a:solidFill>
                <a:effectLst/>
                <a:uLnTx/>
                <a:uFillTx/>
                <a:latin typeface="Century Gothic" panose="020B0502020202020204" pitchFamily="34" charset="0"/>
                <a:cs typeface="Tahoma"/>
              </a:rPr>
              <a:t>for</a:t>
            </a:r>
            <a:r>
              <a:rPr kumimoji="0" lang="en-GB" sz="1200" b="0" i="0" u="none" strike="noStrike" kern="0" cap="none" spc="-5" normalizeH="0" baseline="0" noProof="0">
                <a:ln>
                  <a:noFill/>
                </a:ln>
                <a:solidFill>
                  <a:srgbClr val="54535A"/>
                </a:solidFill>
                <a:effectLst/>
                <a:uLnTx/>
                <a:uFillTx/>
                <a:latin typeface="Century Gothic" panose="020B0502020202020204" pitchFamily="34" charset="0"/>
                <a:cs typeface="Tahoma"/>
              </a:rPr>
              <a:t> </a:t>
            </a:r>
            <a:r>
              <a:rPr kumimoji="0" lang="en-GB" sz="1200" b="0" i="0" u="none" strike="noStrike" kern="0" cap="none" spc="40" normalizeH="0" baseline="0" noProof="0">
                <a:ln>
                  <a:noFill/>
                </a:ln>
                <a:solidFill>
                  <a:srgbClr val="54535A"/>
                </a:solidFill>
                <a:effectLst/>
                <a:uLnTx/>
                <a:uFillTx/>
                <a:latin typeface="Century Gothic" panose="020B0502020202020204" pitchFamily="34" charset="0"/>
                <a:cs typeface="Tahoma"/>
              </a:rPr>
              <a:t>digital </a:t>
            </a:r>
            <a:r>
              <a:rPr kumimoji="0" lang="en-GB" sz="1200" b="0" i="0" u="none" strike="noStrike" kern="0" cap="none" spc="70" normalizeH="0" baseline="0" noProof="0">
                <a:ln>
                  <a:noFill/>
                </a:ln>
                <a:solidFill>
                  <a:srgbClr val="54535A"/>
                </a:solidFill>
                <a:effectLst/>
                <a:uLnTx/>
                <a:uFillTx/>
                <a:latin typeface="Century Gothic" panose="020B0502020202020204" pitchFamily="34" charset="0"/>
                <a:cs typeface="Tahoma"/>
              </a:rPr>
              <a:t>excellence.</a:t>
            </a:r>
            <a:endParaRPr kumimoji="0" lang="en-GB" sz="12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14" name="object 14"/>
          <p:cNvSpPr txBox="1"/>
          <p:nvPr/>
        </p:nvSpPr>
        <p:spPr>
          <a:xfrm>
            <a:off x="8213217" y="1359789"/>
            <a:ext cx="139573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75" normalizeH="0" baseline="0" noProof="0">
                <a:ln>
                  <a:noFill/>
                </a:ln>
                <a:solidFill>
                  <a:srgbClr val="FF0000"/>
                </a:solidFill>
                <a:effectLst/>
                <a:uLnTx/>
                <a:uFillTx/>
                <a:latin typeface="Tahoma"/>
                <a:cs typeface="Tahoma"/>
              </a:rPr>
              <a:t>Heirs</a:t>
            </a:r>
            <a:r>
              <a:rPr kumimoji="0" sz="1200" b="1" i="0" u="none" strike="noStrike" kern="0" cap="none" spc="0" normalizeH="0" baseline="0" noProof="0">
                <a:ln>
                  <a:noFill/>
                </a:ln>
                <a:solidFill>
                  <a:srgbClr val="FF0000"/>
                </a:solidFill>
                <a:effectLst/>
                <a:uLnTx/>
                <a:uFillTx/>
                <a:latin typeface="Tahoma"/>
                <a:cs typeface="Tahoma"/>
              </a:rPr>
              <a:t> </a:t>
            </a:r>
            <a:r>
              <a:rPr kumimoji="0" sz="1200" b="1" i="0" u="none" strike="noStrike" kern="0" cap="none" spc="-20" normalizeH="0" baseline="0" noProof="0">
                <a:ln>
                  <a:noFill/>
                </a:ln>
                <a:solidFill>
                  <a:srgbClr val="FF0000"/>
                </a:solidFill>
                <a:effectLst/>
                <a:uLnTx/>
                <a:uFillTx/>
                <a:latin typeface="Tahoma"/>
                <a:cs typeface="Tahoma"/>
              </a:rPr>
              <a:t>Technologies</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p:nvPr/>
        </p:nvSpPr>
        <p:spPr>
          <a:xfrm>
            <a:off x="578612" y="1188211"/>
            <a:ext cx="10709910" cy="513080"/>
          </a:xfrm>
          <a:prstGeom prst="rect">
            <a:avLst/>
          </a:prstGeom>
        </p:spPr>
        <p:txBody>
          <a:bodyPr vert="horz" wrap="square" lIns="0" tIns="12065" rIns="0" bIns="0" rtlCol="0">
            <a:spAutoFit/>
          </a:bodyPr>
          <a:lstStyle/>
          <a:p>
            <a:pPr marL="12700" marR="508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0" normalizeH="0" baseline="0" noProof="0">
                <a:ln>
                  <a:noFill/>
                </a:ln>
                <a:solidFill>
                  <a:srgbClr val="7B7B7B"/>
                </a:solidFill>
                <a:effectLst/>
                <a:uLnTx/>
                <a:uFillTx/>
                <a:latin typeface="Century Gothic" panose="020B0502020202020204" pitchFamily="34" charset="0"/>
                <a:cs typeface="Tahoma"/>
              </a:rPr>
              <a:t>Heirs</a:t>
            </a:r>
            <a:r>
              <a:rPr kumimoji="0" lang="en-US" sz="1600" b="0" i="0" u="none" strike="noStrike" kern="0" cap="none" spc="-2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65" normalizeH="0" baseline="0" noProof="0">
                <a:ln>
                  <a:noFill/>
                </a:ln>
                <a:solidFill>
                  <a:srgbClr val="7B7B7B"/>
                </a:solidFill>
                <a:effectLst/>
                <a:uLnTx/>
                <a:uFillTx/>
                <a:latin typeface="Century Gothic" panose="020B0502020202020204" pitchFamily="34" charset="0"/>
                <a:cs typeface="Tahoma"/>
              </a:rPr>
              <a:t>Tech</a:t>
            </a:r>
            <a:r>
              <a:rPr kumimoji="0" lang="en-US" sz="1600" b="0" i="0" u="none" strike="noStrike" kern="0" cap="none" spc="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75" normalizeH="0" baseline="0" noProof="0">
                <a:ln>
                  <a:noFill/>
                </a:ln>
                <a:solidFill>
                  <a:srgbClr val="7B7B7B"/>
                </a:solidFill>
                <a:effectLst/>
                <a:uLnTx/>
                <a:uFillTx/>
                <a:latin typeface="Century Gothic" panose="020B0502020202020204" pitchFamily="34" charset="0"/>
                <a:cs typeface="Tahoma"/>
              </a:rPr>
              <a:t>has</a:t>
            </a:r>
            <a:r>
              <a:rPr kumimoji="0" lang="en-US" sz="1600" b="0" i="0" u="none" strike="noStrike" kern="0" cap="none" spc="-2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250" normalizeH="0" baseline="0" noProof="0">
                <a:ln>
                  <a:noFill/>
                </a:ln>
                <a:solidFill>
                  <a:srgbClr val="7B7B7B"/>
                </a:solidFill>
                <a:effectLst/>
                <a:uLnTx/>
                <a:uFillTx/>
                <a:latin typeface="Century Gothic" panose="020B0502020202020204" pitchFamily="34" charset="0"/>
                <a:cs typeface="Tahoma"/>
              </a:rPr>
              <a:t>a</a:t>
            </a:r>
            <a:r>
              <a:rPr kumimoji="0" lang="en-US" sz="1600" b="0" i="0" u="none" strike="noStrike" kern="0" cap="none" spc="-3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0" normalizeH="0" baseline="0" noProof="0">
                <a:ln>
                  <a:noFill/>
                </a:ln>
                <a:solidFill>
                  <a:srgbClr val="7B7B7B"/>
                </a:solidFill>
                <a:effectLst/>
                <a:uLnTx/>
                <a:uFillTx/>
                <a:latin typeface="Century Gothic" panose="020B0502020202020204" pitchFamily="34" charset="0"/>
                <a:cs typeface="Tahoma"/>
              </a:rPr>
              <a:t>full</a:t>
            </a:r>
            <a:r>
              <a:rPr kumimoji="0" lang="en-US" sz="1600" b="0" i="0" u="none" strike="noStrike" kern="0" cap="none" spc="-5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80" normalizeH="0" baseline="0" noProof="0">
                <a:ln>
                  <a:noFill/>
                </a:ln>
                <a:solidFill>
                  <a:srgbClr val="7B7B7B"/>
                </a:solidFill>
                <a:effectLst/>
                <a:uLnTx/>
                <a:uFillTx/>
                <a:latin typeface="Century Gothic" panose="020B0502020202020204" pitchFamily="34" charset="0"/>
                <a:cs typeface="Tahoma"/>
              </a:rPr>
              <a:t>spectrum</a:t>
            </a:r>
            <a:r>
              <a:rPr kumimoji="0" lang="en-US" sz="1600" b="0" i="0" u="none" strike="noStrike" kern="0" cap="none" spc="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75" normalizeH="0" baseline="0" noProof="0">
                <a:ln>
                  <a:noFill/>
                </a:ln>
                <a:solidFill>
                  <a:srgbClr val="7B7B7B"/>
                </a:solidFill>
                <a:effectLst/>
                <a:uLnTx/>
                <a:uFillTx/>
                <a:latin typeface="Century Gothic" panose="020B0502020202020204" pitchFamily="34" charset="0"/>
                <a:cs typeface="Tahoma"/>
              </a:rPr>
              <a:t>of</a:t>
            </a:r>
            <a:r>
              <a:rPr kumimoji="0" lang="en-US" sz="1600" b="0" i="0" u="none" strike="noStrike" kern="0" cap="none" spc="-3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0" normalizeH="0" baseline="0" noProof="0">
                <a:ln>
                  <a:noFill/>
                </a:ln>
                <a:solidFill>
                  <a:srgbClr val="7B7B7B"/>
                </a:solidFill>
                <a:effectLst/>
                <a:uLnTx/>
                <a:uFillTx/>
                <a:latin typeface="Century Gothic" panose="020B0502020202020204" pitchFamily="34" charset="0"/>
                <a:cs typeface="Tahoma"/>
              </a:rPr>
              <a:t>world-</a:t>
            </a:r>
            <a:r>
              <a:rPr kumimoji="0" lang="en-US" sz="1600" b="0" i="0" u="none" strike="noStrike" kern="0" cap="none" spc="55" normalizeH="0" baseline="0" noProof="0">
                <a:ln>
                  <a:noFill/>
                </a:ln>
                <a:solidFill>
                  <a:srgbClr val="7B7B7B"/>
                </a:solidFill>
                <a:effectLst/>
                <a:uLnTx/>
                <a:uFillTx/>
                <a:latin typeface="Century Gothic" panose="020B0502020202020204" pitchFamily="34" charset="0"/>
                <a:cs typeface="Tahoma"/>
              </a:rPr>
              <a:t>class</a:t>
            </a:r>
            <a:r>
              <a:rPr kumimoji="0" lang="en-US" sz="1600" b="0" i="0" u="none" strike="noStrike" kern="0" cap="none" spc="1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75" normalizeH="0" baseline="0" noProof="0">
                <a:ln>
                  <a:noFill/>
                </a:ln>
                <a:solidFill>
                  <a:srgbClr val="7B7B7B"/>
                </a:solidFill>
                <a:effectLst/>
                <a:uLnTx/>
                <a:uFillTx/>
                <a:latin typeface="Century Gothic" panose="020B0502020202020204" pitchFamily="34" charset="0"/>
                <a:cs typeface="Tahoma"/>
              </a:rPr>
              <a:t>talent</a:t>
            </a:r>
            <a:r>
              <a:rPr kumimoji="0" lang="en-US" sz="1600" b="0" i="0" u="none" strike="noStrike" kern="0" cap="none" spc="-5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170" normalizeH="0" baseline="0" noProof="0">
                <a:ln>
                  <a:noFill/>
                </a:ln>
                <a:solidFill>
                  <a:srgbClr val="7B7B7B"/>
                </a:solidFill>
                <a:effectLst/>
                <a:uLnTx/>
                <a:uFillTx/>
                <a:latin typeface="Century Gothic" panose="020B0502020202020204" pitchFamily="34" charset="0"/>
                <a:cs typeface="Tahoma"/>
              </a:rPr>
              <a:t>and</a:t>
            </a:r>
            <a:r>
              <a:rPr kumimoji="0" lang="en-US" sz="1600" b="0" i="0" u="none" strike="noStrike" kern="0" cap="none" spc="-3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250" normalizeH="0" baseline="0" noProof="0">
                <a:ln>
                  <a:noFill/>
                </a:ln>
                <a:solidFill>
                  <a:srgbClr val="7B7B7B"/>
                </a:solidFill>
                <a:effectLst/>
                <a:uLnTx/>
                <a:uFillTx/>
                <a:latin typeface="Century Gothic" panose="020B0502020202020204" pitchFamily="34" charset="0"/>
                <a:cs typeface="Tahoma"/>
              </a:rPr>
              <a:t>a</a:t>
            </a:r>
            <a:r>
              <a:rPr kumimoji="0" lang="en-US" sz="1600" b="0" i="0" u="none" strike="noStrike" kern="0" cap="none" spc="-3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105" normalizeH="0" baseline="0" noProof="0">
                <a:ln>
                  <a:noFill/>
                </a:ln>
                <a:solidFill>
                  <a:srgbClr val="7B7B7B"/>
                </a:solidFill>
                <a:effectLst/>
                <a:uLnTx/>
                <a:uFillTx/>
                <a:latin typeface="Century Gothic" panose="020B0502020202020204" pitchFamily="34" charset="0"/>
                <a:cs typeface="Tahoma"/>
              </a:rPr>
              <a:t>comprehensive</a:t>
            </a:r>
            <a:r>
              <a:rPr kumimoji="0" lang="en-US" sz="1600" b="0" i="0" u="none" strike="noStrike" kern="0" cap="none" spc="-2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0" normalizeH="0" baseline="0" noProof="0">
                <a:ln>
                  <a:noFill/>
                </a:ln>
                <a:solidFill>
                  <a:srgbClr val="7B7B7B"/>
                </a:solidFill>
                <a:effectLst/>
                <a:uLnTx/>
                <a:uFillTx/>
                <a:latin typeface="Century Gothic" panose="020B0502020202020204" pitchFamily="34" charset="0"/>
                <a:cs typeface="Tahoma"/>
              </a:rPr>
              <a:t>suite</a:t>
            </a:r>
            <a:r>
              <a:rPr kumimoji="0" lang="en-US" sz="1600" b="0" i="0" u="none" strike="noStrike" kern="0" cap="none" spc="-2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75" normalizeH="0" baseline="0" noProof="0">
                <a:ln>
                  <a:noFill/>
                </a:ln>
                <a:solidFill>
                  <a:srgbClr val="7B7B7B"/>
                </a:solidFill>
                <a:effectLst/>
                <a:uLnTx/>
                <a:uFillTx/>
                <a:latin typeface="Century Gothic" panose="020B0502020202020204" pitchFamily="34" charset="0"/>
                <a:cs typeface="Tahoma"/>
              </a:rPr>
              <a:t>of</a:t>
            </a:r>
            <a:r>
              <a:rPr kumimoji="0" lang="en-US" sz="1600" b="0" i="0" u="none" strike="noStrike" kern="0" cap="none" spc="-3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90" normalizeH="0" baseline="0" noProof="0">
                <a:ln>
                  <a:noFill/>
                </a:ln>
                <a:solidFill>
                  <a:srgbClr val="7B7B7B"/>
                </a:solidFill>
                <a:effectLst/>
                <a:uLnTx/>
                <a:uFillTx/>
                <a:latin typeface="Century Gothic" panose="020B0502020202020204" pitchFamily="34" charset="0"/>
                <a:cs typeface="Tahoma"/>
              </a:rPr>
              <a:t>capabilities</a:t>
            </a:r>
            <a:r>
              <a:rPr kumimoji="0" lang="en-US" sz="1600" b="0" i="0" u="none" strike="noStrike" kern="0" cap="none" spc="-35"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80" normalizeH="0" baseline="0" noProof="0">
                <a:ln>
                  <a:noFill/>
                </a:ln>
                <a:solidFill>
                  <a:srgbClr val="7B7B7B"/>
                </a:solidFill>
                <a:effectLst/>
                <a:uLnTx/>
                <a:uFillTx/>
                <a:latin typeface="Century Gothic" panose="020B0502020202020204" pitchFamily="34" charset="0"/>
                <a:cs typeface="Tahoma"/>
              </a:rPr>
              <a:t>that</a:t>
            </a:r>
            <a:r>
              <a:rPr kumimoji="0" lang="en-US" sz="1600" b="0" i="0" u="none" strike="noStrike" kern="0" cap="none" spc="-3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105" normalizeH="0" baseline="0" noProof="0">
                <a:ln>
                  <a:noFill/>
                </a:ln>
                <a:solidFill>
                  <a:srgbClr val="7B7B7B"/>
                </a:solidFill>
                <a:effectLst/>
                <a:uLnTx/>
                <a:uFillTx/>
                <a:latin typeface="Century Gothic" panose="020B0502020202020204" pitchFamily="34" charset="0"/>
                <a:cs typeface="Tahoma"/>
              </a:rPr>
              <a:t>help</a:t>
            </a:r>
            <a:r>
              <a:rPr kumimoji="0" lang="en-US" sz="1600" b="0" i="0" u="none" strike="noStrike" kern="0" cap="none" spc="-5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40" normalizeH="0" baseline="0" noProof="0">
                <a:ln>
                  <a:noFill/>
                </a:ln>
                <a:solidFill>
                  <a:srgbClr val="7B7B7B"/>
                </a:solidFill>
                <a:effectLst/>
                <a:uLnTx/>
                <a:uFillTx/>
                <a:latin typeface="Century Gothic" panose="020B0502020202020204" pitchFamily="34" charset="0"/>
                <a:cs typeface="Tahoma"/>
              </a:rPr>
              <a:t>clients </a:t>
            </a:r>
            <a:r>
              <a:rPr kumimoji="0" lang="en-US" sz="1600" b="0" i="0" u="none" strike="noStrike" kern="0" cap="none" spc="70" normalizeH="0" baseline="0" noProof="0">
                <a:ln>
                  <a:noFill/>
                </a:ln>
                <a:solidFill>
                  <a:srgbClr val="7B7B7B"/>
                </a:solidFill>
                <a:effectLst/>
                <a:uLnTx/>
                <a:uFillTx/>
                <a:latin typeface="Century Gothic" panose="020B0502020202020204" pitchFamily="34" charset="0"/>
                <a:cs typeface="Tahoma"/>
              </a:rPr>
              <a:t>perform</a:t>
            </a:r>
            <a:r>
              <a:rPr kumimoji="0" lang="en-US" sz="1600" b="0" i="0" u="none" strike="noStrike" kern="0" cap="none" spc="-30" normalizeH="0" baseline="0" noProof="0">
                <a:ln>
                  <a:noFill/>
                </a:ln>
                <a:solidFill>
                  <a:srgbClr val="7B7B7B"/>
                </a:solidFill>
                <a:effectLst/>
                <a:uLnTx/>
                <a:uFillTx/>
                <a:latin typeface="Century Gothic" panose="020B0502020202020204" pitchFamily="34" charset="0"/>
                <a:cs typeface="Tahoma"/>
              </a:rPr>
              <a:t> </a:t>
            </a:r>
            <a:r>
              <a:rPr kumimoji="0" lang="en-US" sz="1600" b="0" i="0" u="none" strike="noStrike" kern="0" cap="none" spc="45" normalizeH="0" baseline="0" noProof="0">
                <a:ln>
                  <a:noFill/>
                </a:ln>
                <a:solidFill>
                  <a:srgbClr val="7B7B7B"/>
                </a:solidFill>
                <a:effectLst/>
                <a:uLnTx/>
                <a:uFillTx/>
                <a:latin typeface="Century Gothic" panose="020B0502020202020204" pitchFamily="34" charset="0"/>
                <a:cs typeface="Tahoma"/>
              </a:rPr>
              <a:t>better.</a:t>
            </a:r>
            <a:endParaRPr kumimoji="0" lang="en-US" sz="16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4" name="object 4"/>
          <p:cNvSpPr txBox="1">
            <a:spLocks noGrp="1"/>
          </p:cNvSpPr>
          <p:nvPr>
            <p:ph type="title"/>
          </p:nvPr>
        </p:nvSpPr>
        <p:spPr>
          <a:xfrm>
            <a:off x="578612" y="725550"/>
            <a:ext cx="4065270" cy="351155"/>
          </a:xfrm>
          <a:prstGeom prst="rect">
            <a:avLst/>
          </a:prstGeom>
        </p:spPr>
        <p:txBody>
          <a:bodyPr vert="horz" wrap="square" lIns="0" tIns="17145" rIns="0" bIns="0" rtlCol="0">
            <a:spAutoFit/>
          </a:bodyPr>
          <a:lstStyle/>
          <a:p>
            <a:pPr marL="12700">
              <a:lnSpc>
                <a:spcPct val="100000"/>
              </a:lnSpc>
              <a:spcBef>
                <a:spcPts val="135"/>
              </a:spcBef>
            </a:pPr>
            <a:r>
              <a:rPr lang="en-US" sz="2100" spc="-110">
                <a:latin typeface="Century Gothic" panose="020B0502020202020204" pitchFamily="34" charset="0"/>
              </a:rPr>
              <a:t>Heirs</a:t>
            </a:r>
            <a:r>
              <a:rPr lang="en-US" sz="2100" spc="-45">
                <a:latin typeface="Century Gothic" panose="020B0502020202020204" pitchFamily="34" charset="0"/>
              </a:rPr>
              <a:t> </a:t>
            </a:r>
            <a:r>
              <a:rPr lang="en-US" sz="2100" spc="-25">
                <a:latin typeface="Century Gothic" panose="020B0502020202020204" pitchFamily="34" charset="0"/>
              </a:rPr>
              <a:t>Technologies</a:t>
            </a:r>
            <a:r>
              <a:rPr lang="en-US" sz="2100" spc="-80">
                <a:latin typeface="Century Gothic" panose="020B0502020202020204" pitchFamily="34" charset="0"/>
              </a:rPr>
              <a:t> </a:t>
            </a:r>
            <a:r>
              <a:rPr lang="en-US" sz="2100">
                <a:latin typeface="Century Gothic" panose="020B0502020202020204" pitchFamily="34" charset="0"/>
              </a:rPr>
              <a:t>at</a:t>
            </a:r>
            <a:r>
              <a:rPr lang="en-US" sz="2100" spc="-45">
                <a:latin typeface="Century Gothic" panose="020B0502020202020204" pitchFamily="34" charset="0"/>
              </a:rPr>
              <a:t> </a:t>
            </a:r>
            <a:r>
              <a:rPr lang="en-US" sz="2100" spc="135">
                <a:latin typeface="Century Gothic" panose="020B0502020202020204" pitchFamily="34" charset="0"/>
              </a:rPr>
              <a:t>a</a:t>
            </a:r>
            <a:r>
              <a:rPr lang="en-US" sz="2100" spc="-35">
                <a:latin typeface="Century Gothic" panose="020B0502020202020204" pitchFamily="34" charset="0"/>
              </a:rPr>
              <a:t> </a:t>
            </a:r>
            <a:r>
              <a:rPr lang="en-US" sz="2100" spc="50">
                <a:latin typeface="Century Gothic" panose="020B0502020202020204" pitchFamily="34" charset="0"/>
              </a:rPr>
              <a:t>glance</a:t>
            </a:r>
            <a:endParaRPr lang="en-US" sz="2100">
              <a:latin typeface="Century Gothic" panose="020B0502020202020204" pitchFamily="34" charset="0"/>
            </a:endParaRPr>
          </a:p>
        </p:txBody>
      </p:sp>
      <p:grpSp>
        <p:nvGrpSpPr>
          <p:cNvPr id="5" name="object 5"/>
          <p:cNvGrpSpPr/>
          <p:nvPr/>
        </p:nvGrpSpPr>
        <p:grpSpPr>
          <a:xfrm>
            <a:off x="1003858" y="1851405"/>
            <a:ext cx="7679055" cy="3582035"/>
            <a:chOff x="1003858" y="1851405"/>
            <a:chExt cx="7679055" cy="3582035"/>
          </a:xfrm>
        </p:grpSpPr>
        <p:pic>
          <p:nvPicPr>
            <p:cNvPr id="6" name="object 6"/>
            <p:cNvPicPr/>
            <p:nvPr/>
          </p:nvPicPr>
          <p:blipFill>
            <a:blip r:embed="rId3" cstate="print"/>
            <a:stretch>
              <a:fillRect/>
            </a:stretch>
          </p:blipFill>
          <p:spPr>
            <a:xfrm>
              <a:off x="1003858" y="1851405"/>
              <a:ext cx="7144004" cy="3581654"/>
            </a:xfrm>
            <a:prstGeom prst="rect">
              <a:avLst/>
            </a:prstGeom>
          </p:spPr>
        </p:pic>
        <p:sp>
          <p:nvSpPr>
            <p:cNvPr id="7" name="object 7"/>
            <p:cNvSpPr/>
            <p:nvPr/>
          </p:nvSpPr>
          <p:spPr>
            <a:xfrm>
              <a:off x="7520940" y="3264534"/>
              <a:ext cx="1161415" cy="980440"/>
            </a:xfrm>
            <a:custGeom>
              <a:avLst/>
              <a:gdLst/>
              <a:ahLst/>
              <a:cxnLst/>
              <a:rect l="l" t="t" r="r" b="b"/>
              <a:pathLst>
                <a:path w="1161415" h="980439">
                  <a:moveTo>
                    <a:pt x="580643" y="0"/>
                  </a:moveTo>
                  <a:lnTo>
                    <a:pt x="527794" y="2003"/>
                  </a:lnTo>
                  <a:lnTo>
                    <a:pt x="476274" y="7897"/>
                  </a:lnTo>
                  <a:lnTo>
                    <a:pt x="426287" y="17508"/>
                  </a:lnTo>
                  <a:lnTo>
                    <a:pt x="378040" y="30665"/>
                  </a:lnTo>
                  <a:lnTo>
                    <a:pt x="331738" y="47193"/>
                  </a:lnTo>
                  <a:lnTo>
                    <a:pt x="287584" y="66919"/>
                  </a:lnTo>
                  <a:lnTo>
                    <a:pt x="245785" y="89671"/>
                  </a:lnTo>
                  <a:lnTo>
                    <a:pt x="206544" y="115274"/>
                  </a:lnTo>
                  <a:lnTo>
                    <a:pt x="170068" y="143557"/>
                  </a:lnTo>
                  <a:lnTo>
                    <a:pt x="136562" y="174346"/>
                  </a:lnTo>
                  <a:lnTo>
                    <a:pt x="106229" y="207467"/>
                  </a:lnTo>
                  <a:lnTo>
                    <a:pt x="79276" y="242748"/>
                  </a:lnTo>
                  <a:lnTo>
                    <a:pt x="55907" y="280016"/>
                  </a:lnTo>
                  <a:lnTo>
                    <a:pt x="36327" y="319097"/>
                  </a:lnTo>
                  <a:lnTo>
                    <a:pt x="20741" y="359818"/>
                  </a:lnTo>
                  <a:lnTo>
                    <a:pt x="9355" y="402007"/>
                  </a:lnTo>
                  <a:lnTo>
                    <a:pt x="2372" y="445489"/>
                  </a:lnTo>
                  <a:lnTo>
                    <a:pt x="0" y="490092"/>
                  </a:lnTo>
                  <a:lnTo>
                    <a:pt x="2372" y="534696"/>
                  </a:lnTo>
                  <a:lnTo>
                    <a:pt x="9355" y="578178"/>
                  </a:lnTo>
                  <a:lnTo>
                    <a:pt x="20741" y="620367"/>
                  </a:lnTo>
                  <a:lnTo>
                    <a:pt x="36327" y="661088"/>
                  </a:lnTo>
                  <a:lnTo>
                    <a:pt x="55907" y="700169"/>
                  </a:lnTo>
                  <a:lnTo>
                    <a:pt x="79276" y="737437"/>
                  </a:lnTo>
                  <a:lnTo>
                    <a:pt x="106229" y="772718"/>
                  </a:lnTo>
                  <a:lnTo>
                    <a:pt x="136562" y="805839"/>
                  </a:lnTo>
                  <a:lnTo>
                    <a:pt x="170068" y="836628"/>
                  </a:lnTo>
                  <a:lnTo>
                    <a:pt x="206544" y="864911"/>
                  </a:lnTo>
                  <a:lnTo>
                    <a:pt x="245785" y="890514"/>
                  </a:lnTo>
                  <a:lnTo>
                    <a:pt x="287584" y="913266"/>
                  </a:lnTo>
                  <a:lnTo>
                    <a:pt x="331738" y="932992"/>
                  </a:lnTo>
                  <a:lnTo>
                    <a:pt x="378040" y="949520"/>
                  </a:lnTo>
                  <a:lnTo>
                    <a:pt x="426287" y="962677"/>
                  </a:lnTo>
                  <a:lnTo>
                    <a:pt x="476274" y="972288"/>
                  </a:lnTo>
                  <a:lnTo>
                    <a:pt x="527794" y="978182"/>
                  </a:lnTo>
                  <a:lnTo>
                    <a:pt x="580643" y="980185"/>
                  </a:lnTo>
                  <a:lnTo>
                    <a:pt x="633513" y="978182"/>
                  </a:lnTo>
                  <a:lnTo>
                    <a:pt x="685051" y="972288"/>
                  </a:lnTo>
                  <a:lnTo>
                    <a:pt x="735053" y="962677"/>
                  </a:lnTo>
                  <a:lnTo>
                    <a:pt x="783314" y="949520"/>
                  </a:lnTo>
                  <a:lnTo>
                    <a:pt x="829629" y="932992"/>
                  </a:lnTo>
                  <a:lnTo>
                    <a:pt x="873792" y="913266"/>
                  </a:lnTo>
                  <a:lnTo>
                    <a:pt x="915600" y="890514"/>
                  </a:lnTo>
                  <a:lnTo>
                    <a:pt x="954848" y="864911"/>
                  </a:lnTo>
                  <a:lnTo>
                    <a:pt x="991330" y="836628"/>
                  </a:lnTo>
                  <a:lnTo>
                    <a:pt x="1024841" y="805839"/>
                  </a:lnTo>
                  <a:lnTo>
                    <a:pt x="1055177" y="772718"/>
                  </a:lnTo>
                  <a:lnTo>
                    <a:pt x="1082134" y="737437"/>
                  </a:lnTo>
                  <a:lnTo>
                    <a:pt x="1105505" y="700169"/>
                  </a:lnTo>
                  <a:lnTo>
                    <a:pt x="1125086" y="661088"/>
                  </a:lnTo>
                  <a:lnTo>
                    <a:pt x="1140672" y="620367"/>
                  </a:lnTo>
                  <a:lnTo>
                    <a:pt x="1152059" y="578178"/>
                  </a:lnTo>
                  <a:lnTo>
                    <a:pt x="1159042" y="534696"/>
                  </a:lnTo>
                  <a:lnTo>
                    <a:pt x="1161414" y="490092"/>
                  </a:lnTo>
                  <a:lnTo>
                    <a:pt x="1159042" y="445489"/>
                  </a:lnTo>
                  <a:lnTo>
                    <a:pt x="1152059" y="402007"/>
                  </a:lnTo>
                  <a:lnTo>
                    <a:pt x="1140672" y="359818"/>
                  </a:lnTo>
                  <a:lnTo>
                    <a:pt x="1125086" y="319097"/>
                  </a:lnTo>
                  <a:lnTo>
                    <a:pt x="1105505" y="280016"/>
                  </a:lnTo>
                  <a:lnTo>
                    <a:pt x="1082134" y="242748"/>
                  </a:lnTo>
                  <a:lnTo>
                    <a:pt x="1055177" y="207467"/>
                  </a:lnTo>
                  <a:lnTo>
                    <a:pt x="1024841" y="174346"/>
                  </a:lnTo>
                  <a:lnTo>
                    <a:pt x="991330" y="143557"/>
                  </a:lnTo>
                  <a:lnTo>
                    <a:pt x="954848" y="115274"/>
                  </a:lnTo>
                  <a:lnTo>
                    <a:pt x="915600" y="89671"/>
                  </a:lnTo>
                  <a:lnTo>
                    <a:pt x="873792" y="66919"/>
                  </a:lnTo>
                  <a:lnTo>
                    <a:pt x="829629" y="47193"/>
                  </a:lnTo>
                  <a:lnTo>
                    <a:pt x="783314" y="30665"/>
                  </a:lnTo>
                  <a:lnTo>
                    <a:pt x="735053" y="17508"/>
                  </a:lnTo>
                  <a:lnTo>
                    <a:pt x="685051" y="7897"/>
                  </a:lnTo>
                  <a:lnTo>
                    <a:pt x="633513" y="2003"/>
                  </a:lnTo>
                  <a:lnTo>
                    <a:pt x="580643"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p:cNvSpPr txBox="1"/>
          <p:nvPr/>
        </p:nvSpPr>
        <p:spPr>
          <a:xfrm>
            <a:off x="7641463" y="3396741"/>
            <a:ext cx="880744" cy="647700"/>
          </a:xfrm>
          <a:prstGeom prst="rect">
            <a:avLst/>
          </a:prstGeom>
        </p:spPr>
        <p:txBody>
          <a:bodyPr vert="horz" wrap="square" lIns="0" tIns="58419" rIns="0" bIns="0" rtlCol="0">
            <a:spAutoFit/>
          </a:bodyPr>
          <a:lstStyle/>
          <a:p>
            <a:pPr marL="12700" marR="0" lvl="0" indent="123189" defTabSz="914400" eaLnBrk="1" fontAlgn="auto" latinLnBrk="0" hangingPunct="1">
              <a:lnSpc>
                <a:spcPct val="100000"/>
              </a:lnSpc>
              <a:spcBef>
                <a:spcPts val="459"/>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Business</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71755" marR="5080" lvl="0" indent="-59690" defTabSz="914400" eaLnBrk="1" fontAlgn="auto" latinLnBrk="0" hangingPunct="1">
              <a:lnSpc>
                <a:spcPts val="1300"/>
              </a:lnSpc>
              <a:spcBef>
                <a:spcPts val="520"/>
              </a:spcBef>
              <a:spcAft>
                <a:spcPts val="0"/>
              </a:spcAft>
              <a:buClrTx/>
              <a:buSzTx/>
              <a:buFontTx/>
              <a:buNone/>
              <a:tabLst/>
              <a:defRPr/>
            </a:pPr>
            <a:r>
              <a:rPr kumimoji="0" sz="1200" b="1" i="0" u="none" strike="noStrike" kern="0" cap="none" spc="-30" normalizeH="0" baseline="0" noProof="0">
                <a:ln>
                  <a:noFill/>
                </a:ln>
                <a:solidFill>
                  <a:srgbClr val="FFFFFF"/>
                </a:solidFill>
                <a:effectLst/>
                <a:uLnTx/>
                <a:uFillTx/>
                <a:latin typeface="Tahoma"/>
                <a:cs typeface="Tahoma"/>
              </a:rPr>
              <a:t>Process</a:t>
            </a:r>
            <a:r>
              <a:rPr kumimoji="0" sz="1200" b="1" i="0" u="none" strike="noStrike" kern="0" cap="none" spc="-45" normalizeH="0" baseline="0" noProof="0">
                <a:ln>
                  <a:noFill/>
                </a:ln>
                <a:solidFill>
                  <a:srgbClr val="FFFFFF"/>
                </a:solidFill>
                <a:effectLst/>
                <a:uLnTx/>
                <a:uFillTx/>
                <a:latin typeface="Tahoma"/>
                <a:cs typeface="Tahoma"/>
              </a:rPr>
              <a:t> </a:t>
            </a:r>
            <a:r>
              <a:rPr kumimoji="0" sz="1200" b="1" i="0" u="none" strike="noStrike" kern="0" cap="none" spc="-130" normalizeH="0" baseline="0" noProof="0">
                <a:ln>
                  <a:noFill/>
                </a:ln>
                <a:solidFill>
                  <a:srgbClr val="FFFFFF"/>
                </a:solidFill>
                <a:effectLst/>
                <a:uLnTx/>
                <a:uFillTx/>
                <a:latin typeface="Tahoma"/>
                <a:cs typeface="Tahoma"/>
              </a:rPr>
              <a:t>&amp;</a:t>
            </a:r>
            <a:r>
              <a:rPr kumimoji="0" sz="1200" b="1" i="0" u="none" strike="noStrike" kern="0" cap="none" spc="-20" normalizeH="0" baseline="0" noProof="0">
                <a:ln>
                  <a:noFill/>
                </a:ln>
                <a:solidFill>
                  <a:srgbClr val="FFFFFF"/>
                </a:solidFill>
                <a:effectLst/>
                <a:uLnTx/>
                <a:uFillTx/>
                <a:latin typeface="Tahoma"/>
                <a:cs typeface="Tahoma"/>
              </a:rPr>
              <a:t> </a:t>
            </a:r>
            <a:r>
              <a:rPr kumimoji="0" sz="1200" b="1" i="0" u="none" strike="noStrike" kern="0" cap="none" spc="-245" normalizeH="0" baseline="0" noProof="0">
                <a:ln>
                  <a:noFill/>
                </a:ln>
                <a:solidFill>
                  <a:srgbClr val="FFFFFF"/>
                </a:solidFill>
                <a:effectLst/>
                <a:uLnTx/>
                <a:uFillTx/>
                <a:latin typeface="Tahoma"/>
                <a:cs typeface="Tahoma"/>
              </a:rPr>
              <a:t>IT</a:t>
            </a:r>
            <a:r>
              <a:rPr kumimoji="0" sz="1200" b="1" i="0" u="none" strike="noStrike" kern="0" cap="none" spc="-25" normalizeH="0" baseline="0" noProof="0">
                <a:ln>
                  <a:noFill/>
                </a:ln>
                <a:solidFill>
                  <a:srgbClr val="FFFFFF"/>
                </a:solidFill>
                <a:effectLst/>
                <a:uLnTx/>
                <a:uFillTx/>
                <a:latin typeface="Tahoma"/>
                <a:cs typeface="Tahoma"/>
              </a:rPr>
              <a:t> Consulting</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9" name="object 9"/>
          <p:cNvSpPr/>
          <p:nvPr/>
        </p:nvSpPr>
        <p:spPr>
          <a:xfrm>
            <a:off x="6434709" y="3264534"/>
            <a:ext cx="1161415" cy="980440"/>
          </a:xfrm>
          <a:custGeom>
            <a:avLst/>
            <a:gdLst/>
            <a:ahLst/>
            <a:cxnLst/>
            <a:rect l="l" t="t" r="r" b="b"/>
            <a:pathLst>
              <a:path w="1161415" h="980439">
                <a:moveTo>
                  <a:pt x="580770" y="0"/>
                </a:moveTo>
                <a:lnTo>
                  <a:pt x="527901" y="2003"/>
                </a:lnTo>
                <a:lnTo>
                  <a:pt x="476363" y="7897"/>
                </a:lnTo>
                <a:lnTo>
                  <a:pt x="426361" y="17508"/>
                </a:lnTo>
                <a:lnTo>
                  <a:pt x="378100" y="30665"/>
                </a:lnTo>
                <a:lnTo>
                  <a:pt x="331785" y="47193"/>
                </a:lnTo>
                <a:lnTo>
                  <a:pt x="287622" y="66919"/>
                </a:lnTo>
                <a:lnTo>
                  <a:pt x="245814" y="89671"/>
                </a:lnTo>
                <a:lnTo>
                  <a:pt x="206566" y="115274"/>
                </a:lnTo>
                <a:lnTo>
                  <a:pt x="170084" y="143557"/>
                </a:lnTo>
                <a:lnTo>
                  <a:pt x="136573" y="174346"/>
                </a:lnTo>
                <a:lnTo>
                  <a:pt x="106237" y="207467"/>
                </a:lnTo>
                <a:lnTo>
                  <a:pt x="79280" y="242748"/>
                </a:lnTo>
                <a:lnTo>
                  <a:pt x="55909" y="280016"/>
                </a:lnTo>
                <a:lnTo>
                  <a:pt x="36328" y="319097"/>
                </a:lnTo>
                <a:lnTo>
                  <a:pt x="20742" y="359818"/>
                </a:lnTo>
                <a:lnTo>
                  <a:pt x="9355" y="402007"/>
                </a:lnTo>
                <a:lnTo>
                  <a:pt x="2372" y="445489"/>
                </a:lnTo>
                <a:lnTo>
                  <a:pt x="0" y="490092"/>
                </a:lnTo>
                <a:lnTo>
                  <a:pt x="2372" y="534696"/>
                </a:lnTo>
                <a:lnTo>
                  <a:pt x="9355" y="578178"/>
                </a:lnTo>
                <a:lnTo>
                  <a:pt x="20742" y="620367"/>
                </a:lnTo>
                <a:lnTo>
                  <a:pt x="36328" y="661088"/>
                </a:lnTo>
                <a:lnTo>
                  <a:pt x="55909" y="700169"/>
                </a:lnTo>
                <a:lnTo>
                  <a:pt x="79280" y="737437"/>
                </a:lnTo>
                <a:lnTo>
                  <a:pt x="106237" y="772718"/>
                </a:lnTo>
                <a:lnTo>
                  <a:pt x="136573" y="805839"/>
                </a:lnTo>
                <a:lnTo>
                  <a:pt x="170084" y="836628"/>
                </a:lnTo>
                <a:lnTo>
                  <a:pt x="206566" y="864911"/>
                </a:lnTo>
                <a:lnTo>
                  <a:pt x="245814" y="890514"/>
                </a:lnTo>
                <a:lnTo>
                  <a:pt x="287622" y="913266"/>
                </a:lnTo>
                <a:lnTo>
                  <a:pt x="331785" y="932992"/>
                </a:lnTo>
                <a:lnTo>
                  <a:pt x="378100" y="949520"/>
                </a:lnTo>
                <a:lnTo>
                  <a:pt x="426361" y="962677"/>
                </a:lnTo>
                <a:lnTo>
                  <a:pt x="476363" y="972288"/>
                </a:lnTo>
                <a:lnTo>
                  <a:pt x="527901" y="978182"/>
                </a:lnTo>
                <a:lnTo>
                  <a:pt x="580770" y="980185"/>
                </a:lnTo>
                <a:lnTo>
                  <a:pt x="633620" y="978182"/>
                </a:lnTo>
                <a:lnTo>
                  <a:pt x="685140" y="972288"/>
                </a:lnTo>
                <a:lnTo>
                  <a:pt x="735127" y="962677"/>
                </a:lnTo>
                <a:lnTo>
                  <a:pt x="783374" y="949520"/>
                </a:lnTo>
                <a:lnTo>
                  <a:pt x="829676" y="932992"/>
                </a:lnTo>
                <a:lnTo>
                  <a:pt x="873830" y="913266"/>
                </a:lnTo>
                <a:lnTo>
                  <a:pt x="915629" y="890514"/>
                </a:lnTo>
                <a:lnTo>
                  <a:pt x="954870" y="864911"/>
                </a:lnTo>
                <a:lnTo>
                  <a:pt x="991346" y="836628"/>
                </a:lnTo>
                <a:lnTo>
                  <a:pt x="1024852" y="805839"/>
                </a:lnTo>
                <a:lnTo>
                  <a:pt x="1055185" y="772718"/>
                </a:lnTo>
                <a:lnTo>
                  <a:pt x="1082138" y="737437"/>
                </a:lnTo>
                <a:lnTo>
                  <a:pt x="1105507" y="700169"/>
                </a:lnTo>
                <a:lnTo>
                  <a:pt x="1125087" y="661088"/>
                </a:lnTo>
                <a:lnTo>
                  <a:pt x="1140673" y="620367"/>
                </a:lnTo>
                <a:lnTo>
                  <a:pt x="1152059" y="578178"/>
                </a:lnTo>
                <a:lnTo>
                  <a:pt x="1159042" y="534696"/>
                </a:lnTo>
                <a:lnTo>
                  <a:pt x="1161414" y="490092"/>
                </a:lnTo>
                <a:lnTo>
                  <a:pt x="1159042" y="445489"/>
                </a:lnTo>
                <a:lnTo>
                  <a:pt x="1152059" y="402007"/>
                </a:lnTo>
                <a:lnTo>
                  <a:pt x="1140673" y="359818"/>
                </a:lnTo>
                <a:lnTo>
                  <a:pt x="1125087" y="319097"/>
                </a:lnTo>
                <a:lnTo>
                  <a:pt x="1105507" y="280016"/>
                </a:lnTo>
                <a:lnTo>
                  <a:pt x="1082138" y="242748"/>
                </a:lnTo>
                <a:lnTo>
                  <a:pt x="1055185" y="207467"/>
                </a:lnTo>
                <a:lnTo>
                  <a:pt x="1024852" y="174346"/>
                </a:lnTo>
                <a:lnTo>
                  <a:pt x="991346" y="143557"/>
                </a:lnTo>
                <a:lnTo>
                  <a:pt x="954870" y="115274"/>
                </a:lnTo>
                <a:lnTo>
                  <a:pt x="915629" y="89671"/>
                </a:lnTo>
                <a:lnTo>
                  <a:pt x="873830" y="66919"/>
                </a:lnTo>
                <a:lnTo>
                  <a:pt x="829676" y="47193"/>
                </a:lnTo>
                <a:lnTo>
                  <a:pt x="783374" y="30665"/>
                </a:lnTo>
                <a:lnTo>
                  <a:pt x="735127" y="17508"/>
                </a:lnTo>
                <a:lnTo>
                  <a:pt x="685140" y="7897"/>
                </a:lnTo>
                <a:lnTo>
                  <a:pt x="633620" y="2003"/>
                </a:lnTo>
                <a:lnTo>
                  <a:pt x="580770"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10"/>
          <p:cNvSpPr txBox="1"/>
          <p:nvPr/>
        </p:nvSpPr>
        <p:spPr>
          <a:xfrm>
            <a:off x="6613017" y="3479038"/>
            <a:ext cx="805815" cy="482600"/>
          </a:xfrm>
          <a:prstGeom prst="rect">
            <a:avLst/>
          </a:prstGeom>
        </p:spPr>
        <p:txBody>
          <a:bodyPr vert="horz" wrap="square" lIns="0" tIns="12700" rIns="0" bIns="0" rtlCol="0">
            <a:spAutoFit/>
          </a:bodyPr>
          <a:lstStyle/>
          <a:p>
            <a:pPr marL="12700" marR="5080" lvl="0" indent="85090" defTabSz="914400" eaLnBrk="1" fontAlgn="auto" latinLnBrk="0" hangingPunct="1">
              <a:lnSpc>
                <a:spcPct val="125000"/>
              </a:lnSpc>
              <a:spcBef>
                <a:spcPts val="10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Product </a:t>
            </a:r>
            <a:r>
              <a:rPr kumimoji="0" sz="1200" b="1" i="0" u="none" strike="noStrike" kern="0" cap="none" spc="-60" normalizeH="0" baseline="0" noProof="0">
                <a:ln>
                  <a:noFill/>
                </a:ln>
                <a:solidFill>
                  <a:srgbClr val="FFFFFF"/>
                </a:solidFill>
                <a:effectLst/>
                <a:uLnTx/>
                <a:uFillTx/>
                <a:latin typeface="Tahoma"/>
                <a:cs typeface="Tahoma"/>
              </a:rPr>
              <a:t>Innovation</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11" name="object 11"/>
          <p:cNvSpPr/>
          <p:nvPr/>
        </p:nvSpPr>
        <p:spPr>
          <a:xfrm>
            <a:off x="5348604" y="3264534"/>
            <a:ext cx="1161415" cy="980440"/>
          </a:xfrm>
          <a:custGeom>
            <a:avLst/>
            <a:gdLst/>
            <a:ahLst/>
            <a:cxnLst/>
            <a:rect l="l" t="t" r="r" b="b"/>
            <a:pathLst>
              <a:path w="1161415" h="980439">
                <a:moveTo>
                  <a:pt x="580644" y="0"/>
                </a:moveTo>
                <a:lnTo>
                  <a:pt x="527794" y="2003"/>
                </a:lnTo>
                <a:lnTo>
                  <a:pt x="476274" y="7897"/>
                </a:lnTo>
                <a:lnTo>
                  <a:pt x="426287" y="17508"/>
                </a:lnTo>
                <a:lnTo>
                  <a:pt x="378040" y="30665"/>
                </a:lnTo>
                <a:lnTo>
                  <a:pt x="331738" y="47193"/>
                </a:lnTo>
                <a:lnTo>
                  <a:pt x="287584" y="66919"/>
                </a:lnTo>
                <a:lnTo>
                  <a:pt x="245785" y="89671"/>
                </a:lnTo>
                <a:lnTo>
                  <a:pt x="206544" y="115274"/>
                </a:lnTo>
                <a:lnTo>
                  <a:pt x="170068" y="143557"/>
                </a:lnTo>
                <a:lnTo>
                  <a:pt x="136562" y="174346"/>
                </a:lnTo>
                <a:lnTo>
                  <a:pt x="106229" y="207467"/>
                </a:lnTo>
                <a:lnTo>
                  <a:pt x="79276" y="242748"/>
                </a:lnTo>
                <a:lnTo>
                  <a:pt x="55907" y="280016"/>
                </a:lnTo>
                <a:lnTo>
                  <a:pt x="36327" y="319097"/>
                </a:lnTo>
                <a:lnTo>
                  <a:pt x="20741" y="359818"/>
                </a:lnTo>
                <a:lnTo>
                  <a:pt x="9355" y="402007"/>
                </a:lnTo>
                <a:lnTo>
                  <a:pt x="2372" y="445489"/>
                </a:lnTo>
                <a:lnTo>
                  <a:pt x="0" y="490092"/>
                </a:lnTo>
                <a:lnTo>
                  <a:pt x="2372" y="534696"/>
                </a:lnTo>
                <a:lnTo>
                  <a:pt x="9355" y="578178"/>
                </a:lnTo>
                <a:lnTo>
                  <a:pt x="20741" y="620367"/>
                </a:lnTo>
                <a:lnTo>
                  <a:pt x="36327" y="661088"/>
                </a:lnTo>
                <a:lnTo>
                  <a:pt x="55907" y="700169"/>
                </a:lnTo>
                <a:lnTo>
                  <a:pt x="79276" y="737437"/>
                </a:lnTo>
                <a:lnTo>
                  <a:pt x="106229" y="772718"/>
                </a:lnTo>
                <a:lnTo>
                  <a:pt x="136562" y="805839"/>
                </a:lnTo>
                <a:lnTo>
                  <a:pt x="170068" y="836628"/>
                </a:lnTo>
                <a:lnTo>
                  <a:pt x="206544" y="864911"/>
                </a:lnTo>
                <a:lnTo>
                  <a:pt x="245785" y="890514"/>
                </a:lnTo>
                <a:lnTo>
                  <a:pt x="287584" y="913266"/>
                </a:lnTo>
                <a:lnTo>
                  <a:pt x="331738" y="932992"/>
                </a:lnTo>
                <a:lnTo>
                  <a:pt x="378040" y="949520"/>
                </a:lnTo>
                <a:lnTo>
                  <a:pt x="426287" y="962677"/>
                </a:lnTo>
                <a:lnTo>
                  <a:pt x="476274" y="972288"/>
                </a:lnTo>
                <a:lnTo>
                  <a:pt x="527794" y="978182"/>
                </a:lnTo>
                <a:lnTo>
                  <a:pt x="580644" y="980185"/>
                </a:lnTo>
                <a:lnTo>
                  <a:pt x="633494" y="978182"/>
                </a:lnTo>
                <a:lnTo>
                  <a:pt x="685018" y="972288"/>
                </a:lnTo>
                <a:lnTo>
                  <a:pt x="735009" y="962677"/>
                </a:lnTo>
                <a:lnTo>
                  <a:pt x="783263" y="949520"/>
                </a:lnTo>
                <a:lnTo>
                  <a:pt x="829573" y="932992"/>
                </a:lnTo>
                <a:lnTo>
                  <a:pt x="873736" y="913266"/>
                </a:lnTo>
                <a:lnTo>
                  <a:pt x="915545" y="890514"/>
                </a:lnTo>
                <a:lnTo>
                  <a:pt x="954796" y="864911"/>
                </a:lnTo>
                <a:lnTo>
                  <a:pt x="991282" y="836628"/>
                </a:lnTo>
                <a:lnTo>
                  <a:pt x="1024799" y="805839"/>
                </a:lnTo>
                <a:lnTo>
                  <a:pt x="1055142" y="772718"/>
                </a:lnTo>
                <a:lnTo>
                  <a:pt x="1082105" y="737437"/>
                </a:lnTo>
                <a:lnTo>
                  <a:pt x="1105483" y="700169"/>
                </a:lnTo>
                <a:lnTo>
                  <a:pt x="1125071" y="661088"/>
                </a:lnTo>
                <a:lnTo>
                  <a:pt x="1140664" y="620367"/>
                </a:lnTo>
                <a:lnTo>
                  <a:pt x="1152055" y="578178"/>
                </a:lnTo>
                <a:lnTo>
                  <a:pt x="1159040" y="534696"/>
                </a:lnTo>
                <a:lnTo>
                  <a:pt x="1161415" y="490092"/>
                </a:lnTo>
                <a:lnTo>
                  <a:pt x="1159040" y="445489"/>
                </a:lnTo>
                <a:lnTo>
                  <a:pt x="1152055" y="402007"/>
                </a:lnTo>
                <a:lnTo>
                  <a:pt x="1140664" y="359818"/>
                </a:lnTo>
                <a:lnTo>
                  <a:pt x="1125071" y="319097"/>
                </a:lnTo>
                <a:lnTo>
                  <a:pt x="1105483" y="280016"/>
                </a:lnTo>
                <a:lnTo>
                  <a:pt x="1082105" y="242748"/>
                </a:lnTo>
                <a:lnTo>
                  <a:pt x="1055142" y="207467"/>
                </a:lnTo>
                <a:lnTo>
                  <a:pt x="1024799" y="174346"/>
                </a:lnTo>
                <a:lnTo>
                  <a:pt x="991282" y="143557"/>
                </a:lnTo>
                <a:lnTo>
                  <a:pt x="954796" y="115274"/>
                </a:lnTo>
                <a:lnTo>
                  <a:pt x="915545" y="89671"/>
                </a:lnTo>
                <a:lnTo>
                  <a:pt x="873736" y="66919"/>
                </a:lnTo>
                <a:lnTo>
                  <a:pt x="829573" y="47193"/>
                </a:lnTo>
                <a:lnTo>
                  <a:pt x="783263" y="30665"/>
                </a:lnTo>
                <a:lnTo>
                  <a:pt x="735009" y="17508"/>
                </a:lnTo>
                <a:lnTo>
                  <a:pt x="685018" y="7897"/>
                </a:lnTo>
                <a:lnTo>
                  <a:pt x="633494" y="2003"/>
                </a:lnTo>
                <a:lnTo>
                  <a:pt x="580644"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12"/>
          <p:cNvSpPr txBox="1"/>
          <p:nvPr/>
        </p:nvSpPr>
        <p:spPr>
          <a:xfrm>
            <a:off x="5404865" y="3639057"/>
            <a:ext cx="1052830"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20" normalizeH="0" baseline="0" noProof="0">
                <a:ln>
                  <a:noFill/>
                </a:ln>
                <a:solidFill>
                  <a:srgbClr val="FFFFFF"/>
                </a:solidFill>
                <a:effectLst/>
                <a:uLnTx/>
                <a:uFillTx/>
                <a:latin typeface="Tahoma"/>
                <a:cs typeface="Tahoma"/>
              </a:rPr>
              <a:t>Cybersecurity</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13" name="object 13"/>
          <p:cNvSpPr/>
          <p:nvPr/>
        </p:nvSpPr>
        <p:spPr>
          <a:xfrm>
            <a:off x="4262373" y="3264534"/>
            <a:ext cx="1161415" cy="980440"/>
          </a:xfrm>
          <a:custGeom>
            <a:avLst/>
            <a:gdLst/>
            <a:ahLst/>
            <a:cxnLst/>
            <a:rect l="l" t="t" r="r" b="b"/>
            <a:pathLst>
              <a:path w="1161414" h="980439">
                <a:moveTo>
                  <a:pt x="580771" y="0"/>
                </a:moveTo>
                <a:lnTo>
                  <a:pt x="527901" y="2003"/>
                </a:lnTo>
                <a:lnTo>
                  <a:pt x="476363" y="7897"/>
                </a:lnTo>
                <a:lnTo>
                  <a:pt x="426361" y="17508"/>
                </a:lnTo>
                <a:lnTo>
                  <a:pt x="378100" y="30665"/>
                </a:lnTo>
                <a:lnTo>
                  <a:pt x="331785" y="47193"/>
                </a:lnTo>
                <a:lnTo>
                  <a:pt x="287622" y="66919"/>
                </a:lnTo>
                <a:lnTo>
                  <a:pt x="245814" y="89671"/>
                </a:lnTo>
                <a:lnTo>
                  <a:pt x="206566" y="115274"/>
                </a:lnTo>
                <a:lnTo>
                  <a:pt x="170084" y="143557"/>
                </a:lnTo>
                <a:lnTo>
                  <a:pt x="136573" y="174346"/>
                </a:lnTo>
                <a:lnTo>
                  <a:pt x="106237" y="207467"/>
                </a:lnTo>
                <a:lnTo>
                  <a:pt x="79280" y="242748"/>
                </a:lnTo>
                <a:lnTo>
                  <a:pt x="55909" y="280016"/>
                </a:lnTo>
                <a:lnTo>
                  <a:pt x="36328" y="319097"/>
                </a:lnTo>
                <a:lnTo>
                  <a:pt x="20742" y="359818"/>
                </a:lnTo>
                <a:lnTo>
                  <a:pt x="9355" y="402007"/>
                </a:lnTo>
                <a:lnTo>
                  <a:pt x="2372" y="445489"/>
                </a:lnTo>
                <a:lnTo>
                  <a:pt x="0" y="490092"/>
                </a:lnTo>
                <a:lnTo>
                  <a:pt x="2372" y="534696"/>
                </a:lnTo>
                <a:lnTo>
                  <a:pt x="9355" y="578178"/>
                </a:lnTo>
                <a:lnTo>
                  <a:pt x="20742" y="620367"/>
                </a:lnTo>
                <a:lnTo>
                  <a:pt x="36328" y="661088"/>
                </a:lnTo>
                <a:lnTo>
                  <a:pt x="55909" y="700169"/>
                </a:lnTo>
                <a:lnTo>
                  <a:pt x="79280" y="737437"/>
                </a:lnTo>
                <a:lnTo>
                  <a:pt x="106237" y="772718"/>
                </a:lnTo>
                <a:lnTo>
                  <a:pt x="136573" y="805839"/>
                </a:lnTo>
                <a:lnTo>
                  <a:pt x="170084" y="836628"/>
                </a:lnTo>
                <a:lnTo>
                  <a:pt x="206566" y="864911"/>
                </a:lnTo>
                <a:lnTo>
                  <a:pt x="245814" y="890514"/>
                </a:lnTo>
                <a:lnTo>
                  <a:pt x="287622" y="913266"/>
                </a:lnTo>
                <a:lnTo>
                  <a:pt x="331785" y="932992"/>
                </a:lnTo>
                <a:lnTo>
                  <a:pt x="378100" y="949520"/>
                </a:lnTo>
                <a:lnTo>
                  <a:pt x="426361" y="962677"/>
                </a:lnTo>
                <a:lnTo>
                  <a:pt x="476363" y="972288"/>
                </a:lnTo>
                <a:lnTo>
                  <a:pt x="527901" y="978182"/>
                </a:lnTo>
                <a:lnTo>
                  <a:pt x="580771" y="980185"/>
                </a:lnTo>
                <a:lnTo>
                  <a:pt x="633620" y="978182"/>
                </a:lnTo>
                <a:lnTo>
                  <a:pt x="685140" y="972288"/>
                </a:lnTo>
                <a:lnTo>
                  <a:pt x="735127" y="962677"/>
                </a:lnTo>
                <a:lnTo>
                  <a:pt x="783374" y="949520"/>
                </a:lnTo>
                <a:lnTo>
                  <a:pt x="829676" y="932992"/>
                </a:lnTo>
                <a:lnTo>
                  <a:pt x="873830" y="913266"/>
                </a:lnTo>
                <a:lnTo>
                  <a:pt x="915629" y="890514"/>
                </a:lnTo>
                <a:lnTo>
                  <a:pt x="954870" y="864911"/>
                </a:lnTo>
                <a:lnTo>
                  <a:pt x="991346" y="836628"/>
                </a:lnTo>
                <a:lnTo>
                  <a:pt x="1024852" y="805839"/>
                </a:lnTo>
                <a:lnTo>
                  <a:pt x="1055185" y="772718"/>
                </a:lnTo>
                <a:lnTo>
                  <a:pt x="1082138" y="737437"/>
                </a:lnTo>
                <a:lnTo>
                  <a:pt x="1105507" y="700169"/>
                </a:lnTo>
                <a:lnTo>
                  <a:pt x="1125087" y="661088"/>
                </a:lnTo>
                <a:lnTo>
                  <a:pt x="1140673" y="620367"/>
                </a:lnTo>
                <a:lnTo>
                  <a:pt x="1152059" y="578178"/>
                </a:lnTo>
                <a:lnTo>
                  <a:pt x="1159042" y="534696"/>
                </a:lnTo>
                <a:lnTo>
                  <a:pt x="1161414" y="490092"/>
                </a:lnTo>
                <a:lnTo>
                  <a:pt x="1159042" y="445489"/>
                </a:lnTo>
                <a:lnTo>
                  <a:pt x="1152059" y="402007"/>
                </a:lnTo>
                <a:lnTo>
                  <a:pt x="1140673" y="359818"/>
                </a:lnTo>
                <a:lnTo>
                  <a:pt x="1125087" y="319097"/>
                </a:lnTo>
                <a:lnTo>
                  <a:pt x="1105507" y="280016"/>
                </a:lnTo>
                <a:lnTo>
                  <a:pt x="1082138" y="242748"/>
                </a:lnTo>
                <a:lnTo>
                  <a:pt x="1055185" y="207467"/>
                </a:lnTo>
                <a:lnTo>
                  <a:pt x="1024852" y="174346"/>
                </a:lnTo>
                <a:lnTo>
                  <a:pt x="991346" y="143557"/>
                </a:lnTo>
                <a:lnTo>
                  <a:pt x="954870" y="115274"/>
                </a:lnTo>
                <a:lnTo>
                  <a:pt x="915629" y="89671"/>
                </a:lnTo>
                <a:lnTo>
                  <a:pt x="873830" y="66919"/>
                </a:lnTo>
                <a:lnTo>
                  <a:pt x="829676" y="47193"/>
                </a:lnTo>
                <a:lnTo>
                  <a:pt x="783374" y="30665"/>
                </a:lnTo>
                <a:lnTo>
                  <a:pt x="735127" y="17508"/>
                </a:lnTo>
                <a:lnTo>
                  <a:pt x="685140" y="7897"/>
                </a:lnTo>
                <a:lnTo>
                  <a:pt x="633620" y="2003"/>
                </a:lnTo>
                <a:lnTo>
                  <a:pt x="580771"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4582159" y="3479038"/>
            <a:ext cx="523875" cy="482600"/>
          </a:xfrm>
          <a:prstGeom prst="rect">
            <a:avLst/>
          </a:prstGeom>
        </p:spPr>
        <p:txBody>
          <a:bodyPr vert="horz" wrap="square" lIns="0" tIns="12700" rIns="0" bIns="0" rtlCol="0">
            <a:spAutoFit/>
          </a:bodyPr>
          <a:lstStyle/>
          <a:p>
            <a:pPr marL="182880" marR="5080" lvl="0" indent="-170815" defTabSz="914400" eaLnBrk="1" fontAlgn="auto" latinLnBrk="0" hangingPunct="1">
              <a:lnSpc>
                <a:spcPct val="125000"/>
              </a:lnSpc>
              <a:spcBef>
                <a:spcPts val="10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Data</a:t>
            </a:r>
            <a:r>
              <a:rPr kumimoji="0" sz="1200" b="1" i="0" u="none" strike="noStrike" kern="0" cap="none" spc="-65" normalizeH="0" baseline="0" noProof="0">
                <a:ln>
                  <a:noFill/>
                </a:ln>
                <a:solidFill>
                  <a:srgbClr val="FFFFFF"/>
                </a:solidFill>
                <a:effectLst/>
                <a:uLnTx/>
                <a:uFillTx/>
                <a:latin typeface="Tahoma"/>
                <a:cs typeface="Tahoma"/>
              </a:rPr>
              <a:t> </a:t>
            </a:r>
            <a:r>
              <a:rPr kumimoji="0" sz="1200" b="1" i="0" u="none" strike="noStrike" kern="0" cap="none" spc="-140" normalizeH="0" baseline="0" noProof="0">
                <a:ln>
                  <a:noFill/>
                </a:ln>
                <a:solidFill>
                  <a:srgbClr val="FFFFFF"/>
                </a:solidFill>
                <a:effectLst/>
                <a:uLnTx/>
                <a:uFillTx/>
                <a:latin typeface="Tahoma"/>
                <a:cs typeface="Tahoma"/>
              </a:rPr>
              <a:t>&amp; </a:t>
            </a:r>
            <a:r>
              <a:rPr kumimoji="0" sz="1200" b="1" i="0" u="none" strike="noStrike" kern="0" cap="none" spc="-25" normalizeH="0" baseline="0" noProof="0">
                <a:ln>
                  <a:noFill/>
                </a:ln>
                <a:solidFill>
                  <a:srgbClr val="FFFFFF"/>
                </a:solidFill>
                <a:effectLst/>
                <a:uLnTx/>
                <a:uFillTx/>
                <a:latin typeface="Tahoma"/>
                <a:cs typeface="Tahoma"/>
              </a:rPr>
              <a:t>AI</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15" name="object 15"/>
          <p:cNvSpPr/>
          <p:nvPr/>
        </p:nvSpPr>
        <p:spPr>
          <a:xfrm>
            <a:off x="3176142" y="3264534"/>
            <a:ext cx="1162050" cy="980440"/>
          </a:xfrm>
          <a:custGeom>
            <a:avLst/>
            <a:gdLst/>
            <a:ahLst/>
            <a:cxnLst/>
            <a:rect l="l" t="t" r="r" b="b"/>
            <a:pathLst>
              <a:path w="1162050" h="980439">
                <a:moveTo>
                  <a:pt x="580770" y="0"/>
                </a:moveTo>
                <a:lnTo>
                  <a:pt x="527920" y="2003"/>
                </a:lnTo>
                <a:lnTo>
                  <a:pt x="476396" y="7897"/>
                </a:lnTo>
                <a:lnTo>
                  <a:pt x="426405" y="17508"/>
                </a:lnTo>
                <a:lnTo>
                  <a:pt x="378151" y="30665"/>
                </a:lnTo>
                <a:lnTo>
                  <a:pt x="331841" y="47193"/>
                </a:lnTo>
                <a:lnTo>
                  <a:pt x="287678" y="66919"/>
                </a:lnTo>
                <a:lnTo>
                  <a:pt x="245869" y="89671"/>
                </a:lnTo>
                <a:lnTo>
                  <a:pt x="206618" y="115274"/>
                </a:lnTo>
                <a:lnTo>
                  <a:pt x="170132" y="143557"/>
                </a:lnTo>
                <a:lnTo>
                  <a:pt x="136615" y="174346"/>
                </a:lnTo>
                <a:lnTo>
                  <a:pt x="106272" y="207467"/>
                </a:lnTo>
                <a:lnTo>
                  <a:pt x="79309" y="242748"/>
                </a:lnTo>
                <a:lnTo>
                  <a:pt x="55931" y="280016"/>
                </a:lnTo>
                <a:lnTo>
                  <a:pt x="36343" y="319097"/>
                </a:lnTo>
                <a:lnTo>
                  <a:pt x="20750" y="359818"/>
                </a:lnTo>
                <a:lnTo>
                  <a:pt x="9359" y="402007"/>
                </a:lnTo>
                <a:lnTo>
                  <a:pt x="2374" y="445489"/>
                </a:lnTo>
                <a:lnTo>
                  <a:pt x="0" y="490092"/>
                </a:lnTo>
                <a:lnTo>
                  <a:pt x="2374" y="534696"/>
                </a:lnTo>
                <a:lnTo>
                  <a:pt x="9359" y="578178"/>
                </a:lnTo>
                <a:lnTo>
                  <a:pt x="20750" y="620367"/>
                </a:lnTo>
                <a:lnTo>
                  <a:pt x="36343" y="661088"/>
                </a:lnTo>
                <a:lnTo>
                  <a:pt x="55931" y="700169"/>
                </a:lnTo>
                <a:lnTo>
                  <a:pt x="79309" y="737437"/>
                </a:lnTo>
                <a:lnTo>
                  <a:pt x="106272" y="772718"/>
                </a:lnTo>
                <a:lnTo>
                  <a:pt x="136615" y="805839"/>
                </a:lnTo>
                <a:lnTo>
                  <a:pt x="170132" y="836628"/>
                </a:lnTo>
                <a:lnTo>
                  <a:pt x="206618" y="864911"/>
                </a:lnTo>
                <a:lnTo>
                  <a:pt x="245869" y="890514"/>
                </a:lnTo>
                <a:lnTo>
                  <a:pt x="287678" y="913266"/>
                </a:lnTo>
                <a:lnTo>
                  <a:pt x="331841" y="932992"/>
                </a:lnTo>
                <a:lnTo>
                  <a:pt x="378151" y="949520"/>
                </a:lnTo>
                <a:lnTo>
                  <a:pt x="426405" y="962677"/>
                </a:lnTo>
                <a:lnTo>
                  <a:pt x="476396" y="972288"/>
                </a:lnTo>
                <a:lnTo>
                  <a:pt x="527920" y="978182"/>
                </a:lnTo>
                <a:lnTo>
                  <a:pt x="580770" y="980185"/>
                </a:lnTo>
                <a:lnTo>
                  <a:pt x="633621" y="978182"/>
                </a:lnTo>
                <a:lnTo>
                  <a:pt x="685145" y="972288"/>
                </a:lnTo>
                <a:lnTo>
                  <a:pt x="735136" y="962677"/>
                </a:lnTo>
                <a:lnTo>
                  <a:pt x="783390" y="949520"/>
                </a:lnTo>
                <a:lnTo>
                  <a:pt x="829700" y="932992"/>
                </a:lnTo>
                <a:lnTo>
                  <a:pt x="873863" y="913266"/>
                </a:lnTo>
                <a:lnTo>
                  <a:pt x="915672" y="890514"/>
                </a:lnTo>
                <a:lnTo>
                  <a:pt x="954923" y="864911"/>
                </a:lnTo>
                <a:lnTo>
                  <a:pt x="991409" y="836628"/>
                </a:lnTo>
                <a:lnTo>
                  <a:pt x="1024926" y="805839"/>
                </a:lnTo>
                <a:lnTo>
                  <a:pt x="1055269" y="772718"/>
                </a:lnTo>
                <a:lnTo>
                  <a:pt x="1082232" y="737437"/>
                </a:lnTo>
                <a:lnTo>
                  <a:pt x="1105610" y="700169"/>
                </a:lnTo>
                <a:lnTo>
                  <a:pt x="1125198" y="661088"/>
                </a:lnTo>
                <a:lnTo>
                  <a:pt x="1140791" y="620367"/>
                </a:lnTo>
                <a:lnTo>
                  <a:pt x="1152182" y="578178"/>
                </a:lnTo>
                <a:lnTo>
                  <a:pt x="1159167" y="534696"/>
                </a:lnTo>
                <a:lnTo>
                  <a:pt x="1161542" y="490092"/>
                </a:lnTo>
                <a:lnTo>
                  <a:pt x="1159167" y="445489"/>
                </a:lnTo>
                <a:lnTo>
                  <a:pt x="1152182" y="402007"/>
                </a:lnTo>
                <a:lnTo>
                  <a:pt x="1140791" y="359818"/>
                </a:lnTo>
                <a:lnTo>
                  <a:pt x="1125198" y="319097"/>
                </a:lnTo>
                <a:lnTo>
                  <a:pt x="1105610" y="280016"/>
                </a:lnTo>
                <a:lnTo>
                  <a:pt x="1082232" y="242748"/>
                </a:lnTo>
                <a:lnTo>
                  <a:pt x="1055269" y="207467"/>
                </a:lnTo>
                <a:lnTo>
                  <a:pt x="1024926" y="174346"/>
                </a:lnTo>
                <a:lnTo>
                  <a:pt x="991409" y="143557"/>
                </a:lnTo>
                <a:lnTo>
                  <a:pt x="954923" y="115274"/>
                </a:lnTo>
                <a:lnTo>
                  <a:pt x="915672" y="89671"/>
                </a:lnTo>
                <a:lnTo>
                  <a:pt x="873863" y="66919"/>
                </a:lnTo>
                <a:lnTo>
                  <a:pt x="829700" y="47193"/>
                </a:lnTo>
                <a:lnTo>
                  <a:pt x="783390" y="30665"/>
                </a:lnTo>
                <a:lnTo>
                  <a:pt x="735136" y="17508"/>
                </a:lnTo>
                <a:lnTo>
                  <a:pt x="685145" y="7897"/>
                </a:lnTo>
                <a:lnTo>
                  <a:pt x="633621" y="2003"/>
                </a:lnTo>
                <a:lnTo>
                  <a:pt x="580770"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16"/>
          <p:cNvSpPr txBox="1"/>
          <p:nvPr/>
        </p:nvSpPr>
        <p:spPr>
          <a:xfrm>
            <a:off x="3306826" y="3364738"/>
            <a:ext cx="903605" cy="711200"/>
          </a:xfrm>
          <a:prstGeom prst="rect">
            <a:avLst/>
          </a:prstGeom>
        </p:spPr>
        <p:txBody>
          <a:bodyPr vert="horz" wrap="square" lIns="0" tIns="12700" rIns="0" bIns="0" rtlCol="0">
            <a:spAutoFit/>
          </a:bodyPr>
          <a:lstStyle/>
          <a:p>
            <a:pPr marL="12700" marR="5080" lvl="0" indent="193040" defTabSz="914400" eaLnBrk="1" fontAlgn="auto" latinLnBrk="0" hangingPunct="1">
              <a:lnSpc>
                <a:spcPct val="125000"/>
              </a:lnSpc>
              <a:spcBef>
                <a:spcPts val="10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Cloud </a:t>
            </a:r>
            <a:r>
              <a:rPr kumimoji="0" sz="1200" b="1" i="0" u="none" strike="noStrike" kern="0" cap="none" spc="-75" normalizeH="0" baseline="0" noProof="0">
                <a:ln>
                  <a:noFill/>
                </a:ln>
                <a:solidFill>
                  <a:srgbClr val="FFFFFF"/>
                </a:solidFill>
                <a:effectLst/>
                <a:uLnTx/>
                <a:uFillTx/>
                <a:latin typeface="Tahoma"/>
                <a:cs typeface="Tahoma"/>
              </a:rPr>
              <a:t>AWS,</a:t>
            </a:r>
            <a:r>
              <a:rPr kumimoji="0" sz="1200" b="1" i="0" u="none" strike="noStrike" kern="0" cap="none" spc="-10" normalizeH="0" baseline="0" noProof="0">
                <a:ln>
                  <a:noFill/>
                </a:ln>
                <a:solidFill>
                  <a:srgbClr val="FFFFFF"/>
                </a:solidFill>
                <a:effectLst/>
                <a:uLnTx/>
                <a:uFillTx/>
                <a:latin typeface="Tahoma"/>
                <a:cs typeface="Tahoma"/>
              </a:rPr>
              <a:t> </a:t>
            </a:r>
            <a:r>
              <a:rPr kumimoji="0" sz="1200" b="1" i="0" u="none" strike="noStrike" kern="0" cap="none" spc="-40" normalizeH="0" baseline="0" noProof="0">
                <a:ln>
                  <a:noFill/>
                </a:ln>
                <a:solidFill>
                  <a:srgbClr val="FFFFFF"/>
                </a:solidFill>
                <a:effectLst/>
                <a:uLnTx/>
                <a:uFillTx/>
                <a:latin typeface="Tahoma"/>
                <a:cs typeface="Tahoma"/>
              </a:rPr>
              <a:t>Azure,</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283845" marR="0" lvl="0" indent="0" defTabSz="914400" eaLnBrk="1" fontAlgn="auto" latinLnBrk="0" hangingPunct="1">
              <a:lnSpc>
                <a:spcPct val="100000"/>
              </a:lnSpc>
              <a:spcBef>
                <a:spcPts val="359"/>
              </a:spcBef>
              <a:spcAft>
                <a:spcPts val="0"/>
              </a:spcAft>
              <a:buClrTx/>
              <a:buSzTx/>
              <a:buFontTx/>
              <a:buNone/>
              <a:tabLst/>
              <a:defRPr/>
            </a:pPr>
            <a:r>
              <a:rPr kumimoji="0" sz="1200" b="1" i="0" u="none" strike="noStrike" kern="0" cap="none" spc="-25" normalizeH="0" baseline="0" noProof="0">
                <a:ln>
                  <a:noFill/>
                </a:ln>
                <a:solidFill>
                  <a:srgbClr val="FFFFFF"/>
                </a:solidFill>
                <a:effectLst/>
                <a:uLnTx/>
                <a:uFillTx/>
                <a:latin typeface="Tahoma"/>
                <a:cs typeface="Tahoma"/>
              </a:rPr>
              <a:t>GCP</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17" name="object 17"/>
          <p:cNvSpPr/>
          <p:nvPr/>
        </p:nvSpPr>
        <p:spPr>
          <a:xfrm>
            <a:off x="2090039" y="3264534"/>
            <a:ext cx="1161415" cy="980440"/>
          </a:xfrm>
          <a:custGeom>
            <a:avLst/>
            <a:gdLst/>
            <a:ahLst/>
            <a:cxnLst/>
            <a:rect l="l" t="t" r="r" b="b"/>
            <a:pathLst>
              <a:path w="1161414" h="980439">
                <a:moveTo>
                  <a:pt x="580644" y="0"/>
                </a:moveTo>
                <a:lnTo>
                  <a:pt x="527794" y="2003"/>
                </a:lnTo>
                <a:lnTo>
                  <a:pt x="476274" y="7897"/>
                </a:lnTo>
                <a:lnTo>
                  <a:pt x="426287" y="17508"/>
                </a:lnTo>
                <a:lnTo>
                  <a:pt x="378040" y="30665"/>
                </a:lnTo>
                <a:lnTo>
                  <a:pt x="331738" y="47193"/>
                </a:lnTo>
                <a:lnTo>
                  <a:pt x="287584" y="66919"/>
                </a:lnTo>
                <a:lnTo>
                  <a:pt x="245785" y="89671"/>
                </a:lnTo>
                <a:lnTo>
                  <a:pt x="206544" y="115274"/>
                </a:lnTo>
                <a:lnTo>
                  <a:pt x="170068" y="143557"/>
                </a:lnTo>
                <a:lnTo>
                  <a:pt x="136562" y="174346"/>
                </a:lnTo>
                <a:lnTo>
                  <a:pt x="106229" y="207467"/>
                </a:lnTo>
                <a:lnTo>
                  <a:pt x="79276" y="242748"/>
                </a:lnTo>
                <a:lnTo>
                  <a:pt x="55907" y="280016"/>
                </a:lnTo>
                <a:lnTo>
                  <a:pt x="36327" y="319097"/>
                </a:lnTo>
                <a:lnTo>
                  <a:pt x="20741" y="359818"/>
                </a:lnTo>
                <a:lnTo>
                  <a:pt x="9355" y="402007"/>
                </a:lnTo>
                <a:lnTo>
                  <a:pt x="2372" y="445489"/>
                </a:lnTo>
                <a:lnTo>
                  <a:pt x="0" y="490092"/>
                </a:lnTo>
                <a:lnTo>
                  <a:pt x="2372" y="534696"/>
                </a:lnTo>
                <a:lnTo>
                  <a:pt x="9355" y="578178"/>
                </a:lnTo>
                <a:lnTo>
                  <a:pt x="20741" y="620367"/>
                </a:lnTo>
                <a:lnTo>
                  <a:pt x="36327" y="661088"/>
                </a:lnTo>
                <a:lnTo>
                  <a:pt x="55907" y="700169"/>
                </a:lnTo>
                <a:lnTo>
                  <a:pt x="79276" y="737437"/>
                </a:lnTo>
                <a:lnTo>
                  <a:pt x="106229" y="772718"/>
                </a:lnTo>
                <a:lnTo>
                  <a:pt x="136562" y="805839"/>
                </a:lnTo>
                <a:lnTo>
                  <a:pt x="170068" y="836628"/>
                </a:lnTo>
                <a:lnTo>
                  <a:pt x="206544" y="864911"/>
                </a:lnTo>
                <a:lnTo>
                  <a:pt x="245785" y="890514"/>
                </a:lnTo>
                <a:lnTo>
                  <a:pt x="287584" y="913266"/>
                </a:lnTo>
                <a:lnTo>
                  <a:pt x="331738" y="932992"/>
                </a:lnTo>
                <a:lnTo>
                  <a:pt x="378040" y="949520"/>
                </a:lnTo>
                <a:lnTo>
                  <a:pt x="426287" y="962677"/>
                </a:lnTo>
                <a:lnTo>
                  <a:pt x="476274" y="972288"/>
                </a:lnTo>
                <a:lnTo>
                  <a:pt x="527794" y="978182"/>
                </a:lnTo>
                <a:lnTo>
                  <a:pt x="580644" y="980185"/>
                </a:lnTo>
                <a:lnTo>
                  <a:pt x="633513" y="978182"/>
                </a:lnTo>
                <a:lnTo>
                  <a:pt x="685051" y="972288"/>
                </a:lnTo>
                <a:lnTo>
                  <a:pt x="735053" y="962677"/>
                </a:lnTo>
                <a:lnTo>
                  <a:pt x="783314" y="949520"/>
                </a:lnTo>
                <a:lnTo>
                  <a:pt x="829629" y="932992"/>
                </a:lnTo>
                <a:lnTo>
                  <a:pt x="873792" y="913266"/>
                </a:lnTo>
                <a:lnTo>
                  <a:pt x="915600" y="890514"/>
                </a:lnTo>
                <a:lnTo>
                  <a:pt x="954848" y="864911"/>
                </a:lnTo>
                <a:lnTo>
                  <a:pt x="991330" y="836628"/>
                </a:lnTo>
                <a:lnTo>
                  <a:pt x="1024841" y="805839"/>
                </a:lnTo>
                <a:lnTo>
                  <a:pt x="1055177" y="772718"/>
                </a:lnTo>
                <a:lnTo>
                  <a:pt x="1082134" y="737437"/>
                </a:lnTo>
                <a:lnTo>
                  <a:pt x="1105505" y="700169"/>
                </a:lnTo>
                <a:lnTo>
                  <a:pt x="1125086" y="661088"/>
                </a:lnTo>
                <a:lnTo>
                  <a:pt x="1140672" y="620367"/>
                </a:lnTo>
                <a:lnTo>
                  <a:pt x="1152059" y="578178"/>
                </a:lnTo>
                <a:lnTo>
                  <a:pt x="1159042" y="534696"/>
                </a:lnTo>
                <a:lnTo>
                  <a:pt x="1161414" y="490092"/>
                </a:lnTo>
                <a:lnTo>
                  <a:pt x="1159042" y="445489"/>
                </a:lnTo>
                <a:lnTo>
                  <a:pt x="1152059" y="402007"/>
                </a:lnTo>
                <a:lnTo>
                  <a:pt x="1140672" y="359818"/>
                </a:lnTo>
                <a:lnTo>
                  <a:pt x="1125086" y="319097"/>
                </a:lnTo>
                <a:lnTo>
                  <a:pt x="1105505" y="280016"/>
                </a:lnTo>
                <a:lnTo>
                  <a:pt x="1082134" y="242748"/>
                </a:lnTo>
                <a:lnTo>
                  <a:pt x="1055177" y="207467"/>
                </a:lnTo>
                <a:lnTo>
                  <a:pt x="1024841" y="174346"/>
                </a:lnTo>
                <a:lnTo>
                  <a:pt x="991330" y="143557"/>
                </a:lnTo>
                <a:lnTo>
                  <a:pt x="954848" y="115274"/>
                </a:lnTo>
                <a:lnTo>
                  <a:pt x="915600" y="89671"/>
                </a:lnTo>
                <a:lnTo>
                  <a:pt x="873792" y="66919"/>
                </a:lnTo>
                <a:lnTo>
                  <a:pt x="829629" y="47193"/>
                </a:lnTo>
                <a:lnTo>
                  <a:pt x="783314" y="30665"/>
                </a:lnTo>
                <a:lnTo>
                  <a:pt x="735053" y="17508"/>
                </a:lnTo>
                <a:lnTo>
                  <a:pt x="685051" y="7897"/>
                </a:lnTo>
                <a:lnTo>
                  <a:pt x="633513" y="2003"/>
                </a:lnTo>
                <a:lnTo>
                  <a:pt x="580644"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18"/>
          <p:cNvSpPr txBox="1"/>
          <p:nvPr/>
        </p:nvSpPr>
        <p:spPr>
          <a:xfrm>
            <a:off x="2159635" y="3479038"/>
            <a:ext cx="1026160" cy="482600"/>
          </a:xfrm>
          <a:prstGeom prst="rect">
            <a:avLst/>
          </a:prstGeom>
        </p:spPr>
        <p:txBody>
          <a:bodyPr vert="horz" wrap="square" lIns="0" tIns="12700" rIns="0" bIns="0" rtlCol="0">
            <a:spAutoFit/>
          </a:bodyPr>
          <a:lstStyle/>
          <a:p>
            <a:pPr marL="12700" marR="5080" lvl="0" indent="180975" defTabSz="914400" eaLnBrk="1" fontAlgn="auto" latinLnBrk="0" hangingPunct="1">
              <a:lnSpc>
                <a:spcPct val="125000"/>
              </a:lnSpc>
              <a:spcBef>
                <a:spcPts val="10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Software </a:t>
            </a:r>
            <a:r>
              <a:rPr kumimoji="0" sz="1200" b="1" i="0" u="none" strike="noStrike" kern="0" cap="none" spc="-25" normalizeH="0" baseline="0" noProof="0">
                <a:ln>
                  <a:noFill/>
                </a:ln>
                <a:solidFill>
                  <a:srgbClr val="FFFFFF"/>
                </a:solidFill>
                <a:effectLst/>
                <a:uLnTx/>
                <a:uFillTx/>
                <a:latin typeface="Tahoma"/>
                <a:cs typeface="Tahoma"/>
              </a:rPr>
              <a:t>Development</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19" name="object 19"/>
          <p:cNvSpPr/>
          <p:nvPr/>
        </p:nvSpPr>
        <p:spPr>
          <a:xfrm>
            <a:off x="1003858" y="3264534"/>
            <a:ext cx="1161415" cy="980440"/>
          </a:xfrm>
          <a:custGeom>
            <a:avLst/>
            <a:gdLst/>
            <a:ahLst/>
            <a:cxnLst/>
            <a:rect l="l" t="t" r="r" b="b"/>
            <a:pathLst>
              <a:path w="1161414" h="980439">
                <a:moveTo>
                  <a:pt x="580720" y="0"/>
                </a:moveTo>
                <a:lnTo>
                  <a:pt x="527862" y="2003"/>
                </a:lnTo>
                <a:lnTo>
                  <a:pt x="476334" y="7897"/>
                </a:lnTo>
                <a:lnTo>
                  <a:pt x="426340" y="17508"/>
                </a:lnTo>
                <a:lnTo>
                  <a:pt x="378086" y="30665"/>
                </a:lnTo>
                <a:lnTo>
                  <a:pt x="331777" y="47193"/>
                </a:lnTo>
                <a:lnTo>
                  <a:pt x="287618" y="66919"/>
                </a:lnTo>
                <a:lnTo>
                  <a:pt x="245813" y="89671"/>
                </a:lnTo>
                <a:lnTo>
                  <a:pt x="206568" y="115274"/>
                </a:lnTo>
                <a:lnTo>
                  <a:pt x="170087" y="143557"/>
                </a:lnTo>
                <a:lnTo>
                  <a:pt x="136577" y="174346"/>
                </a:lnTo>
                <a:lnTo>
                  <a:pt x="106241" y="207467"/>
                </a:lnTo>
                <a:lnTo>
                  <a:pt x="79284" y="242748"/>
                </a:lnTo>
                <a:lnTo>
                  <a:pt x="55912" y="280016"/>
                </a:lnTo>
                <a:lnTo>
                  <a:pt x="36330" y="319097"/>
                </a:lnTo>
                <a:lnTo>
                  <a:pt x="20743" y="359818"/>
                </a:lnTo>
                <a:lnTo>
                  <a:pt x="9356" y="402007"/>
                </a:lnTo>
                <a:lnTo>
                  <a:pt x="2373" y="445489"/>
                </a:lnTo>
                <a:lnTo>
                  <a:pt x="0" y="490092"/>
                </a:lnTo>
                <a:lnTo>
                  <a:pt x="2373" y="534696"/>
                </a:lnTo>
                <a:lnTo>
                  <a:pt x="9356" y="578178"/>
                </a:lnTo>
                <a:lnTo>
                  <a:pt x="20743" y="620367"/>
                </a:lnTo>
                <a:lnTo>
                  <a:pt x="36330" y="661088"/>
                </a:lnTo>
                <a:lnTo>
                  <a:pt x="55912" y="700169"/>
                </a:lnTo>
                <a:lnTo>
                  <a:pt x="79284" y="737437"/>
                </a:lnTo>
                <a:lnTo>
                  <a:pt x="106241" y="772718"/>
                </a:lnTo>
                <a:lnTo>
                  <a:pt x="136577" y="805839"/>
                </a:lnTo>
                <a:lnTo>
                  <a:pt x="170087" y="836628"/>
                </a:lnTo>
                <a:lnTo>
                  <a:pt x="206568" y="864911"/>
                </a:lnTo>
                <a:lnTo>
                  <a:pt x="245813" y="890514"/>
                </a:lnTo>
                <a:lnTo>
                  <a:pt x="287618" y="913266"/>
                </a:lnTo>
                <a:lnTo>
                  <a:pt x="331777" y="932992"/>
                </a:lnTo>
                <a:lnTo>
                  <a:pt x="378086" y="949520"/>
                </a:lnTo>
                <a:lnTo>
                  <a:pt x="426340" y="962677"/>
                </a:lnTo>
                <a:lnTo>
                  <a:pt x="476334" y="972288"/>
                </a:lnTo>
                <a:lnTo>
                  <a:pt x="527862" y="978182"/>
                </a:lnTo>
                <a:lnTo>
                  <a:pt x="580720" y="980185"/>
                </a:lnTo>
                <a:lnTo>
                  <a:pt x="633569" y="978182"/>
                </a:lnTo>
                <a:lnTo>
                  <a:pt x="685090" y="972288"/>
                </a:lnTo>
                <a:lnTo>
                  <a:pt x="735076" y="962677"/>
                </a:lnTo>
                <a:lnTo>
                  <a:pt x="783323" y="949520"/>
                </a:lnTo>
                <a:lnTo>
                  <a:pt x="829626" y="932992"/>
                </a:lnTo>
                <a:lnTo>
                  <a:pt x="873779" y="913266"/>
                </a:lnTo>
                <a:lnTo>
                  <a:pt x="915579" y="890514"/>
                </a:lnTo>
                <a:lnTo>
                  <a:pt x="954819" y="864911"/>
                </a:lnTo>
                <a:lnTo>
                  <a:pt x="991295" y="836628"/>
                </a:lnTo>
                <a:lnTo>
                  <a:pt x="1024802" y="805839"/>
                </a:lnTo>
                <a:lnTo>
                  <a:pt x="1055134" y="772718"/>
                </a:lnTo>
                <a:lnTo>
                  <a:pt x="1082087" y="737437"/>
                </a:lnTo>
                <a:lnTo>
                  <a:pt x="1105457" y="700169"/>
                </a:lnTo>
                <a:lnTo>
                  <a:pt x="1125036" y="661088"/>
                </a:lnTo>
                <a:lnTo>
                  <a:pt x="1140622" y="620367"/>
                </a:lnTo>
                <a:lnTo>
                  <a:pt x="1152009" y="578178"/>
                </a:lnTo>
                <a:lnTo>
                  <a:pt x="1158991" y="534696"/>
                </a:lnTo>
                <a:lnTo>
                  <a:pt x="1161364" y="490092"/>
                </a:lnTo>
                <a:lnTo>
                  <a:pt x="1158991" y="445489"/>
                </a:lnTo>
                <a:lnTo>
                  <a:pt x="1152009" y="402007"/>
                </a:lnTo>
                <a:lnTo>
                  <a:pt x="1140622" y="359818"/>
                </a:lnTo>
                <a:lnTo>
                  <a:pt x="1125036" y="319097"/>
                </a:lnTo>
                <a:lnTo>
                  <a:pt x="1105457" y="280016"/>
                </a:lnTo>
                <a:lnTo>
                  <a:pt x="1082087" y="242748"/>
                </a:lnTo>
                <a:lnTo>
                  <a:pt x="1055134" y="207467"/>
                </a:lnTo>
                <a:lnTo>
                  <a:pt x="1024802" y="174346"/>
                </a:lnTo>
                <a:lnTo>
                  <a:pt x="991295" y="143557"/>
                </a:lnTo>
                <a:lnTo>
                  <a:pt x="954819" y="115274"/>
                </a:lnTo>
                <a:lnTo>
                  <a:pt x="915579" y="89671"/>
                </a:lnTo>
                <a:lnTo>
                  <a:pt x="873779" y="66919"/>
                </a:lnTo>
                <a:lnTo>
                  <a:pt x="829626" y="47193"/>
                </a:lnTo>
                <a:lnTo>
                  <a:pt x="783323" y="30665"/>
                </a:lnTo>
                <a:lnTo>
                  <a:pt x="735076" y="17508"/>
                </a:lnTo>
                <a:lnTo>
                  <a:pt x="685090" y="7897"/>
                </a:lnTo>
                <a:lnTo>
                  <a:pt x="633569" y="2003"/>
                </a:lnTo>
                <a:lnTo>
                  <a:pt x="580720" y="0"/>
                </a:lnTo>
                <a:close/>
              </a:path>
            </a:pathLst>
          </a:custGeom>
          <a:solidFill>
            <a:srgbClr val="FF0000">
              <a:alpha val="65881"/>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p:cNvSpPr txBox="1"/>
          <p:nvPr/>
        </p:nvSpPr>
        <p:spPr>
          <a:xfrm>
            <a:off x="1176934" y="3364738"/>
            <a:ext cx="816610" cy="711200"/>
          </a:xfrm>
          <a:prstGeom prst="rect">
            <a:avLst/>
          </a:prstGeom>
        </p:spPr>
        <p:txBody>
          <a:bodyPr vert="horz" wrap="square" lIns="0" tIns="12700" rIns="0" bIns="0" rtlCol="0">
            <a:spAutoFit/>
          </a:bodyPr>
          <a:lstStyle/>
          <a:p>
            <a:pPr marL="12700" marR="5080" lvl="0" indent="-1905" algn="ctr" defTabSz="914400" eaLnBrk="1" fontAlgn="auto" latinLnBrk="0" hangingPunct="1">
              <a:lnSpc>
                <a:spcPct val="125000"/>
              </a:lnSpc>
              <a:spcBef>
                <a:spcPts val="10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Managed Services </a:t>
            </a:r>
            <a:r>
              <a:rPr kumimoji="0" sz="1200" b="1" i="0" u="none" strike="noStrike" kern="0" cap="none" spc="-200" normalizeH="0" baseline="0" noProof="0">
                <a:ln>
                  <a:noFill/>
                </a:ln>
                <a:solidFill>
                  <a:srgbClr val="FFFFFF"/>
                </a:solidFill>
                <a:effectLst/>
                <a:uLnTx/>
                <a:uFillTx/>
                <a:latin typeface="Tahoma"/>
                <a:cs typeface="Tahoma"/>
              </a:rPr>
              <a:t>(IT</a:t>
            </a:r>
            <a:r>
              <a:rPr kumimoji="0" sz="1200" b="1" i="0" u="none" strike="noStrike" kern="0" cap="none" spc="-15" normalizeH="0" baseline="0" noProof="0">
                <a:ln>
                  <a:noFill/>
                </a:ln>
                <a:solidFill>
                  <a:srgbClr val="FFFFFF"/>
                </a:solidFill>
                <a:effectLst/>
                <a:uLnTx/>
                <a:uFillTx/>
                <a:latin typeface="Tahoma"/>
                <a:cs typeface="Tahoma"/>
              </a:rPr>
              <a:t> </a:t>
            </a:r>
            <a:r>
              <a:rPr kumimoji="0" sz="1200" b="1" i="0" u="none" strike="noStrike" kern="0" cap="none" spc="-130" normalizeH="0" baseline="0" noProof="0">
                <a:ln>
                  <a:noFill/>
                </a:ln>
                <a:solidFill>
                  <a:srgbClr val="FFFFFF"/>
                </a:solidFill>
                <a:effectLst/>
                <a:uLnTx/>
                <a:uFillTx/>
                <a:latin typeface="Tahoma"/>
                <a:cs typeface="Tahoma"/>
              </a:rPr>
              <a:t>&amp;</a:t>
            </a:r>
            <a:r>
              <a:rPr kumimoji="0" sz="1200" b="1" i="0" u="none" strike="noStrike" kern="0" cap="none" spc="-5" normalizeH="0" baseline="0" noProof="0">
                <a:ln>
                  <a:noFill/>
                </a:ln>
                <a:solidFill>
                  <a:srgbClr val="FFFFFF"/>
                </a:solidFill>
                <a:effectLst/>
                <a:uLnTx/>
                <a:uFillTx/>
                <a:latin typeface="Tahoma"/>
                <a:cs typeface="Tahoma"/>
              </a:rPr>
              <a:t> </a:t>
            </a:r>
            <a:r>
              <a:rPr kumimoji="0" sz="1200" b="1" i="0" u="none" strike="noStrike" kern="0" cap="none" spc="-10" normalizeH="0" baseline="0" noProof="0">
                <a:ln>
                  <a:noFill/>
                </a:ln>
                <a:solidFill>
                  <a:srgbClr val="FFFFFF"/>
                </a:solidFill>
                <a:effectLst/>
                <a:uLnTx/>
                <a:uFillTx/>
                <a:latin typeface="Tahoma"/>
                <a:cs typeface="Tahoma"/>
              </a:rPr>
              <a:t>Apps)</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pic>
        <p:nvPicPr>
          <p:cNvPr id="21" name="object 21"/>
          <p:cNvPicPr/>
          <p:nvPr/>
        </p:nvPicPr>
        <p:blipFill>
          <a:blip r:embed="rId4" cstate="print"/>
          <a:stretch>
            <a:fillRect/>
          </a:stretch>
        </p:blipFill>
        <p:spPr>
          <a:xfrm>
            <a:off x="2436987" y="1831792"/>
            <a:ext cx="4483496" cy="1150180"/>
          </a:xfrm>
          <a:prstGeom prst="rect">
            <a:avLst/>
          </a:prstGeom>
        </p:spPr>
      </p:pic>
      <p:sp>
        <p:nvSpPr>
          <p:cNvPr id="22" name="object 22"/>
          <p:cNvSpPr txBox="1"/>
          <p:nvPr/>
        </p:nvSpPr>
        <p:spPr>
          <a:xfrm>
            <a:off x="2626867" y="2240661"/>
            <a:ext cx="827405" cy="328930"/>
          </a:xfrm>
          <a:prstGeom prst="rect">
            <a:avLst/>
          </a:prstGeom>
        </p:spPr>
        <p:txBody>
          <a:bodyPr vert="horz" wrap="square" lIns="0" tIns="13335" rIns="0" bIns="0" rtlCol="0">
            <a:spAutoFit/>
          </a:bodyPr>
          <a:lstStyle/>
          <a:p>
            <a:pPr marL="0" marR="0" lvl="0" indent="0" algn="ctr" defTabSz="914400" eaLnBrk="1" fontAlgn="auto" latinLnBrk="0" hangingPunct="1">
              <a:lnSpc>
                <a:spcPts val="950"/>
              </a:lnSpc>
              <a:spcBef>
                <a:spcPts val="105"/>
              </a:spcBef>
              <a:spcAft>
                <a:spcPts val="0"/>
              </a:spcAft>
              <a:buClrTx/>
              <a:buSzTx/>
              <a:buFontTx/>
              <a:buNone/>
              <a:tabLst/>
              <a:defRPr/>
            </a:pPr>
            <a:r>
              <a:rPr kumimoji="0" sz="800" b="1" i="0" u="none" strike="noStrike" kern="0" cap="none" spc="-50" normalizeH="0" baseline="0" noProof="0">
                <a:ln>
                  <a:noFill/>
                </a:ln>
                <a:solidFill>
                  <a:srgbClr val="FFFFFF"/>
                </a:solidFill>
                <a:effectLst/>
                <a:uLnTx/>
                <a:uFillTx/>
                <a:latin typeface="Tahoma"/>
                <a:cs typeface="Tahoma"/>
              </a:rPr>
              <a:t>Total</a:t>
            </a:r>
            <a:r>
              <a:rPr kumimoji="0" sz="800" b="1" i="0" u="none" strike="noStrike" kern="0" cap="none" spc="-20" normalizeH="0" baseline="0" noProof="0">
                <a:ln>
                  <a:noFill/>
                </a:ln>
                <a:solidFill>
                  <a:srgbClr val="FFFFFF"/>
                </a:solidFill>
                <a:effectLst/>
                <a:uLnTx/>
                <a:uFillTx/>
                <a:latin typeface="Tahoma"/>
                <a:cs typeface="Tahoma"/>
              </a:rPr>
              <a:t> </a:t>
            </a:r>
            <a:r>
              <a:rPr kumimoji="0" sz="800" b="1" i="0" u="none" strike="noStrike" kern="0" cap="none" spc="-10" normalizeH="0" baseline="0" noProof="0">
                <a:ln>
                  <a:noFill/>
                </a:ln>
                <a:solidFill>
                  <a:srgbClr val="FFFFFF"/>
                </a:solidFill>
                <a:effectLst/>
                <a:uLnTx/>
                <a:uFillTx/>
                <a:latin typeface="Tahoma"/>
                <a:cs typeface="Tahoma"/>
              </a:rPr>
              <a:t>headcount</a:t>
            </a:r>
            <a:endParaRPr kumimoji="0" sz="8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ts val="1430"/>
              </a:lnSpc>
              <a:spcBef>
                <a:spcPts val="0"/>
              </a:spcBef>
              <a:spcAft>
                <a:spcPts val="0"/>
              </a:spcAft>
              <a:buClrTx/>
              <a:buSzTx/>
              <a:buFontTx/>
              <a:buNone/>
              <a:tabLst/>
              <a:defRPr/>
            </a:pPr>
            <a:r>
              <a:rPr kumimoji="0" sz="1200" b="1" i="0" u="none" strike="noStrike" kern="0" cap="none" spc="-280" normalizeH="0" baseline="0" noProof="0">
                <a:ln>
                  <a:noFill/>
                </a:ln>
                <a:solidFill>
                  <a:srgbClr val="FFFFFF"/>
                </a:solidFill>
                <a:effectLst/>
                <a:uLnTx/>
                <a:uFillTx/>
                <a:latin typeface="Tahoma"/>
                <a:cs typeface="Tahoma"/>
              </a:rPr>
              <a:t>&gt;</a:t>
            </a:r>
            <a:r>
              <a:rPr kumimoji="0" sz="1200" b="1" i="0" u="none" strike="noStrike" kern="0" cap="none" spc="-5" normalizeH="0" baseline="0" noProof="0">
                <a:ln>
                  <a:noFill/>
                </a:ln>
                <a:solidFill>
                  <a:srgbClr val="FFFFFF"/>
                </a:solidFill>
                <a:effectLst/>
                <a:uLnTx/>
                <a:uFillTx/>
                <a:latin typeface="Tahoma"/>
                <a:cs typeface="Tahoma"/>
              </a:rPr>
              <a:t> </a:t>
            </a:r>
            <a:r>
              <a:rPr kumimoji="0" sz="1200" b="1" i="0" u="none" strike="noStrike" kern="0" cap="none" spc="-25" normalizeH="0" baseline="0" noProof="0">
                <a:ln>
                  <a:noFill/>
                </a:ln>
                <a:solidFill>
                  <a:srgbClr val="FFFFFF"/>
                </a:solidFill>
                <a:effectLst/>
                <a:uLnTx/>
                <a:uFillTx/>
                <a:latin typeface="Tahoma"/>
                <a:cs typeface="Tahoma"/>
              </a:rPr>
              <a:t>100</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23" name="object 23"/>
          <p:cNvSpPr txBox="1"/>
          <p:nvPr/>
        </p:nvSpPr>
        <p:spPr>
          <a:xfrm>
            <a:off x="3885946" y="2240661"/>
            <a:ext cx="528320" cy="328930"/>
          </a:xfrm>
          <a:prstGeom prst="rect">
            <a:avLst/>
          </a:prstGeom>
        </p:spPr>
        <p:txBody>
          <a:bodyPr vert="horz" wrap="square" lIns="0" tIns="13335" rIns="0" bIns="0" rtlCol="0">
            <a:spAutoFit/>
          </a:bodyPr>
          <a:lstStyle/>
          <a:p>
            <a:pPr marL="13970" marR="0" lvl="0" indent="0" defTabSz="914400" eaLnBrk="1" fontAlgn="auto" latinLnBrk="0" hangingPunct="1">
              <a:lnSpc>
                <a:spcPts val="950"/>
              </a:lnSpc>
              <a:spcBef>
                <a:spcPts val="10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Tahoma"/>
                <a:cs typeface="Tahoma"/>
              </a:rPr>
              <a:t>Language</a:t>
            </a:r>
            <a:endParaRPr kumimoji="0" sz="800" b="0" i="0" u="none" strike="noStrike" kern="0" cap="none" spc="0" normalizeH="0" baseline="0" noProof="0">
              <a:ln>
                <a:noFill/>
              </a:ln>
              <a:solidFill>
                <a:sysClr val="windowText" lastClr="000000"/>
              </a:solidFill>
              <a:effectLst/>
              <a:uLnTx/>
              <a:uFillTx/>
              <a:latin typeface="Tahoma"/>
              <a:cs typeface="Tahoma"/>
            </a:endParaRPr>
          </a:p>
          <a:p>
            <a:pPr marL="12700" marR="0" lvl="0" indent="0" defTabSz="914400" eaLnBrk="1" fontAlgn="auto" latinLnBrk="0" hangingPunct="1">
              <a:lnSpc>
                <a:spcPts val="1430"/>
              </a:lnSpc>
              <a:spcBef>
                <a:spcPts val="0"/>
              </a:spcBef>
              <a:spcAft>
                <a:spcPts val="0"/>
              </a:spcAft>
              <a:buClrTx/>
              <a:buSzTx/>
              <a:buFontTx/>
              <a:buNone/>
              <a:tabLst/>
              <a:defRPr/>
            </a:pPr>
            <a:r>
              <a:rPr kumimoji="0" sz="1200" b="1" i="0" u="none" strike="noStrike" kern="0" cap="none" spc="-55" normalizeH="0" baseline="0" noProof="0">
                <a:ln>
                  <a:noFill/>
                </a:ln>
                <a:solidFill>
                  <a:srgbClr val="FFFFFF"/>
                </a:solidFill>
                <a:effectLst/>
                <a:uLnTx/>
                <a:uFillTx/>
                <a:latin typeface="Tahoma"/>
                <a:cs typeface="Tahoma"/>
              </a:rPr>
              <a:t>English</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24" name="object 24"/>
          <p:cNvSpPr txBox="1"/>
          <p:nvPr/>
        </p:nvSpPr>
        <p:spPr>
          <a:xfrm>
            <a:off x="4871465" y="2240661"/>
            <a:ext cx="774700" cy="328930"/>
          </a:xfrm>
          <a:prstGeom prst="rect">
            <a:avLst/>
          </a:prstGeom>
        </p:spPr>
        <p:txBody>
          <a:bodyPr vert="horz" wrap="square" lIns="0" tIns="13335" rIns="0" bIns="0" rtlCol="0">
            <a:spAutoFit/>
          </a:bodyPr>
          <a:lstStyle/>
          <a:p>
            <a:pPr marL="0" marR="0" lvl="0" indent="0" algn="ctr" defTabSz="914400" eaLnBrk="1" fontAlgn="auto" latinLnBrk="0" hangingPunct="1">
              <a:lnSpc>
                <a:spcPts val="950"/>
              </a:lnSpc>
              <a:spcBef>
                <a:spcPts val="105"/>
              </a:spcBef>
              <a:spcAft>
                <a:spcPts val="0"/>
              </a:spcAft>
              <a:buClrTx/>
              <a:buSzTx/>
              <a:buFontTx/>
              <a:buNone/>
              <a:tabLst/>
              <a:defRPr/>
            </a:pPr>
            <a:r>
              <a:rPr kumimoji="0" sz="800" b="1" i="0" u="none" strike="noStrike" kern="0" cap="none" spc="-20" normalizeH="0" baseline="0" noProof="0">
                <a:ln>
                  <a:noFill/>
                </a:ln>
                <a:solidFill>
                  <a:srgbClr val="FFFFFF"/>
                </a:solidFill>
                <a:effectLst/>
                <a:uLnTx/>
                <a:uFillTx/>
                <a:latin typeface="Tahoma"/>
                <a:cs typeface="Tahoma"/>
              </a:rPr>
              <a:t>Revenue</a:t>
            </a:r>
            <a:r>
              <a:rPr kumimoji="0" sz="800" b="1" i="0" u="none" strike="noStrike" kern="0" cap="none" spc="-30" normalizeH="0" baseline="0" noProof="0">
                <a:ln>
                  <a:noFill/>
                </a:ln>
                <a:solidFill>
                  <a:srgbClr val="FFFFFF"/>
                </a:solidFill>
                <a:effectLst/>
                <a:uLnTx/>
                <a:uFillTx/>
                <a:latin typeface="Tahoma"/>
                <a:cs typeface="Tahoma"/>
              </a:rPr>
              <a:t> </a:t>
            </a:r>
            <a:r>
              <a:rPr kumimoji="0" sz="800" b="1" i="0" u="none" strike="noStrike" kern="0" cap="none" spc="-40" normalizeH="0" baseline="0" noProof="0">
                <a:ln>
                  <a:noFill/>
                </a:ln>
                <a:solidFill>
                  <a:srgbClr val="FFFFFF"/>
                </a:solidFill>
                <a:effectLst/>
                <a:uLnTx/>
                <a:uFillTx/>
                <a:latin typeface="Tahoma"/>
                <a:cs typeface="Tahoma"/>
              </a:rPr>
              <a:t>in</a:t>
            </a:r>
            <a:r>
              <a:rPr kumimoji="0" sz="800" b="1" i="0" u="none" strike="noStrike" kern="0" cap="none" spc="0" normalizeH="0" baseline="0" noProof="0">
                <a:ln>
                  <a:noFill/>
                </a:ln>
                <a:solidFill>
                  <a:srgbClr val="FFFFFF"/>
                </a:solidFill>
                <a:effectLst/>
                <a:uLnTx/>
                <a:uFillTx/>
                <a:latin typeface="Tahoma"/>
                <a:cs typeface="Tahoma"/>
              </a:rPr>
              <a:t> </a:t>
            </a:r>
            <a:r>
              <a:rPr kumimoji="0" sz="800" b="1" i="0" u="none" strike="noStrike" kern="0" cap="none" spc="-25" normalizeH="0" baseline="0" noProof="0">
                <a:ln>
                  <a:noFill/>
                </a:ln>
                <a:solidFill>
                  <a:srgbClr val="FFFFFF"/>
                </a:solidFill>
                <a:effectLst/>
                <a:uLnTx/>
                <a:uFillTx/>
                <a:latin typeface="Tahoma"/>
                <a:cs typeface="Tahoma"/>
              </a:rPr>
              <a:t>US$</a:t>
            </a:r>
            <a:endParaRPr kumimoji="0" sz="8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ts val="1430"/>
              </a:lnSpc>
              <a:spcBef>
                <a:spcPts val="0"/>
              </a:spcBef>
              <a:spcAft>
                <a:spcPts val="0"/>
              </a:spcAft>
              <a:buClrTx/>
              <a:buSzTx/>
              <a:buFontTx/>
              <a:buNone/>
              <a:tabLst/>
              <a:defRPr/>
            </a:pPr>
            <a:r>
              <a:rPr kumimoji="0" sz="1200" b="1" i="0" u="none" strike="noStrike" kern="0" cap="none" spc="-10" normalizeH="0" baseline="0" noProof="0">
                <a:ln>
                  <a:noFill/>
                </a:ln>
                <a:solidFill>
                  <a:srgbClr val="FFFFFF"/>
                </a:solidFill>
                <a:effectLst/>
                <a:uLnTx/>
                <a:uFillTx/>
                <a:latin typeface="Tahoma"/>
                <a:cs typeface="Tahoma"/>
              </a:rPr>
              <a:t>$41.2Mn</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25" name="object 25"/>
          <p:cNvSpPr txBox="1"/>
          <p:nvPr/>
        </p:nvSpPr>
        <p:spPr>
          <a:xfrm>
            <a:off x="5985128" y="2240661"/>
            <a:ext cx="766445" cy="328930"/>
          </a:xfrm>
          <a:prstGeom prst="rect">
            <a:avLst/>
          </a:prstGeom>
        </p:spPr>
        <p:txBody>
          <a:bodyPr vert="horz" wrap="square" lIns="0" tIns="13335" rIns="0" bIns="0" rtlCol="0">
            <a:spAutoFit/>
          </a:bodyPr>
          <a:lstStyle/>
          <a:p>
            <a:pPr marL="0" marR="0" lvl="0" indent="0" algn="ctr" defTabSz="914400" eaLnBrk="1" fontAlgn="auto" latinLnBrk="0" hangingPunct="1">
              <a:lnSpc>
                <a:spcPts val="950"/>
              </a:lnSpc>
              <a:spcBef>
                <a:spcPts val="105"/>
              </a:spcBef>
              <a:spcAft>
                <a:spcPts val="0"/>
              </a:spcAft>
              <a:buClrTx/>
              <a:buSzTx/>
              <a:buFontTx/>
              <a:buNone/>
              <a:tabLst/>
              <a:defRPr/>
            </a:pPr>
            <a:r>
              <a:rPr kumimoji="0" sz="800" b="1" i="0" u="none" strike="noStrike" kern="0" cap="none" spc="0" normalizeH="0" baseline="0" noProof="0">
                <a:ln>
                  <a:noFill/>
                </a:ln>
                <a:solidFill>
                  <a:srgbClr val="FFFFFF"/>
                </a:solidFill>
                <a:effectLst/>
                <a:uLnTx/>
                <a:uFillTx/>
                <a:latin typeface="Tahoma"/>
                <a:cs typeface="Tahoma"/>
              </a:rPr>
              <a:t>No</a:t>
            </a:r>
            <a:r>
              <a:rPr kumimoji="0" sz="800" b="1" i="0" u="none" strike="noStrike" kern="0" cap="none" spc="-55" normalizeH="0" baseline="0" noProof="0">
                <a:ln>
                  <a:noFill/>
                </a:ln>
                <a:solidFill>
                  <a:srgbClr val="FFFFFF"/>
                </a:solidFill>
                <a:effectLst/>
                <a:uLnTx/>
                <a:uFillTx/>
                <a:latin typeface="Tahoma"/>
                <a:cs typeface="Tahoma"/>
              </a:rPr>
              <a:t> </a:t>
            </a:r>
            <a:r>
              <a:rPr kumimoji="0" sz="800" b="1" i="0" u="none" strike="noStrike" kern="0" cap="none" spc="-10" normalizeH="0" baseline="0" noProof="0">
                <a:ln>
                  <a:noFill/>
                </a:ln>
                <a:solidFill>
                  <a:srgbClr val="FFFFFF"/>
                </a:solidFill>
                <a:effectLst/>
                <a:uLnTx/>
                <a:uFillTx/>
                <a:latin typeface="Tahoma"/>
                <a:cs typeface="Tahoma"/>
              </a:rPr>
              <a:t>of</a:t>
            </a:r>
            <a:r>
              <a:rPr kumimoji="0" sz="800" b="1" i="0" u="none" strike="noStrike" kern="0" cap="none" spc="-35" normalizeH="0" baseline="0" noProof="0">
                <a:ln>
                  <a:noFill/>
                </a:ln>
                <a:solidFill>
                  <a:srgbClr val="FFFFFF"/>
                </a:solidFill>
                <a:effectLst/>
                <a:uLnTx/>
                <a:uFillTx/>
                <a:latin typeface="Tahoma"/>
                <a:cs typeface="Tahoma"/>
              </a:rPr>
              <a:t> </a:t>
            </a:r>
            <a:r>
              <a:rPr kumimoji="0" sz="800" b="1" i="0" u="none" strike="noStrike" kern="0" cap="none" spc="-10" normalizeH="0" baseline="0" noProof="0">
                <a:ln>
                  <a:noFill/>
                </a:ln>
                <a:solidFill>
                  <a:srgbClr val="FFFFFF"/>
                </a:solidFill>
                <a:effectLst/>
                <a:uLnTx/>
                <a:uFillTx/>
                <a:latin typeface="Tahoma"/>
                <a:cs typeface="Tahoma"/>
              </a:rPr>
              <a:t>countries</a:t>
            </a:r>
            <a:endParaRPr kumimoji="0" sz="800" b="0" i="0" u="none" strike="noStrike" kern="0" cap="none" spc="0" normalizeH="0" baseline="0" noProof="0">
              <a:ln>
                <a:noFill/>
              </a:ln>
              <a:solidFill>
                <a:sysClr val="windowText" lastClr="000000"/>
              </a:solidFill>
              <a:effectLst/>
              <a:uLnTx/>
              <a:uFillTx/>
              <a:latin typeface="Tahoma"/>
              <a:cs typeface="Tahoma"/>
            </a:endParaRPr>
          </a:p>
          <a:p>
            <a:pPr marL="0" marR="0" lvl="0" indent="0" algn="ctr" defTabSz="914400" eaLnBrk="1" fontAlgn="auto" latinLnBrk="0" hangingPunct="1">
              <a:lnSpc>
                <a:spcPts val="1430"/>
              </a:lnSpc>
              <a:spcBef>
                <a:spcPts val="0"/>
              </a:spcBef>
              <a:spcAft>
                <a:spcPts val="0"/>
              </a:spcAft>
              <a:buClrTx/>
              <a:buSzTx/>
              <a:buFontTx/>
              <a:buNone/>
              <a:tabLst/>
              <a:defRPr/>
            </a:pPr>
            <a:r>
              <a:rPr kumimoji="0" sz="1200" b="1" i="0" u="none" strike="noStrike" kern="0" cap="none" spc="-280" normalizeH="0" baseline="0" noProof="0">
                <a:ln>
                  <a:noFill/>
                </a:ln>
                <a:solidFill>
                  <a:srgbClr val="FFFFFF"/>
                </a:solidFill>
                <a:effectLst/>
                <a:uLnTx/>
                <a:uFillTx/>
                <a:latin typeface="Tahoma"/>
                <a:cs typeface="Tahoma"/>
              </a:rPr>
              <a:t>&gt;</a:t>
            </a:r>
            <a:r>
              <a:rPr kumimoji="0" sz="1200" b="1" i="0" u="none" strike="noStrike" kern="0" cap="none" spc="-5" normalizeH="0" baseline="0" noProof="0">
                <a:ln>
                  <a:noFill/>
                </a:ln>
                <a:solidFill>
                  <a:srgbClr val="FFFFFF"/>
                </a:solidFill>
                <a:effectLst/>
                <a:uLnTx/>
                <a:uFillTx/>
                <a:latin typeface="Tahoma"/>
                <a:cs typeface="Tahoma"/>
              </a:rPr>
              <a:t> </a:t>
            </a:r>
            <a:r>
              <a:rPr kumimoji="0" sz="1200" b="1" i="0" u="none" strike="noStrike" kern="0" cap="none" spc="-25" normalizeH="0" baseline="0" noProof="0">
                <a:ln>
                  <a:noFill/>
                </a:ln>
                <a:solidFill>
                  <a:srgbClr val="FFFFFF"/>
                </a:solidFill>
                <a:effectLst/>
                <a:uLnTx/>
                <a:uFillTx/>
                <a:latin typeface="Tahoma"/>
                <a:cs typeface="Tahoma"/>
              </a:rPr>
              <a:t>18</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26" name="object 26"/>
          <p:cNvSpPr txBox="1"/>
          <p:nvPr/>
        </p:nvSpPr>
        <p:spPr>
          <a:xfrm>
            <a:off x="3509264" y="3034664"/>
            <a:ext cx="263334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90" normalizeH="0" baseline="0" noProof="0">
                <a:ln>
                  <a:noFill/>
                </a:ln>
                <a:solidFill>
                  <a:sysClr val="windowText" lastClr="000000"/>
                </a:solidFill>
                <a:effectLst/>
                <a:uLnTx/>
                <a:uFillTx/>
                <a:latin typeface="Tahoma"/>
                <a:cs typeface="Tahoma"/>
              </a:rPr>
              <a:t>WORLD-</a:t>
            </a:r>
            <a:r>
              <a:rPr kumimoji="0" sz="1100" b="1" i="0" u="none" strike="noStrike" kern="0" cap="none" spc="-45" normalizeH="0" baseline="0" noProof="0">
                <a:ln>
                  <a:noFill/>
                </a:ln>
                <a:solidFill>
                  <a:sysClr val="windowText" lastClr="000000"/>
                </a:solidFill>
                <a:effectLst/>
                <a:uLnTx/>
                <a:uFillTx/>
                <a:latin typeface="Tahoma"/>
                <a:cs typeface="Tahoma"/>
              </a:rPr>
              <a:t>CLASS</a:t>
            </a:r>
            <a:r>
              <a:rPr kumimoji="0" sz="1100" b="1" i="0" u="none" strike="noStrike" kern="0" cap="none" spc="-10" normalizeH="0" baseline="0" noProof="0">
                <a:ln>
                  <a:noFill/>
                </a:ln>
                <a:solidFill>
                  <a:sysClr val="windowText" lastClr="000000"/>
                </a:solidFill>
                <a:effectLst/>
                <a:uLnTx/>
                <a:uFillTx/>
                <a:latin typeface="Tahoma"/>
                <a:cs typeface="Tahoma"/>
              </a:rPr>
              <a:t> </a:t>
            </a:r>
            <a:r>
              <a:rPr kumimoji="0" sz="1100" b="1" i="0" u="none" strike="noStrike" kern="0" cap="none" spc="-90" normalizeH="0" baseline="0" noProof="0">
                <a:ln>
                  <a:noFill/>
                </a:ln>
                <a:solidFill>
                  <a:sysClr val="windowText" lastClr="000000"/>
                </a:solidFill>
                <a:effectLst/>
                <a:uLnTx/>
                <a:uFillTx/>
                <a:latin typeface="Tahoma"/>
                <a:cs typeface="Tahoma"/>
              </a:rPr>
              <a:t>CAPABILITY</a:t>
            </a:r>
            <a:r>
              <a:rPr kumimoji="0" sz="1100" b="1" i="0" u="none" strike="noStrike" kern="0" cap="none" spc="-15" normalizeH="0" baseline="0" noProof="0">
                <a:ln>
                  <a:noFill/>
                </a:ln>
                <a:solidFill>
                  <a:sysClr val="windowText" lastClr="000000"/>
                </a:solidFill>
                <a:effectLst/>
                <a:uLnTx/>
                <a:uFillTx/>
                <a:latin typeface="Tahoma"/>
                <a:cs typeface="Tahoma"/>
              </a:rPr>
              <a:t> </a:t>
            </a:r>
            <a:r>
              <a:rPr kumimoji="0" sz="1100" b="1" i="0" u="none" strike="noStrike" kern="0" cap="none" spc="0" normalizeH="0" baseline="0" noProof="0">
                <a:ln>
                  <a:noFill/>
                </a:ln>
                <a:solidFill>
                  <a:sysClr val="windowText" lastClr="000000"/>
                </a:solidFill>
                <a:effectLst/>
                <a:uLnTx/>
                <a:uFillTx/>
                <a:latin typeface="Tahoma"/>
                <a:cs typeface="Tahoma"/>
              </a:rPr>
              <a:t>AND</a:t>
            </a:r>
            <a:r>
              <a:rPr kumimoji="0" sz="1100" b="1" i="0" u="none" strike="noStrike" kern="0" cap="none" spc="-10" normalizeH="0" baseline="0" noProof="0">
                <a:ln>
                  <a:noFill/>
                </a:ln>
                <a:solidFill>
                  <a:sysClr val="windowText" lastClr="000000"/>
                </a:solidFill>
                <a:effectLst/>
                <a:uLnTx/>
                <a:uFillTx/>
                <a:latin typeface="Tahoma"/>
                <a:cs typeface="Tahoma"/>
              </a:rPr>
              <a:t> </a:t>
            </a:r>
            <a:r>
              <a:rPr kumimoji="0" sz="1100" b="1" i="0" u="none" strike="noStrike" kern="0" cap="none" spc="-80" normalizeH="0" baseline="0" noProof="0">
                <a:ln>
                  <a:noFill/>
                </a:ln>
                <a:solidFill>
                  <a:sysClr val="windowText" lastClr="000000"/>
                </a:solidFill>
                <a:effectLst/>
                <a:uLnTx/>
                <a:uFillTx/>
                <a:latin typeface="Tahoma"/>
                <a:cs typeface="Tahoma"/>
              </a:rPr>
              <a:t>TALENT</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grpSp>
        <p:nvGrpSpPr>
          <p:cNvPr id="27" name="object 27"/>
          <p:cNvGrpSpPr/>
          <p:nvPr/>
        </p:nvGrpSpPr>
        <p:grpSpPr>
          <a:xfrm>
            <a:off x="563041" y="4168647"/>
            <a:ext cx="8289925" cy="1015365"/>
            <a:chOff x="563041" y="4168647"/>
            <a:chExt cx="8289925" cy="1015365"/>
          </a:xfrm>
        </p:grpSpPr>
        <p:sp>
          <p:nvSpPr>
            <p:cNvPr id="28" name="object 28"/>
            <p:cNvSpPr/>
            <p:nvPr/>
          </p:nvSpPr>
          <p:spPr>
            <a:xfrm>
              <a:off x="1560957" y="4168647"/>
              <a:ext cx="6562725" cy="1015365"/>
            </a:xfrm>
            <a:custGeom>
              <a:avLst/>
              <a:gdLst/>
              <a:ahLst/>
              <a:cxnLst/>
              <a:rect l="l" t="t" r="r" b="b"/>
              <a:pathLst>
                <a:path w="6562725" h="1015364">
                  <a:moveTo>
                    <a:pt x="76200" y="939038"/>
                  </a:moveTo>
                  <a:lnTo>
                    <a:pt x="42926" y="939038"/>
                  </a:lnTo>
                  <a:lnTo>
                    <a:pt x="42926" y="0"/>
                  </a:lnTo>
                  <a:lnTo>
                    <a:pt x="33401" y="0"/>
                  </a:lnTo>
                  <a:lnTo>
                    <a:pt x="33401" y="939038"/>
                  </a:lnTo>
                  <a:lnTo>
                    <a:pt x="0" y="939038"/>
                  </a:lnTo>
                  <a:lnTo>
                    <a:pt x="38227" y="1015238"/>
                  </a:lnTo>
                  <a:lnTo>
                    <a:pt x="69862" y="951738"/>
                  </a:lnTo>
                  <a:lnTo>
                    <a:pt x="76200" y="939038"/>
                  </a:lnTo>
                  <a:close/>
                </a:path>
                <a:path w="6562725" h="1015364">
                  <a:moveTo>
                    <a:pt x="1073404" y="939038"/>
                  </a:moveTo>
                  <a:lnTo>
                    <a:pt x="1040130" y="939038"/>
                  </a:lnTo>
                  <a:lnTo>
                    <a:pt x="1040130" y="0"/>
                  </a:lnTo>
                  <a:lnTo>
                    <a:pt x="1030605" y="0"/>
                  </a:lnTo>
                  <a:lnTo>
                    <a:pt x="1030605" y="939038"/>
                  </a:lnTo>
                  <a:lnTo>
                    <a:pt x="997204" y="939038"/>
                  </a:lnTo>
                  <a:lnTo>
                    <a:pt x="1035304" y="1015238"/>
                  </a:lnTo>
                  <a:lnTo>
                    <a:pt x="1067054" y="951738"/>
                  </a:lnTo>
                  <a:lnTo>
                    <a:pt x="1073404" y="939038"/>
                  </a:lnTo>
                  <a:close/>
                </a:path>
                <a:path w="6562725" h="1015364">
                  <a:moveTo>
                    <a:pt x="2005330" y="939038"/>
                  </a:moveTo>
                  <a:lnTo>
                    <a:pt x="1971929" y="939038"/>
                  </a:lnTo>
                  <a:lnTo>
                    <a:pt x="1971929" y="0"/>
                  </a:lnTo>
                  <a:lnTo>
                    <a:pt x="1962404" y="0"/>
                  </a:lnTo>
                  <a:lnTo>
                    <a:pt x="1962404" y="939038"/>
                  </a:lnTo>
                  <a:lnTo>
                    <a:pt x="1929130" y="939038"/>
                  </a:lnTo>
                  <a:lnTo>
                    <a:pt x="1967230" y="1015238"/>
                  </a:lnTo>
                  <a:lnTo>
                    <a:pt x="1998980" y="951738"/>
                  </a:lnTo>
                  <a:lnTo>
                    <a:pt x="2005330" y="939038"/>
                  </a:lnTo>
                  <a:close/>
                </a:path>
                <a:path w="6562725" h="1015364">
                  <a:moveTo>
                    <a:pt x="2643251" y="939038"/>
                  </a:moveTo>
                  <a:lnTo>
                    <a:pt x="2609850" y="939038"/>
                  </a:lnTo>
                  <a:lnTo>
                    <a:pt x="2609850" y="0"/>
                  </a:lnTo>
                  <a:lnTo>
                    <a:pt x="2600325" y="0"/>
                  </a:lnTo>
                  <a:lnTo>
                    <a:pt x="2600325" y="939038"/>
                  </a:lnTo>
                  <a:lnTo>
                    <a:pt x="2567051" y="939038"/>
                  </a:lnTo>
                  <a:lnTo>
                    <a:pt x="2605151" y="1015238"/>
                  </a:lnTo>
                  <a:lnTo>
                    <a:pt x="2636901" y="951738"/>
                  </a:lnTo>
                  <a:lnTo>
                    <a:pt x="2643251" y="939038"/>
                  </a:lnTo>
                  <a:close/>
                </a:path>
                <a:path w="6562725" h="1015364">
                  <a:moveTo>
                    <a:pt x="3281172" y="939038"/>
                  </a:moveTo>
                  <a:lnTo>
                    <a:pt x="3247771" y="939038"/>
                  </a:lnTo>
                  <a:lnTo>
                    <a:pt x="3247771" y="0"/>
                  </a:lnTo>
                  <a:lnTo>
                    <a:pt x="3238246" y="0"/>
                  </a:lnTo>
                  <a:lnTo>
                    <a:pt x="3238246" y="939038"/>
                  </a:lnTo>
                  <a:lnTo>
                    <a:pt x="3204972" y="939038"/>
                  </a:lnTo>
                  <a:lnTo>
                    <a:pt x="3243072" y="1015238"/>
                  </a:lnTo>
                  <a:lnTo>
                    <a:pt x="3274822" y="951738"/>
                  </a:lnTo>
                  <a:lnTo>
                    <a:pt x="3281172" y="939038"/>
                  </a:lnTo>
                  <a:close/>
                </a:path>
                <a:path w="6562725" h="1015364">
                  <a:moveTo>
                    <a:pt x="3919093" y="939038"/>
                  </a:moveTo>
                  <a:lnTo>
                    <a:pt x="3885692" y="939038"/>
                  </a:lnTo>
                  <a:lnTo>
                    <a:pt x="3885692" y="0"/>
                  </a:lnTo>
                  <a:lnTo>
                    <a:pt x="3876167" y="0"/>
                  </a:lnTo>
                  <a:lnTo>
                    <a:pt x="3876167" y="939038"/>
                  </a:lnTo>
                  <a:lnTo>
                    <a:pt x="3842893" y="939038"/>
                  </a:lnTo>
                  <a:lnTo>
                    <a:pt x="3880993" y="1015238"/>
                  </a:lnTo>
                  <a:lnTo>
                    <a:pt x="3912743" y="951738"/>
                  </a:lnTo>
                  <a:lnTo>
                    <a:pt x="3919093" y="939038"/>
                  </a:lnTo>
                  <a:close/>
                </a:path>
                <a:path w="6562725" h="1015364">
                  <a:moveTo>
                    <a:pt x="4557014" y="939038"/>
                  </a:moveTo>
                  <a:lnTo>
                    <a:pt x="4523740" y="939038"/>
                  </a:lnTo>
                  <a:lnTo>
                    <a:pt x="4523740" y="0"/>
                  </a:lnTo>
                  <a:lnTo>
                    <a:pt x="4514215" y="0"/>
                  </a:lnTo>
                  <a:lnTo>
                    <a:pt x="4514215" y="939038"/>
                  </a:lnTo>
                  <a:lnTo>
                    <a:pt x="4480814" y="939038"/>
                  </a:lnTo>
                  <a:lnTo>
                    <a:pt x="4518914" y="1015238"/>
                  </a:lnTo>
                  <a:lnTo>
                    <a:pt x="4550664" y="951738"/>
                  </a:lnTo>
                  <a:lnTo>
                    <a:pt x="4557014" y="939038"/>
                  </a:lnTo>
                  <a:close/>
                </a:path>
                <a:path w="6562725" h="1015364">
                  <a:moveTo>
                    <a:pt x="5532374" y="939038"/>
                  </a:moveTo>
                  <a:lnTo>
                    <a:pt x="5499100" y="939038"/>
                  </a:lnTo>
                  <a:lnTo>
                    <a:pt x="5499100" y="0"/>
                  </a:lnTo>
                  <a:lnTo>
                    <a:pt x="5489575" y="0"/>
                  </a:lnTo>
                  <a:lnTo>
                    <a:pt x="5489575" y="939038"/>
                  </a:lnTo>
                  <a:lnTo>
                    <a:pt x="5456174" y="939038"/>
                  </a:lnTo>
                  <a:lnTo>
                    <a:pt x="5494274" y="1015238"/>
                  </a:lnTo>
                  <a:lnTo>
                    <a:pt x="5526024" y="951738"/>
                  </a:lnTo>
                  <a:lnTo>
                    <a:pt x="5532374" y="939038"/>
                  </a:lnTo>
                  <a:close/>
                </a:path>
                <a:path w="6562725" h="1015364">
                  <a:moveTo>
                    <a:pt x="6562217" y="939038"/>
                  </a:moveTo>
                  <a:lnTo>
                    <a:pt x="6528943" y="939038"/>
                  </a:lnTo>
                  <a:lnTo>
                    <a:pt x="6528943" y="0"/>
                  </a:lnTo>
                  <a:lnTo>
                    <a:pt x="6519418" y="0"/>
                  </a:lnTo>
                  <a:lnTo>
                    <a:pt x="6519418" y="939038"/>
                  </a:lnTo>
                  <a:lnTo>
                    <a:pt x="6486017" y="939038"/>
                  </a:lnTo>
                  <a:lnTo>
                    <a:pt x="6524117" y="1015238"/>
                  </a:lnTo>
                  <a:lnTo>
                    <a:pt x="6555867" y="951738"/>
                  </a:lnTo>
                  <a:lnTo>
                    <a:pt x="6562217" y="93903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p:nvPr/>
          </p:nvSpPr>
          <p:spPr>
            <a:xfrm>
              <a:off x="563041" y="4291329"/>
              <a:ext cx="8289925" cy="76200"/>
            </a:xfrm>
            <a:custGeom>
              <a:avLst/>
              <a:gdLst/>
              <a:ahLst/>
              <a:cxnLst/>
              <a:rect l="l" t="t" r="r" b="b"/>
              <a:pathLst>
                <a:path w="8289925" h="76200">
                  <a:moveTo>
                    <a:pt x="76200" y="0"/>
                  </a:moveTo>
                  <a:lnTo>
                    <a:pt x="0" y="38100"/>
                  </a:lnTo>
                  <a:lnTo>
                    <a:pt x="76200" y="76200"/>
                  </a:lnTo>
                  <a:lnTo>
                    <a:pt x="76200" y="42799"/>
                  </a:lnTo>
                  <a:lnTo>
                    <a:pt x="63512" y="42799"/>
                  </a:lnTo>
                  <a:lnTo>
                    <a:pt x="63512" y="33274"/>
                  </a:lnTo>
                  <a:lnTo>
                    <a:pt x="76200" y="33274"/>
                  </a:lnTo>
                  <a:lnTo>
                    <a:pt x="76200" y="0"/>
                  </a:lnTo>
                  <a:close/>
                </a:path>
                <a:path w="8289925" h="76200">
                  <a:moveTo>
                    <a:pt x="8213674" y="0"/>
                  </a:moveTo>
                  <a:lnTo>
                    <a:pt x="8213674" y="76200"/>
                  </a:lnTo>
                  <a:lnTo>
                    <a:pt x="8280476" y="42799"/>
                  </a:lnTo>
                  <a:lnTo>
                    <a:pt x="8226374" y="42799"/>
                  </a:lnTo>
                  <a:lnTo>
                    <a:pt x="8226374" y="33274"/>
                  </a:lnTo>
                  <a:lnTo>
                    <a:pt x="8280222" y="33274"/>
                  </a:lnTo>
                  <a:lnTo>
                    <a:pt x="8213674" y="0"/>
                  </a:lnTo>
                  <a:close/>
                </a:path>
                <a:path w="8289925" h="76200">
                  <a:moveTo>
                    <a:pt x="76200" y="33274"/>
                  </a:moveTo>
                  <a:lnTo>
                    <a:pt x="63512" y="33274"/>
                  </a:lnTo>
                  <a:lnTo>
                    <a:pt x="63512" y="42799"/>
                  </a:lnTo>
                  <a:lnTo>
                    <a:pt x="76200" y="42799"/>
                  </a:lnTo>
                  <a:lnTo>
                    <a:pt x="76200" y="33274"/>
                  </a:lnTo>
                  <a:close/>
                </a:path>
                <a:path w="8289925" h="76200">
                  <a:moveTo>
                    <a:pt x="8213674" y="33274"/>
                  </a:moveTo>
                  <a:lnTo>
                    <a:pt x="76200" y="33274"/>
                  </a:lnTo>
                  <a:lnTo>
                    <a:pt x="76200" y="42799"/>
                  </a:lnTo>
                  <a:lnTo>
                    <a:pt x="8213674" y="42799"/>
                  </a:lnTo>
                  <a:lnTo>
                    <a:pt x="8213674" y="33274"/>
                  </a:lnTo>
                  <a:close/>
                </a:path>
                <a:path w="8289925" h="76200">
                  <a:moveTo>
                    <a:pt x="8280222" y="33274"/>
                  </a:moveTo>
                  <a:lnTo>
                    <a:pt x="8226374" y="33274"/>
                  </a:lnTo>
                  <a:lnTo>
                    <a:pt x="8226374" y="42799"/>
                  </a:lnTo>
                  <a:lnTo>
                    <a:pt x="8280476" y="42799"/>
                  </a:lnTo>
                  <a:lnTo>
                    <a:pt x="8289874" y="38100"/>
                  </a:lnTo>
                  <a:lnTo>
                    <a:pt x="8280222" y="33274"/>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0" name="object 30"/>
          <p:cNvSpPr txBox="1"/>
          <p:nvPr/>
        </p:nvSpPr>
        <p:spPr>
          <a:xfrm>
            <a:off x="3036570" y="5241493"/>
            <a:ext cx="3248660" cy="194310"/>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60" normalizeH="0" baseline="0" noProof="0">
                <a:ln>
                  <a:noFill/>
                </a:ln>
                <a:solidFill>
                  <a:srgbClr val="54535A"/>
                </a:solidFill>
                <a:effectLst/>
                <a:uLnTx/>
                <a:uFillTx/>
                <a:latin typeface="Tahoma"/>
                <a:cs typeface="Tahoma"/>
              </a:rPr>
              <a:t>HOW</a:t>
            </a:r>
            <a:r>
              <a:rPr kumimoji="0" sz="1100" b="1" i="0" u="none" strike="noStrike" kern="0" cap="none" spc="-15" normalizeH="0" baseline="0" noProof="0">
                <a:ln>
                  <a:noFill/>
                </a:ln>
                <a:solidFill>
                  <a:srgbClr val="54535A"/>
                </a:solidFill>
                <a:effectLst/>
                <a:uLnTx/>
                <a:uFillTx/>
                <a:latin typeface="Tahoma"/>
                <a:cs typeface="Tahoma"/>
              </a:rPr>
              <a:t> </a:t>
            </a:r>
            <a:r>
              <a:rPr kumimoji="0" sz="1100" b="1" i="0" u="none" strike="noStrike" kern="0" cap="none" spc="-125" normalizeH="0" baseline="0" noProof="0">
                <a:ln>
                  <a:noFill/>
                </a:ln>
                <a:solidFill>
                  <a:srgbClr val="54535A"/>
                </a:solidFill>
                <a:effectLst/>
                <a:uLnTx/>
                <a:uFillTx/>
                <a:latin typeface="Tahoma"/>
                <a:cs typeface="Tahoma"/>
              </a:rPr>
              <a:t>WE</a:t>
            </a:r>
            <a:r>
              <a:rPr kumimoji="0" sz="1100" b="1" i="0" u="none" strike="noStrike" kern="0" cap="none" spc="-15" normalizeH="0" baseline="0" noProof="0">
                <a:ln>
                  <a:noFill/>
                </a:ln>
                <a:solidFill>
                  <a:srgbClr val="54535A"/>
                </a:solidFill>
                <a:effectLst/>
                <a:uLnTx/>
                <a:uFillTx/>
                <a:latin typeface="Tahoma"/>
                <a:cs typeface="Tahoma"/>
              </a:rPr>
              <a:t> </a:t>
            </a:r>
            <a:r>
              <a:rPr kumimoji="0" sz="1100" b="1" i="0" u="none" strike="noStrike" kern="0" cap="none" spc="-70" normalizeH="0" baseline="0" noProof="0">
                <a:ln>
                  <a:noFill/>
                </a:ln>
                <a:solidFill>
                  <a:srgbClr val="54535A"/>
                </a:solidFill>
                <a:effectLst/>
                <a:uLnTx/>
                <a:uFillTx/>
                <a:latin typeface="Tahoma"/>
                <a:cs typeface="Tahoma"/>
              </a:rPr>
              <a:t>DEVELOP</a:t>
            </a:r>
            <a:r>
              <a:rPr kumimoji="0" sz="1100" b="1" i="0" u="none" strike="noStrike" kern="0" cap="none" spc="15" normalizeH="0" baseline="0" noProof="0">
                <a:ln>
                  <a:noFill/>
                </a:ln>
                <a:solidFill>
                  <a:srgbClr val="54535A"/>
                </a:solidFill>
                <a:effectLst/>
                <a:uLnTx/>
                <a:uFillTx/>
                <a:latin typeface="Tahoma"/>
                <a:cs typeface="Tahoma"/>
              </a:rPr>
              <a:t> </a:t>
            </a:r>
            <a:r>
              <a:rPr kumimoji="0" sz="1100" b="1" i="0" u="none" strike="noStrike" kern="0" cap="none" spc="-105" normalizeH="0" baseline="0" noProof="0">
                <a:ln>
                  <a:noFill/>
                </a:ln>
                <a:solidFill>
                  <a:srgbClr val="54535A"/>
                </a:solidFill>
                <a:effectLst/>
                <a:uLnTx/>
                <a:uFillTx/>
                <a:latin typeface="Tahoma"/>
                <a:cs typeface="Tahoma"/>
              </a:rPr>
              <a:t>DEEP</a:t>
            </a:r>
            <a:r>
              <a:rPr kumimoji="0" sz="1100" b="1" i="0" u="none" strike="noStrike" kern="0" cap="none" spc="-10" normalizeH="0" baseline="0" noProof="0">
                <a:ln>
                  <a:noFill/>
                </a:ln>
                <a:solidFill>
                  <a:srgbClr val="54535A"/>
                </a:solidFill>
                <a:effectLst/>
                <a:uLnTx/>
                <a:uFillTx/>
                <a:latin typeface="Tahoma"/>
                <a:cs typeface="Tahoma"/>
              </a:rPr>
              <a:t> </a:t>
            </a:r>
            <a:r>
              <a:rPr kumimoji="0" sz="1100" b="1" i="0" u="none" strike="noStrike" kern="0" cap="none" spc="-90" normalizeH="0" baseline="0" noProof="0">
                <a:ln>
                  <a:noFill/>
                </a:ln>
                <a:solidFill>
                  <a:srgbClr val="54535A"/>
                </a:solidFill>
                <a:effectLst/>
                <a:uLnTx/>
                <a:uFillTx/>
                <a:latin typeface="Tahoma"/>
                <a:cs typeface="Tahoma"/>
              </a:rPr>
              <a:t>CAPABILITY</a:t>
            </a:r>
            <a:r>
              <a:rPr kumimoji="0" sz="1100" b="1" i="0" u="none" strike="noStrike" kern="0" cap="none" spc="-5" normalizeH="0" baseline="0" noProof="0">
                <a:ln>
                  <a:noFill/>
                </a:ln>
                <a:solidFill>
                  <a:srgbClr val="54535A"/>
                </a:solidFill>
                <a:effectLst/>
                <a:uLnTx/>
                <a:uFillTx/>
                <a:latin typeface="Tahoma"/>
                <a:cs typeface="Tahoma"/>
              </a:rPr>
              <a:t> </a:t>
            </a:r>
            <a:r>
              <a:rPr kumimoji="0" sz="1100" b="1" i="0" u="none" strike="noStrike" kern="0" cap="none" spc="0" normalizeH="0" baseline="0" noProof="0">
                <a:ln>
                  <a:noFill/>
                </a:ln>
                <a:solidFill>
                  <a:srgbClr val="54535A"/>
                </a:solidFill>
                <a:effectLst/>
                <a:uLnTx/>
                <a:uFillTx/>
                <a:latin typeface="Tahoma"/>
                <a:cs typeface="Tahoma"/>
              </a:rPr>
              <a:t>AND</a:t>
            </a:r>
            <a:r>
              <a:rPr kumimoji="0" sz="1100" b="1" i="0" u="none" strike="noStrike" kern="0" cap="none" spc="-5" normalizeH="0" baseline="0" noProof="0">
                <a:ln>
                  <a:noFill/>
                </a:ln>
                <a:solidFill>
                  <a:srgbClr val="54535A"/>
                </a:solidFill>
                <a:effectLst/>
                <a:uLnTx/>
                <a:uFillTx/>
                <a:latin typeface="Tahoma"/>
                <a:cs typeface="Tahoma"/>
              </a:rPr>
              <a:t> </a:t>
            </a:r>
            <a:r>
              <a:rPr kumimoji="0" sz="1100" b="1" i="0" u="none" strike="noStrike" kern="0" cap="none" spc="-75" normalizeH="0" baseline="0" noProof="0">
                <a:ln>
                  <a:noFill/>
                </a:ln>
                <a:solidFill>
                  <a:srgbClr val="54535A"/>
                </a:solidFill>
                <a:effectLst/>
                <a:uLnTx/>
                <a:uFillTx/>
                <a:latin typeface="Tahoma"/>
                <a:cs typeface="Tahoma"/>
              </a:rPr>
              <a:t>TALENT</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sp>
        <p:nvSpPr>
          <p:cNvPr id="31" name="object 31"/>
          <p:cNvSpPr txBox="1"/>
          <p:nvPr/>
        </p:nvSpPr>
        <p:spPr>
          <a:xfrm>
            <a:off x="3796410" y="4248480"/>
            <a:ext cx="1675130" cy="229870"/>
          </a:xfrm>
          <a:prstGeom prst="rect">
            <a:avLst/>
          </a:prstGeom>
          <a:solidFill>
            <a:srgbClr val="FFFFFF"/>
          </a:solidFill>
        </p:spPr>
        <p:txBody>
          <a:bodyPr vert="horz" wrap="square" lIns="0" tIns="29209" rIns="0" bIns="0" rtlCol="0">
            <a:spAutoFit/>
          </a:bodyPr>
          <a:lstStyle/>
          <a:p>
            <a:pPr marL="46355" marR="0" lvl="0" indent="0" defTabSz="914400" eaLnBrk="1" fontAlgn="auto" latinLnBrk="0" hangingPunct="1">
              <a:lnSpc>
                <a:spcPct val="100000"/>
              </a:lnSpc>
              <a:spcBef>
                <a:spcPts val="229"/>
              </a:spcBef>
              <a:spcAft>
                <a:spcPts val="0"/>
              </a:spcAft>
              <a:buClrTx/>
              <a:buSzTx/>
              <a:buFontTx/>
              <a:buNone/>
              <a:tabLst/>
              <a:defRPr/>
            </a:pPr>
            <a:r>
              <a:rPr kumimoji="0" sz="1100" b="1" i="0" u="none" strike="noStrike" kern="0" cap="none" spc="-50" normalizeH="0" baseline="0" noProof="0">
                <a:ln>
                  <a:noFill/>
                </a:ln>
                <a:solidFill>
                  <a:srgbClr val="7E7E7E"/>
                </a:solidFill>
                <a:effectLst/>
                <a:uLnTx/>
                <a:uFillTx/>
                <a:latin typeface="Tahoma"/>
                <a:cs typeface="Tahoma"/>
              </a:rPr>
              <a:t>HOW</a:t>
            </a:r>
            <a:r>
              <a:rPr kumimoji="0" sz="1100" b="1" i="0" u="none" strike="noStrike" kern="0" cap="none" spc="-15" normalizeH="0" baseline="0" noProof="0">
                <a:ln>
                  <a:noFill/>
                </a:ln>
                <a:solidFill>
                  <a:srgbClr val="7E7E7E"/>
                </a:solidFill>
                <a:effectLst/>
                <a:uLnTx/>
                <a:uFillTx/>
                <a:latin typeface="Tahoma"/>
                <a:cs typeface="Tahoma"/>
              </a:rPr>
              <a:t> </a:t>
            </a:r>
            <a:r>
              <a:rPr kumimoji="0" sz="1100" b="1" i="0" u="none" strike="noStrike" kern="0" cap="none" spc="-125" normalizeH="0" baseline="0" noProof="0">
                <a:ln>
                  <a:noFill/>
                </a:ln>
                <a:solidFill>
                  <a:srgbClr val="7E7E7E"/>
                </a:solidFill>
                <a:effectLst/>
                <a:uLnTx/>
                <a:uFillTx/>
                <a:latin typeface="Tahoma"/>
                <a:cs typeface="Tahoma"/>
              </a:rPr>
              <a:t>WE</a:t>
            </a:r>
            <a:r>
              <a:rPr kumimoji="0" sz="1100" b="1" i="0" u="none" strike="noStrike" kern="0" cap="none" spc="-15" normalizeH="0" baseline="0" noProof="0">
                <a:ln>
                  <a:noFill/>
                </a:ln>
                <a:solidFill>
                  <a:srgbClr val="7E7E7E"/>
                </a:solidFill>
                <a:effectLst/>
                <a:uLnTx/>
                <a:uFillTx/>
                <a:latin typeface="Tahoma"/>
                <a:cs typeface="Tahoma"/>
              </a:rPr>
              <a:t> </a:t>
            </a:r>
            <a:r>
              <a:rPr kumimoji="0" sz="1100" b="1" i="0" u="none" strike="noStrike" kern="0" cap="none" spc="-20" normalizeH="0" baseline="0" noProof="0">
                <a:ln>
                  <a:noFill/>
                </a:ln>
                <a:solidFill>
                  <a:srgbClr val="7E7E7E"/>
                </a:solidFill>
                <a:effectLst/>
                <a:uLnTx/>
                <a:uFillTx/>
                <a:latin typeface="Tahoma"/>
                <a:cs typeface="Tahoma"/>
              </a:rPr>
              <a:t>COLLABORATE</a:t>
            </a:r>
            <a:endParaRPr kumimoji="0" sz="1100" b="0" i="0" u="none" strike="noStrike" kern="0" cap="none" spc="0" normalizeH="0" baseline="0" noProof="0">
              <a:ln>
                <a:noFill/>
              </a:ln>
              <a:solidFill>
                <a:sysClr val="windowText" lastClr="000000"/>
              </a:solidFill>
              <a:effectLst/>
              <a:uLnTx/>
              <a:uFillTx/>
              <a:latin typeface="Tahoma"/>
              <a:cs typeface="Tahoma"/>
            </a:endParaRPr>
          </a:p>
        </p:txBody>
      </p:sp>
      <p:sp>
        <p:nvSpPr>
          <p:cNvPr id="32" name="object 32"/>
          <p:cNvSpPr/>
          <p:nvPr/>
        </p:nvSpPr>
        <p:spPr>
          <a:xfrm>
            <a:off x="326199" y="5522874"/>
            <a:ext cx="8515350" cy="874394"/>
          </a:xfrm>
          <a:custGeom>
            <a:avLst/>
            <a:gdLst/>
            <a:ahLst/>
            <a:cxnLst/>
            <a:rect l="l" t="t" r="r" b="b"/>
            <a:pathLst>
              <a:path w="8515350" h="874395">
                <a:moveTo>
                  <a:pt x="0" y="874013"/>
                </a:moveTo>
                <a:lnTo>
                  <a:pt x="8514969" y="874013"/>
                </a:lnTo>
                <a:lnTo>
                  <a:pt x="8514969" y="0"/>
                </a:lnTo>
                <a:lnTo>
                  <a:pt x="0" y="0"/>
                </a:lnTo>
                <a:lnTo>
                  <a:pt x="0" y="874013"/>
                </a:lnTo>
                <a:close/>
              </a:path>
            </a:pathLst>
          </a:custGeom>
          <a:ln w="25400">
            <a:solidFill>
              <a:srgbClr val="A6A6A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txBox="1"/>
          <p:nvPr/>
        </p:nvSpPr>
        <p:spPr>
          <a:xfrm>
            <a:off x="404875" y="5730341"/>
            <a:ext cx="1158875" cy="45339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a:ln>
                  <a:noFill/>
                </a:ln>
                <a:solidFill>
                  <a:srgbClr val="A6A6A6"/>
                </a:solidFill>
                <a:effectLst/>
                <a:uLnTx/>
                <a:uFillTx/>
                <a:latin typeface="Tahoma"/>
                <a:cs typeface="Tahoma"/>
              </a:rPr>
              <a:t>Heirs</a:t>
            </a:r>
            <a:endParaRPr kumimoji="0" sz="1400" b="0" i="0" u="none" strike="noStrike" kern="0" cap="none" spc="0" normalizeH="0" baseline="0" noProof="0">
              <a:ln>
                <a:noFill/>
              </a:ln>
              <a:solidFill>
                <a:sysClr val="windowText" lastClr="000000"/>
              </a:solidFill>
              <a:effectLst/>
              <a:uLnTx/>
              <a:uFillTx/>
              <a:latin typeface="Tahoma"/>
              <a:cs typeface="Tahoma"/>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400" b="0" i="0" u="none" strike="noStrike" kern="0" cap="none" spc="55" normalizeH="0" baseline="0" noProof="0">
                <a:ln>
                  <a:noFill/>
                </a:ln>
                <a:solidFill>
                  <a:srgbClr val="A6A6A6"/>
                </a:solidFill>
                <a:effectLst/>
                <a:uLnTx/>
                <a:uFillTx/>
                <a:latin typeface="Tahoma"/>
                <a:cs typeface="Tahoma"/>
              </a:rPr>
              <a:t>Technologies</a:t>
            </a:r>
            <a:endParaRPr kumimoji="0" sz="1400" b="0" i="0" u="none" strike="noStrike" kern="0" cap="none" spc="0" normalizeH="0" baseline="0" noProof="0">
              <a:ln>
                <a:noFill/>
              </a:ln>
              <a:solidFill>
                <a:sysClr val="windowText" lastClr="000000"/>
              </a:solidFill>
              <a:effectLst/>
              <a:uLnTx/>
              <a:uFillTx/>
              <a:latin typeface="Tahoma"/>
              <a:cs typeface="Tahoma"/>
            </a:endParaRPr>
          </a:p>
        </p:txBody>
      </p:sp>
      <p:sp>
        <p:nvSpPr>
          <p:cNvPr id="34" name="object 34"/>
          <p:cNvSpPr txBox="1"/>
          <p:nvPr/>
        </p:nvSpPr>
        <p:spPr>
          <a:xfrm>
            <a:off x="2096770" y="5677916"/>
            <a:ext cx="1230630" cy="666750"/>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sz="1400" b="1" i="0" u="none" strike="noStrike" kern="0" cap="none" spc="-114" normalizeH="0" baseline="0" noProof="0">
                <a:ln>
                  <a:noFill/>
                </a:ln>
                <a:solidFill>
                  <a:srgbClr val="FF0000"/>
                </a:solidFill>
                <a:effectLst/>
                <a:uLnTx/>
                <a:uFillTx/>
                <a:latin typeface="Tahoma"/>
                <a:cs typeface="Tahoma"/>
              </a:rPr>
              <a:t>FY24</a:t>
            </a:r>
            <a:r>
              <a:rPr kumimoji="0" sz="1400" b="1" i="0" u="none" strike="noStrike" kern="0" cap="none" spc="-5" normalizeH="0" baseline="0" noProof="0">
                <a:ln>
                  <a:noFill/>
                </a:ln>
                <a:solidFill>
                  <a:srgbClr val="FF0000"/>
                </a:solidFill>
                <a:effectLst/>
                <a:uLnTx/>
                <a:uFillTx/>
                <a:latin typeface="Tahoma"/>
                <a:cs typeface="Tahoma"/>
              </a:rPr>
              <a:t> </a:t>
            </a:r>
            <a:r>
              <a:rPr kumimoji="0" sz="1400" b="1" i="0" u="none" strike="noStrike" kern="0" cap="none" spc="-10" normalizeH="0" baseline="0" noProof="0">
                <a:ln>
                  <a:noFill/>
                </a:ln>
                <a:solidFill>
                  <a:srgbClr val="FF0000"/>
                </a:solidFill>
                <a:effectLst/>
                <a:uLnTx/>
                <a:uFillTx/>
                <a:latin typeface="Tahoma"/>
                <a:cs typeface="Tahoma"/>
              </a:rPr>
              <a:t>Revenue</a:t>
            </a:r>
            <a:endParaRPr kumimoji="0" sz="1400" b="0" i="0" u="none" strike="noStrike" kern="0" cap="none" spc="0" normalizeH="0" baseline="0" noProof="0">
              <a:ln>
                <a:noFill/>
              </a:ln>
              <a:solidFill>
                <a:sysClr val="windowText" lastClr="000000"/>
              </a:solidFill>
              <a:effectLst/>
              <a:uLnTx/>
              <a:uFillTx/>
              <a:latin typeface="Tahoma"/>
              <a:cs typeface="Tahoma"/>
            </a:endParaRPr>
          </a:p>
          <a:p>
            <a:pPr marL="4953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0" cap="none" spc="-25" normalizeH="0" baseline="0" noProof="0">
                <a:ln>
                  <a:noFill/>
                </a:ln>
                <a:solidFill>
                  <a:srgbClr val="FF0000"/>
                </a:solidFill>
                <a:effectLst/>
                <a:uLnTx/>
                <a:uFillTx/>
                <a:latin typeface="Tahoma"/>
                <a:cs typeface="Tahoma"/>
              </a:rPr>
              <a:t>(Deal</a:t>
            </a:r>
            <a:r>
              <a:rPr kumimoji="0" sz="1400" b="1" i="0" u="none" strike="noStrike" kern="0" cap="none" spc="-65" normalizeH="0" baseline="0" noProof="0">
                <a:ln>
                  <a:noFill/>
                </a:ln>
                <a:solidFill>
                  <a:srgbClr val="FF0000"/>
                </a:solidFill>
                <a:effectLst/>
                <a:uLnTx/>
                <a:uFillTx/>
                <a:latin typeface="Tahoma"/>
                <a:cs typeface="Tahoma"/>
              </a:rPr>
              <a:t> </a:t>
            </a:r>
            <a:r>
              <a:rPr kumimoji="0" sz="1400" b="1" i="0" u="none" strike="noStrike" kern="0" cap="none" spc="-10" normalizeH="0" baseline="0" noProof="0">
                <a:ln>
                  <a:noFill/>
                </a:ln>
                <a:solidFill>
                  <a:srgbClr val="FF0000"/>
                </a:solidFill>
                <a:effectLst/>
                <a:uLnTx/>
                <a:uFillTx/>
                <a:latin typeface="Tahoma"/>
                <a:cs typeface="Tahoma"/>
              </a:rPr>
              <a:t>Size)</a:t>
            </a:r>
            <a:endParaRPr kumimoji="0" sz="1400" b="0" i="0" u="none" strike="noStrike" kern="0" cap="none" spc="0" normalizeH="0" baseline="0" noProof="0">
              <a:ln>
                <a:noFill/>
              </a:ln>
              <a:solidFill>
                <a:sysClr val="windowText" lastClr="000000"/>
              </a:solidFill>
              <a:effectLst/>
              <a:uLnTx/>
              <a:uFillTx/>
              <a:latin typeface="Tahoma"/>
              <a:cs typeface="Tahoma"/>
            </a:endParaRPr>
          </a:p>
          <a:p>
            <a:pPr marL="1270" marR="0" lvl="0" indent="0" algn="ctr" defTabSz="914400" eaLnBrk="1" fontAlgn="auto" latinLnBrk="0" hangingPunct="1">
              <a:lnSpc>
                <a:spcPct val="100000"/>
              </a:lnSpc>
              <a:spcBef>
                <a:spcPts val="5"/>
              </a:spcBef>
              <a:spcAft>
                <a:spcPts val="0"/>
              </a:spcAft>
              <a:buClrTx/>
              <a:buSzTx/>
              <a:buFontTx/>
              <a:buNone/>
              <a:tabLst/>
              <a:defRPr/>
            </a:pPr>
            <a:r>
              <a:rPr kumimoji="0" sz="1400" b="1" i="0" u="none" strike="noStrike" kern="0" cap="none" spc="-10" normalizeH="0" baseline="0" noProof="0">
                <a:ln>
                  <a:noFill/>
                </a:ln>
                <a:solidFill>
                  <a:srgbClr val="FF0000"/>
                </a:solidFill>
                <a:effectLst/>
                <a:uLnTx/>
                <a:uFillTx/>
                <a:latin typeface="Tahoma"/>
                <a:cs typeface="Tahoma"/>
              </a:rPr>
              <a:t>$41.2Mn</a:t>
            </a:r>
            <a:endParaRPr kumimoji="0" sz="1400" b="0" i="0" u="none" strike="noStrike" kern="0" cap="none" spc="0" normalizeH="0" baseline="0" noProof="0">
              <a:ln>
                <a:noFill/>
              </a:ln>
              <a:solidFill>
                <a:sysClr val="windowText" lastClr="000000"/>
              </a:solidFill>
              <a:effectLst/>
              <a:uLnTx/>
              <a:uFillTx/>
              <a:latin typeface="Tahoma"/>
              <a:cs typeface="Tahoma"/>
            </a:endParaRPr>
          </a:p>
        </p:txBody>
      </p:sp>
      <p:sp>
        <p:nvSpPr>
          <p:cNvPr id="35" name="object 35"/>
          <p:cNvSpPr txBox="1"/>
          <p:nvPr/>
        </p:nvSpPr>
        <p:spPr>
          <a:xfrm>
            <a:off x="4834254" y="5678830"/>
            <a:ext cx="3812540" cy="756920"/>
          </a:xfrm>
          <a:prstGeom prst="rect">
            <a:avLst/>
          </a:prstGeom>
        </p:spPr>
        <p:txBody>
          <a:bodyPr vert="horz" wrap="square" lIns="0" tIns="12700" rIns="0" bIns="0" rtlCol="0">
            <a:spAutoFit/>
          </a:bodyPr>
          <a:lstStyle/>
          <a:p>
            <a:pPr marL="12700" marR="5080" lvl="0" indent="0" algn="ctr"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80" normalizeH="0" baseline="0" noProof="0">
                <a:ln>
                  <a:noFill/>
                </a:ln>
                <a:solidFill>
                  <a:srgbClr val="52535B"/>
                </a:solidFill>
                <a:effectLst/>
                <a:uLnTx/>
                <a:uFillTx/>
                <a:latin typeface="Tahoma"/>
                <a:cs typeface="Tahoma"/>
              </a:rPr>
              <a:t>Information</a:t>
            </a:r>
            <a:r>
              <a:rPr kumimoji="0" sz="1200" b="1" i="0" u="none" strike="noStrike" kern="0" cap="none" spc="5" normalizeH="0" baseline="0" noProof="0">
                <a:ln>
                  <a:noFill/>
                </a:ln>
                <a:solidFill>
                  <a:srgbClr val="52535B"/>
                </a:solidFill>
                <a:effectLst/>
                <a:uLnTx/>
                <a:uFillTx/>
                <a:latin typeface="Tahoma"/>
                <a:cs typeface="Tahoma"/>
              </a:rPr>
              <a:t> </a:t>
            </a:r>
            <a:r>
              <a:rPr kumimoji="0" sz="1200" b="1" i="0" u="none" strike="noStrike" kern="0" cap="none" spc="-45" normalizeH="0" baseline="0" noProof="0">
                <a:ln>
                  <a:noFill/>
                </a:ln>
                <a:solidFill>
                  <a:srgbClr val="52535B"/>
                </a:solidFill>
                <a:effectLst/>
                <a:uLnTx/>
                <a:uFillTx/>
                <a:latin typeface="Tahoma"/>
                <a:cs typeface="Tahoma"/>
              </a:rPr>
              <a:t>Security</a:t>
            </a:r>
            <a:r>
              <a:rPr kumimoji="0" sz="1200" b="1" i="0" u="none" strike="noStrike" kern="0" cap="none" spc="25" normalizeH="0" baseline="0" noProof="0">
                <a:ln>
                  <a:noFill/>
                </a:ln>
                <a:solidFill>
                  <a:srgbClr val="52535B"/>
                </a:solidFill>
                <a:effectLst/>
                <a:uLnTx/>
                <a:uFillTx/>
                <a:latin typeface="Tahoma"/>
                <a:cs typeface="Tahoma"/>
              </a:rPr>
              <a:t> </a:t>
            </a:r>
            <a:r>
              <a:rPr kumimoji="0" sz="1200" b="1" i="0" u="none" strike="noStrike" kern="0" cap="none" spc="0" normalizeH="0" baseline="0" noProof="0">
                <a:ln>
                  <a:noFill/>
                </a:ln>
                <a:solidFill>
                  <a:srgbClr val="52535B"/>
                </a:solidFill>
                <a:effectLst/>
                <a:uLnTx/>
                <a:uFillTx/>
                <a:latin typeface="Tahoma"/>
                <a:cs typeface="Tahoma"/>
              </a:rPr>
              <a:t>Management</a:t>
            </a:r>
            <a:r>
              <a:rPr kumimoji="0" sz="1200" b="1" i="0" u="none" strike="noStrike" kern="0" cap="none" spc="-10" normalizeH="0" baseline="0" noProof="0">
                <a:ln>
                  <a:noFill/>
                </a:ln>
                <a:solidFill>
                  <a:srgbClr val="52535B"/>
                </a:solidFill>
                <a:effectLst/>
                <a:uLnTx/>
                <a:uFillTx/>
                <a:latin typeface="Tahoma"/>
                <a:cs typeface="Tahoma"/>
              </a:rPr>
              <a:t> </a:t>
            </a:r>
            <a:r>
              <a:rPr kumimoji="0" sz="1200" b="1" i="0" u="none" strike="noStrike" kern="0" cap="none" spc="-65" normalizeH="0" baseline="0" noProof="0">
                <a:ln>
                  <a:noFill/>
                </a:ln>
                <a:solidFill>
                  <a:srgbClr val="52535B"/>
                </a:solidFill>
                <a:effectLst/>
                <a:uLnTx/>
                <a:uFillTx/>
                <a:latin typeface="Tahoma"/>
                <a:cs typeface="Tahoma"/>
              </a:rPr>
              <a:t>System</a:t>
            </a:r>
            <a:r>
              <a:rPr kumimoji="0" sz="1200" b="1" i="0" u="none" strike="noStrike" kern="0" cap="none" spc="10" normalizeH="0" baseline="0" noProof="0">
                <a:ln>
                  <a:noFill/>
                </a:ln>
                <a:solidFill>
                  <a:srgbClr val="52535B"/>
                </a:solidFill>
                <a:effectLst/>
                <a:uLnTx/>
                <a:uFillTx/>
                <a:latin typeface="Tahoma"/>
                <a:cs typeface="Tahoma"/>
              </a:rPr>
              <a:t> </a:t>
            </a:r>
            <a:r>
              <a:rPr kumimoji="0" sz="1200" b="1" i="0" u="none" strike="noStrike" kern="0" cap="none" spc="-10" normalizeH="0" baseline="0" noProof="0">
                <a:ln>
                  <a:noFill/>
                </a:ln>
                <a:solidFill>
                  <a:srgbClr val="52535B"/>
                </a:solidFill>
                <a:effectLst/>
                <a:uLnTx/>
                <a:uFillTx/>
                <a:latin typeface="Tahoma"/>
                <a:cs typeface="Tahoma"/>
              </a:rPr>
              <a:t>Standard </a:t>
            </a:r>
            <a:r>
              <a:rPr kumimoji="0" sz="1200" b="1" i="0" u="none" strike="noStrike" kern="0" cap="none" spc="-100" normalizeH="0" baseline="0" noProof="0">
                <a:ln>
                  <a:noFill/>
                </a:ln>
                <a:solidFill>
                  <a:srgbClr val="52535B"/>
                </a:solidFill>
                <a:effectLst/>
                <a:uLnTx/>
                <a:uFillTx/>
                <a:latin typeface="Tahoma"/>
                <a:cs typeface="Tahoma"/>
              </a:rPr>
              <a:t>ISO/IEC</a:t>
            </a:r>
            <a:r>
              <a:rPr kumimoji="0" sz="1200" b="1" i="0" u="none" strike="noStrike" kern="0" cap="none" spc="35" normalizeH="0" baseline="0" noProof="0">
                <a:ln>
                  <a:noFill/>
                </a:ln>
                <a:solidFill>
                  <a:srgbClr val="52535B"/>
                </a:solidFill>
                <a:effectLst/>
                <a:uLnTx/>
                <a:uFillTx/>
                <a:latin typeface="Tahoma"/>
                <a:cs typeface="Tahoma"/>
              </a:rPr>
              <a:t> </a:t>
            </a:r>
            <a:r>
              <a:rPr kumimoji="0" sz="1200" b="1" i="0" u="none" strike="noStrike" kern="0" cap="none" spc="-10" normalizeH="0" baseline="0" noProof="0">
                <a:ln>
                  <a:noFill/>
                </a:ln>
                <a:solidFill>
                  <a:srgbClr val="52535B"/>
                </a:solidFill>
                <a:effectLst/>
                <a:uLnTx/>
                <a:uFillTx/>
                <a:latin typeface="Tahoma"/>
                <a:cs typeface="Tahoma"/>
              </a:rPr>
              <a:t>27001:2022,</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88900" marR="79375"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a:ln>
                  <a:noFill/>
                </a:ln>
                <a:solidFill>
                  <a:srgbClr val="52535B"/>
                </a:solidFill>
                <a:effectLst/>
                <a:uLnTx/>
                <a:uFillTx/>
                <a:latin typeface="Tahoma"/>
                <a:cs typeface="Tahoma"/>
              </a:rPr>
              <a:t>BCM</a:t>
            </a:r>
            <a:r>
              <a:rPr kumimoji="0" sz="1200" b="1" i="0" u="none" strike="noStrike" kern="0" cap="none" spc="-5" normalizeH="0" baseline="0" noProof="0">
                <a:ln>
                  <a:noFill/>
                </a:ln>
                <a:solidFill>
                  <a:srgbClr val="52535B"/>
                </a:solidFill>
                <a:effectLst/>
                <a:uLnTx/>
                <a:uFillTx/>
                <a:latin typeface="Tahoma"/>
                <a:cs typeface="Tahoma"/>
              </a:rPr>
              <a:t> </a:t>
            </a:r>
            <a:r>
              <a:rPr kumimoji="0" sz="1200" b="1" i="0" u="none" strike="noStrike" kern="0" cap="none" spc="-105" normalizeH="0" baseline="0" noProof="0">
                <a:ln>
                  <a:noFill/>
                </a:ln>
                <a:solidFill>
                  <a:srgbClr val="52535B"/>
                </a:solidFill>
                <a:effectLst/>
                <a:uLnTx/>
                <a:uFillTx/>
                <a:latin typeface="Tahoma"/>
                <a:cs typeface="Tahoma"/>
              </a:rPr>
              <a:t>(ISO</a:t>
            </a:r>
            <a:r>
              <a:rPr kumimoji="0" sz="1200" b="1" i="0" u="none" strike="noStrike" kern="0" cap="none" spc="0" normalizeH="0" baseline="0" noProof="0">
                <a:ln>
                  <a:noFill/>
                </a:ln>
                <a:solidFill>
                  <a:srgbClr val="52535B"/>
                </a:solidFill>
                <a:effectLst/>
                <a:uLnTx/>
                <a:uFillTx/>
                <a:latin typeface="Tahoma"/>
                <a:cs typeface="Tahoma"/>
              </a:rPr>
              <a:t> </a:t>
            </a:r>
            <a:r>
              <a:rPr kumimoji="0" sz="1200" b="1" i="0" u="none" strike="noStrike" kern="0" cap="none" spc="-90" normalizeH="0" baseline="0" noProof="0">
                <a:ln>
                  <a:noFill/>
                </a:ln>
                <a:solidFill>
                  <a:srgbClr val="52535B"/>
                </a:solidFill>
                <a:effectLst/>
                <a:uLnTx/>
                <a:uFillTx/>
                <a:latin typeface="Tahoma"/>
                <a:cs typeface="Tahoma"/>
              </a:rPr>
              <a:t>22301:2019),</a:t>
            </a:r>
            <a:r>
              <a:rPr kumimoji="0" sz="1200" b="1" i="0" u="none" strike="noStrike" kern="0" cap="none" spc="35" normalizeH="0" baseline="0" noProof="0">
                <a:ln>
                  <a:noFill/>
                </a:ln>
                <a:solidFill>
                  <a:srgbClr val="52535B"/>
                </a:solidFill>
                <a:effectLst/>
                <a:uLnTx/>
                <a:uFillTx/>
                <a:latin typeface="Tahoma"/>
                <a:cs typeface="Tahoma"/>
              </a:rPr>
              <a:t> </a:t>
            </a:r>
            <a:r>
              <a:rPr kumimoji="0" sz="1200" b="1" i="0" u="none" strike="noStrike" kern="0" cap="none" spc="-25" normalizeH="0" baseline="0" noProof="0">
                <a:ln>
                  <a:noFill/>
                </a:ln>
                <a:solidFill>
                  <a:srgbClr val="52535B"/>
                </a:solidFill>
                <a:effectLst/>
                <a:uLnTx/>
                <a:uFillTx/>
                <a:latin typeface="Tahoma"/>
                <a:cs typeface="Tahoma"/>
              </a:rPr>
              <a:t>Quality</a:t>
            </a:r>
            <a:r>
              <a:rPr kumimoji="0" sz="1200" b="1" i="0" u="none" strike="noStrike" kern="0" cap="none" spc="15" normalizeH="0" baseline="0" noProof="0">
                <a:ln>
                  <a:noFill/>
                </a:ln>
                <a:solidFill>
                  <a:srgbClr val="52535B"/>
                </a:solidFill>
                <a:effectLst/>
                <a:uLnTx/>
                <a:uFillTx/>
                <a:latin typeface="Tahoma"/>
                <a:cs typeface="Tahoma"/>
              </a:rPr>
              <a:t> </a:t>
            </a:r>
            <a:r>
              <a:rPr kumimoji="0" sz="1200" b="1" i="0" u="none" strike="noStrike" kern="0" cap="none" spc="-105" normalizeH="0" baseline="0" noProof="0">
                <a:ln>
                  <a:noFill/>
                </a:ln>
                <a:solidFill>
                  <a:srgbClr val="52535B"/>
                </a:solidFill>
                <a:effectLst/>
                <a:uLnTx/>
                <a:uFillTx/>
                <a:latin typeface="Tahoma"/>
                <a:cs typeface="Tahoma"/>
              </a:rPr>
              <a:t>(ISO</a:t>
            </a:r>
            <a:r>
              <a:rPr kumimoji="0" sz="1200" b="1" i="0" u="none" strike="noStrike" kern="0" cap="none" spc="0" normalizeH="0" baseline="0" noProof="0">
                <a:ln>
                  <a:noFill/>
                </a:ln>
                <a:solidFill>
                  <a:srgbClr val="52535B"/>
                </a:solidFill>
                <a:effectLst/>
                <a:uLnTx/>
                <a:uFillTx/>
                <a:latin typeface="Tahoma"/>
                <a:cs typeface="Tahoma"/>
              </a:rPr>
              <a:t> </a:t>
            </a:r>
            <a:r>
              <a:rPr kumimoji="0" sz="1200" b="1" i="0" u="none" strike="noStrike" kern="0" cap="none" spc="-100" normalizeH="0" baseline="0" noProof="0">
                <a:ln>
                  <a:noFill/>
                </a:ln>
                <a:solidFill>
                  <a:srgbClr val="52535B"/>
                </a:solidFill>
                <a:effectLst/>
                <a:uLnTx/>
                <a:uFillTx/>
                <a:latin typeface="Tahoma"/>
                <a:cs typeface="Tahoma"/>
              </a:rPr>
              <a:t>90001:2015)</a:t>
            </a:r>
            <a:r>
              <a:rPr kumimoji="0" sz="1200" b="1" i="0" u="none" strike="noStrike" kern="0" cap="none" spc="25" normalizeH="0" baseline="0" noProof="0">
                <a:ln>
                  <a:noFill/>
                </a:ln>
                <a:solidFill>
                  <a:srgbClr val="52535B"/>
                </a:solidFill>
                <a:effectLst/>
                <a:uLnTx/>
                <a:uFillTx/>
                <a:latin typeface="Tahoma"/>
                <a:cs typeface="Tahoma"/>
              </a:rPr>
              <a:t> </a:t>
            </a:r>
            <a:r>
              <a:rPr kumimoji="0" sz="1200" b="1" i="0" u="none" strike="noStrike" kern="0" cap="none" spc="-50" normalizeH="0" baseline="0" noProof="0">
                <a:ln>
                  <a:noFill/>
                </a:ln>
                <a:solidFill>
                  <a:srgbClr val="52535B"/>
                </a:solidFill>
                <a:effectLst/>
                <a:uLnTx/>
                <a:uFillTx/>
                <a:latin typeface="Tahoma"/>
                <a:cs typeface="Tahoma"/>
              </a:rPr>
              <a:t>&amp; </a:t>
            </a:r>
            <a:r>
              <a:rPr kumimoji="0" sz="1200" b="1" i="0" u="none" strike="noStrike" kern="0" cap="none" spc="-165" normalizeH="0" baseline="0" noProof="0">
                <a:ln>
                  <a:noFill/>
                </a:ln>
                <a:solidFill>
                  <a:srgbClr val="52535B"/>
                </a:solidFill>
                <a:effectLst/>
                <a:uLnTx/>
                <a:uFillTx/>
                <a:latin typeface="Tahoma"/>
                <a:cs typeface="Tahoma"/>
              </a:rPr>
              <a:t>ITSM</a:t>
            </a:r>
            <a:r>
              <a:rPr kumimoji="0" sz="1200" b="1" i="0" u="none" strike="noStrike" kern="0" cap="none" spc="20" normalizeH="0" baseline="0" noProof="0">
                <a:ln>
                  <a:noFill/>
                </a:ln>
                <a:solidFill>
                  <a:srgbClr val="52535B"/>
                </a:solidFill>
                <a:effectLst/>
                <a:uLnTx/>
                <a:uFillTx/>
                <a:latin typeface="Tahoma"/>
                <a:cs typeface="Tahoma"/>
              </a:rPr>
              <a:t> </a:t>
            </a:r>
            <a:r>
              <a:rPr kumimoji="0" sz="1200" b="1" i="0" u="none" strike="noStrike" kern="0" cap="none" spc="-95" normalizeH="0" baseline="0" noProof="0">
                <a:ln>
                  <a:noFill/>
                </a:ln>
                <a:solidFill>
                  <a:srgbClr val="52535B"/>
                </a:solidFill>
                <a:effectLst/>
                <a:uLnTx/>
                <a:uFillTx/>
                <a:latin typeface="Tahoma"/>
                <a:cs typeface="Tahoma"/>
              </a:rPr>
              <a:t>(ISO/IEC:</a:t>
            </a:r>
            <a:r>
              <a:rPr kumimoji="0" sz="1200" b="1" i="0" u="none" strike="noStrike" kern="0" cap="none" spc="25" normalizeH="0" baseline="0" noProof="0">
                <a:ln>
                  <a:noFill/>
                </a:ln>
                <a:solidFill>
                  <a:srgbClr val="52535B"/>
                </a:solidFill>
                <a:effectLst/>
                <a:uLnTx/>
                <a:uFillTx/>
                <a:latin typeface="Tahoma"/>
                <a:cs typeface="Tahoma"/>
              </a:rPr>
              <a:t> </a:t>
            </a:r>
            <a:r>
              <a:rPr kumimoji="0" sz="1200" b="1" i="0" u="none" strike="noStrike" kern="0" cap="none" spc="-90" normalizeH="0" baseline="0" noProof="0">
                <a:ln>
                  <a:noFill/>
                </a:ln>
                <a:solidFill>
                  <a:srgbClr val="52535B"/>
                </a:solidFill>
                <a:effectLst/>
                <a:uLnTx/>
                <a:uFillTx/>
                <a:latin typeface="Tahoma"/>
                <a:cs typeface="Tahoma"/>
              </a:rPr>
              <a:t>20000-</a:t>
            </a:r>
            <a:r>
              <a:rPr kumimoji="0" sz="1200" b="1" i="0" u="none" strike="noStrike" kern="0" cap="none" spc="-10" normalizeH="0" baseline="0" noProof="0">
                <a:ln>
                  <a:noFill/>
                </a:ln>
                <a:solidFill>
                  <a:srgbClr val="52535B"/>
                </a:solidFill>
                <a:effectLst/>
                <a:uLnTx/>
                <a:uFillTx/>
                <a:latin typeface="Tahoma"/>
                <a:cs typeface="Tahoma"/>
              </a:rPr>
              <a:t>1:2018)</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36" name="object 36"/>
          <p:cNvSpPr/>
          <p:nvPr/>
        </p:nvSpPr>
        <p:spPr>
          <a:xfrm>
            <a:off x="1490599" y="5428437"/>
            <a:ext cx="2181225" cy="277495"/>
          </a:xfrm>
          <a:custGeom>
            <a:avLst/>
            <a:gdLst/>
            <a:ahLst/>
            <a:cxnLst/>
            <a:rect l="l" t="t" r="r" b="b"/>
            <a:pathLst>
              <a:path w="2181225" h="277495">
                <a:moveTo>
                  <a:pt x="2180844" y="0"/>
                </a:moveTo>
                <a:lnTo>
                  <a:pt x="0" y="0"/>
                </a:lnTo>
                <a:lnTo>
                  <a:pt x="0" y="276999"/>
                </a:lnTo>
                <a:lnTo>
                  <a:pt x="2180844" y="276999"/>
                </a:lnTo>
                <a:lnTo>
                  <a:pt x="2180844"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37"/>
          <p:cNvSpPr txBox="1"/>
          <p:nvPr/>
        </p:nvSpPr>
        <p:spPr>
          <a:xfrm>
            <a:off x="2001392" y="5459069"/>
            <a:ext cx="1158875" cy="2089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55" normalizeH="0" baseline="0" noProof="0">
                <a:ln>
                  <a:noFill/>
                </a:ln>
                <a:solidFill>
                  <a:sysClr val="windowText" lastClr="000000"/>
                </a:solidFill>
                <a:effectLst/>
                <a:uLnTx/>
                <a:uFillTx/>
                <a:latin typeface="Tahoma"/>
                <a:cs typeface="Tahoma"/>
              </a:rPr>
              <a:t>Financial</a:t>
            </a:r>
            <a:r>
              <a:rPr kumimoji="0" sz="1200" b="0" i="0" u="none" strike="noStrike" kern="0" cap="none" spc="5" normalizeH="0" baseline="0" noProof="0">
                <a:ln>
                  <a:noFill/>
                </a:ln>
                <a:solidFill>
                  <a:sysClr val="windowText" lastClr="000000"/>
                </a:solidFill>
                <a:effectLst/>
                <a:uLnTx/>
                <a:uFillTx/>
                <a:latin typeface="Tahoma"/>
                <a:cs typeface="Tahoma"/>
              </a:rPr>
              <a:t> </a:t>
            </a:r>
            <a:r>
              <a:rPr kumimoji="0" sz="1200" b="0" i="0" u="none" strike="noStrike" kern="0" cap="none" spc="-10" normalizeH="0" baseline="0" noProof="0">
                <a:ln>
                  <a:noFill/>
                </a:ln>
                <a:solidFill>
                  <a:sysClr val="windowText" lastClr="000000"/>
                </a:solidFill>
                <a:effectLst/>
                <a:uLnTx/>
                <a:uFillTx/>
                <a:latin typeface="Tahoma"/>
                <a:cs typeface="Tahoma"/>
              </a:rPr>
              <a:t>Status</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38" name="object 38"/>
          <p:cNvSpPr/>
          <p:nvPr/>
        </p:nvSpPr>
        <p:spPr>
          <a:xfrm>
            <a:off x="5634863" y="5399760"/>
            <a:ext cx="2181225" cy="277495"/>
          </a:xfrm>
          <a:custGeom>
            <a:avLst/>
            <a:gdLst/>
            <a:ahLst/>
            <a:cxnLst/>
            <a:rect l="l" t="t" r="r" b="b"/>
            <a:pathLst>
              <a:path w="2181225" h="277495">
                <a:moveTo>
                  <a:pt x="2180843" y="0"/>
                </a:moveTo>
                <a:lnTo>
                  <a:pt x="0" y="0"/>
                </a:lnTo>
                <a:lnTo>
                  <a:pt x="0" y="276999"/>
                </a:lnTo>
                <a:lnTo>
                  <a:pt x="2180843" y="276999"/>
                </a:lnTo>
                <a:lnTo>
                  <a:pt x="2180843"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39"/>
          <p:cNvSpPr txBox="1"/>
          <p:nvPr/>
        </p:nvSpPr>
        <p:spPr>
          <a:xfrm>
            <a:off x="5743702" y="5430418"/>
            <a:ext cx="1963420" cy="2089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a:ln>
                  <a:noFill/>
                </a:ln>
                <a:solidFill>
                  <a:sysClr val="windowText" lastClr="000000"/>
                </a:solidFill>
                <a:effectLst/>
                <a:uLnTx/>
                <a:uFillTx/>
                <a:latin typeface="Tahoma"/>
                <a:cs typeface="Tahoma"/>
              </a:rPr>
              <a:t>International</a:t>
            </a:r>
            <a:r>
              <a:rPr kumimoji="0" sz="1200" b="0" i="0" u="none" strike="noStrike" kern="0" cap="none" spc="350" normalizeH="0" baseline="0" noProof="0">
                <a:ln>
                  <a:noFill/>
                </a:ln>
                <a:solidFill>
                  <a:sysClr val="windowText" lastClr="000000"/>
                </a:solidFill>
                <a:effectLst/>
                <a:uLnTx/>
                <a:uFillTx/>
                <a:latin typeface="Tahoma"/>
                <a:cs typeface="Tahoma"/>
              </a:rPr>
              <a:t> </a:t>
            </a:r>
            <a:r>
              <a:rPr kumimoji="0" sz="1200" b="0" i="0" u="none" strike="noStrike" kern="0" cap="none" spc="35" normalizeH="0" baseline="0" noProof="0">
                <a:ln>
                  <a:noFill/>
                </a:ln>
                <a:solidFill>
                  <a:sysClr val="windowText" lastClr="000000"/>
                </a:solidFill>
                <a:effectLst/>
                <a:uLnTx/>
                <a:uFillTx/>
                <a:latin typeface="Tahoma"/>
                <a:cs typeface="Tahoma"/>
              </a:rPr>
              <a:t>Certifications</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pic>
        <p:nvPicPr>
          <p:cNvPr id="40" name="object 40"/>
          <p:cNvPicPr/>
          <p:nvPr/>
        </p:nvPicPr>
        <p:blipFill>
          <a:blip r:embed="rId5" cstate="print"/>
          <a:stretch>
            <a:fillRect/>
          </a:stretch>
        </p:blipFill>
        <p:spPr>
          <a:xfrm>
            <a:off x="8885555" y="1810257"/>
            <a:ext cx="2980054" cy="4514811"/>
          </a:xfrm>
          <a:prstGeom prst="rect">
            <a:avLst/>
          </a:prstGeom>
        </p:spPr>
      </p:pic>
      <p:sp>
        <p:nvSpPr>
          <p:cNvPr id="41" name="object 41"/>
          <p:cNvSpPr txBox="1"/>
          <p:nvPr/>
        </p:nvSpPr>
        <p:spPr>
          <a:xfrm>
            <a:off x="9175242" y="3294318"/>
            <a:ext cx="2453640" cy="2968625"/>
          </a:xfrm>
          <a:prstGeom prst="rect">
            <a:avLst/>
          </a:prstGeom>
        </p:spPr>
        <p:txBody>
          <a:bodyPr vert="horz" wrap="square" lIns="0" tIns="112395" rIns="0" bIns="0" rtlCol="0">
            <a:spAutoFit/>
          </a:bodyPr>
          <a:lstStyle/>
          <a:p>
            <a:pPr marL="443865" marR="0" lvl="0" indent="0" defTabSz="914400" eaLnBrk="1" fontAlgn="auto" latinLnBrk="0" hangingPunct="1">
              <a:lnSpc>
                <a:spcPct val="100000"/>
              </a:lnSpc>
              <a:spcBef>
                <a:spcPts val="885"/>
              </a:spcBef>
              <a:spcAft>
                <a:spcPts val="0"/>
              </a:spcAft>
              <a:buClrTx/>
              <a:buSzTx/>
              <a:buFontTx/>
              <a:buNone/>
              <a:tabLst/>
              <a:defRPr/>
            </a:pPr>
            <a:r>
              <a:rPr kumimoji="0" sz="1200" b="1" i="0" u="none" strike="noStrike" kern="0" cap="none" spc="-75" normalizeH="0" baseline="0" noProof="0">
                <a:ln>
                  <a:noFill/>
                </a:ln>
                <a:solidFill>
                  <a:sysClr val="windowText" lastClr="000000"/>
                </a:solidFill>
                <a:effectLst/>
                <a:uLnTx/>
                <a:uFillTx/>
                <a:latin typeface="Tahoma"/>
                <a:cs typeface="Tahoma"/>
              </a:rPr>
              <a:t>Heirs</a:t>
            </a:r>
            <a:r>
              <a:rPr kumimoji="0" sz="1200" b="1" i="0" u="none" strike="noStrike" kern="0" cap="none" spc="-10" normalizeH="0" baseline="0" noProof="0">
                <a:ln>
                  <a:noFill/>
                </a:ln>
                <a:solidFill>
                  <a:sysClr val="windowText" lastClr="000000"/>
                </a:solidFill>
                <a:effectLst/>
                <a:uLnTx/>
                <a:uFillTx/>
                <a:latin typeface="Tahoma"/>
                <a:cs typeface="Tahoma"/>
              </a:rPr>
              <a:t> Technologies</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93345" marR="33655" lvl="0" indent="-81280" defTabSz="914400" eaLnBrk="1" fontAlgn="auto" latinLnBrk="0" hangingPunct="1">
              <a:lnSpc>
                <a:spcPct val="130100"/>
              </a:lnSpc>
              <a:spcBef>
                <a:spcPts val="350"/>
              </a:spcBef>
              <a:spcAft>
                <a:spcPts val="0"/>
              </a:spcAft>
              <a:buClrTx/>
              <a:buSzTx/>
              <a:buFont typeface="Arial MT"/>
              <a:buChar char="•"/>
              <a:tabLst>
                <a:tab pos="93345" algn="l"/>
              </a:tabLst>
              <a:defRPr/>
            </a:pPr>
            <a:r>
              <a:rPr kumimoji="0" sz="1200" b="0" i="0" u="none" strike="noStrike" kern="0" cap="none" spc="45" normalizeH="0" baseline="0" noProof="0">
                <a:ln>
                  <a:noFill/>
                </a:ln>
                <a:solidFill>
                  <a:sysClr val="windowText" lastClr="000000"/>
                </a:solidFill>
                <a:effectLst/>
                <a:uLnTx/>
                <a:uFillTx/>
                <a:latin typeface="Tahoma"/>
                <a:cs typeface="Tahoma"/>
              </a:rPr>
              <a:t>Physical</a:t>
            </a:r>
            <a:r>
              <a:rPr kumimoji="0" sz="1200" b="0" i="0" u="none" strike="noStrike" kern="0" cap="none" spc="-15" normalizeH="0" baseline="0" noProof="0">
                <a:ln>
                  <a:noFill/>
                </a:ln>
                <a:solidFill>
                  <a:sysClr val="windowText" lastClr="000000"/>
                </a:solidFill>
                <a:effectLst/>
                <a:uLnTx/>
                <a:uFillTx/>
                <a:latin typeface="Tahoma"/>
                <a:cs typeface="Tahoma"/>
              </a:rPr>
              <a:t> </a:t>
            </a:r>
            <a:r>
              <a:rPr kumimoji="0" sz="1200" b="0" i="0" u="none" strike="noStrike" kern="0" cap="none" spc="85" normalizeH="0" baseline="0" noProof="0">
                <a:ln>
                  <a:noFill/>
                </a:ln>
                <a:solidFill>
                  <a:sysClr val="windowText" lastClr="000000"/>
                </a:solidFill>
                <a:effectLst/>
                <a:uLnTx/>
                <a:uFillTx/>
                <a:latin typeface="Tahoma"/>
                <a:cs typeface="Tahoma"/>
              </a:rPr>
              <a:t>presence</a:t>
            </a:r>
            <a:r>
              <a:rPr kumimoji="0" sz="1200" b="0" i="0" u="none" strike="noStrike" kern="0" cap="none" spc="-50"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in</a:t>
            </a:r>
            <a:r>
              <a:rPr kumimoji="0" sz="1200" b="0" i="0" u="none" strike="noStrike" kern="0" cap="none" spc="-20" normalizeH="0" baseline="0" noProof="0">
                <a:ln>
                  <a:noFill/>
                </a:ln>
                <a:solidFill>
                  <a:sysClr val="windowText" lastClr="000000"/>
                </a:solidFill>
                <a:effectLst/>
                <a:uLnTx/>
                <a:uFillTx/>
                <a:latin typeface="Tahoma"/>
                <a:cs typeface="Tahoma"/>
              </a:rPr>
              <a:t> </a:t>
            </a:r>
            <a:r>
              <a:rPr kumimoji="0" sz="1200" b="1" i="0" u="none" strike="noStrike" kern="0" cap="none" spc="-20" normalizeH="0" baseline="0" noProof="0">
                <a:ln>
                  <a:noFill/>
                </a:ln>
                <a:solidFill>
                  <a:srgbClr val="FF0000"/>
                </a:solidFill>
                <a:effectLst/>
                <a:uLnTx/>
                <a:uFillTx/>
                <a:latin typeface="Tahoma"/>
                <a:cs typeface="Tahoma"/>
              </a:rPr>
              <a:t>Lagos</a:t>
            </a:r>
            <a:r>
              <a:rPr kumimoji="0" sz="1200" b="1" i="0" u="none" strike="noStrike" kern="0" cap="none" spc="-15" normalizeH="0" baseline="0" noProof="0">
                <a:ln>
                  <a:noFill/>
                </a:ln>
                <a:solidFill>
                  <a:srgbClr val="FF0000"/>
                </a:solidFill>
                <a:effectLst/>
                <a:uLnTx/>
                <a:uFillTx/>
                <a:latin typeface="Tahoma"/>
                <a:cs typeface="Tahoma"/>
              </a:rPr>
              <a:t> </a:t>
            </a:r>
            <a:r>
              <a:rPr kumimoji="0" sz="1200" b="1" i="0" u="none" strike="noStrike" kern="0" cap="none" spc="-50" normalizeH="0" baseline="0" noProof="0">
                <a:ln>
                  <a:noFill/>
                </a:ln>
                <a:solidFill>
                  <a:srgbClr val="FF0000"/>
                </a:solidFill>
                <a:effectLst/>
                <a:uLnTx/>
                <a:uFillTx/>
                <a:latin typeface="Tahoma"/>
                <a:cs typeface="Tahoma"/>
              </a:rPr>
              <a:t>&amp; </a:t>
            </a:r>
            <a:r>
              <a:rPr kumimoji="0" sz="1200" b="1" i="0" u="none" strike="noStrike" kern="0" cap="none" spc="0" normalizeH="0" baseline="0" noProof="0">
                <a:ln>
                  <a:noFill/>
                </a:ln>
                <a:solidFill>
                  <a:srgbClr val="FF0000"/>
                </a:solidFill>
                <a:effectLst/>
                <a:uLnTx/>
                <a:uFillTx/>
                <a:latin typeface="Tahoma"/>
                <a:cs typeface="Tahoma"/>
              </a:rPr>
              <a:t>Abuja</a:t>
            </a:r>
            <a:r>
              <a:rPr kumimoji="0" sz="1200" b="1" i="0" u="none" strike="noStrike" kern="0" cap="none" spc="-20" normalizeH="0" baseline="0" noProof="0">
                <a:ln>
                  <a:noFill/>
                </a:ln>
                <a:solidFill>
                  <a:srgbClr val="FF0000"/>
                </a:solidFill>
                <a:effectLst/>
                <a:uLnTx/>
                <a:uFillTx/>
                <a:latin typeface="Tahoma"/>
                <a:cs typeface="Tahoma"/>
              </a:rPr>
              <a:t> </a:t>
            </a:r>
            <a:r>
              <a:rPr kumimoji="0" sz="1200" b="0" i="0" u="none" strike="noStrike" kern="0" cap="none" spc="130" normalizeH="0" baseline="0" noProof="0">
                <a:ln>
                  <a:noFill/>
                </a:ln>
                <a:solidFill>
                  <a:sysClr val="windowText" lastClr="000000"/>
                </a:solidFill>
                <a:effectLst/>
                <a:uLnTx/>
                <a:uFillTx/>
                <a:latin typeface="Tahoma"/>
                <a:cs typeface="Tahoma"/>
              </a:rPr>
              <a:t>and</a:t>
            </a:r>
            <a:r>
              <a:rPr kumimoji="0" sz="1200" b="0" i="0" u="none" strike="noStrike" kern="0" cap="none" spc="-30" normalizeH="0" baseline="0" noProof="0">
                <a:ln>
                  <a:noFill/>
                </a:ln>
                <a:solidFill>
                  <a:sysClr val="windowText" lastClr="000000"/>
                </a:solidFill>
                <a:effectLst/>
                <a:uLnTx/>
                <a:uFillTx/>
                <a:latin typeface="Tahoma"/>
                <a:cs typeface="Tahoma"/>
              </a:rPr>
              <a:t> </a:t>
            </a:r>
            <a:r>
              <a:rPr kumimoji="0" sz="1200" b="0" i="0" u="none" strike="noStrike" kern="0" cap="none" spc="125" normalizeH="0" baseline="0" noProof="0">
                <a:ln>
                  <a:noFill/>
                </a:ln>
                <a:solidFill>
                  <a:sysClr val="windowText" lastClr="000000"/>
                </a:solidFill>
                <a:effectLst/>
                <a:uLnTx/>
                <a:uFillTx/>
                <a:latin typeface="Tahoma"/>
                <a:cs typeface="Tahoma"/>
              </a:rPr>
              <a:t>we</a:t>
            </a:r>
            <a:r>
              <a:rPr kumimoji="0" sz="1200" b="0" i="0" u="none" strike="noStrike" kern="0" cap="none" spc="-60" normalizeH="0" baseline="0" noProof="0">
                <a:ln>
                  <a:noFill/>
                </a:ln>
                <a:solidFill>
                  <a:sysClr val="windowText" lastClr="000000"/>
                </a:solidFill>
                <a:effectLst/>
                <a:uLnTx/>
                <a:uFillTx/>
                <a:latin typeface="Tahoma"/>
                <a:cs typeface="Tahoma"/>
              </a:rPr>
              <a:t> </a:t>
            </a:r>
            <a:r>
              <a:rPr kumimoji="0" sz="1200" b="0" i="0" u="none" strike="noStrike" kern="0" cap="none" spc="60" normalizeH="0" baseline="0" noProof="0">
                <a:ln>
                  <a:noFill/>
                </a:ln>
                <a:solidFill>
                  <a:sysClr val="windowText" lastClr="000000"/>
                </a:solidFill>
                <a:effectLst/>
                <a:uLnTx/>
                <a:uFillTx/>
                <a:latin typeface="Tahoma"/>
                <a:cs typeface="Tahoma"/>
              </a:rPr>
              <a:t>provide </a:t>
            </a:r>
            <a:r>
              <a:rPr kumimoji="0" sz="1200" b="0" i="0" u="none" strike="noStrike" kern="0" cap="none" spc="85" normalizeH="0" baseline="0" noProof="0">
                <a:ln>
                  <a:noFill/>
                </a:ln>
                <a:solidFill>
                  <a:sysClr val="windowText" lastClr="000000"/>
                </a:solidFill>
                <a:effectLst/>
                <a:uLnTx/>
                <a:uFillTx/>
                <a:latin typeface="Tahoma"/>
                <a:cs typeface="Tahoma"/>
              </a:rPr>
              <a:t>technology</a:t>
            </a:r>
            <a:r>
              <a:rPr kumimoji="0" sz="1200" b="0" i="0" u="none" strike="noStrike" kern="0" cap="none" spc="17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support</a:t>
            </a:r>
            <a:r>
              <a:rPr kumimoji="0" sz="1200" b="0" i="0" u="none" strike="noStrike" kern="0" cap="none" spc="150"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services</a:t>
            </a:r>
            <a:r>
              <a:rPr kumimoji="0" sz="1200" b="0" i="0" u="none" strike="noStrike" kern="0" cap="none" spc="120" normalizeH="0" baseline="0" noProof="0">
                <a:ln>
                  <a:noFill/>
                </a:ln>
                <a:solidFill>
                  <a:sysClr val="windowText" lastClr="000000"/>
                </a:solidFill>
                <a:effectLst/>
                <a:uLnTx/>
                <a:uFillTx/>
                <a:latin typeface="Tahoma"/>
                <a:cs typeface="Tahoma"/>
              </a:rPr>
              <a:t> </a:t>
            </a:r>
            <a:r>
              <a:rPr kumimoji="0" sz="1200" b="0" i="0" u="none" strike="noStrike" kern="0" cap="none" spc="30" normalizeH="0" baseline="0" noProof="0">
                <a:ln>
                  <a:noFill/>
                </a:ln>
                <a:solidFill>
                  <a:sysClr val="windowText" lastClr="000000"/>
                </a:solidFill>
                <a:effectLst/>
                <a:uLnTx/>
                <a:uFillTx/>
                <a:latin typeface="Tahoma"/>
                <a:cs typeface="Tahoma"/>
              </a:rPr>
              <a:t>to </a:t>
            </a:r>
            <a:r>
              <a:rPr kumimoji="0" sz="1200" b="1" i="0" u="none" strike="noStrike" kern="0" cap="none" spc="-100" normalizeH="0" baseline="0" noProof="0">
                <a:ln>
                  <a:noFill/>
                </a:ln>
                <a:solidFill>
                  <a:srgbClr val="FF0000"/>
                </a:solidFill>
                <a:effectLst/>
                <a:uLnTx/>
                <a:uFillTx/>
                <a:latin typeface="Tahoma"/>
                <a:cs typeface="Tahoma"/>
              </a:rPr>
              <a:t>19</a:t>
            </a:r>
            <a:r>
              <a:rPr kumimoji="0" sz="1200" b="1" i="0" u="none" strike="noStrike" kern="0" cap="none" spc="160" normalizeH="0" baseline="0" noProof="0">
                <a:ln>
                  <a:noFill/>
                </a:ln>
                <a:solidFill>
                  <a:srgbClr val="FF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countries</a:t>
            </a:r>
            <a:r>
              <a:rPr kumimoji="0" sz="1200" b="0" i="0" u="none" strike="noStrike" kern="0" cap="none" spc="145" normalizeH="0" baseline="0" noProof="0">
                <a:ln>
                  <a:noFill/>
                </a:ln>
                <a:solidFill>
                  <a:sysClr val="windowText" lastClr="000000"/>
                </a:solidFill>
                <a:effectLst/>
                <a:uLnTx/>
                <a:uFillTx/>
                <a:latin typeface="Tahoma"/>
                <a:cs typeface="Tahoma"/>
              </a:rPr>
              <a:t> </a:t>
            </a:r>
            <a:r>
              <a:rPr kumimoji="0" sz="1200" b="0" i="0" u="none" strike="noStrike" kern="0" cap="none" spc="75" normalizeH="0" baseline="0" noProof="0">
                <a:ln>
                  <a:noFill/>
                </a:ln>
                <a:solidFill>
                  <a:sysClr val="windowText" lastClr="000000"/>
                </a:solidFill>
                <a:effectLst/>
                <a:uLnTx/>
                <a:uFillTx/>
                <a:latin typeface="Tahoma"/>
                <a:cs typeface="Tahoma"/>
              </a:rPr>
              <a:t>where</a:t>
            </a:r>
            <a:r>
              <a:rPr kumimoji="0" sz="1200" b="0" i="0" u="none" strike="noStrike" kern="0" cap="none" spc="12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United</a:t>
            </a:r>
            <a:r>
              <a:rPr kumimoji="0" sz="1200" b="0" i="0" u="none" strike="noStrike" kern="0" cap="none" spc="165" normalizeH="0" baseline="0" noProof="0">
                <a:ln>
                  <a:noFill/>
                </a:ln>
                <a:solidFill>
                  <a:sysClr val="windowText" lastClr="000000"/>
                </a:solidFill>
                <a:effectLst/>
                <a:uLnTx/>
                <a:uFillTx/>
                <a:latin typeface="Tahoma"/>
                <a:cs typeface="Tahoma"/>
              </a:rPr>
              <a:t> </a:t>
            </a:r>
            <a:r>
              <a:rPr kumimoji="0" sz="1200" b="0" i="0" u="none" strike="noStrike" kern="0" cap="none" spc="30" normalizeH="0" baseline="0" noProof="0">
                <a:ln>
                  <a:noFill/>
                </a:ln>
                <a:solidFill>
                  <a:sysClr val="windowText" lastClr="000000"/>
                </a:solidFill>
                <a:effectLst/>
                <a:uLnTx/>
                <a:uFillTx/>
                <a:latin typeface="Tahoma"/>
                <a:cs typeface="Tahoma"/>
              </a:rPr>
              <a:t>Bank </a:t>
            </a:r>
            <a:r>
              <a:rPr kumimoji="0" sz="1200" b="0" i="0" u="none" strike="noStrike" kern="0" cap="none" spc="0" normalizeH="0" baseline="0" noProof="0">
                <a:ln>
                  <a:noFill/>
                </a:ln>
                <a:solidFill>
                  <a:sysClr val="windowText" lastClr="000000"/>
                </a:solidFill>
                <a:effectLst/>
                <a:uLnTx/>
                <a:uFillTx/>
                <a:latin typeface="Tahoma"/>
                <a:cs typeface="Tahoma"/>
              </a:rPr>
              <a:t>for</a:t>
            </a:r>
            <a:r>
              <a:rPr kumimoji="0" sz="1200" b="0" i="0" u="none" strike="noStrike" kern="0" cap="none" spc="40" normalizeH="0" baseline="0" noProof="0">
                <a:ln>
                  <a:noFill/>
                </a:ln>
                <a:solidFill>
                  <a:sysClr val="windowText" lastClr="000000"/>
                </a:solidFill>
                <a:effectLst/>
                <a:uLnTx/>
                <a:uFillTx/>
                <a:latin typeface="Tahoma"/>
                <a:cs typeface="Tahoma"/>
              </a:rPr>
              <a:t> </a:t>
            </a:r>
            <a:r>
              <a:rPr kumimoji="0" sz="1200" b="0" i="0" u="none" strike="noStrike" kern="0" cap="none" spc="70" normalizeH="0" baseline="0" noProof="0">
                <a:ln>
                  <a:noFill/>
                </a:ln>
                <a:solidFill>
                  <a:sysClr val="windowText" lastClr="000000"/>
                </a:solidFill>
                <a:effectLst/>
                <a:uLnTx/>
                <a:uFillTx/>
                <a:latin typeface="Tahoma"/>
                <a:cs typeface="Tahoma"/>
              </a:rPr>
              <a:t>Africa</a:t>
            </a:r>
            <a:r>
              <a:rPr kumimoji="0" sz="1200" b="0" i="0" u="none" strike="noStrike" kern="0" cap="none" spc="4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(clients)</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55" normalizeH="0" baseline="0" noProof="0">
                <a:ln>
                  <a:noFill/>
                </a:ln>
                <a:solidFill>
                  <a:sysClr val="windowText" lastClr="000000"/>
                </a:solidFill>
                <a:effectLst/>
                <a:uLnTx/>
                <a:uFillTx/>
                <a:latin typeface="Tahoma"/>
                <a:cs typeface="Tahoma"/>
              </a:rPr>
              <a:t>operates</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93345" marR="0" lvl="0" indent="-80645" defTabSz="914400" eaLnBrk="1" fontAlgn="auto" latinLnBrk="0" hangingPunct="1">
              <a:lnSpc>
                <a:spcPct val="100000"/>
              </a:lnSpc>
              <a:spcBef>
                <a:spcPts val="430"/>
              </a:spcBef>
              <a:spcAft>
                <a:spcPts val="0"/>
              </a:spcAft>
              <a:buClrTx/>
              <a:buSzTx/>
              <a:buFont typeface="Arial MT"/>
              <a:buChar char="•"/>
              <a:tabLst>
                <a:tab pos="93345" algn="l"/>
              </a:tabLst>
              <a:defRPr/>
            </a:pPr>
            <a:r>
              <a:rPr kumimoji="0" sz="1200" b="0" i="0" u="none" strike="noStrike" kern="0" cap="none" spc="75" normalizeH="0" baseline="0" noProof="0">
                <a:ln>
                  <a:noFill/>
                </a:ln>
                <a:solidFill>
                  <a:sysClr val="windowText" lastClr="000000"/>
                </a:solidFill>
                <a:effectLst/>
                <a:uLnTx/>
                <a:uFillTx/>
                <a:latin typeface="Tahoma"/>
                <a:cs typeface="Tahoma"/>
              </a:rPr>
              <a:t>Over</a:t>
            </a:r>
            <a:r>
              <a:rPr kumimoji="0" sz="1200" b="0" i="0" u="none" strike="noStrike" kern="0" cap="none" spc="60" normalizeH="0" baseline="0" noProof="0">
                <a:ln>
                  <a:noFill/>
                </a:ln>
                <a:solidFill>
                  <a:sysClr val="windowText" lastClr="000000"/>
                </a:solidFill>
                <a:effectLst/>
                <a:uLnTx/>
                <a:uFillTx/>
                <a:latin typeface="Tahoma"/>
                <a:cs typeface="Tahoma"/>
              </a:rPr>
              <a:t> </a:t>
            </a:r>
            <a:r>
              <a:rPr kumimoji="0" sz="1200" b="1" i="0" u="none" strike="noStrike" kern="0" cap="none" spc="-100" normalizeH="0" baseline="0" noProof="0">
                <a:ln>
                  <a:noFill/>
                </a:ln>
                <a:solidFill>
                  <a:srgbClr val="FF0000"/>
                </a:solidFill>
                <a:effectLst/>
                <a:uLnTx/>
                <a:uFillTx/>
                <a:latin typeface="Tahoma"/>
                <a:cs typeface="Tahoma"/>
              </a:rPr>
              <a:t>100</a:t>
            </a:r>
            <a:r>
              <a:rPr kumimoji="0" sz="1200" b="1" i="0" u="none" strike="noStrike" kern="0" cap="none" spc="80" normalizeH="0" baseline="0" noProof="0">
                <a:ln>
                  <a:noFill/>
                </a:ln>
                <a:solidFill>
                  <a:srgbClr val="FF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professionals</a:t>
            </a:r>
            <a:r>
              <a:rPr kumimoji="0" sz="1200" b="0" i="0" u="none" strike="noStrike" kern="0" cap="none" spc="50" normalizeH="0" baseline="0" noProof="0">
                <a:ln>
                  <a:noFill/>
                </a:ln>
                <a:solidFill>
                  <a:sysClr val="windowText" lastClr="000000"/>
                </a:solidFill>
                <a:effectLst/>
                <a:uLnTx/>
                <a:uFillTx/>
                <a:latin typeface="Tahoma"/>
                <a:cs typeface="Tahoma"/>
              </a:rPr>
              <a:t> </a:t>
            </a:r>
            <a:r>
              <a:rPr kumimoji="0" sz="1200" b="0" i="0" u="none" strike="noStrike" kern="0" cap="none" spc="130" normalizeH="0" baseline="0" noProof="0">
                <a:ln>
                  <a:noFill/>
                </a:ln>
                <a:solidFill>
                  <a:sysClr val="windowText" lastClr="000000"/>
                </a:solidFill>
                <a:effectLst/>
                <a:uLnTx/>
                <a:uFillTx/>
                <a:latin typeface="Tahoma"/>
                <a:cs typeface="Tahoma"/>
              </a:rPr>
              <a:t>and</a:t>
            </a:r>
            <a:r>
              <a:rPr kumimoji="0" sz="1200" b="0" i="0" u="none" strike="noStrike" kern="0" cap="none" spc="85" normalizeH="0" baseline="0" noProof="0">
                <a:ln>
                  <a:noFill/>
                </a:ln>
                <a:solidFill>
                  <a:sysClr val="windowText" lastClr="000000"/>
                </a:solidFill>
                <a:effectLst/>
                <a:uLnTx/>
                <a:uFillTx/>
                <a:latin typeface="Tahoma"/>
                <a:cs typeface="Tahoma"/>
              </a:rPr>
              <a:t> </a:t>
            </a:r>
            <a:r>
              <a:rPr kumimoji="0" sz="1200" b="1" i="0" u="none" strike="noStrike" kern="0" cap="none" spc="-25" normalizeH="0" baseline="0" noProof="0">
                <a:ln>
                  <a:noFill/>
                </a:ln>
                <a:solidFill>
                  <a:srgbClr val="FF0000"/>
                </a:solidFill>
                <a:effectLst/>
                <a:uLnTx/>
                <a:uFillTx/>
                <a:latin typeface="Tahoma"/>
                <a:cs typeface="Tahoma"/>
              </a:rPr>
              <a:t>55</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93345" marR="0" lvl="0" indent="0" defTabSz="914400" eaLnBrk="1" fontAlgn="auto" latinLnBrk="0" hangingPunct="1">
              <a:lnSpc>
                <a:spcPct val="100000"/>
              </a:lnSpc>
              <a:spcBef>
                <a:spcPts val="430"/>
              </a:spcBef>
              <a:spcAft>
                <a:spcPts val="0"/>
              </a:spcAft>
              <a:buClrTx/>
              <a:buSzTx/>
              <a:buFontTx/>
              <a:buNone/>
              <a:tabLst/>
              <a:defRPr/>
            </a:pPr>
            <a:r>
              <a:rPr kumimoji="0" sz="1200" b="0" i="0" u="none" strike="noStrike" kern="0" cap="none" spc="0" normalizeH="0" baseline="0" noProof="0">
                <a:ln>
                  <a:noFill/>
                </a:ln>
                <a:solidFill>
                  <a:sysClr val="windowText" lastClr="000000"/>
                </a:solidFill>
                <a:effectLst/>
                <a:uLnTx/>
                <a:uFillTx/>
                <a:latin typeface="Tahoma"/>
                <a:cs typeface="Tahoma"/>
              </a:rPr>
              <a:t>partners</a:t>
            </a:r>
            <a:r>
              <a:rPr kumimoji="0" sz="1200" b="0" i="0" u="none" strike="noStrike" kern="0" cap="none" spc="140"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in</a:t>
            </a:r>
            <a:r>
              <a:rPr kumimoji="0" sz="1200" b="0" i="0" u="none" strike="noStrike" kern="0" cap="none" spc="95" normalizeH="0" baseline="0" noProof="0">
                <a:ln>
                  <a:noFill/>
                </a:ln>
                <a:solidFill>
                  <a:sysClr val="windowText" lastClr="000000"/>
                </a:solidFill>
                <a:effectLst/>
                <a:uLnTx/>
                <a:uFillTx/>
                <a:latin typeface="Tahoma"/>
                <a:cs typeface="Tahoma"/>
              </a:rPr>
              <a:t> </a:t>
            </a:r>
            <a:r>
              <a:rPr kumimoji="0" sz="1200" b="0" i="0" u="none" strike="noStrike" kern="0" cap="none" spc="60" normalizeH="0" baseline="0" noProof="0">
                <a:ln>
                  <a:noFill/>
                </a:ln>
                <a:solidFill>
                  <a:sysClr val="windowText" lastClr="000000"/>
                </a:solidFill>
                <a:effectLst/>
                <a:uLnTx/>
                <a:uFillTx/>
                <a:latin typeface="Tahoma"/>
                <a:cs typeface="Tahoma"/>
              </a:rPr>
              <a:t>Africa</a:t>
            </a:r>
            <a:endParaRPr kumimoji="0" sz="1200" b="0" i="0" u="none" strike="noStrike" kern="0" cap="none" spc="0" normalizeH="0" baseline="0" noProof="0">
              <a:ln>
                <a:noFill/>
              </a:ln>
              <a:solidFill>
                <a:sysClr val="windowText" lastClr="000000"/>
              </a:solidFill>
              <a:effectLst/>
              <a:uLnTx/>
              <a:uFillTx/>
              <a:latin typeface="Tahoma"/>
              <a:cs typeface="Tahoma"/>
            </a:endParaRPr>
          </a:p>
          <a:p>
            <a:pPr marL="93345" marR="5080" lvl="0" indent="-81280" defTabSz="914400" eaLnBrk="1" fontAlgn="auto" latinLnBrk="0" hangingPunct="1">
              <a:lnSpc>
                <a:spcPct val="130000"/>
              </a:lnSpc>
              <a:spcBef>
                <a:spcPts val="0"/>
              </a:spcBef>
              <a:spcAft>
                <a:spcPts val="0"/>
              </a:spcAft>
              <a:buClrTx/>
              <a:buSzTx/>
              <a:buFont typeface="Arial MT"/>
              <a:buChar char="•"/>
              <a:tabLst>
                <a:tab pos="93345" algn="l"/>
              </a:tabLst>
              <a:defRPr/>
            </a:pPr>
            <a:r>
              <a:rPr kumimoji="0" sz="1200" b="0" i="0" u="none" strike="noStrike" kern="0" cap="none" spc="-10" normalizeH="0" baseline="0" noProof="0">
                <a:ln>
                  <a:noFill/>
                </a:ln>
                <a:solidFill>
                  <a:sysClr val="windowText" lastClr="000000"/>
                </a:solidFill>
                <a:effectLst/>
                <a:uLnTx/>
                <a:uFillTx/>
                <a:latin typeface="Tahoma"/>
                <a:cs typeface="Tahoma"/>
              </a:rPr>
              <a:t>Heirs</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50" normalizeH="0" baseline="0" noProof="0">
                <a:ln>
                  <a:noFill/>
                </a:ln>
                <a:solidFill>
                  <a:sysClr val="windowText" lastClr="000000"/>
                </a:solidFill>
                <a:effectLst/>
                <a:uLnTx/>
                <a:uFillTx/>
                <a:latin typeface="Tahoma"/>
                <a:cs typeface="Tahoma"/>
              </a:rPr>
              <a:t>Tech</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50" normalizeH="0" baseline="0" noProof="0">
                <a:ln>
                  <a:noFill/>
                </a:ln>
                <a:solidFill>
                  <a:sysClr val="windowText" lastClr="000000"/>
                </a:solidFill>
                <a:effectLst/>
                <a:uLnTx/>
                <a:uFillTx/>
                <a:latin typeface="Tahoma"/>
                <a:cs typeface="Tahoma"/>
              </a:rPr>
              <a:t>provides</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services</a:t>
            </a:r>
            <a:r>
              <a:rPr kumimoji="0" sz="1200" b="0" i="0" u="none" strike="noStrike" kern="0" cap="none" spc="10" normalizeH="0" baseline="0" noProof="0">
                <a:ln>
                  <a:noFill/>
                </a:ln>
                <a:solidFill>
                  <a:sysClr val="windowText" lastClr="000000"/>
                </a:solidFill>
                <a:effectLst/>
                <a:uLnTx/>
                <a:uFillTx/>
                <a:latin typeface="Tahoma"/>
                <a:cs typeface="Tahoma"/>
              </a:rPr>
              <a:t> </a:t>
            </a:r>
            <a:r>
              <a:rPr kumimoji="0" sz="1200" b="0" i="0" u="none" strike="noStrike" kern="0" cap="none" spc="25" normalizeH="0" baseline="0" noProof="0">
                <a:ln>
                  <a:noFill/>
                </a:ln>
                <a:solidFill>
                  <a:sysClr val="windowText" lastClr="000000"/>
                </a:solidFill>
                <a:effectLst/>
                <a:uLnTx/>
                <a:uFillTx/>
                <a:latin typeface="Tahoma"/>
                <a:cs typeface="Tahoma"/>
              </a:rPr>
              <a:t>to </a:t>
            </a:r>
            <a:r>
              <a:rPr kumimoji="0" sz="1200" b="0" i="0" u="none" strike="noStrike" kern="0" cap="none" spc="55" normalizeH="0" baseline="0" noProof="0">
                <a:ln>
                  <a:noFill/>
                </a:ln>
                <a:solidFill>
                  <a:sysClr val="windowText" lastClr="000000"/>
                </a:solidFill>
                <a:effectLst/>
                <a:uLnTx/>
                <a:uFillTx/>
                <a:latin typeface="Tahoma"/>
                <a:cs typeface="Tahoma"/>
              </a:rPr>
              <a:t>over</a:t>
            </a:r>
            <a:r>
              <a:rPr kumimoji="0" sz="1200" b="0" i="0" u="none" strike="noStrike" kern="0" cap="none" spc="-10" normalizeH="0" baseline="0" noProof="0">
                <a:ln>
                  <a:noFill/>
                </a:ln>
                <a:solidFill>
                  <a:sysClr val="windowText" lastClr="000000"/>
                </a:solidFill>
                <a:effectLst/>
                <a:uLnTx/>
                <a:uFillTx/>
                <a:latin typeface="Tahoma"/>
                <a:cs typeface="Tahoma"/>
              </a:rPr>
              <a:t> </a:t>
            </a:r>
            <a:r>
              <a:rPr kumimoji="0" sz="1200" b="1" i="0" u="none" strike="noStrike" kern="0" cap="none" spc="-80" normalizeH="0" baseline="0" noProof="0">
                <a:ln>
                  <a:noFill/>
                </a:ln>
                <a:solidFill>
                  <a:srgbClr val="FF0000"/>
                </a:solidFill>
                <a:effectLst/>
                <a:uLnTx/>
                <a:uFillTx/>
                <a:latin typeface="Tahoma"/>
                <a:cs typeface="Tahoma"/>
              </a:rPr>
              <a:t>30+</a:t>
            </a:r>
            <a:r>
              <a:rPr kumimoji="0" sz="1200" b="1" i="0" u="none" strike="noStrike" kern="0" cap="none" spc="370" normalizeH="0" baseline="0" noProof="0">
                <a:ln>
                  <a:noFill/>
                </a:ln>
                <a:solidFill>
                  <a:srgbClr val="FF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clients</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a:t>
            </a:r>
            <a:r>
              <a:rPr kumimoji="0" sz="1200" b="0" i="0" u="none" strike="noStrike" kern="0" cap="none" spc="-20" normalizeH="0" baseline="0" noProof="0">
                <a:ln>
                  <a:noFill/>
                </a:ln>
                <a:solidFill>
                  <a:sysClr val="windowText" lastClr="000000"/>
                </a:solidFill>
                <a:effectLst/>
                <a:uLnTx/>
                <a:uFillTx/>
                <a:latin typeface="Tahoma"/>
                <a:cs typeface="Tahoma"/>
              </a:rPr>
              <a:t> </a:t>
            </a:r>
            <a:r>
              <a:rPr kumimoji="0" sz="1200" b="0" i="0" u="none" strike="noStrike" kern="0" cap="none" spc="-85" normalizeH="0" baseline="0" noProof="0">
                <a:ln>
                  <a:noFill/>
                </a:ln>
                <a:solidFill>
                  <a:sysClr val="windowText" lastClr="000000"/>
                </a:solidFill>
                <a:effectLst/>
                <a:uLnTx/>
                <a:uFillTx/>
                <a:latin typeface="Tahoma"/>
                <a:cs typeface="Tahoma"/>
              </a:rPr>
              <a:t>FSI,</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Oil</a:t>
            </a:r>
            <a:r>
              <a:rPr kumimoji="0" sz="1200" b="0" i="0" u="none" strike="noStrike" kern="0" cap="none" spc="-25" normalizeH="0" baseline="0" noProof="0">
                <a:ln>
                  <a:noFill/>
                </a:ln>
                <a:solidFill>
                  <a:sysClr val="windowText" lastClr="000000"/>
                </a:solidFill>
                <a:effectLst/>
                <a:uLnTx/>
                <a:uFillTx/>
                <a:latin typeface="Tahoma"/>
                <a:cs typeface="Tahoma"/>
              </a:rPr>
              <a:t> </a:t>
            </a:r>
            <a:r>
              <a:rPr kumimoji="0" sz="1200" b="0" i="0" u="none" strike="noStrike" kern="0" cap="none" spc="85" normalizeH="0" baseline="0" noProof="0">
                <a:ln>
                  <a:noFill/>
                </a:ln>
                <a:solidFill>
                  <a:sysClr val="windowText" lastClr="000000"/>
                </a:solidFill>
                <a:effectLst/>
                <a:uLnTx/>
                <a:uFillTx/>
                <a:latin typeface="Tahoma"/>
                <a:cs typeface="Tahoma"/>
              </a:rPr>
              <a:t>&amp;</a:t>
            </a:r>
            <a:r>
              <a:rPr kumimoji="0" sz="1200" b="0" i="0" u="none" strike="noStrike" kern="0" cap="none" spc="-20" normalizeH="0" baseline="0" noProof="0">
                <a:ln>
                  <a:noFill/>
                </a:ln>
                <a:solidFill>
                  <a:sysClr val="windowText" lastClr="000000"/>
                </a:solidFill>
                <a:effectLst/>
                <a:uLnTx/>
                <a:uFillTx/>
                <a:latin typeface="Tahoma"/>
                <a:cs typeface="Tahoma"/>
              </a:rPr>
              <a:t> </a:t>
            </a:r>
            <a:r>
              <a:rPr kumimoji="0" sz="1200" b="0" i="0" u="none" strike="noStrike" kern="0" cap="none" spc="55" normalizeH="0" baseline="0" noProof="0">
                <a:ln>
                  <a:noFill/>
                </a:ln>
                <a:solidFill>
                  <a:sysClr val="windowText" lastClr="000000"/>
                </a:solidFill>
                <a:effectLst/>
                <a:uLnTx/>
                <a:uFillTx/>
                <a:latin typeface="Tahoma"/>
                <a:cs typeface="Tahoma"/>
              </a:rPr>
              <a:t>Gas, </a:t>
            </a:r>
            <a:r>
              <a:rPr kumimoji="0" sz="1200" b="0" i="0" u="none" strike="noStrike" kern="0" cap="none" spc="70" normalizeH="0" baseline="0" noProof="0">
                <a:ln>
                  <a:noFill/>
                </a:ln>
                <a:solidFill>
                  <a:sysClr val="windowText" lastClr="000000"/>
                </a:solidFill>
                <a:effectLst/>
                <a:uLnTx/>
                <a:uFillTx/>
                <a:latin typeface="Tahoma"/>
                <a:cs typeface="Tahoma"/>
              </a:rPr>
              <a:t>Government,</a:t>
            </a:r>
            <a:r>
              <a:rPr kumimoji="0" sz="1200" b="0" i="0" u="none" strike="noStrike" kern="0" cap="none" spc="95" normalizeH="0" baseline="0" noProof="0">
                <a:ln>
                  <a:noFill/>
                </a:ln>
                <a:solidFill>
                  <a:sysClr val="windowText" lastClr="000000"/>
                </a:solidFill>
                <a:effectLst/>
                <a:uLnTx/>
                <a:uFillTx/>
                <a:latin typeface="Tahoma"/>
                <a:cs typeface="Tahoma"/>
              </a:rPr>
              <a:t> </a:t>
            </a:r>
            <a:r>
              <a:rPr kumimoji="0" sz="1200" b="0" i="0" u="none" strike="noStrike" kern="0" cap="none" spc="0" normalizeH="0" baseline="0" noProof="0">
                <a:ln>
                  <a:noFill/>
                </a:ln>
                <a:solidFill>
                  <a:sysClr val="windowText" lastClr="000000"/>
                </a:solidFill>
                <a:effectLst/>
                <a:uLnTx/>
                <a:uFillTx/>
                <a:latin typeface="Tahoma"/>
                <a:cs typeface="Tahoma"/>
              </a:rPr>
              <a:t>Energy</a:t>
            </a:r>
            <a:r>
              <a:rPr kumimoji="0" sz="1200" b="0" i="0" u="none" strike="noStrike" kern="0" cap="none" spc="35" normalizeH="0" baseline="0" noProof="0">
                <a:ln>
                  <a:noFill/>
                </a:ln>
                <a:solidFill>
                  <a:sysClr val="windowText" lastClr="000000"/>
                </a:solidFill>
                <a:effectLst/>
                <a:uLnTx/>
                <a:uFillTx/>
                <a:latin typeface="Tahoma"/>
                <a:cs typeface="Tahoma"/>
              </a:rPr>
              <a:t> </a:t>
            </a:r>
            <a:r>
              <a:rPr kumimoji="0" sz="1200" b="0" i="0" u="none" strike="noStrike" kern="0" cap="none" spc="95" normalizeH="0" baseline="0" noProof="0">
                <a:ln>
                  <a:noFill/>
                </a:ln>
                <a:solidFill>
                  <a:sysClr val="windowText" lastClr="000000"/>
                </a:solidFill>
                <a:effectLst/>
                <a:uLnTx/>
                <a:uFillTx/>
                <a:latin typeface="Tahoma"/>
                <a:cs typeface="Tahoma"/>
              </a:rPr>
              <a:t>&amp;</a:t>
            </a:r>
            <a:r>
              <a:rPr kumimoji="0" sz="1200" b="0" i="0" u="none" strike="noStrike" kern="0" cap="none" spc="70" normalizeH="0" baseline="0" noProof="0">
                <a:ln>
                  <a:noFill/>
                </a:ln>
                <a:solidFill>
                  <a:sysClr val="windowText" lastClr="000000"/>
                </a:solidFill>
                <a:effectLst/>
                <a:uLnTx/>
                <a:uFillTx/>
                <a:latin typeface="Tahoma"/>
                <a:cs typeface="Tahoma"/>
              </a:rPr>
              <a:t> </a:t>
            </a:r>
            <a:r>
              <a:rPr kumimoji="0" sz="1200" b="0" i="0" u="none" strike="noStrike" kern="0" cap="none" spc="-10" normalizeH="0" baseline="0" noProof="0">
                <a:ln>
                  <a:noFill/>
                </a:ln>
                <a:solidFill>
                  <a:sysClr val="windowText" lastClr="000000"/>
                </a:solidFill>
                <a:effectLst/>
                <a:uLnTx/>
                <a:uFillTx/>
                <a:latin typeface="Tahoma"/>
                <a:cs typeface="Tahoma"/>
              </a:rPr>
              <a:t>Utilities, </a:t>
            </a:r>
            <a:r>
              <a:rPr kumimoji="0" sz="1200" b="0" i="0" u="none" strike="noStrike" kern="0" cap="none" spc="130" normalizeH="0" baseline="0" noProof="0">
                <a:ln>
                  <a:noFill/>
                </a:ln>
                <a:solidFill>
                  <a:sysClr val="windowText" lastClr="000000"/>
                </a:solidFill>
                <a:effectLst/>
                <a:uLnTx/>
                <a:uFillTx/>
                <a:latin typeface="Tahoma"/>
                <a:cs typeface="Tahoma"/>
              </a:rPr>
              <a:t>and</a:t>
            </a:r>
            <a:r>
              <a:rPr kumimoji="0" sz="1200" b="0" i="0" u="none" strike="noStrike" kern="0" cap="none" spc="-20" normalizeH="0" baseline="0" noProof="0">
                <a:ln>
                  <a:noFill/>
                </a:ln>
                <a:solidFill>
                  <a:sysClr val="windowText" lastClr="000000"/>
                </a:solidFill>
                <a:effectLst/>
                <a:uLnTx/>
                <a:uFillTx/>
                <a:latin typeface="Tahoma"/>
                <a:cs typeface="Tahoma"/>
              </a:rPr>
              <a:t> SMBs</a:t>
            </a:r>
            <a:endParaRPr kumimoji="0" sz="1200" b="0" i="0" u="none" strike="noStrike" kern="0" cap="none" spc="0" normalizeH="0" baseline="0" noProof="0">
              <a:ln>
                <a:noFill/>
              </a:ln>
              <a:solidFill>
                <a:sysClr val="windowText" lastClr="000000"/>
              </a:solidFill>
              <a:effectLst/>
              <a:uLnTx/>
              <a:uFillTx/>
              <a:latin typeface="Tahoma"/>
              <a:cs typeface="Tahoma"/>
            </a:endParaRPr>
          </a:p>
        </p:txBody>
      </p:sp>
      <p:sp>
        <p:nvSpPr>
          <p:cNvPr id="43" name="object 43"/>
          <p:cNvSpPr txBox="1"/>
          <p:nvPr/>
        </p:nvSpPr>
        <p:spPr>
          <a:xfrm>
            <a:off x="9034398" y="6528705"/>
            <a:ext cx="281368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p:nvPr/>
        </p:nvSpPr>
        <p:spPr>
          <a:xfrm>
            <a:off x="9034398" y="6529527"/>
            <a:ext cx="281368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sp>
        <p:nvSpPr>
          <p:cNvPr id="4" name="object 4"/>
          <p:cNvSpPr txBox="1">
            <a:spLocks noGrp="1"/>
          </p:cNvSpPr>
          <p:nvPr>
            <p:ph type="title"/>
          </p:nvPr>
        </p:nvSpPr>
        <p:spPr>
          <a:xfrm>
            <a:off x="618540" y="709465"/>
            <a:ext cx="10592435" cy="1233805"/>
          </a:xfrm>
          <a:prstGeom prst="rect">
            <a:avLst/>
          </a:prstGeom>
        </p:spPr>
        <p:txBody>
          <a:bodyPr vert="horz" wrap="square" lIns="0" tIns="105410" rIns="0" bIns="0" rtlCol="0">
            <a:spAutoFit/>
          </a:bodyPr>
          <a:lstStyle/>
          <a:p>
            <a:pPr marL="12700">
              <a:lnSpc>
                <a:spcPct val="100000"/>
              </a:lnSpc>
              <a:spcBef>
                <a:spcPts val="830"/>
              </a:spcBef>
            </a:pPr>
            <a:r>
              <a:rPr lang="en-US" sz="2100" spc="-95">
                <a:latin typeface="Century Gothic" panose="020B0502020202020204" pitchFamily="34" charset="0"/>
              </a:rPr>
              <a:t>Who</a:t>
            </a:r>
            <a:r>
              <a:rPr lang="en-US" sz="2100" spc="-60">
                <a:latin typeface="Century Gothic" panose="020B0502020202020204" pitchFamily="34" charset="0"/>
              </a:rPr>
              <a:t> </a:t>
            </a:r>
            <a:r>
              <a:rPr lang="en-US" sz="2100" spc="-10">
                <a:latin typeface="Century Gothic" panose="020B0502020202020204" pitchFamily="34" charset="0"/>
              </a:rPr>
              <a:t>We</a:t>
            </a:r>
            <a:r>
              <a:rPr lang="en-US" sz="2100" spc="-130">
                <a:latin typeface="Century Gothic" panose="020B0502020202020204" pitchFamily="34" charset="0"/>
              </a:rPr>
              <a:t> </a:t>
            </a:r>
            <a:r>
              <a:rPr lang="en-US" sz="2100" spc="-25">
                <a:latin typeface="Century Gothic" panose="020B0502020202020204" pitchFamily="34" charset="0"/>
              </a:rPr>
              <a:t>Are</a:t>
            </a:r>
            <a:endParaRPr lang="en-US" sz="2100">
              <a:latin typeface="Century Gothic" panose="020B0502020202020204" pitchFamily="34" charset="0"/>
            </a:endParaRPr>
          </a:p>
          <a:p>
            <a:pPr marL="12700" marR="5080">
              <a:lnSpc>
                <a:spcPct val="110500"/>
              </a:lnSpc>
              <a:spcBef>
                <a:spcPts val="315"/>
              </a:spcBef>
            </a:pPr>
            <a:r>
              <a:rPr lang="en-US" sz="1450" b="0">
                <a:solidFill>
                  <a:srgbClr val="605F67"/>
                </a:solidFill>
                <a:latin typeface="Century Gothic" panose="020B0502020202020204" pitchFamily="34" charset="0"/>
              </a:rPr>
              <a:t>Heirs</a:t>
            </a:r>
            <a:r>
              <a:rPr lang="en-US" sz="1450" b="0" spc="-3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Technologies</a:t>
            </a:r>
            <a:r>
              <a:rPr lang="en-US" sz="1450" b="0" spc="-5">
                <a:solidFill>
                  <a:srgbClr val="605F67"/>
                </a:solidFill>
                <a:latin typeface="Century Gothic" panose="020B0502020202020204" pitchFamily="34" charset="0"/>
              </a:rPr>
              <a:t> </a:t>
            </a:r>
            <a:r>
              <a:rPr lang="en-US" sz="1450" b="0" spc="-65">
                <a:solidFill>
                  <a:srgbClr val="605F67"/>
                </a:solidFill>
                <a:latin typeface="Century Gothic" panose="020B0502020202020204" pitchFamily="34" charset="0"/>
              </a:rPr>
              <a:t>is</a:t>
            </a:r>
            <a:r>
              <a:rPr lang="en-US" sz="1450" b="0" spc="-35">
                <a:solidFill>
                  <a:srgbClr val="605F67"/>
                </a:solidFill>
                <a:latin typeface="Century Gothic" panose="020B0502020202020204" pitchFamily="34" charset="0"/>
              </a:rPr>
              <a:t> </a:t>
            </a:r>
            <a:r>
              <a:rPr lang="en-US" sz="1450" b="0" spc="235">
                <a:solidFill>
                  <a:srgbClr val="605F67"/>
                </a:solidFill>
                <a:latin typeface="Century Gothic" panose="020B0502020202020204" pitchFamily="34" charset="0"/>
              </a:rPr>
              <a:t>a</a:t>
            </a:r>
            <a:r>
              <a:rPr lang="en-US" sz="1450" b="0" spc="-25">
                <a:solidFill>
                  <a:srgbClr val="605F67"/>
                </a:solidFill>
                <a:latin typeface="Century Gothic" panose="020B0502020202020204" pitchFamily="34" charset="0"/>
              </a:rPr>
              <a:t> </a:t>
            </a:r>
            <a:r>
              <a:rPr lang="en-US" sz="1450" b="0" spc="75">
                <a:solidFill>
                  <a:srgbClr val="605F67"/>
                </a:solidFill>
                <a:latin typeface="Century Gothic" panose="020B0502020202020204" pitchFamily="34" charset="0"/>
              </a:rPr>
              <a:t>proudly</a:t>
            </a:r>
            <a:r>
              <a:rPr lang="en-US" sz="1450" b="0" spc="-45">
                <a:solidFill>
                  <a:srgbClr val="605F67"/>
                </a:solidFill>
                <a:latin typeface="Century Gothic" panose="020B0502020202020204" pitchFamily="34" charset="0"/>
              </a:rPr>
              <a:t> </a:t>
            </a:r>
            <a:r>
              <a:rPr lang="en-US" sz="1450" b="0" spc="90">
                <a:solidFill>
                  <a:srgbClr val="605F67"/>
                </a:solidFill>
                <a:latin typeface="Century Gothic" panose="020B0502020202020204" pitchFamily="34" charset="0"/>
              </a:rPr>
              <a:t>African</a:t>
            </a:r>
            <a:r>
              <a:rPr lang="en-US" sz="1450" b="0" spc="-45">
                <a:solidFill>
                  <a:srgbClr val="605F67"/>
                </a:solidFill>
                <a:latin typeface="Century Gothic" panose="020B0502020202020204" pitchFamily="34" charset="0"/>
              </a:rPr>
              <a:t> </a:t>
            </a:r>
            <a:r>
              <a:rPr lang="en-US" sz="1450" b="0" spc="105">
                <a:solidFill>
                  <a:srgbClr val="605F67"/>
                </a:solidFill>
                <a:latin typeface="Century Gothic" panose="020B0502020202020204" pitchFamily="34" charset="0"/>
              </a:rPr>
              <a:t>technology</a:t>
            </a:r>
            <a:r>
              <a:rPr lang="en-US" sz="1450" b="0" spc="40">
                <a:solidFill>
                  <a:srgbClr val="605F67"/>
                </a:solidFill>
                <a:latin typeface="Century Gothic" panose="020B0502020202020204" pitchFamily="34" charset="0"/>
              </a:rPr>
              <a:t> </a:t>
            </a:r>
            <a:r>
              <a:rPr lang="en-US" sz="1450" b="0" spc="50">
                <a:solidFill>
                  <a:srgbClr val="605F67"/>
                </a:solidFill>
                <a:latin typeface="Century Gothic" panose="020B0502020202020204" pitchFamily="34" charset="0"/>
              </a:rPr>
              <a:t>services</a:t>
            </a:r>
            <a:r>
              <a:rPr lang="en-US" sz="1450" b="0" spc="-45">
                <a:solidFill>
                  <a:srgbClr val="605F67"/>
                </a:solidFill>
                <a:latin typeface="Century Gothic" panose="020B0502020202020204" pitchFamily="34" charset="0"/>
              </a:rPr>
              <a:t> </a:t>
            </a:r>
            <a:r>
              <a:rPr lang="en-US" sz="1450" b="0" spc="165">
                <a:solidFill>
                  <a:srgbClr val="605F67"/>
                </a:solidFill>
                <a:latin typeface="Century Gothic" panose="020B0502020202020204" pitchFamily="34" charset="0"/>
              </a:rPr>
              <a:t>and</a:t>
            </a:r>
            <a:r>
              <a:rPr lang="en-US" sz="1450" b="0" spc="-15">
                <a:solidFill>
                  <a:srgbClr val="605F67"/>
                </a:solidFill>
                <a:latin typeface="Century Gothic" panose="020B0502020202020204" pitchFamily="34" charset="0"/>
              </a:rPr>
              <a:t> </a:t>
            </a:r>
            <a:r>
              <a:rPr lang="en-US" sz="1450" b="0" spc="75">
                <a:solidFill>
                  <a:srgbClr val="605F67"/>
                </a:solidFill>
                <a:latin typeface="Century Gothic" panose="020B0502020202020204" pitchFamily="34" charset="0"/>
              </a:rPr>
              <a:t>innovation</a:t>
            </a:r>
            <a:r>
              <a:rPr lang="en-US" sz="1450" b="0">
                <a:solidFill>
                  <a:srgbClr val="605F67"/>
                </a:solidFill>
                <a:latin typeface="Century Gothic" panose="020B0502020202020204" pitchFamily="34" charset="0"/>
              </a:rPr>
              <a:t> </a:t>
            </a:r>
            <a:r>
              <a:rPr lang="en-US" sz="1450" b="0" spc="160">
                <a:solidFill>
                  <a:srgbClr val="605F67"/>
                </a:solidFill>
                <a:latin typeface="Century Gothic" panose="020B0502020202020204" pitchFamily="34" charset="0"/>
              </a:rPr>
              <a:t>company</a:t>
            </a:r>
            <a:r>
              <a:rPr lang="en-US" sz="1450" b="0" spc="55">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a:t>
            </a:r>
            <a:r>
              <a:rPr lang="en-US" sz="1450" b="0" spc="-35">
                <a:solidFill>
                  <a:srgbClr val="605F67"/>
                </a:solidFill>
                <a:latin typeface="Century Gothic" panose="020B0502020202020204" pitchFamily="34" charset="0"/>
              </a:rPr>
              <a:t> </a:t>
            </a:r>
            <a:r>
              <a:rPr lang="en-US" sz="1450" b="0" spc="235">
                <a:solidFill>
                  <a:srgbClr val="605F67"/>
                </a:solidFill>
                <a:latin typeface="Century Gothic" panose="020B0502020202020204" pitchFamily="34" charset="0"/>
              </a:rPr>
              <a:t>a</a:t>
            </a:r>
            <a:r>
              <a:rPr lang="en-US" sz="1450" b="0" spc="-25">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subsidiary</a:t>
            </a:r>
            <a:r>
              <a:rPr lang="en-US" sz="1450" b="0" spc="-35">
                <a:solidFill>
                  <a:srgbClr val="605F67"/>
                </a:solidFill>
                <a:latin typeface="Century Gothic" panose="020B0502020202020204" pitchFamily="34" charset="0"/>
              </a:rPr>
              <a:t> </a:t>
            </a:r>
            <a:r>
              <a:rPr lang="en-US" sz="1450" b="0" spc="80">
                <a:solidFill>
                  <a:srgbClr val="605F67"/>
                </a:solidFill>
                <a:latin typeface="Century Gothic" panose="020B0502020202020204" pitchFamily="34" charset="0"/>
              </a:rPr>
              <a:t>of</a:t>
            </a:r>
            <a:r>
              <a:rPr lang="en-US" sz="1450" b="0" spc="-20">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Heirs</a:t>
            </a:r>
            <a:r>
              <a:rPr lang="en-US" sz="1450" b="0" spc="-20">
                <a:solidFill>
                  <a:srgbClr val="605F67"/>
                </a:solidFill>
                <a:latin typeface="Century Gothic" panose="020B0502020202020204" pitchFamily="34" charset="0"/>
              </a:rPr>
              <a:t> </a:t>
            </a:r>
            <a:r>
              <a:rPr lang="en-US" sz="1450" b="0" spc="35">
                <a:solidFill>
                  <a:srgbClr val="605F67"/>
                </a:solidFill>
                <a:latin typeface="Century Gothic" panose="020B0502020202020204" pitchFamily="34" charset="0"/>
              </a:rPr>
              <a:t>Holdings, </a:t>
            </a:r>
            <a:r>
              <a:rPr lang="en-US" sz="1450" b="0" spc="65">
                <a:solidFill>
                  <a:srgbClr val="605F67"/>
                </a:solidFill>
                <a:latin typeface="Century Gothic" panose="020B0502020202020204" pitchFamily="34" charset="0"/>
              </a:rPr>
              <a:t>established</a:t>
            </a:r>
            <a:r>
              <a:rPr lang="en-US" sz="1450" b="0" spc="3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to</a:t>
            </a:r>
            <a:r>
              <a:rPr lang="en-US" sz="1450" b="0" spc="20">
                <a:solidFill>
                  <a:srgbClr val="605F67"/>
                </a:solidFill>
                <a:latin typeface="Century Gothic" panose="020B0502020202020204" pitchFamily="34" charset="0"/>
              </a:rPr>
              <a:t> </a:t>
            </a:r>
            <a:r>
              <a:rPr lang="en-US" sz="1450" b="0" spc="65">
                <a:solidFill>
                  <a:srgbClr val="605F67"/>
                </a:solidFill>
                <a:latin typeface="Century Gothic" panose="020B0502020202020204" pitchFamily="34" charset="0"/>
              </a:rPr>
              <a:t>drive</a:t>
            </a:r>
            <a:r>
              <a:rPr lang="en-US" sz="1450" b="0" spc="-65">
                <a:solidFill>
                  <a:srgbClr val="605F67"/>
                </a:solidFill>
                <a:latin typeface="Century Gothic" panose="020B0502020202020204" pitchFamily="34" charset="0"/>
              </a:rPr>
              <a:t> </a:t>
            </a:r>
            <a:r>
              <a:rPr lang="en-US" sz="1450" b="0" spc="60">
                <a:solidFill>
                  <a:srgbClr val="605F67"/>
                </a:solidFill>
                <a:latin typeface="Century Gothic" panose="020B0502020202020204" pitchFamily="34" charset="0"/>
              </a:rPr>
              <a:t>digital</a:t>
            </a:r>
            <a:r>
              <a:rPr lang="en-US" sz="1450" b="0" spc="-15">
                <a:solidFill>
                  <a:srgbClr val="605F67"/>
                </a:solidFill>
                <a:latin typeface="Century Gothic" panose="020B0502020202020204" pitchFamily="34" charset="0"/>
              </a:rPr>
              <a:t> </a:t>
            </a:r>
            <a:r>
              <a:rPr lang="en-US" sz="1450" b="0" spc="50">
                <a:solidFill>
                  <a:srgbClr val="605F67"/>
                </a:solidFill>
                <a:latin typeface="Century Gothic" panose="020B0502020202020204" pitchFamily="34" charset="0"/>
              </a:rPr>
              <a:t>transformation</a:t>
            </a:r>
            <a:r>
              <a:rPr lang="en-US" sz="1450" b="0" spc="5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globally.</a:t>
            </a:r>
            <a:r>
              <a:rPr lang="en-US" sz="1450" b="0" spc="-15">
                <a:solidFill>
                  <a:srgbClr val="605F67"/>
                </a:solidFill>
                <a:latin typeface="Century Gothic" panose="020B0502020202020204" pitchFamily="34" charset="0"/>
              </a:rPr>
              <a:t> </a:t>
            </a:r>
            <a:r>
              <a:rPr lang="en-US" sz="1450" b="0" spc="110">
                <a:solidFill>
                  <a:srgbClr val="605F67"/>
                </a:solidFill>
                <a:latin typeface="Century Gothic" panose="020B0502020202020204" pitchFamily="34" charset="0"/>
              </a:rPr>
              <a:t>We</a:t>
            </a:r>
            <a:r>
              <a:rPr lang="en-US" sz="1450" b="0" spc="40">
                <a:solidFill>
                  <a:srgbClr val="605F67"/>
                </a:solidFill>
                <a:latin typeface="Century Gothic" panose="020B0502020202020204" pitchFamily="34" charset="0"/>
              </a:rPr>
              <a:t> </a:t>
            </a:r>
            <a:r>
              <a:rPr lang="en-US" sz="1450" b="0" spc="100">
                <a:solidFill>
                  <a:srgbClr val="605F67"/>
                </a:solidFill>
                <a:latin typeface="Century Gothic" panose="020B0502020202020204" pitchFamily="34" charset="0"/>
              </a:rPr>
              <a:t>bridge</a:t>
            </a:r>
            <a:r>
              <a:rPr lang="en-US" sz="1450" b="0" spc="-35">
                <a:solidFill>
                  <a:srgbClr val="605F67"/>
                </a:solidFill>
                <a:latin typeface="Century Gothic" panose="020B0502020202020204" pitchFamily="34" charset="0"/>
              </a:rPr>
              <a:t> </a:t>
            </a:r>
            <a:r>
              <a:rPr lang="en-US" sz="1450" b="0" spc="110">
                <a:solidFill>
                  <a:srgbClr val="605F67"/>
                </a:solidFill>
                <a:latin typeface="Century Gothic" panose="020B0502020202020204" pitchFamily="34" charset="0"/>
              </a:rPr>
              <a:t>local</a:t>
            </a:r>
            <a:r>
              <a:rPr lang="en-US" sz="1450" b="0" spc="-30">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realities</a:t>
            </a:r>
            <a:r>
              <a:rPr lang="en-US" sz="1450" b="0" spc="-20">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with</a:t>
            </a:r>
            <a:r>
              <a:rPr lang="en-US" sz="1450" b="0" spc="15">
                <a:solidFill>
                  <a:srgbClr val="605F67"/>
                </a:solidFill>
                <a:latin typeface="Century Gothic" panose="020B0502020202020204" pitchFamily="34" charset="0"/>
              </a:rPr>
              <a:t> </a:t>
            </a:r>
            <a:r>
              <a:rPr lang="en-US" sz="1450" b="0" spc="105">
                <a:solidFill>
                  <a:srgbClr val="605F67"/>
                </a:solidFill>
                <a:latin typeface="Century Gothic" panose="020B0502020202020204" pitchFamily="34" charset="0"/>
              </a:rPr>
              <a:t>global</a:t>
            </a:r>
            <a:r>
              <a:rPr lang="en-US" sz="1450" b="0" spc="-1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standards</a:t>
            </a:r>
            <a:r>
              <a:rPr lang="en-US" sz="1450" b="0" spc="30">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to</a:t>
            </a:r>
            <a:r>
              <a:rPr lang="en-US" sz="1450" b="0" spc="20">
                <a:solidFill>
                  <a:srgbClr val="605F67"/>
                </a:solidFill>
                <a:latin typeface="Century Gothic" panose="020B0502020202020204" pitchFamily="34" charset="0"/>
              </a:rPr>
              <a:t> </a:t>
            </a:r>
            <a:r>
              <a:rPr lang="en-US" sz="1450" b="0" spc="65">
                <a:solidFill>
                  <a:srgbClr val="605F67"/>
                </a:solidFill>
                <a:latin typeface="Century Gothic" panose="020B0502020202020204" pitchFamily="34" charset="0"/>
              </a:rPr>
              <a:t>deliver</a:t>
            </a:r>
            <a:r>
              <a:rPr lang="en-US" sz="1450" b="0" spc="-60">
                <a:solidFill>
                  <a:srgbClr val="605F67"/>
                </a:solidFill>
                <a:latin typeface="Century Gothic" panose="020B0502020202020204" pitchFamily="34" charset="0"/>
              </a:rPr>
              <a:t> </a:t>
            </a:r>
            <a:r>
              <a:rPr lang="en-US" sz="1450" b="0" spc="-10">
                <a:solidFill>
                  <a:srgbClr val="605F67"/>
                </a:solidFill>
                <a:latin typeface="Century Gothic" panose="020B0502020202020204" pitchFamily="34" charset="0"/>
              </a:rPr>
              <a:t>intelligent, </a:t>
            </a:r>
            <a:r>
              <a:rPr lang="en-US" sz="1450" b="0" spc="95">
                <a:solidFill>
                  <a:srgbClr val="605F67"/>
                </a:solidFill>
                <a:latin typeface="Century Gothic" panose="020B0502020202020204" pitchFamily="34" charset="0"/>
              </a:rPr>
              <a:t>scalable,</a:t>
            </a:r>
            <a:r>
              <a:rPr lang="en-US" sz="1450" b="0" spc="-30">
                <a:solidFill>
                  <a:srgbClr val="605F67"/>
                </a:solidFill>
                <a:latin typeface="Century Gothic" panose="020B0502020202020204" pitchFamily="34" charset="0"/>
              </a:rPr>
              <a:t> </a:t>
            </a:r>
            <a:r>
              <a:rPr lang="en-US" sz="1450" b="0" spc="165">
                <a:solidFill>
                  <a:srgbClr val="605F67"/>
                </a:solidFill>
                <a:latin typeface="Century Gothic" panose="020B0502020202020204" pitchFamily="34" charset="0"/>
              </a:rPr>
              <a:t>and</a:t>
            </a:r>
            <a:r>
              <a:rPr lang="en-US" sz="1450" b="0" spc="-15">
                <a:solidFill>
                  <a:srgbClr val="605F67"/>
                </a:solidFill>
                <a:latin typeface="Century Gothic" panose="020B0502020202020204" pitchFamily="34" charset="0"/>
              </a:rPr>
              <a:t> </a:t>
            </a:r>
            <a:r>
              <a:rPr lang="en-US" sz="1450" b="0" spc="85">
                <a:solidFill>
                  <a:srgbClr val="605F67"/>
                </a:solidFill>
                <a:latin typeface="Century Gothic" panose="020B0502020202020204" pitchFamily="34" charset="0"/>
              </a:rPr>
              <a:t>secure</a:t>
            </a:r>
            <a:r>
              <a:rPr lang="en-US" sz="1450" b="0" spc="-15">
                <a:solidFill>
                  <a:srgbClr val="605F67"/>
                </a:solidFill>
                <a:latin typeface="Century Gothic" panose="020B0502020202020204" pitchFamily="34" charset="0"/>
              </a:rPr>
              <a:t> </a:t>
            </a:r>
            <a:r>
              <a:rPr lang="en-US" sz="1450" b="0" spc="60">
                <a:solidFill>
                  <a:srgbClr val="605F67"/>
                </a:solidFill>
                <a:latin typeface="Century Gothic" panose="020B0502020202020204" pitchFamily="34" charset="0"/>
              </a:rPr>
              <a:t>digital</a:t>
            </a:r>
            <a:r>
              <a:rPr lang="en-US" sz="1450" b="0" spc="-25">
                <a:solidFill>
                  <a:srgbClr val="605F67"/>
                </a:solidFill>
                <a:latin typeface="Century Gothic" panose="020B0502020202020204" pitchFamily="34" charset="0"/>
              </a:rPr>
              <a:t> </a:t>
            </a:r>
            <a:r>
              <a:rPr lang="en-US" sz="1450" b="0">
                <a:solidFill>
                  <a:srgbClr val="605F67"/>
                </a:solidFill>
                <a:latin typeface="Century Gothic" panose="020B0502020202020204" pitchFamily="34" charset="0"/>
              </a:rPr>
              <a:t>solutions</a:t>
            </a:r>
            <a:r>
              <a:rPr lang="en-US" sz="1450" b="0" spc="1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tailored</a:t>
            </a:r>
            <a:r>
              <a:rPr lang="en-US" sz="1450" b="0" spc="-25">
                <a:solidFill>
                  <a:srgbClr val="605F67"/>
                </a:solidFill>
                <a:latin typeface="Century Gothic" panose="020B0502020202020204" pitchFamily="34" charset="0"/>
              </a:rPr>
              <a:t> </a:t>
            </a:r>
            <a:r>
              <a:rPr lang="en-US" sz="1450" b="0" spc="75">
                <a:solidFill>
                  <a:srgbClr val="605F67"/>
                </a:solidFill>
                <a:latin typeface="Century Gothic" panose="020B0502020202020204" pitchFamily="34" charset="0"/>
              </a:rPr>
              <a:t>specifically</a:t>
            </a:r>
            <a:r>
              <a:rPr lang="en-US" sz="1450" b="0" spc="-35">
                <a:solidFill>
                  <a:srgbClr val="605F67"/>
                </a:solidFill>
                <a:latin typeface="Century Gothic" panose="020B0502020202020204" pitchFamily="34" charset="0"/>
              </a:rPr>
              <a:t> </a:t>
            </a:r>
            <a:r>
              <a:rPr lang="en-US" sz="1450" b="0" spc="70">
                <a:solidFill>
                  <a:srgbClr val="605F67"/>
                </a:solidFill>
                <a:latin typeface="Century Gothic" panose="020B0502020202020204" pitchFamily="34" charset="0"/>
              </a:rPr>
              <a:t>to</a:t>
            </a:r>
            <a:r>
              <a:rPr lang="en-US" sz="1450" b="0" spc="10">
                <a:solidFill>
                  <a:srgbClr val="605F67"/>
                </a:solidFill>
                <a:latin typeface="Century Gothic" panose="020B0502020202020204" pitchFamily="34" charset="0"/>
              </a:rPr>
              <a:t> </a:t>
            </a:r>
            <a:r>
              <a:rPr lang="en-US" sz="1450" b="0" spc="75">
                <a:solidFill>
                  <a:srgbClr val="605F67"/>
                </a:solidFill>
                <a:latin typeface="Century Gothic" panose="020B0502020202020204" pitchFamily="34" charset="0"/>
              </a:rPr>
              <a:t>the</a:t>
            </a:r>
            <a:r>
              <a:rPr lang="en-US" sz="1450" b="0" spc="20">
                <a:solidFill>
                  <a:srgbClr val="605F67"/>
                </a:solidFill>
                <a:latin typeface="Century Gothic" panose="020B0502020202020204" pitchFamily="34" charset="0"/>
              </a:rPr>
              <a:t> </a:t>
            </a:r>
            <a:r>
              <a:rPr lang="en-US" sz="1450" b="0" spc="90">
                <a:solidFill>
                  <a:srgbClr val="605F67"/>
                </a:solidFill>
                <a:latin typeface="Century Gothic" panose="020B0502020202020204" pitchFamily="34" charset="0"/>
              </a:rPr>
              <a:t>African</a:t>
            </a:r>
            <a:r>
              <a:rPr lang="en-US" sz="1450" b="0" spc="-30">
                <a:solidFill>
                  <a:srgbClr val="605F67"/>
                </a:solidFill>
                <a:latin typeface="Century Gothic" panose="020B0502020202020204" pitchFamily="34" charset="0"/>
              </a:rPr>
              <a:t> </a:t>
            </a:r>
            <a:r>
              <a:rPr lang="en-US" sz="1450" b="0" spc="65">
                <a:solidFill>
                  <a:srgbClr val="605F67"/>
                </a:solidFill>
                <a:latin typeface="Century Gothic" panose="020B0502020202020204" pitchFamily="34" charset="0"/>
              </a:rPr>
              <a:t>context</a:t>
            </a:r>
            <a:r>
              <a:rPr lang="en-US" sz="1600" b="0" spc="65">
                <a:solidFill>
                  <a:srgbClr val="605F67"/>
                </a:solidFill>
                <a:latin typeface="Century Gothic" panose="020B0502020202020204" pitchFamily="34" charset="0"/>
              </a:rPr>
              <a:t>.</a:t>
            </a:r>
            <a:endParaRPr lang="en-US" sz="1600">
              <a:latin typeface="Century Gothic" panose="020B0502020202020204" pitchFamily="34" charset="0"/>
            </a:endParaRPr>
          </a:p>
        </p:txBody>
      </p:sp>
      <p:sp>
        <p:nvSpPr>
          <p:cNvPr id="5" name="object 5"/>
          <p:cNvSpPr txBox="1"/>
          <p:nvPr/>
        </p:nvSpPr>
        <p:spPr>
          <a:xfrm>
            <a:off x="618540" y="4401343"/>
            <a:ext cx="3317875" cy="125425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GB" sz="1550" b="1" i="0" u="none" strike="noStrike" kern="0" cap="none" spc="-45" normalizeH="0" baseline="0" noProof="0">
                <a:ln>
                  <a:noFill/>
                </a:ln>
                <a:solidFill>
                  <a:srgbClr val="605F67"/>
                </a:solidFill>
                <a:effectLst/>
                <a:uLnTx/>
                <a:uFillTx/>
                <a:latin typeface="Century Gothic" panose="020B0502020202020204" pitchFamily="34" charset="0"/>
                <a:cs typeface="Tahoma"/>
              </a:rPr>
              <a:t>Pan-</a:t>
            </a:r>
            <a:r>
              <a:rPr kumimoji="0" lang="en-GB" sz="1550" b="1" i="0" u="none" strike="noStrike" kern="0" cap="none" spc="-25" normalizeH="0" baseline="0" noProof="0">
                <a:ln>
                  <a:noFill/>
                </a:ln>
                <a:solidFill>
                  <a:srgbClr val="605F67"/>
                </a:solidFill>
                <a:effectLst/>
                <a:uLnTx/>
                <a:uFillTx/>
                <a:latin typeface="Century Gothic" panose="020B0502020202020204" pitchFamily="34" charset="0"/>
                <a:cs typeface="Tahoma"/>
              </a:rPr>
              <a:t>African </a:t>
            </a:r>
            <a:r>
              <a:rPr kumimoji="0" lang="en-GB" sz="1550" b="1" i="0" u="none" strike="noStrike" kern="0" cap="none" spc="-10" normalizeH="0" baseline="0" noProof="0">
                <a:ln>
                  <a:noFill/>
                </a:ln>
                <a:solidFill>
                  <a:srgbClr val="605F67"/>
                </a:solidFill>
                <a:effectLst/>
                <a:uLnTx/>
                <a:uFillTx/>
                <a:latin typeface="Century Gothic" panose="020B0502020202020204" pitchFamily="34" charset="0"/>
                <a:cs typeface="Tahoma"/>
              </a:rPr>
              <a:t>Presence</a:t>
            </a:r>
            <a:endParaRPr kumimoji="0" lang="en-GB" sz="155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a:p>
            <a:pPr marL="12700" marR="5080" lvl="0" indent="0" defTabSz="914400" eaLnBrk="1" fontAlgn="auto" latinLnBrk="0" hangingPunct="1">
              <a:lnSpc>
                <a:spcPct val="138900"/>
              </a:lnSpc>
              <a:spcBef>
                <a:spcPts val="690"/>
              </a:spcBef>
              <a:spcAft>
                <a:spcPts val="0"/>
              </a:spcAft>
              <a:buClrTx/>
              <a:buSzTx/>
              <a:buFontTx/>
              <a:buNone/>
              <a:tabLst/>
              <a:defRPr/>
            </a:pP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Established</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operation's</a:t>
            </a:r>
            <a:r>
              <a:rPr kumimoji="0" lang="en-GB" sz="1100" b="0" i="0" u="none" strike="noStrike" kern="0" cap="none" spc="4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strategic</a:t>
            </a:r>
            <a:r>
              <a:rPr kumimoji="0" lang="en-GB" sz="1100" b="0" i="0" u="none" strike="noStrike" kern="0" cap="none" spc="114"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locations </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across</a:t>
            </a:r>
            <a:r>
              <a:rPr kumimoji="0" lang="en-GB" sz="11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75" normalizeH="0" baseline="0" noProof="0">
                <a:ln>
                  <a:noFill/>
                </a:ln>
                <a:solidFill>
                  <a:srgbClr val="605F67"/>
                </a:solidFill>
                <a:effectLst/>
                <a:uLnTx/>
                <a:uFillTx/>
                <a:latin typeface="Century Gothic" panose="020B0502020202020204" pitchFamily="34" charset="0"/>
                <a:cs typeface="Tahoma"/>
              </a:rPr>
              <a:t>Africa</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giving</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us </a:t>
            </a:r>
            <a:r>
              <a:rPr kumimoji="0" lang="en-GB" sz="1100" b="0" i="0" u="none" strike="noStrike" kern="0" cap="none" spc="150" normalizeH="0" baseline="0" noProof="0">
                <a:ln>
                  <a:noFill/>
                </a:ln>
                <a:solidFill>
                  <a:srgbClr val="605F67"/>
                </a:solidFill>
                <a:effectLst/>
                <a:uLnTx/>
                <a:uFillTx/>
                <a:latin typeface="Century Gothic" panose="020B0502020202020204" pitchFamily="34" charset="0"/>
                <a:cs typeface="Tahoma"/>
              </a:rPr>
              <a:t>deep</a:t>
            </a:r>
            <a:r>
              <a:rPr kumimoji="0" lang="en-GB" sz="1100" b="0" i="0" u="none" strike="noStrike" kern="0" cap="none" spc="-2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insight</a:t>
            </a:r>
            <a:r>
              <a:rPr kumimoji="0" lang="en-GB" sz="1100" b="0" i="0" u="none" strike="noStrike" kern="0" cap="none" spc="-3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into </a:t>
            </a:r>
            <a:r>
              <a:rPr kumimoji="0" lang="en-GB" sz="1100" b="0" i="0" u="none" strike="noStrike" kern="0" cap="none" spc="65" normalizeH="0" baseline="0" noProof="0">
                <a:ln>
                  <a:noFill/>
                </a:ln>
                <a:solidFill>
                  <a:srgbClr val="605F67"/>
                </a:solidFill>
                <a:effectLst/>
                <a:uLnTx/>
                <a:uFillTx/>
                <a:latin typeface="Century Gothic" panose="020B0502020202020204" pitchFamily="34" charset="0"/>
                <a:cs typeface="Tahoma"/>
              </a:rPr>
              <a:t>regional</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70" normalizeH="0" baseline="0" noProof="0">
                <a:ln>
                  <a:noFill/>
                </a:ln>
                <a:solidFill>
                  <a:srgbClr val="605F67"/>
                </a:solidFill>
                <a:effectLst/>
                <a:uLnTx/>
                <a:uFillTx/>
                <a:latin typeface="Century Gothic" panose="020B0502020202020204" pitchFamily="34" charset="0"/>
                <a:cs typeface="Tahoma"/>
              </a:rPr>
              <a:t>market</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85" normalizeH="0" baseline="0" noProof="0">
                <a:ln>
                  <a:noFill/>
                </a:ln>
                <a:solidFill>
                  <a:srgbClr val="605F67"/>
                </a:solidFill>
                <a:effectLst/>
                <a:uLnTx/>
                <a:uFillTx/>
                <a:latin typeface="Century Gothic" panose="020B0502020202020204" pitchFamily="34" charset="0"/>
                <a:cs typeface="Tahoma"/>
              </a:rPr>
              <a:t>dynamics</a:t>
            </a:r>
            <a:r>
              <a:rPr kumimoji="0" lang="en-GB" sz="1100" b="0" i="0" u="none" strike="noStrike" kern="0" cap="none" spc="-4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while</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maintaining </a:t>
            </a:r>
            <a:r>
              <a:rPr kumimoji="0" lang="en-GB" sz="1100" b="0" i="0" u="none" strike="noStrike" kern="0" cap="none" spc="95" normalizeH="0" baseline="0" noProof="0">
                <a:ln>
                  <a:noFill/>
                </a:ln>
                <a:solidFill>
                  <a:srgbClr val="605F67"/>
                </a:solidFill>
                <a:effectLst/>
                <a:uLnTx/>
                <a:uFillTx/>
                <a:latin typeface="Century Gothic" panose="020B0502020202020204" pitchFamily="34" charset="0"/>
                <a:cs typeface="Tahoma"/>
              </a:rPr>
              <a:t>global</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delivery</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standards.</a:t>
            </a:r>
            <a:endParaRPr kumimoji="0" lang="en-GB" sz="11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6" name="object 6"/>
          <p:cNvSpPr txBox="1"/>
          <p:nvPr/>
        </p:nvSpPr>
        <p:spPr>
          <a:xfrm>
            <a:off x="4327905" y="4401343"/>
            <a:ext cx="3451860" cy="125425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GB" sz="1550" b="1" i="0" u="none" strike="noStrike" kern="0" cap="none" spc="-90" normalizeH="0" baseline="0" noProof="0">
                <a:ln>
                  <a:noFill/>
                </a:ln>
                <a:solidFill>
                  <a:srgbClr val="605F67"/>
                </a:solidFill>
                <a:effectLst/>
                <a:uLnTx/>
                <a:uFillTx/>
                <a:latin typeface="Century Gothic" panose="020B0502020202020204" pitchFamily="34" charset="0"/>
                <a:cs typeface="Tahoma"/>
              </a:rPr>
              <a:t>Expert</a:t>
            </a:r>
            <a:r>
              <a:rPr kumimoji="0" lang="en-GB" sz="1550" b="1"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550" b="1" i="0" u="none" strike="noStrike" kern="0" cap="none" spc="-20" normalizeH="0" baseline="0" noProof="0">
                <a:ln>
                  <a:noFill/>
                </a:ln>
                <a:solidFill>
                  <a:srgbClr val="605F67"/>
                </a:solidFill>
                <a:effectLst/>
                <a:uLnTx/>
                <a:uFillTx/>
                <a:latin typeface="Century Gothic" panose="020B0502020202020204" pitchFamily="34" charset="0"/>
                <a:cs typeface="Tahoma"/>
              </a:rPr>
              <a:t>Team</a:t>
            </a:r>
            <a:endParaRPr kumimoji="0" lang="en-GB" sz="155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a:p>
            <a:pPr marL="12700" marR="5080" lvl="0" indent="0" defTabSz="914400" eaLnBrk="1" fontAlgn="auto" latinLnBrk="0" hangingPunct="1">
              <a:lnSpc>
                <a:spcPct val="138900"/>
              </a:lnSpc>
              <a:spcBef>
                <a:spcPts val="690"/>
              </a:spcBef>
              <a:spcAft>
                <a:spcPts val="0"/>
              </a:spcAft>
              <a:buClrTx/>
              <a:buSzTx/>
              <a:buFontTx/>
              <a:buNone/>
              <a:tabLst/>
              <a:defRPr/>
            </a:pP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Skilled</a:t>
            </a:r>
            <a:r>
              <a:rPr kumimoji="0" lang="en-GB" sz="11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90" normalizeH="0" baseline="0" noProof="0">
                <a:ln>
                  <a:noFill/>
                </a:ln>
                <a:solidFill>
                  <a:srgbClr val="605F67"/>
                </a:solidFill>
                <a:effectLst/>
                <a:uLnTx/>
                <a:uFillTx/>
                <a:latin typeface="Century Gothic" panose="020B0502020202020204" pitchFamily="34" charset="0"/>
                <a:cs typeface="Tahoma"/>
              </a:rPr>
              <a:t>technology</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professionals</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with </a:t>
            </a:r>
            <a:r>
              <a:rPr kumimoji="0" lang="en-GB" sz="1100" b="0" i="0" u="none" strike="noStrike" kern="0" cap="none" spc="75" normalizeH="0" baseline="0" noProof="0">
                <a:ln>
                  <a:noFill/>
                </a:ln>
                <a:solidFill>
                  <a:srgbClr val="605F67"/>
                </a:solidFill>
                <a:effectLst/>
                <a:uLnTx/>
                <a:uFillTx/>
                <a:latin typeface="Century Gothic" panose="020B0502020202020204" pitchFamily="34" charset="0"/>
                <a:cs typeface="Tahoma"/>
              </a:rPr>
              <a:t>specialized</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expertise</a:t>
            </a:r>
            <a:r>
              <a:rPr kumimoji="0" lang="en-GB" sz="1100" b="0" i="0" u="none" strike="noStrike" kern="0" cap="none" spc="7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across</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45" normalizeH="0" baseline="0" noProof="0">
                <a:ln>
                  <a:noFill/>
                </a:ln>
                <a:solidFill>
                  <a:srgbClr val="605F67"/>
                </a:solidFill>
                <a:effectLst/>
                <a:uLnTx/>
                <a:uFillTx/>
                <a:latin typeface="Century Gothic" panose="020B0502020202020204" pitchFamily="34" charset="0"/>
                <a:cs typeface="Tahoma"/>
              </a:rPr>
              <a:t>multiple</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domains,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from</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110" normalizeH="0" baseline="0" noProof="0">
                <a:ln>
                  <a:noFill/>
                </a:ln>
                <a:solidFill>
                  <a:srgbClr val="605F67"/>
                </a:solidFill>
                <a:effectLst/>
                <a:uLnTx/>
                <a:uFillTx/>
                <a:latin typeface="Century Gothic" panose="020B0502020202020204" pitchFamily="34" charset="0"/>
                <a:cs typeface="Tahoma"/>
              </a:rPr>
              <a:t>cloud</a:t>
            </a:r>
            <a:r>
              <a:rPr kumimoji="0" lang="en-GB" sz="1100" b="0" i="0" u="none" strike="noStrike" kern="0" cap="none" spc="-3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70" normalizeH="0" baseline="0" noProof="0">
                <a:ln>
                  <a:noFill/>
                </a:ln>
                <a:solidFill>
                  <a:srgbClr val="605F67"/>
                </a:solidFill>
                <a:effectLst/>
                <a:uLnTx/>
                <a:uFillTx/>
                <a:latin typeface="Century Gothic" panose="020B0502020202020204" pitchFamily="34" charset="0"/>
                <a:cs typeface="Tahoma"/>
              </a:rPr>
              <a:t>architecture</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65" normalizeH="0" baseline="0" noProof="0">
                <a:ln>
                  <a:noFill/>
                </a:ln>
                <a:solidFill>
                  <a:srgbClr val="605F67"/>
                </a:solidFill>
                <a:effectLst/>
                <a:uLnTx/>
                <a:uFillTx/>
                <a:latin typeface="Century Gothic" panose="020B0502020202020204" pitchFamily="34" charset="0"/>
                <a:cs typeface="Tahoma"/>
              </a:rPr>
              <a:t>to</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AI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implementation, </a:t>
            </a:r>
            <a:r>
              <a:rPr kumimoji="0" lang="en-GB" sz="1100" b="0" i="0" u="none" strike="noStrike" kern="0" cap="none" spc="150" normalizeH="0" baseline="0" noProof="0">
                <a:ln>
                  <a:noFill/>
                </a:ln>
                <a:solidFill>
                  <a:srgbClr val="605F67"/>
                </a:solidFill>
                <a:effectLst/>
                <a:uLnTx/>
                <a:uFillTx/>
                <a:latin typeface="Century Gothic" panose="020B0502020202020204" pitchFamily="34" charset="0"/>
                <a:cs typeface="Tahoma"/>
              </a:rPr>
              <a:t>managed</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services</a:t>
            </a:r>
            <a:r>
              <a:rPr kumimoji="0" lang="en-GB" sz="1100" b="0" i="0" u="none" strike="noStrike" kern="0" cap="none" spc="7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140" normalizeH="0" baseline="0" noProof="0">
                <a:ln>
                  <a:noFill/>
                </a:ln>
                <a:solidFill>
                  <a:srgbClr val="605F67"/>
                </a:solidFill>
                <a:effectLst/>
                <a:uLnTx/>
                <a:uFillTx/>
                <a:latin typeface="Century Gothic" panose="020B0502020202020204" pitchFamily="34" charset="0"/>
                <a:cs typeface="Tahoma"/>
              </a:rPr>
              <a:t>and</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cybersecurity.</a:t>
            </a:r>
            <a:endParaRPr kumimoji="0" lang="en-GB" sz="11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7" name="object 7"/>
          <p:cNvSpPr txBox="1"/>
          <p:nvPr/>
        </p:nvSpPr>
        <p:spPr>
          <a:xfrm>
            <a:off x="8037320" y="4401343"/>
            <a:ext cx="3658493" cy="1273169"/>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GB" sz="1550" b="1" i="0" u="none" strike="noStrike" kern="0" cap="none" spc="-65" normalizeH="0" baseline="0" noProof="0">
                <a:ln>
                  <a:noFill/>
                </a:ln>
                <a:solidFill>
                  <a:srgbClr val="605F67"/>
                </a:solidFill>
                <a:effectLst/>
                <a:uLnTx/>
                <a:uFillTx/>
                <a:latin typeface="Century Gothic" panose="020B0502020202020204" pitchFamily="34" charset="0"/>
                <a:cs typeface="Tahoma"/>
              </a:rPr>
              <a:t>Strategic</a:t>
            </a:r>
            <a:r>
              <a:rPr kumimoji="0" lang="en-GB" sz="1550" b="1"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550" b="1" i="0" u="none" strike="noStrike" kern="0" cap="none" spc="-10" normalizeH="0" baseline="0" noProof="0">
                <a:ln>
                  <a:noFill/>
                </a:ln>
                <a:solidFill>
                  <a:srgbClr val="605F67"/>
                </a:solidFill>
                <a:effectLst/>
                <a:uLnTx/>
                <a:uFillTx/>
                <a:latin typeface="Century Gothic" panose="020B0502020202020204" pitchFamily="34" charset="0"/>
                <a:cs typeface="Tahoma"/>
              </a:rPr>
              <a:t>Partnerships</a:t>
            </a:r>
            <a:endParaRPr kumimoji="0" lang="en-GB" sz="155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a:p>
            <a:pPr marL="12700" marR="5080" lvl="0" indent="0" defTabSz="914400" eaLnBrk="1" fontAlgn="auto" latinLnBrk="0" hangingPunct="1">
              <a:lnSpc>
                <a:spcPct val="138900"/>
              </a:lnSpc>
              <a:spcBef>
                <a:spcPts val="690"/>
              </a:spcBef>
              <a:spcAft>
                <a:spcPts val="0"/>
              </a:spcAft>
              <a:buClrTx/>
              <a:buSzTx/>
              <a:buFontTx/>
              <a:buNone/>
              <a:tabLst/>
              <a:defRPr/>
            </a:pP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Strong</a:t>
            </a:r>
            <a:r>
              <a:rPr kumimoji="0" lang="en-GB" sz="1100" b="0" i="0" u="none" strike="noStrike" kern="0" cap="none" spc="4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70" normalizeH="0" baseline="0" noProof="0">
                <a:ln>
                  <a:noFill/>
                </a:ln>
                <a:solidFill>
                  <a:srgbClr val="605F67"/>
                </a:solidFill>
                <a:effectLst/>
                <a:uLnTx/>
                <a:uFillTx/>
                <a:latin typeface="Century Gothic" panose="020B0502020202020204" pitchFamily="34" charset="0"/>
                <a:cs typeface="Tahoma"/>
              </a:rPr>
              <a:t>alliances</a:t>
            </a:r>
            <a:r>
              <a:rPr kumimoji="0" lang="en-GB" sz="1100" b="0" i="0" u="none" strike="noStrike" kern="0" cap="none" spc="1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with</a:t>
            </a:r>
            <a:r>
              <a:rPr kumimoji="0" lang="en-GB" sz="1100" b="0" i="0" u="none" strike="noStrike" kern="0" cap="none" spc="4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95" normalizeH="0" baseline="0" noProof="0">
                <a:ln>
                  <a:noFill/>
                </a:ln>
                <a:solidFill>
                  <a:srgbClr val="605F67"/>
                </a:solidFill>
                <a:effectLst/>
                <a:uLnTx/>
                <a:uFillTx/>
                <a:latin typeface="Century Gothic" panose="020B0502020202020204" pitchFamily="34" charset="0"/>
                <a:cs typeface="Tahoma"/>
              </a:rPr>
              <a:t>global</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90" normalizeH="0" baseline="0" noProof="0">
                <a:ln>
                  <a:noFill/>
                </a:ln>
                <a:solidFill>
                  <a:srgbClr val="605F67"/>
                </a:solidFill>
                <a:effectLst/>
                <a:uLnTx/>
                <a:uFillTx/>
                <a:latin typeface="Century Gothic" panose="020B0502020202020204" pitchFamily="34" charset="0"/>
                <a:cs typeface="Tahoma"/>
              </a:rPr>
              <a:t>technology</a:t>
            </a:r>
            <a:r>
              <a:rPr kumimoji="0" lang="en-GB" sz="11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leaders </a:t>
            </a:r>
            <a:r>
              <a:rPr kumimoji="0" lang="en-GB" sz="1100" b="0" i="0" u="none" strike="noStrike" kern="0" cap="none" spc="65" normalizeH="0" baseline="0" noProof="0">
                <a:ln>
                  <a:noFill/>
                </a:ln>
                <a:solidFill>
                  <a:srgbClr val="605F67"/>
                </a:solidFill>
                <a:effectLst/>
                <a:uLnTx/>
                <a:uFillTx/>
                <a:latin typeface="Century Gothic" panose="020B0502020202020204" pitchFamily="34" charset="0"/>
                <a:cs typeface="Tahoma"/>
              </a:rPr>
              <a:t>including</a:t>
            </a:r>
            <a:r>
              <a:rPr kumimoji="0" lang="en-GB" sz="11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Microsoft,</a:t>
            </a:r>
            <a:r>
              <a:rPr kumimoji="0" lang="en-GB" sz="1100" b="0" i="0" u="none" strike="noStrike" kern="0" cap="none" spc="3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90" normalizeH="0" baseline="0" noProof="0">
                <a:ln>
                  <a:noFill/>
                </a:ln>
                <a:solidFill>
                  <a:srgbClr val="605F67"/>
                </a:solidFill>
                <a:effectLst/>
                <a:uLnTx/>
                <a:uFillTx/>
                <a:latin typeface="Century Gothic" panose="020B0502020202020204" pitchFamily="34" charset="0"/>
                <a:cs typeface="Tahoma"/>
              </a:rPr>
              <a:t>Oracle,</a:t>
            </a:r>
            <a:r>
              <a:rPr kumimoji="0" lang="en-GB" sz="1100" b="0" i="0" u="none" strike="noStrike" kern="0" cap="none" spc="1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AWS,</a:t>
            </a:r>
            <a:r>
              <a:rPr kumimoji="0" lang="en-GB" sz="1100" b="0" i="0" u="none" strike="noStrike" kern="0" cap="none" spc="9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110" normalizeH="0" baseline="0" noProof="0">
                <a:ln>
                  <a:noFill/>
                </a:ln>
                <a:solidFill>
                  <a:srgbClr val="605F67"/>
                </a:solidFill>
                <a:effectLst/>
                <a:uLnTx/>
                <a:uFillTx/>
                <a:latin typeface="Century Gothic" panose="020B0502020202020204" pitchFamily="34" charset="0"/>
                <a:cs typeface="Tahoma"/>
              </a:rPr>
              <a:t>GCP, </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Salesforce,</a:t>
            </a:r>
            <a:r>
              <a:rPr kumimoji="0" lang="en-GB" sz="11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75" normalizeH="0" baseline="0" noProof="0">
                <a:ln>
                  <a:noFill/>
                </a:ln>
                <a:solidFill>
                  <a:srgbClr val="605F67"/>
                </a:solidFill>
                <a:effectLst/>
                <a:uLnTx/>
                <a:uFillTx/>
                <a:latin typeface="Century Gothic" panose="020B0502020202020204" pitchFamily="34" charset="0"/>
                <a:cs typeface="Tahoma"/>
              </a:rPr>
              <a:t>ServiceNow</a:t>
            </a:r>
            <a:r>
              <a:rPr kumimoji="0" lang="en-GB" sz="11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140" normalizeH="0" baseline="0" noProof="0">
                <a:ln>
                  <a:noFill/>
                </a:ln>
                <a:solidFill>
                  <a:srgbClr val="605F67"/>
                </a:solidFill>
                <a:effectLst/>
                <a:uLnTx/>
                <a:uFillTx/>
                <a:latin typeface="Century Gothic" panose="020B0502020202020204" pitchFamily="34" charset="0"/>
                <a:cs typeface="Tahoma"/>
              </a:rPr>
              <a:t>and</a:t>
            </a:r>
            <a:r>
              <a:rPr kumimoji="0" lang="en-GB" sz="1100" b="0" i="0" u="none" strike="noStrike" kern="0" cap="none" spc="-1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Fortinet,</a:t>
            </a:r>
            <a:r>
              <a:rPr kumimoji="0" lang="en-GB" sz="11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85" normalizeH="0" baseline="0" noProof="0">
                <a:ln>
                  <a:noFill/>
                </a:ln>
                <a:solidFill>
                  <a:srgbClr val="605F67"/>
                </a:solidFill>
                <a:effectLst/>
                <a:uLnTx/>
                <a:uFillTx/>
                <a:latin typeface="Century Gothic" panose="020B0502020202020204" pitchFamily="34" charset="0"/>
                <a:cs typeface="Tahoma"/>
              </a:rPr>
              <a:t>enabling</a:t>
            </a:r>
            <a:r>
              <a:rPr kumimoji="0" lang="en-GB" sz="1100" b="0" i="0" u="none" strike="noStrike" kern="0" cap="none" spc="-3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25" normalizeH="0" baseline="0" noProof="0">
                <a:ln>
                  <a:noFill/>
                </a:ln>
                <a:solidFill>
                  <a:srgbClr val="605F67"/>
                </a:solidFill>
                <a:effectLst/>
                <a:uLnTx/>
                <a:uFillTx/>
                <a:latin typeface="Century Gothic" panose="020B0502020202020204" pitchFamily="34" charset="0"/>
                <a:cs typeface="Tahoma"/>
              </a:rPr>
              <a:t>us </a:t>
            </a:r>
            <a:r>
              <a:rPr kumimoji="0" lang="en-GB" sz="1100" b="0" i="0" u="none" strike="noStrike" kern="0" cap="none" spc="65" normalizeH="0" baseline="0" noProof="0">
                <a:ln>
                  <a:noFill/>
                </a:ln>
                <a:solidFill>
                  <a:srgbClr val="605F67"/>
                </a:solidFill>
                <a:effectLst/>
                <a:uLnTx/>
                <a:uFillTx/>
                <a:latin typeface="Century Gothic" panose="020B0502020202020204" pitchFamily="34" charset="0"/>
                <a:cs typeface="Tahoma"/>
              </a:rPr>
              <a:t>to</a:t>
            </a:r>
            <a:r>
              <a:rPr kumimoji="0" lang="en-GB" sz="1100" b="0" i="0" u="none" strike="noStrike" kern="0" cap="none" spc="9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deliver</a:t>
            </a:r>
            <a:r>
              <a:rPr kumimoji="0" lang="en-GB" sz="1100" b="0" i="0" u="none" strike="noStrike" kern="0" cap="none" spc="3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best-</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in-</a:t>
            </a:r>
            <a:r>
              <a:rPr kumimoji="0" lang="en-GB" sz="1100" b="0" i="0" u="none" strike="noStrike" kern="0" cap="none" spc="50" normalizeH="0" baseline="0" noProof="0">
                <a:ln>
                  <a:noFill/>
                </a:ln>
                <a:solidFill>
                  <a:srgbClr val="605F67"/>
                </a:solidFill>
                <a:effectLst/>
                <a:uLnTx/>
                <a:uFillTx/>
                <a:latin typeface="Century Gothic" panose="020B0502020202020204" pitchFamily="34" charset="0"/>
                <a:cs typeface="Tahoma"/>
              </a:rPr>
              <a:t>class</a:t>
            </a:r>
            <a:r>
              <a:rPr kumimoji="0" lang="en-GB" sz="1100" b="0" i="0" u="none" strike="noStrike" kern="0" cap="none" spc="55"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solutions</a:t>
            </a:r>
            <a:r>
              <a:rPr kumimoji="0" lang="en-GB" sz="1100" b="0" i="0" u="none" strike="noStrike" kern="0" cap="none" spc="6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0" normalizeH="0" baseline="0" noProof="0">
                <a:ln>
                  <a:noFill/>
                </a:ln>
                <a:solidFill>
                  <a:srgbClr val="605F67"/>
                </a:solidFill>
                <a:effectLst/>
                <a:uLnTx/>
                <a:uFillTx/>
                <a:latin typeface="Century Gothic" panose="020B0502020202020204" pitchFamily="34" charset="0"/>
                <a:cs typeface="Tahoma"/>
              </a:rPr>
              <a:t>with</a:t>
            </a:r>
            <a:r>
              <a:rPr kumimoji="0" lang="en-GB" sz="1100" b="0" i="0" u="none" strike="noStrike" kern="0" cap="none" spc="100" normalizeH="0" baseline="0" noProof="0">
                <a:ln>
                  <a:noFill/>
                </a:ln>
                <a:solidFill>
                  <a:srgbClr val="605F67"/>
                </a:solidFill>
                <a:effectLst/>
                <a:uLnTx/>
                <a:uFillTx/>
                <a:latin typeface="Century Gothic" panose="020B0502020202020204" pitchFamily="34" charset="0"/>
                <a:cs typeface="Tahoma"/>
              </a:rPr>
              <a:t> </a:t>
            </a:r>
            <a:r>
              <a:rPr kumimoji="0" lang="en-GB" sz="1100" b="0" i="0" u="none" strike="noStrike" kern="0" cap="none" spc="80" normalizeH="0" baseline="0" noProof="0">
                <a:ln>
                  <a:noFill/>
                </a:ln>
                <a:solidFill>
                  <a:srgbClr val="605F67"/>
                </a:solidFill>
                <a:effectLst/>
                <a:uLnTx/>
                <a:uFillTx/>
                <a:latin typeface="Century Gothic" panose="020B0502020202020204" pitchFamily="34" charset="0"/>
                <a:cs typeface="Tahoma"/>
              </a:rPr>
              <a:t>local </a:t>
            </a:r>
            <a:r>
              <a:rPr kumimoji="0" lang="en-GB" sz="1100" b="0" i="0" u="none" strike="noStrike" kern="0" cap="none" spc="-10" normalizeH="0" baseline="0" noProof="0">
                <a:ln>
                  <a:noFill/>
                </a:ln>
                <a:solidFill>
                  <a:srgbClr val="605F67"/>
                </a:solidFill>
                <a:effectLst/>
                <a:uLnTx/>
                <a:uFillTx/>
                <a:latin typeface="Century Gothic" panose="020B0502020202020204" pitchFamily="34" charset="0"/>
                <a:cs typeface="Tahoma"/>
              </a:rPr>
              <a:t>support.</a:t>
            </a:r>
            <a:endParaRPr kumimoji="0" lang="en-GB" sz="110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
        <p:nvSpPr>
          <p:cNvPr id="8" name="object 8"/>
          <p:cNvSpPr txBox="1"/>
          <p:nvPr/>
        </p:nvSpPr>
        <p:spPr>
          <a:xfrm>
            <a:off x="618540" y="5961945"/>
            <a:ext cx="10456545" cy="373179"/>
          </a:xfrm>
          <a:prstGeom prst="rect">
            <a:avLst/>
          </a:prstGeom>
        </p:spPr>
        <p:txBody>
          <a:bodyPr vert="horz" wrap="square" lIns="0" tIns="13970" rIns="0" bIns="0" rtlCol="0">
            <a:spAutoFit/>
          </a:bodyPr>
          <a:lstStyle/>
          <a:p>
            <a:pPr marL="12700" marR="0" lvl="0" indent="0" defTabSz="914400" eaLnBrk="1" fontAlgn="auto" latinLnBrk="0" hangingPunct="1">
              <a:lnSpc>
                <a:spcPts val="1390"/>
              </a:lnSpc>
              <a:spcBef>
                <a:spcPts val="0"/>
              </a:spcBef>
              <a:spcAft>
                <a:spcPts val="0"/>
              </a:spcAft>
              <a:buClrTx/>
              <a:buSzTx/>
              <a:buFontTx/>
              <a:buNone/>
              <a:tabLst/>
              <a:defRPr/>
            </a:pPr>
            <a:r>
              <a:rPr kumimoji="0" lang="en-GB" sz="1200" b="0" i="0" u="none" strike="noStrike" kern="0" cap="none" spc="55" normalizeH="0" baseline="0" noProof="0">
                <a:ln>
                  <a:noFill/>
                </a:ln>
                <a:solidFill>
                  <a:srgbClr val="605F67"/>
                </a:solidFill>
                <a:effectLst/>
                <a:uLnTx/>
                <a:uFillTx/>
                <a:latin typeface="Century Gothic" panose="020B0502020202020204" pitchFamily="34" charset="0"/>
                <a:cs typeface="Tahoma"/>
              </a:rPr>
              <a:t>Our</a:t>
            </a:r>
            <a:r>
              <a:rPr kumimoji="0" lang="en-GB" sz="12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130" normalizeH="0" baseline="0" noProof="0">
                <a:ln>
                  <a:noFill/>
                </a:ln>
                <a:solidFill>
                  <a:srgbClr val="605F67"/>
                </a:solidFill>
                <a:effectLst/>
                <a:uLnTx/>
                <a:uFillTx/>
                <a:latin typeface="Century Gothic" panose="020B0502020202020204" pitchFamily="34" charset="0"/>
                <a:cs typeface="Tahoma"/>
              </a:rPr>
              <a:t>approach</a:t>
            </a:r>
            <a:r>
              <a:rPr kumimoji="0" lang="en-GB" sz="12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95" normalizeH="0" baseline="0" noProof="0">
                <a:ln>
                  <a:noFill/>
                </a:ln>
                <a:solidFill>
                  <a:srgbClr val="605F67"/>
                </a:solidFill>
                <a:effectLst/>
                <a:uLnTx/>
                <a:uFillTx/>
                <a:latin typeface="Century Gothic" panose="020B0502020202020204" pitchFamily="34" charset="0"/>
                <a:cs typeface="Tahoma"/>
              </a:rPr>
              <a:t>combines</a:t>
            </a:r>
            <a:r>
              <a:rPr kumimoji="0" lang="en-GB" sz="1200" b="0" i="0" u="none" strike="noStrike" kern="0" cap="none" spc="-3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155" normalizeH="0" baseline="0" noProof="0">
                <a:ln>
                  <a:noFill/>
                </a:ln>
                <a:solidFill>
                  <a:srgbClr val="605F67"/>
                </a:solidFill>
                <a:effectLst/>
                <a:uLnTx/>
                <a:uFillTx/>
                <a:latin typeface="Century Gothic" panose="020B0502020202020204" pitchFamily="34" charset="0"/>
                <a:cs typeface="Tahoma"/>
              </a:rPr>
              <a:t>deep</a:t>
            </a:r>
            <a:r>
              <a:rPr kumimoji="0" lang="en-GB" sz="1200" b="0" i="0" u="none" strike="noStrike" kern="0" cap="none" spc="-2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605F67"/>
                </a:solidFill>
                <a:effectLst/>
                <a:uLnTx/>
                <a:uFillTx/>
                <a:latin typeface="Century Gothic" panose="020B0502020202020204" pitchFamily="34" charset="0"/>
                <a:cs typeface="Tahoma"/>
              </a:rPr>
              <a:t>African</a:t>
            </a:r>
            <a:r>
              <a:rPr kumimoji="0" lang="en-GB" sz="12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605F67"/>
                </a:solidFill>
                <a:effectLst/>
                <a:uLnTx/>
                <a:uFillTx/>
                <a:latin typeface="Century Gothic" panose="020B0502020202020204" pitchFamily="34" charset="0"/>
                <a:cs typeface="Tahoma"/>
              </a:rPr>
              <a:t>market</a:t>
            </a:r>
            <a:r>
              <a:rPr kumimoji="0" lang="en-GB" sz="12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95" normalizeH="0" baseline="0" noProof="0">
                <a:ln>
                  <a:noFill/>
                </a:ln>
                <a:solidFill>
                  <a:srgbClr val="605F67"/>
                </a:solidFill>
                <a:effectLst/>
                <a:uLnTx/>
                <a:uFillTx/>
                <a:latin typeface="Century Gothic" panose="020B0502020202020204" pitchFamily="34" charset="0"/>
                <a:cs typeface="Tahoma"/>
              </a:rPr>
              <a:t>knowledge</a:t>
            </a:r>
            <a:r>
              <a:rPr kumimoji="0" lang="en-GB" sz="1200" b="0" i="0" u="none" strike="noStrike" kern="0" cap="none" spc="-5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605F67"/>
                </a:solidFill>
                <a:effectLst/>
                <a:uLnTx/>
                <a:uFillTx/>
                <a:latin typeface="Century Gothic" panose="020B0502020202020204" pitchFamily="34" charset="0"/>
                <a:cs typeface="Tahoma"/>
              </a:rPr>
              <a:t>with</a:t>
            </a:r>
            <a:r>
              <a:rPr kumimoji="0" lang="en-GB" sz="12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95" normalizeH="0" baseline="0" noProof="0">
                <a:ln>
                  <a:noFill/>
                </a:ln>
                <a:solidFill>
                  <a:srgbClr val="605F67"/>
                </a:solidFill>
                <a:effectLst/>
                <a:uLnTx/>
                <a:uFillTx/>
                <a:latin typeface="Century Gothic" panose="020B0502020202020204" pitchFamily="34" charset="0"/>
                <a:cs typeface="Tahoma"/>
              </a:rPr>
              <a:t>global</a:t>
            </a:r>
            <a:r>
              <a:rPr kumimoji="0" lang="en-GB" sz="1200" b="0" i="0" u="none" strike="noStrike" kern="0" cap="none" spc="-5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90" normalizeH="0" baseline="0" noProof="0">
                <a:ln>
                  <a:noFill/>
                </a:ln>
                <a:solidFill>
                  <a:srgbClr val="605F67"/>
                </a:solidFill>
                <a:effectLst/>
                <a:uLnTx/>
                <a:uFillTx/>
                <a:latin typeface="Century Gothic" panose="020B0502020202020204" pitchFamily="34" charset="0"/>
                <a:cs typeface="Tahoma"/>
              </a:rPr>
              <a:t>technology</a:t>
            </a:r>
            <a:r>
              <a:rPr kumimoji="0" lang="en-GB" sz="1200" b="0" i="0" u="none" strike="noStrike" kern="0" cap="none" spc="-4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50" normalizeH="0" baseline="0" noProof="0">
                <a:ln>
                  <a:noFill/>
                </a:ln>
                <a:solidFill>
                  <a:srgbClr val="605F67"/>
                </a:solidFill>
                <a:effectLst/>
                <a:uLnTx/>
                <a:uFillTx/>
                <a:latin typeface="Century Gothic" panose="020B0502020202020204" pitchFamily="34" charset="0"/>
                <a:cs typeface="Tahoma"/>
              </a:rPr>
              <a:t>standards,</a:t>
            </a:r>
            <a:r>
              <a:rPr kumimoji="0" lang="en-GB" sz="12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605F67"/>
                </a:solidFill>
                <a:effectLst/>
                <a:uLnTx/>
                <a:uFillTx/>
                <a:latin typeface="Century Gothic" panose="020B0502020202020204" pitchFamily="34" charset="0"/>
                <a:cs typeface="Tahoma"/>
              </a:rPr>
              <a:t>allowing</a:t>
            </a:r>
            <a:r>
              <a:rPr kumimoji="0" lang="en-GB" sz="1200" b="0" i="0" u="none" strike="noStrike" kern="0" cap="none" spc="-5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605F67"/>
                </a:solidFill>
                <a:effectLst/>
                <a:uLnTx/>
                <a:uFillTx/>
                <a:latin typeface="Century Gothic" panose="020B0502020202020204" pitchFamily="34" charset="0"/>
                <a:cs typeface="Tahoma"/>
              </a:rPr>
              <a:t>us </a:t>
            </a:r>
            <a:r>
              <a:rPr kumimoji="0" lang="en-GB" sz="1200" b="0" i="0" u="none" strike="noStrike" kern="0" cap="none" spc="65" normalizeH="0" baseline="0" noProof="0">
                <a:ln>
                  <a:noFill/>
                </a:ln>
                <a:solidFill>
                  <a:srgbClr val="605F67"/>
                </a:solidFill>
                <a:effectLst/>
                <a:uLnTx/>
                <a:uFillTx/>
                <a:latin typeface="Century Gothic" panose="020B0502020202020204" pitchFamily="34" charset="0"/>
                <a:cs typeface="Tahoma"/>
              </a:rPr>
              <a:t>to</a:t>
            </a:r>
            <a:r>
              <a:rPr kumimoji="0" lang="en-GB" sz="1200" b="0" i="0" u="none" strike="noStrike" kern="0" cap="none" spc="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105" normalizeH="0" baseline="0" noProof="0">
                <a:ln>
                  <a:noFill/>
                </a:ln>
                <a:solidFill>
                  <a:srgbClr val="605F67"/>
                </a:solidFill>
                <a:effectLst/>
                <a:uLnTx/>
                <a:uFillTx/>
                <a:latin typeface="Century Gothic" panose="020B0502020202020204" pitchFamily="34" charset="0"/>
                <a:cs typeface="Tahoma"/>
              </a:rPr>
              <a:t>create</a:t>
            </a:r>
            <a:r>
              <a:rPr kumimoji="0" lang="en-GB" sz="12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0" normalizeH="0" baseline="0" noProof="0">
                <a:ln>
                  <a:noFill/>
                </a:ln>
                <a:solidFill>
                  <a:srgbClr val="605F67"/>
                </a:solidFill>
                <a:effectLst/>
                <a:uLnTx/>
                <a:uFillTx/>
                <a:latin typeface="Century Gothic" panose="020B0502020202020204" pitchFamily="34" charset="0"/>
                <a:cs typeface="Tahoma"/>
              </a:rPr>
              <a:t>solutions</a:t>
            </a:r>
            <a:r>
              <a:rPr kumimoji="0" lang="en-GB" sz="1200" b="0" i="0" u="none" strike="noStrike" kern="0" cap="none" spc="-1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60" normalizeH="0" baseline="0" noProof="0">
                <a:ln>
                  <a:noFill/>
                </a:ln>
                <a:solidFill>
                  <a:srgbClr val="605F67"/>
                </a:solidFill>
                <a:effectLst/>
                <a:uLnTx/>
                <a:uFillTx/>
                <a:latin typeface="Century Gothic" panose="020B0502020202020204" pitchFamily="34" charset="0"/>
                <a:cs typeface="Tahoma"/>
              </a:rPr>
              <a:t>that</a:t>
            </a:r>
            <a:r>
              <a:rPr kumimoji="0" lang="en-GB" sz="1200" b="0" i="0" u="none" strike="noStrike" kern="0" cap="none" spc="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65" normalizeH="0" baseline="0" noProof="0">
                <a:ln>
                  <a:noFill/>
                </a:ln>
                <a:solidFill>
                  <a:srgbClr val="605F67"/>
                </a:solidFill>
                <a:effectLst/>
                <a:uLnTx/>
                <a:uFillTx/>
                <a:latin typeface="Century Gothic" panose="020B0502020202020204" pitchFamily="34" charset="0"/>
                <a:cs typeface="Tahoma"/>
              </a:rPr>
              <a:t>address</a:t>
            </a:r>
            <a:r>
              <a:rPr kumimoji="0" lang="en-GB" sz="1200" b="0" i="0" u="none" strike="noStrike" kern="0" cap="none" spc="-1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40" normalizeH="0" baseline="0" noProof="0">
                <a:ln>
                  <a:noFill/>
                </a:ln>
                <a:solidFill>
                  <a:srgbClr val="605F67"/>
                </a:solidFill>
                <a:effectLst/>
                <a:uLnTx/>
                <a:uFillTx/>
                <a:latin typeface="Century Gothic" panose="020B0502020202020204" pitchFamily="34" charset="0"/>
                <a:cs typeface="Tahoma"/>
              </a:rPr>
              <a:t>the </a:t>
            </a:r>
            <a:r>
              <a:rPr kumimoji="0" lang="en-GB" sz="1200" b="0" i="0" u="none" strike="noStrike" kern="0" cap="none" spc="70" normalizeH="0" baseline="0" noProof="0">
                <a:ln>
                  <a:noFill/>
                </a:ln>
                <a:solidFill>
                  <a:srgbClr val="605F67"/>
                </a:solidFill>
                <a:effectLst/>
                <a:uLnTx/>
                <a:uFillTx/>
                <a:latin typeface="Century Gothic" panose="020B0502020202020204" pitchFamily="34" charset="0"/>
                <a:cs typeface="Tahoma"/>
              </a:rPr>
              <a:t>unique</a:t>
            </a:r>
            <a:r>
              <a:rPr kumimoji="0" lang="en-GB" sz="1200" b="0" i="0" u="none" strike="noStrike" kern="0" cap="none" spc="-2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80" normalizeH="0" baseline="0" noProof="0">
                <a:ln>
                  <a:noFill/>
                </a:ln>
                <a:solidFill>
                  <a:srgbClr val="605F67"/>
                </a:solidFill>
                <a:effectLst/>
                <a:uLnTx/>
                <a:uFillTx/>
                <a:latin typeface="Century Gothic" panose="020B0502020202020204" pitchFamily="34" charset="0"/>
                <a:cs typeface="Tahoma"/>
              </a:rPr>
              <a:t>challenges</a:t>
            </a:r>
            <a:r>
              <a:rPr kumimoji="0" lang="en-GB" sz="1200" b="0" i="0" u="none" strike="noStrike" kern="0" cap="none" spc="-4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140" normalizeH="0" baseline="0" noProof="0">
                <a:ln>
                  <a:noFill/>
                </a:ln>
                <a:solidFill>
                  <a:srgbClr val="605F67"/>
                </a:solidFill>
                <a:effectLst/>
                <a:uLnTx/>
                <a:uFillTx/>
                <a:latin typeface="Century Gothic" panose="020B0502020202020204" pitchFamily="34" charset="0"/>
                <a:cs typeface="Tahoma"/>
              </a:rPr>
              <a:t>and</a:t>
            </a:r>
            <a:r>
              <a:rPr kumimoji="0" lang="en-GB" sz="1200" b="0" i="0" u="none" strike="noStrike" kern="0" cap="none" spc="-3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45" normalizeH="0" baseline="0" noProof="0">
                <a:ln>
                  <a:noFill/>
                </a:ln>
                <a:solidFill>
                  <a:srgbClr val="605F67"/>
                </a:solidFill>
                <a:effectLst/>
                <a:uLnTx/>
                <a:uFillTx/>
                <a:latin typeface="Century Gothic" panose="020B0502020202020204" pitchFamily="34" charset="0"/>
                <a:cs typeface="Tahoma"/>
              </a:rPr>
              <a:t>opportunities</a:t>
            </a:r>
            <a:r>
              <a:rPr kumimoji="0" lang="en-GB" sz="1200" b="0" i="0" u="none" strike="noStrike" kern="0" cap="none" spc="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65" normalizeH="0" baseline="0" noProof="0">
                <a:ln>
                  <a:noFill/>
                </a:ln>
                <a:solidFill>
                  <a:srgbClr val="605F67"/>
                </a:solidFill>
                <a:effectLst/>
                <a:uLnTx/>
                <a:uFillTx/>
                <a:latin typeface="Century Gothic" panose="020B0502020202020204" pitchFamily="34" charset="0"/>
                <a:cs typeface="Tahoma"/>
              </a:rPr>
              <a:t>of</a:t>
            </a:r>
            <a:r>
              <a:rPr kumimoji="0" lang="en-GB" sz="1200" b="0" i="0" u="none" strike="noStrike" kern="0" cap="none" spc="-30"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70" normalizeH="0" baseline="0" noProof="0">
                <a:ln>
                  <a:noFill/>
                </a:ln>
                <a:solidFill>
                  <a:srgbClr val="605F67"/>
                </a:solidFill>
                <a:effectLst/>
                <a:uLnTx/>
                <a:uFillTx/>
                <a:latin typeface="Century Gothic" panose="020B0502020202020204" pitchFamily="34" charset="0"/>
                <a:cs typeface="Tahoma"/>
              </a:rPr>
              <a:t>African</a:t>
            </a:r>
            <a:r>
              <a:rPr kumimoji="0" lang="en-GB" sz="1200" b="0" i="0" u="none" strike="noStrike" kern="0" cap="none" spc="-25" normalizeH="0" baseline="0" noProof="0">
                <a:ln>
                  <a:noFill/>
                </a:ln>
                <a:solidFill>
                  <a:srgbClr val="605F67"/>
                </a:solidFill>
                <a:effectLst/>
                <a:uLnTx/>
                <a:uFillTx/>
                <a:latin typeface="Century Gothic" panose="020B0502020202020204" pitchFamily="34" charset="0"/>
                <a:cs typeface="Tahoma"/>
              </a:rPr>
              <a:t> </a:t>
            </a:r>
            <a:r>
              <a:rPr kumimoji="0" lang="en-GB" sz="1200" b="0" i="0" u="none" strike="noStrike" kern="0" cap="none" spc="-10" normalizeH="0" baseline="0" noProof="0">
                <a:ln>
                  <a:noFill/>
                </a:ln>
                <a:solidFill>
                  <a:srgbClr val="605F67"/>
                </a:solidFill>
                <a:effectLst/>
                <a:uLnTx/>
                <a:uFillTx/>
                <a:latin typeface="Century Gothic" panose="020B0502020202020204" pitchFamily="34" charset="0"/>
                <a:cs typeface="Tahoma"/>
              </a:rPr>
              <a:t>enterprises</a:t>
            </a:r>
            <a:r>
              <a:rPr kumimoji="0" lang="en-GB" sz="1200" b="0" i="0" u="none" strike="noStrike" kern="0" cap="none" spc="-10" normalizeH="0" baseline="0" noProof="0">
                <a:ln>
                  <a:noFill/>
                </a:ln>
                <a:solidFill>
                  <a:srgbClr val="605F67"/>
                </a:solidFill>
                <a:effectLst/>
                <a:uLnTx/>
                <a:uFillTx/>
                <a:latin typeface="Century Gothic" panose="020B0502020202020204" pitchFamily="34" charset="0"/>
                <a:cs typeface="Impact"/>
              </a:rPr>
              <a:t>.</a:t>
            </a:r>
            <a:endParaRPr kumimoji="0" lang="en-GB" sz="1200" b="0" i="0" u="none" strike="noStrike" kern="0" cap="none" spc="0" normalizeH="0" baseline="0" noProof="0">
              <a:ln>
                <a:noFill/>
              </a:ln>
              <a:solidFill>
                <a:sysClr val="windowText" lastClr="000000"/>
              </a:solidFill>
              <a:effectLst/>
              <a:uLnTx/>
              <a:uFillTx/>
              <a:latin typeface="Century Gothic" panose="020B0502020202020204" pitchFamily="34" charset="0"/>
              <a:cs typeface="Impact"/>
            </a:endParaRPr>
          </a:p>
        </p:txBody>
      </p:sp>
      <p:pic>
        <p:nvPicPr>
          <p:cNvPr id="9" name="object 9"/>
          <p:cNvPicPr/>
          <p:nvPr/>
        </p:nvPicPr>
        <p:blipFill>
          <a:blip r:embed="rId3" cstate="print"/>
          <a:stretch>
            <a:fillRect/>
          </a:stretch>
        </p:blipFill>
        <p:spPr>
          <a:xfrm>
            <a:off x="606323" y="2100103"/>
            <a:ext cx="3511804" cy="2170429"/>
          </a:xfrm>
          <a:prstGeom prst="rect">
            <a:avLst/>
          </a:prstGeom>
        </p:spPr>
      </p:pic>
      <p:pic>
        <p:nvPicPr>
          <p:cNvPr id="10" name="object 10"/>
          <p:cNvPicPr/>
          <p:nvPr/>
        </p:nvPicPr>
        <p:blipFill>
          <a:blip r:embed="rId4" cstate="print"/>
          <a:stretch>
            <a:fillRect/>
          </a:stretch>
        </p:blipFill>
        <p:spPr>
          <a:xfrm>
            <a:off x="4340097" y="2118099"/>
            <a:ext cx="3486245" cy="2141634"/>
          </a:xfrm>
          <a:prstGeom prst="rect">
            <a:avLst/>
          </a:prstGeom>
        </p:spPr>
      </p:pic>
      <p:pic>
        <p:nvPicPr>
          <p:cNvPr id="11" name="object 11"/>
          <p:cNvPicPr/>
          <p:nvPr/>
        </p:nvPicPr>
        <p:blipFill>
          <a:blip r:embed="rId5" cstate="print"/>
          <a:stretch>
            <a:fillRect/>
          </a:stretch>
        </p:blipFill>
        <p:spPr>
          <a:xfrm>
            <a:off x="8049132" y="2100103"/>
            <a:ext cx="3486911" cy="217042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406400" y="349631"/>
            <a:ext cx="2802509" cy="390398"/>
          </a:xfrm>
          <a:prstGeom prst="rect">
            <a:avLst/>
          </a:prstGeom>
        </p:spPr>
      </p:pic>
      <p:grpSp>
        <p:nvGrpSpPr>
          <p:cNvPr id="5" name="object 5"/>
          <p:cNvGrpSpPr/>
          <p:nvPr/>
        </p:nvGrpSpPr>
        <p:grpSpPr>
          <a:xfrm>
            <a:off x="0" y="-63"/>
            <a:ext cx="12192000" cy="6477635"/>
            <a:chOff x="0" y="-63"/>
            <a:chExt cx="12192000" cy="6477635"/>
          </a:xfrm>
        </p:grpSpPr>
        <p:pic>
          <p:nvPicPr>
            <p:cNvPr id="6" name="object 6"/>
            <p:cNvPicPr/>
            <p:nvPr/>
          </p:nvPicPr>
          <p:blipFill>
            <a:blip r:embed="rId3" cstate="print"/>
            <a:stretch>
              <a:fillRect/>
            </a:stretch>
          </p:blipFill>
          <p:spPr>
            <a:xfrm>
              <a:off x="0" y="0"/>
              <a:ext cx="12191998" cy="6477000"/>
            </a:xfrm>
            <a:prstGeom prst="rect">
              <a:avLst/>
            </a:prstGeom>
          </p:spPr>
        </p:pic>
        <p:pic>
          <p:nvPicPr>
            <p:cNvPr id="7" name="object 7"/>
            <p:cNvPicPr/>
            <p:nvPr/>
          </p:nvPicPr>
          <p:blipFill>
            <a:blip r:embed="rId4" cstate="print"/>
            <a:stretch>
              <a:fillRect/>
            </a:stretch>
          </p:blipFill>
          <p:spPr>
            <a:xfrm>
              <a:off x="0" y="-63"/>
              <a:ext cx="3108959" cy="958151"/>
            </a:xfrm>
            <a:prstGeom prst="rect">
              <a:avLst/>
            </a:prstGeom>
          </p:spPr>
        </p:pic>
      </p:grpSp>
      <p:sp>
        <p:nvSpPr>
          <p:cNvPr id="8" name="object 8"/>
          <p:cNvSpPr txBox="1"/>
          <p:nvPr/>
        </p:nvSpPr>
        <p:spPr>
          <a:xfrm>
            <a:off x="341172" y="4483353"/>
            <a:ext cx="3056890" cy="1163320"/>
          </a:xfrm>
          <a:prstGeom prst="rect">
            <a:avLst/>
          </a:prstGeom>
        </p:spPr>
        <p:txBody>
          <a:bodyPr vert="horz" wrap="square" lIns="0" tIns="52069" rIns="0" bIns="0" rtlCol="0">
            <a:spAutoFit/>
          </a:bodyPr>
          <a:lstStyle/>
          <a:p>
            <a:pPr marL="12700" marR="5080" lvl="0" indent="0" defTabSz="914400" eaLnBrk="1" fontAlgn="auto" latinLnBrk="0" hangingPunct="1">
              <a:lnSpc>
                <a:spcPct val="90600"/>
              </a:lnSpc>
              <a:spcBef>
                <a:spcPts val="409"/>
              </a:spcBef>
              <a:spcAft>
                <a:spcPts val="0"/>
              </a:spcAft>
              <a:buClrTx/>
              <a:buSzTx/>
              <a:buFontTx/>
              <a:buNone/>
              <a:tabLst/>
              <a:defRPr/>
            </a:pPr>
            <a:r>
              <a:rPr kumimoji="0" lang="en-US" sz="2650" b="1" i="0" u="none" strike="noStrike" kern="0" cap="none" spc="-10" normalizeH="0" baseline="0" noProof="0">
                <a:ln>
                  <a:noFill/>
                </a:ln>
                <a:solidFill>
                  <a:srgbClr val="393C3B"/>
                </a:solidFill>
                <a:effectLst/>
                <a:uLnTx/>
                <a:uFillTx/>
                <a:latin typeface="Century Gothic" panose="020B0502020202020204" pitchFamily="34" charset="0"/>
                <a:cs typeface="Tahoma"/>
              </a:rPr>
              <a:t>Available </a:t>
            </a:r>
            <a:r>
              <a:rPr kumimoji="0" lang="en-US" sz="2650" b="1" i="0" u="none" strike="noStrike" kern="0" cap="none" spc="-25" normalizeH="0" baseline="0" noProof="0">
                <a:ln>
                  <a:noFill/>
                </a:ln>
                <a:solidFill>
                  <a:srgbClr val="393C3B"/>
                </a:solidFill>
                <a:effectLst/>
                <a:uLnTx/>
                <a:uFillTx/>
                <a:latin typeface="Century Gothic" panose="020B0502020202020204" pitchFamily="34" charset="0"/>
                <a:cs typeface="Tahoma"/>
              </a:rPr>
              <a:t>Technical</a:t>
            </a:r>
            <a:r>
              <a:rPr kumimoji="0" lang="en-US" sz="2650" b="1" i="0" u="none" strike="noStrike" kern="0" cap="none" spc="-130" normalizeH="0" baseline="0" noProof="0">
                <a:ln>
                  <a:noFill/>
                </a:ln>
                <a:solidFill>
                  <a:srgbClr val="393C3B"/>
                </a:solidFill>
                <a:effectLst/>
                <a:uLnTx/>
                <a:uFillTx/>
                <a:latin typeface="Century Gothic" panose="020B0502020202020204" pitchFamily="34" charset="0"/>
                <a:cs typeface="Tahoma"/>
              </a:rPr>
              <a:t> </a:t>
            </a:r>
            <a:r>
              <a:rPr kumimoji="0" lang="en-US" sz="2650" b="1" i="0" u="none" strike="noStrike" kern="0" cap="none" spc="-195" normalizeH="0" baseline="0" noProof="0">
                <a:ln>
                  <a:noFill/>
                </a:ln>
                <a:solidFill>
                  <a:srgbClr val="393C3B"/>
                </a:solidFill>
                <a:effectLst/>
                <a:uLnTx/>
                <a:uFillTx/>
                <a:latin typeface="Century Gothic" panose="020B0502020202020204" pitchFamily="34" charset="0"/>
                <a:cs typeface="Tahoma"/>
              </a:rPr>
              <a:t>Skills</a:t>
            </a:r>
            <a:r>
              <a:rPr kumimoji="0" lang="en-US" sz="2650" b="1" i="0" u="none" strike="noStrike" kern="0" cap="none" spc="35" normalizeH="0" baseline="0" noProof="0">
                <a:ln>
                  <a:noFill/>
                </a:ln>
                <a:solidFill>
                  <a:srgbClr val="393C3B"/>
                </a:solidFill>
                <a:effectLst/>
                <a:uLnTx/>
                <a:uFillTx/>
                <a:latin typeface="Century Gothic" panose="020B0502020202020204" pitchFamily="34" charset="0"/>
                <a:cs typeface="Tahoma"/>
              </a:rPr>
              <a:t> </a:t>
            </a:r>
            <a:r>
              <a:rPr kumimoji="0" lang="en-US" sz="2650" b="1" i="0" u="none" strike="noStrike" kern="0" cap="none" spc="-25" normalizeH="0" baseline="0" noProof="0">
                <a:ln>
                  <a:noFill/>
                </a:ln>
                <a:solidFill>
                  <a:srgbClr val="393C3B"/>
                </a:solidFill>
                <a:effectLst/>
                <a:uLnTx/>
                <a:uFillTx/>
                <a:latin typeface="Century Gothic" panose="020B0502020202020204" pitchFamily="34" charset="0"/>
                <a:cs typeface="Tahoma"/>
              </a:rPr>
              <a:t>in </a:t>
            </a:r>
            <a:r>
              <a:rPr kumimoji="0" lang="en-US" sz="2650" b="1" i="0" u="none" strike="noStrike" kern="0" cap="none" spc="-160" normalizeH="0" baseline="0" noProof="0">
                <a:ln>
                  <a:noFill/>
                </a:ln>
                <a:solidFill>
                  <a:srgbClr val="393C3B"/>
                </a:solidFill>
                <a:effectLst/>
                <a:uLnTx/>
                <a:uFillTx/>
                <a:latin typeface="Century Gothic" panose="020B0502020202020204" pitchFamily="34" charset="0"/>
                <a:cs typeface="Tahoma"/>
              </a:rPr>
              <a:t>Heirs</a:t>
            </a:r>
            <a:r>
              <a:rPr kumimoji="0" lang="en-US" sz="2650" b="1" i="0" u="none" strike="noStrike" kern="0" cap="none" spc="-25" normalizeH="0" baseline="0" noProof="0">
                <a:ln>
                  <a:noFill/>
                </a:ln>
                <a:solidFill>
                  <a:srgbClr val="393C3B"/>
                </a:solidFill>
                <a:effectLst/>
                <a:uLnTx/>
                <a:uFillTx/>
                <a:latin typeface="Century Gothic" panose="020B0502020202020204" pitchFamily="34" charset="0"/>
                <a:cs typeface="Tahoma"/>
              </a:rPr>
              <a:t> </a:t>
            </a:r>
            <a:r>
              <a:rPr kumimoji="0" lang="en-US" sz="2650" b="1" i="0" u="none" strike="noStrike" kern="0" cap="none" spc="-50" normalizeH="0" baseline="0" noProof="0">
                <a:ln>
                  <a:noFill/>
                </a:ln>
                <a:solidFill>
                  <a:srgbClr val="393C3B"/>
                </a:solidFill>
                <a:effectLst/>
                <a:uLnTx/>
                <a:uFillTx/>
                <a:latin typeface="Century Gothic" panose="020B0502020202020204" pitchFamily="34" charset="0"/>
                <a:cs typeface="Tahoma"/>
              </a:rPr>
              <a:t>Technologies</a:t>
            </a:r>
            <a:endParaRPr kumimoji="0" lang="en-US" sz="2650" b="0" i="0" u="none" strike="noStrike" kern="0" cap="none" spc="0" normalizeH="0" baseline="0" noProof="0">
              <a:ln>
                <a:noFill/>
              </a:ln>
              <a:solidFill>
                <a:sysClr val="windowText" lastClr="000000"/>
              </a:solidFill>
              <a:effectLst/>
              <a:uLnTx/>
              <a:uFillTx/>
              <a:latin typeface="Century Gothic" panose="020B0502020202020204" pitchFamily="34" charset="0"/>
              <a:cs typeface="Tahom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10">
                <a:latin typeface="Century Gothic" panose="020B0502020202020204" pitchFamily="34" charset="0"/>
              </a:rPr>
              <a:t>Technical</a:t>
            </a:r>
            <a:r>
              <a:rPr lang="en-US" spc="-165">
                <a:latin typeface="Century Gothic" panose="020B0502020202020204" pitchFamily="34" charset="0"/>
              </a:rPr>
              <a:t> </a:t>
            </a:r>
            <a:r>
              <a:rPr lang="en-US" spc="-185">
                <a:latin typeface="Century Gothic" panose="020B0502020202020204" pitchFamily="34" charset="0"/>
              </a:rPr>
              <a:t>Skills:</a:t>
            </a:r>
            <a:r>
              <a:rPr lang="en-US" spc="-45">
                <a:latin typeface="Century Gothic" panose="020B0502020202020204" pitchFamily="34" charset="0"/>
              </a:rPr>
              <a:t> </a:t>
            </a:r>
            <a:r>
              <a:rPr lang="en-US" spc="-155">
                <a:latin typeface="Century Gothic" panose="020B0502020202020204" pitchFamily="34" charset="0"/>
              </a:rPr>
              <a:t>Heirs</a:t>
            </a:r>
            <a:r>
              <a:rPr lang="en-US" spc="-35">
                <a:latin typeface="Century Gothic" panose="020B0502020202020204" pitchFamily="34" charset="0"/>
              </a:rPr>
              <a:t> </a:t>
            </a:r>
            <a:r>
              <a:rPr lang="en-US" spc="-45">
                <a:latin typeface="Century Gothic" panose="020B0502020202020204" pitchFamily="34" charset="0"/>
              </a:rPr>
              <a:t>Technologies,</a:t>
            </a:r>
            <a:r>
              <a:rPr lang="en-US" spc="-70">
                <a:latin typeface="Century Gothic" panose="020B0502020202020204" pitchFamily="34" charset="0"/>
              </a:rPr>
              <a:t> </a:t>
            </a:r>
            <a:r>
              <a:rPr lang="en-US" spc="-40">
                <a:latin typeface="Century Gothic" panose="020B0502020202020204" pitchFamily="34" charset="0"/>
              </a:rPr>
              <a:t>Nigeria</a:t>
            </a:r>
            <a:r>
              <a:rPr lang="en-US" spc="-85">
                <a:latin typeface="Century Gothic" panose="020B0502020202020204" pitchFamily="34" charset="0"/>
              </a:rPr>
              <a:t> </a:t>
            </a:r>
            <a:r>
              <a:rPr lang="en-US" spc="-285">
                <a:latin typeface="Century Gothic" panose="020B0502020202020204" pitchFamily="34" charset="0"/>
              </a:rPr>
              <a:t>[1/3]</a:t>
            </a:r>
          </a:p>
        </p:txBody>
      </p:sp>
      <p:sp>
        <p:nvSpPr>
          <p:cNvPr id="5" name="object 5"/>
          <p:cNvSpPr txBox="1"/>
          <p:nvPr/>
        </p:nvSpPr>
        <p:spPr>
          <a:xfrm>
            <a:off x="9034398" y="6528705"/>
            <a:ext cx="281368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aphicFrame>
        <p:nvGraphicFramePr>
          <p:cNvPr id="4" name="object 4"/>
          <p:cNvGraphicFramePr>
            <a:graphicFrameLocks noGrp="1"/>
          </p:cNvGraphicFramePr>
          <p:nvPr/>
        </p:nvGraphicFramePr>
        <p:xfrm>
          <a:off x="379082" y="1071372"/>
          <a:ext cx="11315065" cy="5160645"/>
        </p:xfrm>
        <a:graphic>
          <a:graphicData uri="http://schemas.openxmlformats.org/drawingml/2006/table">
            <a:tbl>
              <a:tblPr firstRow="1" bandRow="1">
                <a:tableStyleId>{2D5ABB26-0587-4C30-8999-92F81FD0307C}</a:tableStyleId>
              </a:tblPr>
              <a:tblGrid>
                <a:gridCol w="1695450">
                  <a:extLst>
                    <a:ext uri="{9D8B030D-6E8A-4147-A177-3AD203B41FA5}">
                      <a16:colId xmlns:a16="http://schemas.microsoft.com/office/drawing/2014/main" val="20000"/>
                    </a:ext>
                  </a:extLst>
                </a:gridCol>
                <a:gridCol w="1557020">
                  <a:extLst>
                    <a:ext uri="{9D8B030D-6E8A-4147-A177-3AD203B41FA5}">
                      <a16:colId xmlns:a16="http://schemas.microsoft.com/office/drawing/2014/main" val="20001"/>
                    </a:ext>
                  </a:extLst>
                </a:gridCol>
                <a:gridCol w="5243830">
                  <a:extLst>
                    <a:ext uri="{9D8B030D-6E8A-4147-A177-3AD203B41FA5}">
                      <a16:colId xmlns:a16="http://schemas.microsoft.com/office/drawing/2014/main" val="20002"/>
                    </a:ext>
                  </a:extLst>
                </a:gridCol>
                <a:gridCol w="2818765">
                  <a:extLst>
                    <a:ext uri="{9D8B030D-6E8A-4147-A177-3AD203B41FA5}">
                      <a16:colId xmlns:a16="http://schemas.microsoft.com/office/drawing/2014/main" val="20003"/>
                    </a:ext>
                  </a:extLst>
                </a:gridCol>
              </a:tblGrid>
              <a:tr h="287020">
                <a:tc>
                  <a:txBody>
                    <a:bodyPr/>
                    <a:lstStyle/>
                    <a:p>
                      <a:pPr marL="91440">
                        <a:lnSpc>
                          <a:spcPts val="1735"/>
                        </a:lnSpc>
                        <a:spcBef>
                          <a:spcPts val="430"/>
                        </a:spcBef>
                      </a:pPr>
                      <a:r>
                        <a:rPr lang="en-GB" sz="1500" b="1" spc="-10">
                          <a:solidFill>
                            <a:srgbClr val="FFFFFF"/>
                          </a:solidFill>
                          <a:latin typeface="Century Gothic" panose="020B0502020202020204" pitchFamily="34" charset="0"/>
                          <a:cs typeface="Tahoma"/>
                        </a:rPr>
                        <a:t>Technology</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1440">
                        <a:lnSpc>
                          <a:spcPts val="1735"/>
                        </a:lnSpc>
                        <a:spcBef>
                          <a:spcPts val="430"/>
                        </a:spcBef>
                      </a:pPr>
                      <a:r>
                        <a:rPr lang="en-GB" sz="1500" b="1" spc="-10">
                          <a:solidFill>
                            <a:srgbClr val="FFFFFF"/>
                          </a:solidFill>
                          <a:latin typeface="Century Gothic" panose="020B0502020202020204" pitchFamily="34" charset="0"/>
                          <a:cs typeface="Tahoma"/>
                        </a:rPr>
                        <a:t>Platform</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1440">
                        <a:lnSpc>
                          <a:spcPts val="1735"/>
                        </a:lnSpc>
                        <a:spcBef>
                          <a:spcPts val="430"/>
                        </a:spcBef>
                      </a:pPr>
                      <a:r>
                        <a:rPr lang="en-GB" sz="1500" b="1" spc="-10">
                          <a:solidFill>
                            <a:srgbClr val="FFFFFF"/>
                          </a:solidFill>
                          <a:latin typeface="Century Gothic" panose="020B0502020202020204" pitchFamily="34" charset="0"/>
                          <a:cs typeface="Tahoma"/>
                        </a:rPr>
                        <a:t>Skillsets</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2075">
                        <a:lnSpc>
                          <a:spcPts val="1735"/>
                        </a:lnSpc>
                        <a:spcBef>
                          <a:spcPts val="430"/>
                        </a:spcBef>
                      </a:pPr>
                      <a:r>
                        <a:rPr lang="en-GB" sz="1500" b="1" spc="-10">
                          <a:solidFill>
                            <a:srgbClr val="FFFFFF"/>
                          </a:solidFill>
                          <a:latin typeface="Century Gothic" panose="020B0502020202020204" pitchFamily="34" charset="0"/>
                          <a:cs typeface="Tahoma"/>
                        </a:rPr>
                        <a:t>Certifications</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extLst>
                  <a:ext uri="{0D108BD9-81ED-4DB2-BD59-A6C34878D82A}">
                    <a16:rowId xmlns:a16="http://schemas.microsoft.com/office/drawing/2014/main" val="10000"/>
                  </a:ext>
                </a:extLst>
              </a:tr>
              <a:tr h="1677035">
                <a:tc>
                  <a:txBody>
                    <a:bodyPr/>
                    <a:lstStyle/>
                    <a:p>
                      <a:pPr>
                        <a:lnSpc>
                          <a:spcPct val="100000"/>
                        </a:lnSpc>
                      </a:pPr>
                      <a:endParaRPr lang="en-GB" sz="1400">
                        <a:latin typeface="Century Gothic" panose="020B0502020202020204" pitchFamily="34" charset="0"/>
                        <a:cs typeface="Times New Roman"/>
                      </a:endParaRPr>
                    </a:p>
                    <a:p>
                      <a:pPr>
                        <a:lnSpc>
                          <a:spcPct val="100000"/>
                        </a:lnSpc>
                        <a:spcBef>
                          <a:spcPts val="1125"/>
                        </a:spcBef>
                      </a:pPr>
                      <a:endParaRPr lang="en-GB" sz="1400">
                        <a:latin typeface="Century Gothic" panose="020B0502020202020204" pitchFamily="34" charset="0"/>
                        <a:cs typeface="Times New Roman"/>
                      </a:endParaRPr>
                    </a:p>
                    <a:p>
                      <a:pPr marL="91440" marR="416559">
                        <a:lnSpc>
                          <a:spcPct val="100000"/>
                        </a:lnSpc>
                      </a:pPr>
                      <a:r>
                        <a:rPr lang="en-GB" sz="1400" b="1" spc="-10">
                          <a:solidFill>
                            <a:srgbClr val="52535B"/>
                          </a:solidFill>
                          <a:latin typeface="Century Gothic" panose="020B0502020202020204" pitchFamily="34" charset="0"/>
                          <a:cs typeface="Tahoma"/>
                        </a:rPr>
                        <a:t>Cloud </a:t>
                      </a:r>
                      <a:r>
                        <a:rPr lang="en-GB" sz="1400" b="1" spc="-114">
                          <a:solidFill>
                            <a:srgbClr val="52535B"/>
                          </a:solidFill>
                          <a:latin typeface="Century Gothic" panose="020B0502020202020204" pitchFamily="34" charset="0"/>
                          <a:cs typeface="Tahoma"/>
                        </a:rPr>
                        <a:t>Infrastructure</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lang="en-GB" sz="1400">
                        <a:latin typeface="Century Gothic" panose="020B0502020202020204" pitchFamily="34" charset="0"/>
                        <a:cs typeface="Times New Roman"/>
                      </a:endParaRPr>
                    </a:p>
                    <a:p>
                      <a:pPr>
                        <a:lnSpc>
                          <a:spcPct val="100000"/>
                        </a:lnSpc>
                      </a:pPr>
                      <a:endParaRPr lang="en-GB" sz="1400">
                        <a:latin typeface="Century Gothic" panose="020B0502020202020204" pitchFamily="34" charset="0"/>
                        <a:cs typeface="Times New Roman"/>
                      </a:endParaRPr>
                    </a:p>
                    <a:p>
                      <a:pPr>
                        <a:lnSpc>
                          <a:spcPct val="100000"/>
                        </a:lnSpc>
                        <a:spcBef>
                          <a:spcPts val="600"/>
                        </a:spcBef>
                      </a:pPr>
                      <a:endParaRPr lang="en-GB" sz="1400">
                        <a:latin typeface="Century Gothic" panose="020B0502020202020204" pitchFamily="34" charset="0"/>
                        <a:cs typeface="Times New Roman"/>
                      </a:endParaRPr>
                    </a:p>
                    <a:p>
                      <a:pPr marL="91440">
                        <a:lnSpc>
                          <a:spcPct val="100000"/>
                        </a:lnSpc>
                      </a:pPr>
                      <a:r>
                        <a:rPr lang="en-GB" sz="1400">
                          <a:solidFill>
                            <a:srgbClr val="54535A"/>
                          </a:solidFill>
                          <a:latin typeface="Century Gothic" panose="020B0502020202020204" pitchFamily="34" charset="0"/>
                          <a:cs typeface="Tahoma"/>
                        </a:rPr>
                        <a:t>Azure,</a:t>
                      </a:r>
                      <a:r>
                        <a:rPr lang="en-GB" sz="1400" spc="10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AWS,</a:t>
                      </a:r>
                      <a:r>
                        <a:rPr lang="en-GB" sz="1400" spc="90">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&amp;</a:t>
                      </a:r>
                      <a:endParaRPr lang="en-GB" sz="1400">
                        <a:latin typeface="Century Gothic" panose="020B0502020202020204" pitchFamily="34" charset="0"/>
                        <a:cs typeface="Tahoma"/>
                      </a:endParaRPr>
                    </a:p>
                    <a:p>
                      <a:pPr marL="91440">
                        <a:lnSpc>
                          <a:spcPct val="100000"/>
                        </a:lnSpc>
                      </a:pPr>
                      <a:r>
                        <a:rPr lang="en-GB" sz="1400" spc="190">
                          <a:solidFill>
                            <a:srgbClr val="54535A"/>
                          </a:solidFill>
                          <a:latin typeface="Century Gothic" panose="020B0502020202020204" pitchFamily="34" charset="0"/>
                          <a:cs typeface="Tahoma"/>
                        </a:rPr>
                        <a:t>GCP</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667385">
                        <a:lnSpc>
                          <a:spcPct val="100000"/>
                        </a:lnSpc>
                        <a:spcBef>
                          <a:spcPts val="509"/>
                        </a:spcBef>
                      </a:pPr>
                      <a:r>
                        <a:rPr lang="en-GB" sz="1400">
                          <a:solidFill>
                            <a:srgbClr val="54535A"/>
                          </a:solidFill>
                          <a:latin typeface="Century Gothic" panose="020B0502020202020204" pitchFamily="34" charset="0"/>
                          <a:cs typeface="Tahoma"/>
                        </a:rPr>
                        <a:t>Server,</a:t>
                      </a:r>
                      <a:r>
                        <a:rPr lang="en-GB" sz="1400" spc="-75">
                          <a:solidFill>
                            <a:srgbClr val="54535A"/>
                          </a:solidFill>
                          <a:latin typeface="Century Gothic" panose="020B0502020202020204" pitchFamily="34" charset="0"/>
                          <a:cs typeface="Tahoma"/>
                        </a:rPr>
                        <a:t> </a:t>
                      </a:r>
                      <a:r>
                        <a:rPr lang="en-GB" sz="1400" spc="110">
                          <a:solidFill>
                            <a:srgbClr val="54535A"/>
                          </a:solidFill>
                          <a:latin typeface="Century Gothic" panose="020B0502020202020204" pitchFamily="34" charset="0"/>
                          <a:cs typeface="Tahoma"/>
                        </a:rPr>
                        <a:t>VM,</a:t>
                      </a:r>
                      <a:r>
                        <a:rPr lang="en-GB" sz="1400" spc="325">
                          <a:solidFill>
                            <a:srgbClr val="54535A"/>
                          </a:solidFill>
                          <a:latin typeface="Century Gothic" panose="020B0502020202020204" pitchFamily="34" charset="0"/>
                          <a:cs typeface="Tahoma"/>
                        </a:rPr>
                        <a:t> </a:t>
                      </a:r>
                      <a:r>
                        <a:rPr lang="en-GB" sz="1400" spc="135">
                          <a:solidFill>
                            <a:srgbClr val="54535A"/>
                          </a:solidFill>
                          <a:latin typeface="Century Gothic" panose="020B0502020202020204" pitchFamily="34" charset="0"/>
                          <a:cs typeface="Tahoma"/>
                        </a:rPr>
                        <a:t>Database</a:t>
                      </a:r>
                      <a:r>
                        <a:rPr lang="en-GB" sz="1400" spc="-3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Configuration</a:t>
                      </a:r>
                      <a:r>
                        <a:rPr lang="en-GB" sz="1400" spc="-2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45">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Migration </a:t>
                      </a:r>
                      <a:r>
                        <a:rPr lang="en-GB" sz="1400" spc="10">
                          <a:solidFill>
                            <a:srgbClr val="54535A"/>
                          </a:solidFill>
                          <a:latin typeface="Century Gothic" panose="020B0502020202020204" pitchFamily="34" charset="0"/>
                          <a:cs typeface="Tahoma"/>
                        </a:rPr>
                        <a:t>Services, </a:t>
                      </a:r>
                      <a:r>
                        <a:rPr lang="en-GB" sz="1400" spc="140">
                          <a:solidFill>
                            <a:srgbClr val="54535A"/>
                          </a:solidFill>
                          <a:latin typeface="Century Gothic" panose="020B0502020202020204" pitchFamily="34" charset="0"/>
                          <a:cs typeface="Tahoma"/>
                        </a:rPr>
                        <a:t>VMware</a:t>
                      </a:r>
                      <a:r>
                        <a:rPr lang="en-GB" sz="1400" spc="60">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Migration</a:t>
                      </a:r>
                      <a:r>
                        <a:rPr lang="en-GB" sz="1400" spc="3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Services, </a:t>
                      </a:r>
                      <a:r>
                        <a:rPr lang="en-GB" sz="1400" spc="160">
                          <a:solidFill>
                            <a:srgbClr val="54535A"/>
                          </a:solidFill>
                          <a:latin typeface="Century Gothic" panose="020B0502020202020204" pitchFamily="34" charset="0"/>
                          <a:cs typeface="Tahoma"/>
                        </a:rPr>
                        <a:t>Advanced </a:t>
                      </a:r>
                      <a:r>
                        <a:rPr lang="en-GB" sz="1400" spc="55">
                          <a:solidFill>
                            <a:srgbClr val="54535A"/>
                          </a:solidFill>
                          <a:latin typeface="Century Gothic" panose="020B0502020202020204" pitchFamily="34" charset="0"/>
                          <a:cs typeface="Tahoma"/>
                        </a:rPr>
                        <a:t>Networking,</a:t>
                      </a:r>
                      <a:r>
                        <a:rPr lang="en-GB" sz="1400" spc="-4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Storage</a:t>
                      </a:r>
                      <a:r>
                        <a:rPr lang="en-GB" sz="1400" spc="-5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4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File</a:t>
                      </a:r>
                      <a:r>
                        <a:rPr lang="en-GB" sz="1400" spc="-6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Systems,</a:t>
                      </a:r>
                      <a:r>
                        <a:rPr lang="en-GB" sz="1400" spc="-40">
                          <a:solidFill>
                            <a:srgbClr val="54535A"/>
                          </a:solidFill>
                          <a:latin typeface="Century Gothic" panose="020B0502020202020204" pitchFamily="34" charset="0"/>
                          <a:cs typeface="Tahoma"/>
                        </a:rPr>
                        <a:t> </a:t>
                      </a:r>
                      <a:r>
                        <a:rPr lang="en-GB" sz="1400" spc="114">
                          <a:solidFill>
                            <a:srgbClr val="54535A"/>
                          </a:solidFill>
                          <a:latin typeface="Century Gothic" panose="020B0502020202020204" pitchFamily="34" charset="0"/>
                          <a:cs typeface="Tahoma"/>
                        </a:rPr>
                        <a:t>BCP</a:t>
                      </a:r>
                      <a:r>
                        <a:rPr lang="en-GB" sz="1400" spc="-6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40">
                          <a:solidFill>
                            <a:srgbClr val="54535A"/>
                          </a:solidFill>
                          <a:latin typeface="Century Gothic" panose="020B0502020202020204" pitchFamily="34" charset="0"/>
                          <a:cs typeface="Tahoma"/>
                        </a:rPr>
                        <a:t> </a:t>
                      </a:r>
                      <a:r>
                        <a:rPr lang="en-GB" sz="1400" spc="-25">
                          <a:solidFill>
                            <a:srgbClr val="54535A"/>
                          </a:solidFill>
                          <a:latin typeface="Century Gothic" panose="020B0502020202020204" pitchFamily="34" charset="0"/>
                          <a:cs typeface="Tahoma"/>
                        </a:rPr>
                        <a:t>DR, </a:t>
                      </a:r>
                      <a:r>
                        <a:rPr lang="en-GB" sz="1400" spc="85">
                          <a:solidFill>
                            <a:srgbClr val="54535A"/>
                          </a:solidFill>
                          <a:latin typeface="Century Gothic" panose="020B0502020202020204" pitchFamily="34" charset="0"/>
                          <a:cs typeface="Tahoma"/>
                        </a:rPr>
                        <a:t>DevOps,</a:t>
                      </a:r>
                      <a:r>
                        <a:rPr lang="en-GB" sz="1400" spc="-75">
                          <a:solidFill>
                            <a:srgbClr val="54535A"/>
                          </a:solidFill>
                          <a:latin typeface="Century Gothic" panose="020B0502020202020204" pitchFamily="34" charset="0"/>
                          <a:cs typeface="Tahoma"/>
                        </a:rPr>
                        <a:t> </a:t>
                      </a:r>
                      <a:r>
                        <a:rPr lang="en-GB" sz="1400" spc="190">
                          <a:solidFill>
                            <a:srgbClr val="54535A"/>
                          </a:solidFill>
                          <a:latin typeface="Century Gothic" panose="020B0502020202020204" pitchFamily="34" charset="0"/>
                          <a:cs typeface="Tahoma"/>
                        </a:rPr>
                        <a:t>App</a:t>
                      </a:r>
                      <a:r>
                        <a:rPr lang="en-GB" sz="1400" spc="-9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Migration</a:t>
                      </a:r>
                      <a:r>
                        <a:rPr lang="en-GB" sz="1400" spc="-7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75">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Modernization,</a:t>
                      </a:r>
                      <a:r>
                        <a:rPr lang="en-GB" sz="1400" spc="-10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Cloud </a:t>
                      </a:r>
                      <a:r>
                        <a:rPr lang="en-GB" sz="1400">
                          <a:solidFill>
                            <a:srgbClr val="54535A"/>
                          </a:solidFill>
                          <a:latin typeface="Century Gothic" panose="020B0502020202020204" pitchFamily="34" charset="0"/>
                          <a:cs typeface="Tahoma"/>
                        </a:rPr>
                        <a:t>Security,</a:t>
                      </a:r>
                      <a:r>
                        <a:rPr lang="en-GB" sz="1400" spc="-20">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Landing</a:t>
                      </a:r>
                      <a:r>
                        <a:rPr lang="en-GB" sz="1400" spc="-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zone</a:t>
                      </a:r>
                      <a:r>
                        <a:rPr lang="en-GB" sz="1400" spc="5">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deployment</a:t>
                      </a:r>
                      <a:r>
                        <a:rPr lang="en-GB" sz="1400" spc="15">
                          <a:solidFill>
                            <a:srgbClr val="54535A"/>
                          </a:solidFill>
                          <a:latin typeface="Century Gothic" panose="020B0502020202020204" pitchFamily="34" charset="0"/>
                          <a:cs typeface="Tahoma"/>
                        </a:rPr>
                        <a:t> </a:t>
                      </a:r>
                      <a:r>
                        <a:rPr lang="en-GB" sz="1400" spc="130">
                          <a:solidFill>
                            <a:srgbClr val="54535A"/>
                          </a:solidFill>
                          <a:latin typeface="Century Gothic" panose="020B0502020202020204" pitchFamily="34" charset="0"/>
                          <a:cs typeface="Tahoma"/>
                        </a:rPr>
                        <a:t>and </a:t>
                      </a:r>
                      <a:r>
                        <a:rPr lang="en-GB" sz="1400" spc="50">
                          <a:solidFill>
                            <a:srgbClr val="54535A"/>
                          </a:solidFill>
                          <a:latin typeface="Century Gothic" panose="020B0502020202020204" pitchFamily="34" charset="0"/>
                          <a:cs typeface="Tahoma"/>
                        </a:rPr>
                        <a:t>customization,</a:t>
                      </a:r>
                      <a:r>
                        <a:rPr lang="en-GB" sz="1400" spc="20">
                          <a:solidFill>
                            <a:srgbClr val="54535A"/>
                          </a:solidFill>
                          <a:latin typeface="Century Gothic" panose="020B0502020202020204" pitchFamily="34" charset="0"/>
                          <a:cs typeface="Tahoma"/>
                        </a:rPr>
                        <a:t> </a:t>
                      </a:r>
                      <a:r>
                        <a:rPr lang="en-GB" sz="1400" spc="130">
                          <a:solidFill>
                            <a:srgbClr val="54535A"/>
                          </a:solidFill>
                          <a:latin typeface="Century Gothic" panose="020B0502020202020204" pitchFamily="34" charset="0"/>
                          <a:cs typeface="Tahoma"/>
                        </a:rPr>
                        <a:t>Cloud</a:t>
                      </a:r>
                      <a:r>
                        <a:rPr lang="en-GB" sz="1400" spc="-1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FinOps,</a:t>
                      </a:r>
                      <a:r>
                        <a:rPr lang="en-GB" sz="1400" spc="-20">
                          <a:solidFill>
                            <a:srgbClr val="54535A"/>
                          </a:solidFill>
                          <a:latin typeface="Century Gothic" panose="020B0502020202020204" pitchFamily="34" charset="0"/>
                          <a:cs typeface="Tahoma"/>
                        </a:rPr>
                        <a:t> </a:t>
                      </a:r>
                      <a:r>
                        <a:rPr lang="en-GB" sz="1400" spc="130">
                          <a:solidFill>
                            <a:srgbClr val="54535A"/>
                          </a:solidFill>
                          <a:latin typeface="Century Gothic" panose="020B0502020202020204" pitchFamily="34" charset="0"/>
                          <a:cs typeface="Tahoma"/>
                        </a:rPr>
                        <a:t>Cloud</a:t>
                      </a:r>
                      <a:r>
                        <a:rPr lang="en-GB" sz="1400" spc="-10">
                          <a:solidFill>
                            <a:srgbClr val="54535A"/>
                          </a:solidFill>
                          <a:latin typeface="Century Gothic" panose="020B0502020202020204" pitchFamily="34" charset="0"/>
                          <a:cs typeface="Tahoma"/>
                        </a:rPr>
                        <a:t> </a:t>
                      </a:r>
                      <a:r>
                        <a:rPr lang="en-GB" sz="1400" spc="165">
                          <a:solidFill>
                            <a:srgbClr val="54535A"/>
                          </a:solidFill>
                          <a:latin typeface="Century Gothic" panose="020B0502020202020204" pitchFamily="34" charset="0"/>
                          <a:cs typeface="Tahoma"/>
                        </a:rPr>
                        <a:t>Managed </a:t>
                      </a:r>
                      <a:r>
                        <a:rPr lang="en-GB" sz="1400" spc="-10">
                          <a:solidFill>
                            <a:srgbClr val="54535A"/>
                          </a:solidFill>
                          <a:latin typeface="Century Gothic" panose="020B0502020202020204" pitchFamily="34" charset="0"/>
                          <a:cs typeface="Tahoma"/>
                        </a:rPr>
                        <a:t>Services</a:t>
                      </a:r>
                      <a:endParaRPr lang="en-GB" sz="1400">
                        <a:latin typeface="Century Gothic" panose="020B0502020202020204" pitchFamily="34" charset="0"/>
                        <a:cs typeface="Tahoma"/>
                      </a:endParaRPr>
                    </a:p>
                  </a:txBody>
                  <a:tcPr marL="0" marR="0" marT="64769"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0"/>
                        </a:spcBef>
                      </a:pPr>
                      <a:endParaRPr lang="en-GB" sz="1400">
                        <a:latin typeface="Century Gothic" panose="020B0502020202020204" pitchFamily="34" charset="0"/>
                        <a:cs typeface="Times New Roman"/>
                      </a:endParaRPr>
                    </a:p>
                    <a:p>
                      <a:pPr marL="261620" marR="985519" indent="-169545">
                        <a:lnSpc>
                          <a:spcPct val="100000"/>
                        </a:lnSpc>
                        <a:buFont typeface="Arial MT"/>
                        <a:buChar char="•"/>
                        <a:tabLst>
                          <a:tab pos="26289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1146810">
                <a:tc>
                  <a:txBody>
                    <a:bodyPr/>
                    <a:lstStyle/>
                    <a:p>
                      <a:pPr>
                        <a:lnSpc>
                          <a:spcPct val="100000"/>
                        </a:lnSpc>
                        <a:spcBef>
                          <a:spcPts val="85"/>
                        </a:spcBef>
                      </a:pPr>
                      <a:endParaRPr lang="en-GB" sz="1400">
                        <a:latin typeface="Century Gothic" panose="020B0502020202020204" pitchFamily="34" charset="0"/>
                        <a:cs typeface="Times New Roman"/>
                      </a:endParaRPr>
                    </a:p>
                    <a:p>
                      <a:pPr marL="91440" marR="269875">
                        <a:lnSpc>
                          <a:spcPct val="98900"/>
                        </a:lnSpc>
                      </a:pPr>
                      <a:r>
                        <a:rPr lang="en-GB" sz="1400" b="1" spc="-10">
                          <a:solidFill>
                            <a:srgbClr val="52535B"/>
                          </a:solidFill>
                          <a:latin typeface="Century Gothic" panose="020B0502020202020204" pitchFamily="34" charset="0"/>
                          <a:cs typeface="Tahoma"/>
                        </a:rPr>
                        <a:t>Modern workplace </a:t>
                      </a:r>
                      <a:r>
                        <a:rPr lang="en-GB" sz="1400" b="1" spc="-70">
                          <a:solidFill>
                            <a:srgbClr val="52535B"/>
                          </a:solidFill>
                          <a:latin typeface="Century Gothic" panose="020B0502020202020204" pitchFamily="34" charset="0"/>
                          <a:cs typeface="Tahoma"/>
                        </a:rPr>
                        <a:t>(Productivity</a:t>
                      </a:r>
                      <a:r>
                        <a:rPr lang="en-GB" sz="1400" b="1">
                          <a:solidFill>
                            <a:srgbClr val="52535B"/>
                          </a:solidFill>
                          <a:latin typeface="Century Gothic" panose="020B0502020202020204" pitchFamily="34" charset="0"/>
                          <a:cs typeface="Tahoma"/>
                        </a:rPr>
                        <a:t> </a:t>
                      </a:r>
                      <a:r>
                        <a:rPr lang="en-GB" sz="1400" b="1" spc="-120">
                          <a:solidFill>
                            <a:srgbClr val="52535B"/>
                          </a:solidFill>
                          <a:latin typeface="Century Gothic" panose="020B0502020202020204" pitchFamily="34" charset="0"/>
                          <a:cs typeface="Tahoma"/>
                        </a:rPr>
                        <a:t>&amp; </a:t>
                      </a:r>
                      <a:r>
                        <a:rPr lang="en-GB" sz="1400" b="1" spc="-35">
                          <a:solidFill>
                            <a:srgbClr val="52535B"/>
                          </a:solidFill>
                          <a:latin typeface="Century Gothic" panose="020B0502020202020204" pitchFamily="34" charset="0"/>
                          <a:cs typeface="Tahoma"/>
                        </a:rPr>
                        <a:t>Collaboration)</a:t>
                      </a:r>
                      <a:endParaRPr lang="en-GB" sz="1400">
                        <a:latin typeface="Century Gothic" panose="020B0502020202020204" pitchFamily="34" charset="0"/>
                        <a:cs typeface="Tahoma"/>
                      </a:endParaRPr>
                    </a:p>
                  </a:txBody>
                  <a:tcPr marL="0" marR="0" marT="1079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lang="en-GB" sz="1400">
                        <a:latin typeface="Century Gothic" panose="020B0502020202020204" pitchFamily="34" charset="0"/>
                        <a:cs typeface="Times New Roman"/>
                      </a:endParaRPr>
                    </a:p>
                    <a:p>
                      <a:pPr>
                        <a:lnSpc>
                          <a:spcPct val="100000"/>
                        </a:lnSpc>
                        <a:spcBef>
                          <a:spcPts val="919"/>
                        </a:spcBef>
                      </a:pPr>
                      <a:endParaRPr lang="en-GB" sz="1400">
                        <a:latin typeface="Century Gothic" panose="020B0502020202020204" pitchFamily="34" charset="0"/>
                        <a:cs typeface="Times New Roman"/>
                      </a:endParaRPr>
                    </a:p>
                    <a:p>
                      <a:pPr marL="91440">
                        <a:lnSpc>
                          <a:spcPct val="100000"/>
                        </a:lnSpc>
                      </a:pPr>
                      <a:r>
                        <a:rPr lang="en-GB" sz="1400" spc="-20">
                          <a:solidFill>
                            <a:srgbClr val="54535A"/>
                          </a:solidFill>
                          <a:latin typeface="Century Gothic" panose="020B0502020202020204" pitchFamily="34" charset="0"/>
                          <a:cs typeface="Tahoma"/>
                        </a:rPr>
                        <a:t>M365</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513080">
                        <a:lnSpc>
                          <a:spcPct val="100000"/>
                        </a:lnSpc>
                      </a:pPr>
                      <a:r>
                        <a:rPr lang="en-GB" sz="1400" spc="125">
                          <a:solidFill>
                            <a:srgbClr val="54535A"/>
                          </a:solidFill>
                          <a:latin typeface="Century Gothic" panose="020B0502020202020204" pitchFamily="34" charset="0"/>
                          <a:cs typeface="Tahoma"/>
                        </a:rPr>
                        <a:t>Modern</a:t>
                      </a:r>
                      <a:r>
                        <a:rPr lang="en-GB" sz="1400" spc="-50">
                          <a:solidFill>
                            <a:srgbClr val="54535A"/>
                          </a:solidFill>
                          <a:latin typeface="Century Gothic" panose="020B0502020202020204" pitchFamily="34" charset="0"/>
                          <a:cs typeface="Tahoma"/>
                        </a:rPr>
                        <a:t> </a:t>
                      </a:r>
                      <a:r>
                        <a:rPr lang="en-GB" sz="1400" spc="110">
                          <a:solidFill>
                            <a:srgbClr val="54535A"/>
                          </a:solidFill>
                          <a:latin typeface="Century Gothic" panose="020B0502020202020204" pitchFamily="34" charset="0"/>
                          <a:cs typeface="Tahoma"/>
                        </a:rPr>
                        <a:t>Workplace</a:t>
                      </a:r>
                      <a:r>
                        <a:rPr lang="en-GB" sz="1400" spc="-1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solutions</a:t>
                      </a:r>
                      <a:r>
                        <a:rPr lang="en-GB" sz="1400" spc="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for</a:t>
                      </a:r>
                      <a:r>
                        <a:rPr lang="en-GB" sz="1400" spc="-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Government, </a:t>
                      </a:r>
                      <a:r>
                        <a:rPr lang="en-GB" sz="1400">
                          <a:solidFill>
                            <a:srgbClr val="54535A"/>
                          </a:solidFill>
                          <a:latin typeface="Century Gothic" panose="020B0502020202020204" pitchFamily="34" charset="0"/>
                          <a:cs typeface="Tahoma"/>
                        </a:rPr>
                        <a:t>Enterprise,</a:t>
                      </a:r>
                      <a:r>
                        <a:rPr lang="en-GB" sz="1400" spc="-3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Corporate</a:t>
                      </a:r>
                      <a:r>
                        <a:rPr lang="en-GB" sz="1400" spc="-4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60">
                          <a:solidFill>
                            <a:srgbClr val="54535A"/>
                          </a:solidFill>
                          <a:latin typeface="Century Gothic" panose="020B0502020202020204" pitchFamily="34" charset="0"/>
                          <a:cs typeface="Tahoma"/>
                        </a:rPr>
                        <a:t> </a:t>
                      </a:r>
                      <a:r>
                        <a:rPr lang="en-GB" sz="1400" spc="95">
                          <a:solidFill>
                            <a:srgbClr val="54535A"/>
                          </a:solidFill>
                          <a:latin typeface="Century Gothic" panose="020B0502020202020204" pitchFamily="34" charset="0"/>
                          <a:cs typeface="Tahoma"/>
                        </a:rPr>
                        <a:t>Consumer</a:t>
                      </a:r>
                      <a:r>
                        <a:rPr lang="en-GB" sz="1400" spc="-30">
                          <a:solidFill>
                            <a:srgbClr val="54535A"/>
                          </a:solidFill>
                          <a:latin typeface="Century Gothic" panose="020B0502020202020204" pitchFamily="34" charset="0"/>
                          <a:cs typeface="Tahoma"/>
                        </a:rPr>
                        <a:t> </a:t>
                      </a:r>
                      <a:r>
                        <a:rPr lang="en-GB" sz="1400" spc="35">
                          <a:solidFill>
                            <a:srgbClr val="54535A"/>
                          </a:solidFill>
                          <a:latin typeface="Century Gothic" panose="020B0502020202020204" pitchFamily="34" charset="0"/>
                          <a:cs typeface="Tahoma"/>
                        </a:rPr>
                        <a:t>environments; </a:t>
                      </a:r>
                      <a:r>
                        <a:rPr lang="en-GB" sz="1400" spc="90">
                          <a:solidFill>
                            <a:srgbClr val="54535A"/>
                          </a:solidFill>
                          <a:latin typeface="Century Gothic" panose="020B0502020202020204" pitchFamily="34" charset="0"/>
                          <a:cs typeface="Tahoma"/>
                        </a:rPr>
                        <a:t>Modernized</a:t>
                      </a:r>
                      <a:r>
                        <a:rPr lang="en-GB" sz="1400" spc="10">
                          <a:solidFill>
                            <a:srgbClr val="54535A"/>
                          </a:solidFill>
                          <a:latin typeface="Century Gothic" panose="020B0502020202020204" pitchFamily="34" charset="0"/>
                          <a:cs typeface="Tahoma"/>
                        </a:rPr>
                        <a:t> </a:t>
                      </a:r>
                      <a:r>
                        <a:rPr lang="en-GB" sz="1400" spc="114">
                          <a:solidFill>
                            <a:srgbClr val="54535A"/>
                          </a:solidFill>
                          <a:latin typeface="Century Gothic" panose="020B0502020202020204" pitchFamily="34" charset="0"/>
                          <a:cs typeface="Tahoma"/>
                        </a:rPr>
                        <a:t>Communication</a:t>
                      </a:r>
                      <a:r>
                        <a:rPr lang="en-GB" sz="1400" spc="3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Solutions</a:t>
                      </a:r>
                      <a:r>
                        <a:rPr lang="en-GB" sz="1400" spc="-1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(MS</a:t>
                      </a:r>
                      <a:r>
                        <a:rPr lang="en-GB" sz="1400" spc="20">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Teams), </a:t>
                      </a:r>
                      <a:r>
                        <a:rPr lang="en-GB" sz="1400" spc="95">
                          <a:solidFill>
                            <a:srgbClr val="54535A"/>
                          </a:solidFill>
                          <a:latin typeface="Century Gothic" panose="020B0502020202020204" pitchFamily="34" charset="0"/>
                          <a:cs typeface="Tahoma"/>
                        </a:rPr>
                        <a:t>Modernized</a:t>
                      </a:r>
                      <a:r>
                        <a:rPr lang="en-GB" sz="1400" spc="-85">
                          <a:solidFill>
                            <a:srgbClr val="54535A"/>
                          </a:solidFill>
                          <a:latin typeface="Century Gothic" panose="020B0502020202020204" pitchFamily="34" charset="0"/>
                          <a:cs typeface="Tahoma"/>
                        </a:rPr>
                        <a:t> </a:t>
                      </a:r>
                      <a:r>
                        <a:rPr lang="en-GB" sz="1400" spc="35">
                          <a:solidFill>
                            <a:srgbClr val="54535A"/>
                          </a:solidFill>
                          <a:latin typeface="Century Gothic" panose="020B0502020202020204" pitchFamily="34" charset="0"/>
                          <a:cs typeface="Tahoma"/>
                        </a:rPr>
                        <a:t>Endpoints</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0"/>
                        </a:spcBef>
                      </a:pPr>
                      <a:endParaRPr lang="en-GB" sz="1400">
                        <a:latin typeface="Century Gothic" panose="020B0502020202020204" pitchFamily="34" charset="0"/>
                        <a:cs typeface="Times New Roman"/>
                      </a:endParaRPr>
                    </a:p>
                    <a:p>
                      <a:pPr marL="259715" marR="986790" indent="-167640">
                        <a:lnSpc>
                          <a:spcPct val="100000"/>
                        </a:lnSpc>
                        <a:spcBef>
                          <a:spcPts val="5"/>
                        </a:spcBef>
                        <a:buFont typeface="Arial MT"/>
                        <a:buChar char="•"/>
                        <a:tabLst>
                          <a:tab pos="26162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1012190">
                <a:tc>
                  <a:txBody>
                    <a:bodyPr/>
                    <a:lstStyle/>
                    <a:p>
                      <a:pPr>
                        <a:lnSpc>
                          <a:spcPct val="100000"/>
                        </a:lnSpc>
                        <a:spcBef>
                          <a:spcPts val="390"/>
                        </a:spcBef>
                      </a:pPr>
                      <a:endParaRPr lang="en-GB" sz="1400">
                        <a:latin typeface="Century Gothic" panose="020B0502020202020204" pitchFamily="34" charset="0"/>
                        <a:cs typeface="Times New Roman"/>
                      </a:endParaRPr>
                    </a:p>
                    <a:p>
                      <a:pPr marL="91440" marR="457834">
                        <a:lnSpc>
                          <a:spcPct val="100000"/>
                        </a:lnSpc>
                      </a:pPr>
                      <a:r>
                        <a:rPr lang="en-GB" sz="1400" b="1" spc="-10">
                          <a:solidFill>
                            <a:srgbClr val="52535B"/>
                          </a:solidFill>
                          <a:latin typeface="Century Gothic" panose="020B0502020202020204" pitchFamily="34" charset="0"/>
                          <a:cs typeface="Tahoma"/>
                        </a:rPr>
                        <a:t>Business </a:t>
                      </a:r>
                      <a:r>
                        <a:rPr lang="en-GB" sz="1400" b="1" spc="-35">
                          <a:solidFill>
                            <a:srgbClr val="52535B"/>
                          </a:solidFill>
                          <a:latin typeface="Century Gothic" panose="020B0502020202020204" pitchFamily="34" charset="0"/>
                          <a:cs typeface="Tahoma"/>
                        </a:rPr>
                        <a:t>Applications</a:t>
                      </a:r>
                      <a:endParaRPr lang="en-GB" sz="1400">
                        <a:latin typeface="Century Gothic" panose="020B0502020202020204" pitchFamily="34" charset="0"/>
                        <a:cs typeface="Tahoma"/>
                      </a:endParaRPr>
                    </a:p>
                  </a:txBody>
                  <a:tcPr marL="0" marR="0" marT="4953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a:lnSpc>
                          <a:spcPct val="100000"/>
                        </a:lnSpc>
                        <a:spcBef>
                          <a:spcPts val="745"/>
                        </a:spcBef>
                      </a:pPr>
                      <a:r>
                        <a:rPr lang="en-GB" sz="1400">
                          <a:solidFill>
                            <a:srgbClr val="54535A"/>
                          </a:solidFill>
                          <a:latin typeface="Century Gothic" panose="020B0502020202020204" pitchFamily="34" charset="0"/>
                          <a:cs typeface="Tahoma"/>
                        </a:rPr>
                        <a:t>SW</a:t>
                      </a:r>
                      <a:r>
                        <a:rPr lang="en-GB" sz="1400" spc="3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Dev.,</a:t>
                      </a:r>
                      <a:r>
                        <a:rPr lang="en-GB" sz="1400" spc="20">
                          <a:solidFill>
                            <a:srgbClr val="54535A"/>
                          </a:solidFill>
                          <a:latin typeface="Century Gothic" panose="020B0502020202020204" pitchFamily="34" charset="0"/>
                          <a:cs typeface="Tahoma"/>
                        </a:rPr>
                        <a:t> </a:t>
                      </a:r>
                      <a:r>
                        <a:rPr lang="en-GB" sz="1400" spc="-20">
                          <a:solidFill>
                            <a:srgbClr val="54535A"/>
                          </a:solidFill>
                          <a:latin typeface="Century Gothic" panose="020B0502020202020204" pitchFamily="34" charset="0"/>
                          <a:cs typeface="Tahoma"/>
                        </a:rPr>
                        <a:t>D365,</a:t>
                      </a:r>
                      <a:endParaRPr lang="en-GB" sz="1400">
                        <a:latin typeface="Century Gothic" panose="020B0502020202020204" pitchFamily="34" charset="0"/>
                        <a:cs typeface="Tahoma"/>
                      </a:endParaRPr>
                    </a:p>
                    <a:p>
                      <a:pPr marL="91440" marR="129539">
                        <a:lnSpc>
                          <a:spcPct val="100000"/>
                        </a:lnSpc>
                      </a:pPr>
                      <a:r>
                        <a:rPr lang="en-GB" sz="1400" spc="65">
                          <a:solidFill>
                            <a:srgbClr val="54535A"/>
                          </a:solidFill>
                          <a:latin typeface="Century Gothic" panose="020B0502020202020204" pitchFamily="34" charset="0"/>
                          <a:cs typeface="Tahoma"/>
                        </a:rPr>
                        <a:t>Power </a:t>
                      </a:r>
                      <a:r>
                        <a:rPr lang="en-GB" sz="1400" spc="85">
                          <a:solidFill>
                            <a:srgbClr val="54535A"/>
                          </a:solidFill>
                          <a:latin typeface="Century Gothic" panose="020B0502020202020204" pitchFamily="34" charset="0"/>
                          <a:cs typeface="Tahoma"/>
                        </a:rPr>
                        <a:t>Automate, </a:t>
                      </a:r>
                      <a:r>
                        <a:rPr lang="en-GB" sz="1400" spc="75">
                          <a:solidFill>
                            <a:srgbClr val="54535A"/>
                          </a:solidFill>
                          <a:latin typeface="Century Gothic" panose="020B0502020202020204" pitchFamily="34" charset="0"/>
                          <a:cs typeface="Tahoma"/>
                        </a:rPr>
                        <a:t>Power</a:t>
                      </a:r>
                      <a:r>
                        <a:rPr lang="en-GB" sz="1400" spc="-4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BI/Apps</a:t>
                      </a:r>
                      <a:endParaRPr lang="en-GB" sz="1400">
                        <a:latin typeface="Century Gothic" panose="020B0502020202020204" pitchFamily="34" charset="0"/>
                        <a:cs typeface="Tahoma"/>
                      </a:endParaRPr>
                    </a:p>
                  </a:txBody>
                  <a:tcPr marL="0" marR="0" marT="946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645795">
                        <a:lnSpc>
                          <a:spcPct val="100000"/>
                        </a:lnSpc>
                        <a:spcBef>
                          <a:spcPts val="305"/>
                        </a:spcBef>
                      </a:pPr>
                      <a:r>
                        <a:rPr lang="en-GB" sz="1400" spc="65">
                          <a:solidFill>
                            <a:srgbClr val="54535A"/>
                          </a:solidFill>
                          <a:latin typeface="Century Gothic" panose="020B0502020202020204" pitchFamily="34" charset="0"/>
                          <a:cs typeface="Tahoma"/>
                        </a:rPr>
                        <a:t>Microsoft</a:t>
                      </a:r>
                      <a:r>
                        <a:rPr lang="en-GB" sz="1400" spc="-4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AD,</a:t>
                      </a:r>
                      <a:r>
                        <a:rPr lang="en-GB" sz="1400" spc="-40">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Finance</a:t>
                      </a:r>
                      <a:r>
                        <a:rPr lang="en-GB" sz="1400" spc="-8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65">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Operations,</a:t>
                      </a:r>
                      <a:r>
                        <a:rPr lang="en-GB" sz="1400" spc="-5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Business </a:t>
                      </a:r>
                      <a:r>
                        <a:rPr lang="en-GB" sz="1400" spc="75">
                          <a:solidFill>
                            <a:srgbClr val="54535A"/>
                          </a:solidFill>
                          <a:latin typeface="Century Gothic" panose="020B0502020202020204" pitchFamily="34" charset="0"/>
                          <a:cs typeface="Tahoma"/>
                        </a:rPr>
                        <a:t>Central,</a:t>
                      </a:r>
                      <a:r>
                        <a:rPr lang="en-GB" sz="1400" spc="-70">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Power</a:t>
                      </a:r>
                      <a:r>
                        <a:rPr lang="en-GB" sz="1400" spc="-55">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Apps,</a:t>
                      </a:r>
                      <a:r>
                        <a:rPr lang="en-GB" sz="1400" spc="-40">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Power</a:t>
                      </a:r>
                      <a:r>
                        <a:rPr lang="en-GB" sz="1400" spc="-65">
                          <a:solidFill>
                            <a:srgbClr val="54535A"/>
                          </a:solidFill>
                          <a:latin typeface="Century Gothic" panose="020B0502020202020204" pitchFamily="34" charset="0"/>
                          <a:cs typeface="Tahoma"/>
                        </a:rPr>
                        <a:t> </a:t>
                      </a:r>
                      <a:r>
                        <a:rPr lang="en-GB" sz="1400" spc="105">
                          <a:solidFill>
                            <a:srgbClr val="54535A"/>
                          </a:solidFill>
                          <a:latin typeface="Century Gothic" panose="020B0502020202020204" pitchFamily="34" charset="0"/>
                          <a:cs typeface="Tahoma"/>
                        </a:rPr>
                        <a:t>Automate,</a:t>
                      </a:r>
                      <a:r>
                        <a:rPr lang="en-GB" sz="1400" spc="-3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Power</a:t>
                      </a:r>
                      <a:r>
                        <a:rPr lang="en-GB" sz="1400" spc="-6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BI, </a:t>
                      </a:r>
                      <a:r>
                        <a:rPr lang="en-GB" sz="1400">
                          <a:solidFill>
                            <a:srgbClr val="54535A"/>
                          </a:solidFill>
                          <a:latin typeface="Century Gothic" panose="020B0502020202020204" pitchFamily="34" charset="0"/>
                          <a:cs typeface="Tahoma"/>
                        </a:rPr>
                        <a:t>Field</a:t>
                      </a:r>
                      <a:r>
                        <a:rPr lang="en-GB" sz="1400" spc="35">
                          <a:solidFill>
                            <a:srgbClr val="54535A"/>
                          </a:solidFill>
                          <a:latin typeface="Century Gothic" panose="020B0502020202020204" pitchFamily="34" charset="0"/>
                          <a:cs typeface="Tahoma"/>
                        </a:rPr>
                        <a:t> </a:t>
                      </a:r>
                      <a:r>
                        <a:rPr lang="en-GB" sz="1400" spc="45">
                          <a:solidFill>
                            <a:srgbClr val="54535A"/>
                          </a:solidFill>
                          <a:latin typeface="Century Gothic" panose="020B0502020202020204" pitchFamily="34" charset="0"/>
                          <a:cs typeface="Tahoma"/>
                        </a:rPr>
                        <a:t>Service,</a:t>
                      </a:r>
                      <a:r>
                        <a:rPr lang="en-GB" sz="1400" spc="5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Projects,</a:t>
                      </a:r>
                      <a:r>
                        <a:rPr lang="en-GB" sz="1400" spc="6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Software</a:t>
                      </a:r>
                      <a:r>
                        <a:rPr lang="en-GB" sz="1400" spc="85">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development</a:t>
                      </a:r>
                      <a:endParaRPr lang="en-GB" sz="1400">
                        <a:latin typeface="Century Gothic" panose="020B0502020202020204" pitchFamily="34" charset="0"/>
                        <a:cs typeface="Tahoma"/>
                      </a:endParaRPr>
                    </a:p>
                  </a:txBody>
                  <a:tcPr marL="0" marR="0" marT="3873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259715" marR="986790" indent="-167640">
                        <a:lnSpc>
                          <a:spcPct val="100000"/>
                        </a:lnSpc>
                        <a:spcBef>
                          <a:spcPts val="305"/>
                        </a:spcBef>
                        <a:buFont typeface="Arial MT"/>
                        <a:buChar char="•"/>
                        <a:tabLst>
                          <a:tab pos="26162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3873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1037590">
                <a:tc>
                  <a:txBody>
                    <a:bodyPr/>
                    <a:lstStyle/>
                    <a:p>
                      <a:pPr>
                        <a:lnSpc>
                          <a:spcPct val="100000"/>
                        </a:lnSpc>
                      </a:pPr>
                      <a:endParaRPr lang="en-GB" sz="1400">
                        <a:latin typeface="Century Gothic" panose="020B0502020202020204" pitchFamily="34" charset="0"/>
                        <a:cs typeface="Times New Roman"/>
                      </a:endParaRPr>
                    </a:p>
                    <a:p>
                      <a:pPr>
                        <a:lnSpc>
                          <a:spcPct val="100000"/>
                        </a:lnSpc>
                        <a:spcBef>
                          <a:spcPts val="229"/>
                        </a:spcBef>
                      </a:pPr>
                      <a:endParaRPr lang="en-GB" sz="1400">
                        <a:latin typeface="Century Gothic" panose="020B0502020202020204" pitchFamily="34" charset="0"/>
                        <a:cs typeface="Times New Roman"/>
                      </a:endParaRPr>
                    </a:p>
                    <a:p>
                      <a:pPr marL="91440" marR="459105">
                        <a:lnSpc>
                          <a:spcPct val="100000"/>
                        </a:lnSpc>
                      </a:pPr>
                      <a:r>
                        <a:rPr lang="en-GB" sz="1400" b="1" spc="-55">
                          <a:solidFill>
                            <a:srgbClr val="52535B"/>
                          </a:solidFill>
                          <a:latin typeface="Century Gothic" panose="020B0502020202020204" pitchFamily="34" charset="0"/>
                          <a:cs typeface="Tahoma"/>
                        </a:rPr>
                        <a:t>Security</a:t>
                      </a:r>
                      <a:r>
                        <a:rPr lang="en-GB" sz="1400" b="1" spc="-60">
                          <a:solidFill>
                            <a:srgbClr val="52535B"/>
                          </a:solidFill>
                          <a:latin typeface="Century Gothic" panose="020B0502020202020204" pitchFamily="34" charset="0"/>
                          <a:cs typeface="Tahoma"/>
                        </a:rPr>
                        <a:t> </a:t>
                      </a:r>
                      <a:r>
                        <a:rPr lang="en-GB" sz="1400" b="1" spc="-50">
                          <a:solidFill>
                            <a:srgbClr val="52535B"/>
                          </a:solidFill>
                          <a:latin typeface="Century Gothic" panose="020B0502020202020204" pitchFamily="34" charset="0"/>
                          <a:cs typeface="Tahoma"/>
                        </a:rPr>
                        <a:t>&amp; </a:t>
                      </a:r>
                      <a:r>
                        <a:rPr lang="en-GB" sz="1400" b="1" spc="-10">
                          <a:solidFill>
                            <a:srgbClr val="52535B"/>
                          </a:solidFill>
                          <a:latin typeface="Century Gothic" panose="020B0502020202020204" pitchFamily="34" charset="0"/>
                          <a:cs typeface="Tahoma"/>
                        </a:rPr>
                        <a:t>Compliance</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lang="en-GB" sz="1400">
                        <a:latin typeface="Century Gothic" panose="020B0502020202020204" pitchFamily="34" charset="0"/>
                        <a:cs typeface="Times New Roman"/>
                      </a:endParaRPr>
                    </a:p>
                    <a:p>
                      <a:pPr>
                        <a:lnSpc>
                          <a:spcPct val="100000"/>
                        </a:lnSpc>
                        <a:spcBef>
                          <a:spcPts val="925"/>
                        </a:spcBef>
                      </a:pPr>
                      <a:endParaRPr lang="en-GB" sz="1400">
                        <a:latin typeface="Century Gothic" panose="020B0502020202020204" pitchFamily="34" charset="0"/>
                        <a:cs typeface="Times New Roman"/>
                      </a:endParaRPr>
                    </a:p>
                    <a:p>
                      <a:pPr marL="91440" marR="374650">
                        <a:lnSpc>
                          <a:spcPct val="100000"/>
                        </a:lnSpc>
                      </a:pPr>
                      <a:r>
                        <a:rPr lang="en-GB" sz="1400">
                          <a:solidFill>
                            <a:srgbClr val="54535A"/>
                          </a:solidFill>
                          <a:latin typeface="Century Gothic" panose="020B0502020202020204" pitchFamily="34" charset="0"/>
                          <a:cs typeface="Tahoma"/>
                        </a:rPr>
                        <a:t>Azure,</a:t>
                      </a:r>
                      <a:r>
                        <a:rPr lang="en-GB" sz="1400" spc="165">
                          <a:solidFill>
                            <a:srgbClr val="54535A"/>
                          </a:solidFill>
                          <a:latin typeface="Century Gothic" panose="020B0502020202020204" pitchFamily="34" charset="0"/>
                          <a:cs typeface="Tahoma"/>
                        </a:rPr>
                        <a:t> </a:t>
                      </a:r>
                      <a:r>
                        <a:rPr lang="en-GB" sz="1400" spc="-20">
                          <a:solidFill>
                            <a:srgbClr val="54535A"/>
                          </a:solidFill>
                          <a:latin typeface="Century Gothic" panose="020B0502020202020204" pitchFamily="34" charset="0"/>
                          <a:cs typeface="Tahoma"/>
                        </a:rPr>
                        <a:t>AWS, </a:t>
                      </a:r>
                      <a:r>
                        <a:rPr lang="en-GB" sz="1400" spc="190">
                          <a:solidFill>
                            <a:srgbClr val="54535A"/>
                          </a:solidFill>
                          <a:latin typeface="Century Gothic" panose="020B0502020202020204" pitchFamily="34" charset="0"/>
                          <a:cs typeface="Tahoma"/>
                        </a:rPr>
                        <a:t>GCP</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170180">
                        <a:lnSpc>
                          <a:spcPct val="100000"/>
                        </a:lnSpc>
                        <a:spcBef>
                          <a:spcPts val="445"/>
                        </a:spcBef>
                      </a:pPr>
                      <a:r>
                        <a:rPr lang="en-GB" sz="1400">
                          <a:solidFill>
                            <a:srgbClr val="54535A"/>
                          </a:solidFill>
                          <a:latin typeface="Century Gothic" panose="020B0502020202020204" pitchFamily="34" charset="0"/>
                          <a:cs typeface="Tahoma"/>
                        </a:rPr>
                        <a:t>Threat</a:t>
                      </a:r>
                      <a:r>
                        <a:rPr lang="en-GB" sz="1400" spc="-55">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Protection</a:t>
                      </a:r>
                      <a:r>
                        <a:rPr lang="en-GB" sz="1400" spc="-4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30">
                          <a:solidFill>
                            <a:srgbClr val="54535A"/>
                          </a:solidFill>
                          <a:latin typeface="Century Gothic" panose="020B0502020202020204" pitchFamily="34" charset="0"/>
                          <a:cs typeface="Tahoma"/>
                        </a:rPr>
                        <a:t> </a:t>
                      </a:r>
                      <a:r>
                        <a:rPr lang="en-GB" sz="1400" spc="125">
                          <a:solidFill>
                            <a:srgbClr val="54535A"/>
                          </a:solidFill>
                          <a:latin typeface="Century Gothic" panose="020B0502020202020204" pitchFamily="34" charset="0"/>
                          <a:cs typeface="Tahoma"/>
                        </a:rPr>
                        <a:t>Modern</a:t>
                      </a:r>
                      <a:r>
                        <a:rPr lang="en-GB" sz="1400" spc="-80">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SOC,</a:t>
                      </a:r>
                      <a:r>
                        <a:rPr lang="en-GB" sz="1400" spc="-70">
                          <a:solidFill>
                            <a:srgbClr val="54535A"/>
                          </a:solidFill>
                          <a:latin typeface="Century Gothic" panose="020B0502020202020204" pitchFamily="34" charset="0"/>
                          <a:cs typeface="Tahoma"/>
                        </a:rPr>
                        <a:t> </a:t>
                      </a:r>
                      <a:r>
                        <a:rPr lang="en-GB" sz="1400" spc="65">
                          <a:solidFill>
                            <a:srgbClr val="54535A"/>
                          </a:solidFill>
                          <a:latin typeface="Century Gothic" panose="020B0502020202020204" pitchFamily="34" charset="0"/>
                          <a:cs typeface="Tahoma"/>
                        </a:rPr>
                        <a:t>Azure</a:t>
                      </a:r>
                      <a:r>
                        <a:rPr lang="en-GB" sz="1400" spc="-5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Hybrid</a:t>
                      </a:r>
                      <a:r>
                        <a:rPr lang="en-GB" sz="1400" spc="-3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&amp; </a:t>
                      </a:r>
                      <a:r>
                        <a:rPr lang="en-GB" sz="1400" spc="130">
                          <a:solidFill>
                            <a:srgbClr val="54535A"/>
                          </a:solidFill>
                          <a:latin typeface="Century Gothic" panose="020B0502020202020204" pitchFamily="34" charset="0"/>
                          <a:cs typeface="Tahoma"/>
                        </a:rPr>
                        <a:t>Cloud</a:t>
                      </a:r>
                      <a:r>
                        <a:rPr lang="en-GB" sz="1400" spc="-1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Security,</a:t>
                      </a:r>
                      <a:r>
                        <a:rPr lang="en-GB" sz="1400" spc="-15">
                          <a:solidFill>
                            <a:srgbClr val="54535A"/>
                          </a:solidFill>
                          <a:latin typeface="Century Gothic" panose="020B0502020202020204" pitchFamily="34" charset="0"/>
                          <a:cs typeface="Tahoma"/>
                        </a:rPr>
                        <a:t> </a:t>
                      </a:r>
                      <a:r>
                        <a:rPr lang="en-GB" sz="1400" spc="45">
                          <a:solidFill>
                            <a:srgbClr val="54535A"/>
                          </a:solidFill>
                          <a:latin typeface="Century Gothic" panose="020B0502020202020204" pitchFamily="34" charset="0"/>
                          <a:cs typeface="Tahoma"/>
                        </a:rPr>
                        <a:t>Information</a:t>
                      </a:r>
                      <a:r>
                        <a:rPr lang="en-GB" sz="1400" spc="-15">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Protection</a:t>
                      </a:r>
                      <a:r>
                        <a:rPr lang="en-GB" sz="1400" spc="-1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2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Governance, </a:t>
                      </a:r>
                      <a:r>
                        <a:rPr lang="en-GB" sz="1400">
                          <a:solidFill>
                            <a:srgbClr val="54535A"/>
                          </a:solidFill>
                          <a:latin typeface="Century Gothic" panose="020B0502020202020204" pitchFamily="34" charset="0"/>
                          <a:cs typeface="Tahoma"/>
                        </a:rPr>
                        <a:t>Identity</a:t>
                      </a:r>
                      <a:r>
                        <a:rPr lang="en-GB" sz="1400" spc="-7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11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Access</a:t>
                      </a:r>
                      <a:r>
                        <a:rPr lang="en-GB" sz="1400" spc="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Management.</a:t>
                      </a:r>
                      <a:r>
                        <a:rPr lang="en-GB" sz="1400" spc="1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AWS</a:t>
                      </a:r>
                      <a:r>
                        <a:rPr lang="en-GB" sz="1400" spc="-25">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Control</a:t>
                      </a:r>
                      <a:r>
                        <a:rPr lang="en-GB" sz="1400" spc="-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Tower, </a:t>
                      </a:r>
                      <a:r>
                        <a:rPr lang="en-GB" sz="1400" spc="55">
                          <a:solidFill>
                            <a:srgbClr val="54535A"/>
                          </a:solidFill>
                          <a:latin typeface="Century Gothic" panose="020B0502020202020204" pitchFamily="34" charset="0"/>
                          <a:cs typeface="Tahoma"/>
                        </a:rPr>
                        <a:t>AWS</a:t>
                      </a:r>
                      <a:r>
                        <a:rPr lang="en-GB" sz="1400" spc="6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Security</a:t>
                      </a:r>
                      <a:r>
                        <a:rPr lang="en-GB" sz="1400" spc="6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Hub</a:t>
                      </a:r>
                      <a:endParaRPr lang="en-GB" sz="1400">
                        <a:latin typeface="Century Gothic" panose="020B0502020202020204" pitchFamily="34" charset="0"/>
                        <a:cs typeface="Tahoma"/>
                      </a:endParaRPr>
                    </a:p>
                  </a:txBody>
                  <a:tcPr marL="0" marR="0" marT="565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5"/>
                        </a:spcBef>
                      </a:pPr>
                      <a:endParaRPr lang="en-GB" sz="1400">
                        <a:latin typeface="Century Gothic" panose="020B0502020202020204" pitchFamily="34" charset="0"/>
                        <a:cs typeface="Times New Roman"/>
                      </a:endParaRPr>
                    </a:p>
                    <a:p>
                      <a:pPr marL="259715" marR="986790" indent="-167640">
                        <a:lnSpc>
                          <a:spcPct val="100000"/>
                        </a:lnSpc>
                        <a:buFont typeface="Arial MT"/>
                        <a:buChar char="•"/>
                        <a:tabLst>
                          <a:tab pos="26162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571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10">
                <a:latin typeface="Century Gothic" panose="020B0502020202020204" pitchFamily="34" charset="0"/>
              </a:rPr>
              <a:t>Technical</a:t>
            </a:r>
            <a:r>
              <a:rPr lang="en-US" spc="-165">
                <a:latin typeface="Century Gothic" panose="020B0502020202020204" pitchFamily="34" charset="0"/>
              </a:rPr>
              <a:t> </a:t>
            </a:r>
            <a:r>
              <a:rPr lang="en-US" spc="-185">
                <a:latin typeface="Century Gothic" panose="020B0502020202020204" pitchFamily="34" charset="0"/>
              </a:rPr>
              <a:t>Skills:</a:t>
            </a:r>
            <a:r>
              <a:rPr lang="en-US" spc="-45">
                <a:latin typeface="Century Gothic" panose="020B0502020202020204" pitchFamily="34" charset="0"/>
              </a:rPr>
              <a:t> </a:t>
            </a:r>
            <a:r>
              <a:rPr lang="en-US" spc="-155">
                <a:latin typeface="Century Gothic" panose="020B0502020202020204" pitchFamily="34" charset="0"/>
              </a:rPr>
              <a:t>Heirs</a:t>
            </a:r>
            <a:r>
              <a:rPr lang="en-US" spc="-35">
                <a:latin typeface="Century Gothic" panose="020B0502020202020204" pitchFamily="34" charset="0"/>
              </a:rPr>
              <a:t> </a:t>
            </a:r>
            <a:r>
              <a:rPr lang="en-US" spc="-45">
                <a:latin typeface="Century Gothic" panose="020B0502020202020204" pitchFamily="34" charset="0"/>
              </a:rPr>
              <a:t>Technologies,</a:t>
            </a:r>
            <a:r>
              <a:rPr lang="en-US" spc="-70">
                <a:latin typeface="Century Gothic" panose="020B0502020202020204" pitchFamily="34" charset="0"/>
              </a:rPr>
              <a:t> </a:t>
            </a:r>
            <a:r>
              <a:rPr lang="en-US" spc="-40">
                <a:latin typeface="Century Gothic" panose="020B0502020202020204" pitchFamily="34" charset="0"/>
              </a:rPr>
              <a:t>Nigeria</a:t>
            </a:r>
            <a:r>
              <a:rPr lang="en-US" spc="-85">
                <a:latin typeface="Century Gothic" panose="020B0502020202020204" pitchFamily="34" charset="0"/>
              </a:rPr>
              <a:t> </a:t>
            </a:r>
            <a:r>
              <a:rPr lang="en-US" spc="-285">
                <a:latin typeface="Century Gothic" panose="020B0502020202020204" pitchFamily="34" charset="0"/>
              </a:rPr>
              <a:t>[2/3]</a:t>
            </a:r>
          </a:p>
        </p:txBody>
      </p:sp>
      <p:sp>
        <p:nvSpPr>
          <p:cNvPr id="5" name="object 5"/>
          <p:cNvSpPr txBox="1"/>
          <p:nvPr/>
        </p:nvSpPr>
        <p:spPr>
          <a:xfrm>
            <a:off x="9034398" y="6528705"/>
            <a:ext cx="281368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aphicFrame>
        <p:nvGraphicFramePr>
          <p:cNvPr id="4" name="object 4"/>
          <p:cNvGraphicFramePr>
            <a:graphicFrameLocks noGrp="1"/>
          </p:cNvGraphicFramePr>
          <p:nvPr/>
        </p:nvGraphicFramePr>
        <p:xfrm>
          <a:off x="379082" y="1071372"/>
          <a:ext cx="11261088" cy="5357495"/>
        </p:xfrm>
        <a:graphic>
          <a:graphicData uri="http://schemas.openxmlformats.org/drawingml/2006/table">
            <a:tbl>
              <a:tblPr firstRow="1" bandRow="1">
                <a:tableStyleId>{2D5ABB26-0587-4C30-8999-92F81FD0307C}</a:tableStyleId>
              </a:tblPr>
              <a:tblGrid>
                <a:gridCol w="1942464">
                  <a:extLst>
                    <a:ext uri="{9D8B030D-6E8A-4147-A177-3AD203B41FA5}">
                      <a16:colId xmlns:a16="http://schemas.microsoft.com/office/drawing/2014/main" val="20000"/>
                    </a:ext>
                  </a:extLst>
                </a:gridCol>
                <a:gridCol w="1771014">
                  <a:extLst>
                    <a:ext uri="{9D8B030D-6E8A-4147-A177-3AD203B41FA5}">
                      <a16:colId xmlns:a16="http://schemas.microsoft.com/office/drawing/2014/main" val="20001"/>
                    </a:ext>
                  </a:extLst>
                </a:gridCol>
                <a:gridCol w="4648200">
                  <a:extLst>
                    <a:ext uri="{9D8B030D-6E8A-4147-A177-3AD203B41FA5}">
                      <a16:colId xmlns:a16="http://schemas.microsoft.com/office/drawing/2014/main" val="20002"/>
                    </a:ext>
                  </a:extLst>
                </a:gridCol>
                <a:gridCol w="2899410">
                  <a:extLst>
                    <a:ext uri="{9D8B030D-6E8A-4147-A177-3AD203B41FA5}">
                      <a16:colId xmlns:a16="http://schemas.microsoft.com/office/drawing/2014/main" val="20003"/>
                    </a:ext>
                  </a:extLst>
                </a:gridCol>
              </a:tblGrid>
              <a:tr h="287020">
                <a:tc>
                  <a:txBody>
                    <a:bodyPr/>
                    <a:lstStyle/>
                    <a:p>
                      <a:pPr marL="91440">
                        <a:lnSpc>
                          <a:spcPts val="1735"/>
                        </a:lnSpc>
                        <a:spcBef>
                          <a:spcPts val="430"/>
                        </a:spcBef>
                      </a:pPr>
                      <a:r>
                        <a:rPr lang="en-GB" sz="1600" b="1" spc="-10">
                          <a:solidFill>
                            <a:srgbClr val="FFFFFF"/>
                          </a:solidFill>
                          <a:latin typeface="Century Gothic" panose="020B0502020202020204" pitchFamily="34" charset="0"/>
                          <a:cs typeface="Tahoma"/>
                        </a:rPr>
                        <a:t>Technology</a:t>
                      </a:r>
                      <a:endParaRPr lang="en-GB" sz="16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1440">
                        <a:lnSpc>
                          <a:spcPts val="1735"/>
                        </a:lnSpc>
                        <a:spcBef>
                          <a:spcPts val="430"/>
                        </a:spcBef>
                      </a:pPr>
                      <a:r>
                        <a:rPr lang="en-GB" sz="1600" b="1" spc="-10">
                          <a:solidFill>
                            <a:srgbClr val="FFFFFF"/>
                          </a:solidFill>
                          <a:latin typeface="Century Gothic" panose="020B0502020202020204" pitchFamily="34" charset="0"/>
                          <a:cs typeface="Tahoma"/>
                        </a:rPr>
                        <a:t>Platform</a:t>
                      </a:r>
                      <a:endParaRPr lang="en-GB" sz="16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1440">
                        <a:lnSpc>
                          <a:spcPts val="1735"/>
                        </a:lnSpc>
                        <a:spcBef>
                          <a:spcPts val="430"/>
                        </a:spcBef>
                      </a:pPr>
                      <a:r>
                        <a:rPr lang="en-GB" sz="1600" b="1" spc="-10">
                          <a:solidFill>
                            <a:srgbClr val="FFFFFF"/>
                          </a:solidFill>
                          <a:latin typeface="Century Gothic" panose="020B0502020202020204" pitchFamily="34" charset="0"/>
                          <a:cs typeface="Tahoma"/>
                        </a:rPr>
                        <a:t>Skillsets</a:t>
                      </a:r>
                      <a:endParaRPr lang="en-GB" sz="16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2075">
                        <a:lnSpc>
                          <a:spcPts val="1735"/>
                        </a:lnSpc>
                        <a:spcBef>
                          <a:spcPts val="430"/>
                        </a:spcBef>
                      </a:pPr>
                      <a:r>
                        <a:rPr lang="en-GB" sz="1600" b="1" spc="-10">
                          <a:solidFill>
                            <a:srgbClr val="FFFFFF"/>
                          </a:solidFill>
                          <a:latin typeface="Century Gothic" panose="020B0502020202020204" pitchFamily="34" charset="0"/>
                          <a:cs typeface="Tahoma"/>
                        </a:rPr>
                        <a:t>Certifications</a:t>
                      </a:r>
                      <a:endParaRPr lang="en-GB" sz="16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extLst>
                  <a:ext uri="{0D108BD9-81ED-4DB2-BD59-A6C34878D82A}">
                    <a16:rowId xmlns:a16="http://schemas.microsoft.com/office/drawing/2014/main" val="10000"/>
                  </a:ext>
                </a:extLst>
              </a:tr>
              <a:tr h="1219835">
                <a:tc>
                  <a:txBody>
                    <a:bodyPr/>
                    <a:lstStyle/>
                    <a:p>
                      <a:pPr>
                        <a:lnSpc>
                          <a:spcPct val="100000"/>
                        </a:lnSpc>
                        <a:spcBef>
                          <a:spcPts val="50"/>
                        </a:spcBef>
                      </a:pPr>
                      <a:endParaRPr lang="en-GB" sz="1400">
                        <a:latin typeface="Century Gothic" panose="020B0502020202020204" pitchFamily="34" charset="0"/>
                        <a:cs typeface="Times New Roman"/>
                      </a:endParaRPr>
                    </a:p>
                    <a:p>
                      <a:pPr marL="91440" marR="80010">
                        <a:lnSpc>
                          <a:spcPct val="100000"/>
                        </a:lnSpc>
                        <a:spcBef>
                          <a:spcPts val="5"/>
                        </a:spcBef>
                      </a:pPr>
                      <a:r>
                        <a:rPr lang="en-GB" sz="1400" b="1" spc="-20">
                          <a:solidFill>
                            <a:srgbClr val="52535B"/>
                          </a:solidFill>
                          <a:latin typeface="Century Gothic" panose="020B0502020202020204" pitchFamily="34" charset="0"/>
                          <a:cs typeface="Tahoma"/>
                        </a:rPr>
                        <a:t>Databases/ERP/ </a:t>
                      </a:r>
                      <a:r>
                        <a:rPr lang="en-GB" sz="1400" b="1" spc="-95">
                          <a:solidFill>
                            <a:srgbClr val="52535B"/>
                          </a:solidFill>
                          <a:latin typeface="Century Gothic" panose="020B0502020202020204" pitchFamily="34" charset="0"/>
                          <a:cs typeface="Tahoma"/>
                        </a:rPr>
                        <a:t>Systems</a:t>
                      </a:r>
                      <a:r>
                        <a:rPr lang="en-GB" sz="1400" b="1" spc="15">
                          <a:solidFill>
                            <a:srgbClr val="52535B"/>
                          </a:solidFill>
                          <a:latin typeface="Century Gothic" panose="020B0502020202020204" pitchFamily="34" charset="0"/>
                          <a:cs typeface="Tahoma"/>
                        </a:rPr>
                        <a:t> </a:t>
                      </a:r>
                      <a:r>
                        <a:rPr lang="en-GB" sz="1400" b="1" spc="-90">
                          <a:solidFill>
                            <a:srgbClr val="52535B"/>
                          </a:solidFill>
                          <a:latin typeface="Century Gothic" panose="020B0502020202020204" pitchFamily="34" charset="0"/>
                          <a:cs typeface="Tahoma"/>
                        </a:rPr>
                        <a:t>Integration</a:t>
                      </a:r>
                      <a:endParaRPr lang="en-GB" sz="1400">
                        <a:latin typeface="Century Gothic" panose="020B0502020202020204" pitchFamily="34" charset="0"/>
                        <a:cs typeface="Tahoma"/>
                      </a:endParaRPr>
                    </a:p>
                  </a:txBody>
                  <a:tcPr marL="0" marR="0" marT="635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0"/>
                        </a:spcBef>
                      </a:pPr>
                      <a:endParaRPr lang="en-GB" sz="1400">
                        <a:latin typeface="Century Gothic" panose="020B0502020202020204" pitchFamily="34" charset="0"/>
                        <a:cs typeface="Times New Roman"/>
                      </a:endParaRPr>
                    </a:p>
                    <a:p>
                      <a:pPr marL="91440" marR="433705">
                        <a:lnSpc>
                          <a:spcPct val="100000"/>
                        </a:lnSpc>
                      </a:pPr>
                      <a:r>
                        <a:rPr lang="en-GB" sz="1400" spc="114">
                          <a:solidFill>
                            <a:srgbClr val="54535A"/>
                          </a:solidFill>
                          <a:latin typeface="Century Gothic" panose="020B0502020202020204" pitchFamily="34" charset="0"/>
                          <a:cs typeface="Tahoma"/>
                        </a:rPr>
                        <a:t>Oracle </a:t>
                      </a:r>
                      <a:r>
                        <a:rPr lang="en-GB" sz="1400" spc="80">
                          <a:solidFill>
                            <a:srgbClr val="54535A"/>
                          </a:solidFill>
                          <a:latin typeface="Century Gothic" panose="020B0502020202020204" pitchFamily="34" charset="0"/>
                          <a:cs typeface="Tahoma"/>
                        </a:rPr>
                        <a:t>databases, </a:t>
                      </a:r>
                      <a:r>
                        <a:rPr lang="en-GB" sz="1400" spc="125">
                          <a:solidFill>
                            <a:srgbClr val="54535A"/>
                          </a:solidFill>
                          <a:latin typeface="Century Gothic" panose="020B0502020202020204" pitchFamily="34" charset="0"/>
                          <a:cs typeface="Tahoma"/>
                        </a:rPr>
                        <a:t>Oracle</a:t>
                      </a:r>
                      <a:r>
                        <a:rPr lang="en-GB" sz="1400" spc="-90">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Fusion </a:t>
                      </a:r>
                      <a:r>
                        <a:rPr lang="en-GB" sz="1400" spc="125">
                          <a:solidFill>
                            <a:srgbClr val="54535A"/>
                          </a:solidFill>
                          <a:latin typeface="Century Gothic" panose="020B0502020202020204" pitchFamily="34" charset="0"/>
                          <a:cs typeface="Tahoma"/>
                        </a:rPr>
                        <a:t>Cloud</a:t>
                      </a:r>
                      <a:endParaRPr lang="en-GB" sz="1400">
                        <a:latin typeface="Century Gothic" panose="020B0502020202020204" pitchFamily="34" charset="0"/>
                        <a:cs typeface="Tahoma"/>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278130">
                        <a:lnSpc>
                          <a:spcPct val="100000"/>
                        </a:lnSpc>
                        <a:spcBef>
                          <a:spcPts val="509"/>
                        </a:spcBef>
                      </a:pPr>
                      <a:r>
                        <a:rPr lang="en-GB" sz="1400" spc="135">
                          <a:solidFill>
                            <a:srgbClr val="54535A"/>
                          </a:solidFill>
                          <a:latin typeface="Century Gothic" panose="020B0502020202020204" pitchFamily="34" charset="0"/>
                          <a:cs typeface="Tahoma"/>
                        </a:rPr>
                        <a:t>Database</a:t>
                      </a:r>
                      <a:r>
                        <a:rPr lang="en-GB" sz="1400" spc="-20">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administration,</a:t>
                      </a:r>
                      <a:r>
                        <a:rPr lang="en-GB" sz="1400" spc="-60">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configuration </a:t>
                      </a:r>
                      <a:r>
                        <a:rPr lang="en-GB" sz="1400" spc="120">
                          <a:solidFill>
                            <a:srgbClr val="54535A"/>
                          </a:solidFill>
                          <a:latin typeface="Century Gothic" panose="020B0502020202020204" pitchFamily="34" charset="0"/>
                          <a:cs typeface="Tahoma"/>
                        </a:rPr>
                        <a:t>management,</a:t>
                      </a:r>
                      <a:r>
                        <a:rPr lang="en-GB" sz="1400" spc="-1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monitoring,</a:t>
                      </a:r>
                      <a:r>
                        <a:rPr lang="en-GB" sz="1400" spc="-70">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break</a:t>
                      </a:r>
                      <a:r>
                        <a:rPr lang="en-GB" sz="1400" spc="-4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40">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fix</a:t>
                      </a:r>
                      <a:r>
                        <a:rPr lang="en-GB" sz="1400" spc="-50">
                          <a:solidFill>
                            <a:srgbClr val="54535A"/>
                          </a:solidFill>
                          <a:latin typeface="Century Gothic" panose="020B0502020202020204" pitchFamily="34" charset="0"/>
                          <a:cs typeface="Tahoma"/>
                        </a:rPr>
                        <a:t> </a:t>
                      </a:r>
                      <a:r>
                        <a:rPr lang="en-GB" sz="1400" spc="35">
                          <a:solidFill>
                            <a:srgbClr val="54535A"/>
                          </a:solidFill>
                          <a:latin typeface="Century Gothic" panose="020B0502020202020204" pitchFamily="34" charset="0"/>
                          <a:cs typeface="Tahoma"/>
                        </a:rPr>
                        <a:t>support, </a:t>
                      </a:r>
                      <a:r>
                        <a:rPr lang="en-GB" sz="1400" spc="125">
                          <a:solidFill>
                            <a:srgbClr val="54535A"/>
                          </a:solidFill>
                          <a:latin typeface="Century Gothic" panose="020B0502020202020204" pitchFamily="34" charset="0"/>
                          <a:cs typeface="Tahoma"/>
                        </a:rPr>
                        <a:t>Oracle</a:t>
                      </a:r>
                      <a:r>
                        <a:rPr lang="en-GB" sz="1400" spc="-4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Fusion</a:t>
                      </a:r>
                      <a:r>
                        <a:rPr lang="en-GB" sz="1400" spc="-2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support</a:t>
                      </a:r>
                      <a:r>
                        <a:rPr lang="en-GB" sz="1400" spc="-1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across</a:t>
                      </a:r>
                      <a:r>
                        <a:rPr lang="en-GB" sz="1400" spc="-1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all</a:t>
                      </a:r>
                      <a:r>
                        <a:rPr lang="en-GB" sz="1400" spc="-4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modules</a:t>
                      </a:r>
                      <a:r>
                        <a:rPr lang="en-GB" sz="1400" spc="-25">
                          <a:solidFill>
                            <a:srgbClr val="54535A"/>
                          </a:solidFill>
                          <a:latin typeface="Century Gothic" panose="020B0502020202020204" pitchFamily="34" charset="0"/>
                          <a:cs typeface="Tahoma"/>
                        </a:rPr>
                        <a:t> </a:t>
                      </a:r>
                      <a:r>
                        <a:rPr lang="en-GB" sz="1400" spc="130">
                          <a:solidFill>
                            <a:srgbClr val="54535A"/>
                          </a:solidFill>
                          <a:latin typeface="Century Gothic" panose="020B0502020202020204" pitchFamily="34" charset="0"/>
                          <a:cs typeface="Tahoma"/>
                        </a:rPr>
                        <a:t>and </a:t>
                      </a:r>
                      <a:r>
                        <a:rPr lang="en-GB" sz="1400" spc="55">
                          <a:solidFill>
                            <a:srgbClr val="54535A"/>
                          </a:solidFill>
                          <a:latin typeface="Century Gothic" panose="020B0502020202020204" pitchFamily="34" charset="0"/>
                          <a:cs typeface="Tahoma"/>
                        </a:rPr>
                        <a:t>customization.</a:t>
                      </a:r>
                      <a:r>
                        <a:rPr lang="en-GB" sz="1400" spc="1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Others</a:t>
                      </a:r>
                      <a:r>
                        <a:rPr lang="en-GB" sz="1400" spc="-10">
                          <a:solidFill>
                            <a:srgbClr val="54535A"/>
                          </a:solidFill>
                          <a:latin typeface="Century Gothic" panose="020B0502020202020204" pitchFamily="34" charset="0"/>
                          <a:cs typeface="Tahoma"/>
                        </a:rPr>
                        <a:t> </a:t>
                      </a:r>
                      <a:r>
                        <a:rPr lang="en-GB" sz="1400" spc="95">
                          <a:solidFill>
                            <a:srgbClr val="54535A"/>
                          </a:solidFill>
                          <a:latin typeface="Century Gothic" panose="020B0502020202020204" pitchFamily="34" charset="0"/>
                          <a:cs typeface="Tahoma"/>
                        </a:rPr>
                        <a:t>include</a:t>
                      </a:r>
                      <a:r>
                        <a:rPr lang="en-GB" sz="1400" spc="-20">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Microsoft</a:t>
                      </a:r>
                      <a:r>
                        <a:rPr lang="en-GB" sz="1400">
                          <a:solidFill>
                            <a:srgbClr val="54535A"/>
                          </a:solidFill>
                          <a:latin typeface="Century Gothic" panose="020B0502020202020204" pitchFamily="34" charset="0"/>
                          <a:cs typeface="Tahoma"/>
                        </a:rPr>
                        <a:t> </a:t>
                      </a:r>
                      <a:r>
                        <a:rPr lang="en-GB" sz="1400" spc="-20">
                          <a:solidFill>
                            <a:srgbClr val="54535A"/>
                          </a:solidFill>
                          <a:latin typeface="Century Gothic" panose="020B0502020202020204" pitchFamily="34" charset="0"/>
                          <a:cs typeface="Tahoma"/>
                        </a:rPr>
                        <a:t>SQL, </a:t>
                      </a:r>
                      <a:r>
                        <a:rPr lang="en-GB" sz="1400">
                          <a:solidFill>
                            <a:srgbClr val="54535A"/>
                          </a:solidFill>
                          <a:latin typeface="Century Gothic" panose="020B0502020202020204" pitchFamily="34" charset="0"/>
                          <a:cs typeface="Tahoma"/>
                        </a:rPr>
                        <a:t>MySQL,</a:t>
                      </a:r>
                      <a:r>
                        <a:rPr lang="en-GB" sz="1400" spc="45">
                          <a:solidFill>
                            <a:srgbClr val="54535A"/>
                          </a:solidFill>
                          <a:latin typeface="Century Gothic" panose="020B0502020202020204" pitchFamily="34" charset="0"/>
                          <a:cs typeface="Tahoma"/>
                        </a:rPr>
                        <a:t> </a:t>
                      </a:r>
                      <a:r>
                        <a:rPr lang="en-GB" sz="1400" spc="95">
                          <a:solidFill>
                            <a:srgbClr val="54535A"/>
                          </a:solidFill>
                          <a:latin typeface="Century Gothic" panose="020B0502020202020204" pitchFamily="34" charset="0"/>
                          <a:cs typeface="Tahoma"/>
                        </a:rPr>
                        <a:t>MongoDB,</a:t>
                      </a:r>
                      <a:r>
                        <a:rPr lang="en-GB" sz="1400" spc="85">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etc.</a:t>
                      </a:r>
                      <a:endParaRPr lang="en-GB" sz="1400">
                        <a:latin typeface="Century Gothic" panose="020B0502020202020204" pitchFamily="34" charset="0"/>
                        <a:cs typeface="Tahoma"/>
                      </a:endParaRPr>
                    </a:p>
                  </a:txBody>
                  <a:tcPr marL="0" marR="0" marT="64769"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0"/>
                        </a:spcBef>
                      </a:pPr>
                      <a:endParaRPr lang="en-GB" sz="1400">
                        <a:latin typeface="Century Gothic" panose="020B0502020202020204" pitchFamily="34" charset="0"/>
                        <a:cs typeface="Times New Roman"/>
                      </a:endParaRPr>
                    </a:p>
                    <a:p>
                      <a:pPr marL="261620" marR="1065530" indent="-169545">
                        <a:lnSpc>
                          <a:spcPct val="100000"/>
                        </a:lnSpc>
                        <a:buFont typeface="Arial MT"/>
                        <a:buChar char="•"/>
                        <a:tabLst>
                          <a:tab pos="26289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9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1600200">
                <a:tc>
                  <a:txBody>
                    <a:bodyPr/>
                    <a:lstStyle/>
                    <a:p>
                      <a:pPr>
                        <a:lnSpc>
                          <a:spcPct val="100000"/>
                        </a:lnSpc>
                        <a:spcBef>
                          <a:spcPts val="90"/>
                        </a:spcBef>
                      </a:pPr>
                      <a:endParaRPr lang="en-GB" sz="1400">
                        <a:latin typeface="Century Gothic" panose="020B0502020202020204" pitchFamily="34" charset="0"/>
                        <a:cs typeface="Times New Roman"/>
                      </a:endParaRPr>
                    </a:p>
                    <a:p>
                      <a:pPr marL="91440">
                        <a:lnSpc>
                          <a:spcPct val="100000"/>
                        </a:lnSpc>
                      </a:pPr>
                      <a:r>
                        <a:rPr lang="en-GB" sz="1400" b="1">
                          <a:solidFill>
                            <a:srgbClr val="52535B"/>
                          </a:solidFill>
                          <a:latin typeface="Century Gothic" panose="020B0502020202020204" pitchFamily="34" charset="0"/>
                          <a:cs typeface="Tahoma"/>
                        </a:rPr>
                        <a:t>Converge</a:t>
                      </a:r>
                      <a:r>
                        <a:rPr lang="en-GB" sz="1400" b="1" spc="-35">
                          <a:solidFill>
                            <a:srgbClr val="52535B"/>
                          </a:solidFill>
                          <a:latin typeface="Century Gothic" panose="020B0502020202020204" pitchFamily="34" charset="0"/>
                          <a:cs typeface="Tahoma"/>
                        </a:rPr>
                        <a:t> </a:t>
                      </a:r>
                      <a:r>
                        <a:rPr lang="en-GB" sz="1400" b="1" spc="-25">
                          <a:solidFill>
                            <a:srgbClr val="52535B"/>
                          </a:solidFill>
                          <a:latin typeface="Century Gothic" panose="020B0502020202020204" pitchFamily="34" charset="0"/>
                          <a:cs typeface="Tahoma"/>
                        </a:rPr>
                        <a:t>ERP</a:t>
                      </a:r>
                      <a:endParaRPr lang="en-GB" sz="1400">
                        <a:latin typeface="Century Gothic" panose="020B0502020202020204" pitchFamily="34" charset="0"/>
                        <a:cs typeface="Tahoma"/>
                      </a:endParaRPr>
                    </a:p>
                  </a:txBody>
                  <a:tcPr marL="0" marR="0" marT="1143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161290">
                        <a:lnSpc>
                          <a:spcPct val="100000"/>
                        </a:lnSpc>
                        <a:spcBef>
                          <a:spcPts val="1700"/>
                        </a:spcBef>
                      </a:pPr>
                      <a:r>
                        <a:rPr lang="en-GB" sz="1400" spc="-20">
                          <a:solidFill>
                            <a:srgbClr val="54535A"/>
                          </a:solidFill>
                          <a:latin typeface="Century Gothic" panose="020B0502020202020204" pitchFamily="34" charset="0"/>
                          <a:cs typeface="Tahoma"/>
                        </a:rPr>
                        <a:t>ERP</a:t>
                      </a:r>
                      <a:r>
                        <a:rPr lang="en-GB" sz="1400" spc="-5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Sales</a:t>
                      </a:r>
                      <a:r>
                        <a:rPr lang="en-GB" sz="1400" spc="-2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Cloud, </a:t>
                      </a:r>
                      <a:r>
                        <a:rPr lang="en-GB" sz="1400" spc="50">
                          <a:solidFill>
                            <a:srgbClr val="54535A"/>
                          </a:solidFill>
                          <a:latin typeface="Century Gothic" panose="020B0502020202020204" pitchFamily="34" charset="0"/>
                          <a:cs typeface="Tahoma"/>
                        </a:rPr>
                        <a:t>Service</a:t>
                      </a:r>
                      <a:r>
                        <a:rPr lang="en-GB" sz="1400" spc="-70">
                          <a:solidFill>
                            <a:srgbClr val="54535A"/>
                          </a:solidFill>
                          <a:latin typeface="Century Gothic" panose="020B0502020202020204" pitchFamily="34" charset="0"/>
                          <a:cs typeface="Tahoma"/>
                        </a:rPr>
                        <a:t> </a:t>
                      </a:r>
                      <a:r>
                        <a:rPr lang="en-GB" sz="1400" spc="80">
                          <a:solidFill>
                            <a:srgbClr val="54535A"/>
                          </a:solidFill>
                          <a:latin typeface="Century Gothic" panose="020B0502020202020204" pitchFamily="34" charset="0"/>
                          <a:cs typeface="Tahoma"/>
                        </a:rPr>
                        <a:t>Cloud, </a:t>
                      </a:r>
                      <a:r>
                        <a:rPr lang="en-GB" sz="1400">
                          <a:solidFill>
                            <a:srgbClr val="54535A"/>
                          </a:solidFill>
                          <a:latin typeface="Century Gothic" panose="020B0502020202020204" pitchFamily="34" charset="0"/>
                          <a:cs typeface="Tahoma"/>
                        </a:rPr>
                        <a:t>Energy</a:t>
                      </a:r>
                      <a:r>
                        <a:rPr lang="en-GB" sz="1400" spc="3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20">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Utilities </a:t>
                      </a:r>
                      <a:r>
                        <a:rPr lang="en-GB" sz="1400" spc="80">
                          <a:solidFill>
                            <a:srgbClr val="54535A"/>
                          </a:solidFill>
                          <a:latin typeface="Century Gothic" panose="020B0502020202020204" pitchFamily="34" charset="0"/>
                          <a:cs typeface="Tahoma"/>
                        </a:rPr>
                        <a:t>Cloud, Agentforce,</a:t>
                      </a:r>
                      <a:r>
                        <a:rPr lang="en-GB" sz="1400" spc="-3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and </a:t>
                      </a:r>
                      <a:r>
                        <a:rPr lang="en-GB" sz="1400" spc="60">
                          <a:solidFill>
                            <a:srgbClr val="54535A"/>
                          </a:solidFill>
                          <a:latin typeface="Century Gothic" panose="020B0502020202020204" pitchFamily="34" charset="0"/>
                          <a:cs typeface="Tahoma"/>
                        </a:rPr>
                        <a:t>Marketing</a:t>
                      </a:r>
                      <a:r>
                        <a:rPr lang="en-GB" sz="1400" spc="-60">
                          <a:solidFill>
                            <a:srgbClr val="54535A"/>
                          </a:solidFill>
                          <a:latin typeface="Century Gothic" panose="020B0502020202020204" pitchFamily="34" charset="0"/>
                          <a:cs typeface="Tahoma"/>
                        </a:rPr>
                        <a:t> </a:t>
                      </a:r>
                      <a:r>
                        <a:rPr lang="en-GB" sz="1400" spc="110">
                          <a:solidFill>
                            <a:srgbClr val="54535A"/>
                          </a:solidFill>
                          <a:latin typeface="Century Gothic" panose="020B0502020202020204" pitchFamily="34" charset="0"/>
                          <a:cs typeface="Tahoma"/>
                        </a:rPr>
                        <a:t>Cloud</a:t>
                      </a:r>
                      <a:endParaRPr lang="en-GB" sz="1400">
                        <a:latin typeface="Century Gothic" panose="020B0502020202020204" pitchFamily="34" charset="0"/>
                        <a:cs typeface="Tahoma"/>
                      </a:endParaRPr>
                    </a:p>
                  </a:txBody>
                  <a:tcPr marL="0" marR="0" marT="21590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830580">
                        <a:lnSpc>
                          <a:spcPct val="100000"/>
                        </a:lnSpc>
                      </a:pPr>
                      <a:r>
                        <a:rPr lang="en-GB" sz="1400" spc="135">
                          <a:solidFill>
                            <a:srgbClr val="54535A"/>
                          </a:solidFill>
                          <a:latin typeface="Century Gothic" panose="020B0502020202020204" pitchFamily="34" charset="0"/>
                          <a:cs typeface="Tahoma"/>
                        </a:rPr>
                        <a:t>Converge</a:t>
                      </a:r>
                      <a:r>
                        <a:rPr lang="en-GB" sz="1400" spc="-1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administration,</a:t>
                      </a:r>
                      <a:r>
                        <a:rPr lang="en-GB" sz="1400" spc="-40">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development, </a:t>
                      </a:r>
                      <a:r>
                        <a:rPr lang="en-GB" sz="1400" spc="90">
                          <a:solidFill>
                            <a:srgbClr val="54535A"/>
                          </a:solidFill>
                          <a:latin typeface="Century Gothic" panose="020B0502020202020204" pitchFamily="34" charset="0"/>
                          <a:cs typeface="Tahoma"/>
                        </a:rPr>
                        <a:t>implementation</a:t>
                      </a:r>
                      <a:r>
                        <a:rPr lang="en-GB" sz="1400" spc="-30">
                          <a:solidFill>
                            <a:srgbClr val="54535A"/>
                          </a:solidFill>
                          <a:latin typeface="Century Gothic" panose="020B0502020202020204" pitchFamily="34" charset="0"/>
                          <a:cs typeface="Tahoma"/>
                        </a:rPr>
                        <a:t> </a:t>
                      </a:r>
                      <a:r>
                        <a:rPr lang="en-GB" sz="1400" spc="90">
                          <a:solidFill>
                            <a:srgbClr val="54535A"/>
                          </a:solidFill>
                          <a:latin typeface="Century Gothic" panose="020B0502020202020204" pitchFamily="34" charset="0"/>
                          <a:cs typeface="Tahoma"/>
                        </a:rPr>
                        <a:t>and.</a:t>
                      </a:r>
                      <a:endParaRPr lang="en-GB" sz="1400">
                        <a:latin typeface="Century Gothic" panose="020B0502020202020204" pitchFamily="34" charset="0"/>
                        <a:cs typeface="Tahoma"/>
                      </a:endParaRPr>
                    </a:p>
                    <a:p>
                      <a:pPr marL="91440" marR="608965">
                        <a:lnSpc>
                          <a:spcPct val="100000"/>
                        </a:lnSpc>
                      </a:pPr>
                      <a:r>
                        <a:rPr lang="en-GB" sz="1400" spc="10">
                          <a:solidFill>
                            <a:srgbClr val="54535A"/>
                          </a:solidFill>
                          <a:latin typeface="Century Gothic" panose="020B0502020202020204" pitchFamily="34" charset="0"/>
                          <a:cs typeface="Tahoma"/>
                        </a:rPr>
                        <a:t>Integrations</a:t>
                      </a:r>
                      <a:r>
                        <a:rPr lang="en-GB" sz="1400" spc="2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services</a:t>
                      </a:r>
                      <a:r>
                        <a:rPr lang="en-GB" sz="1400" spc="30">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60">
                          <a:solidFill>
                            <a:srgbClr val="54535A"/>
                          </a:solidFill>
                          <a:latin typeface="Century Gothic" panose="020B0502020202020204" pitchFamily="34" charset="0"/>
                          <a:cs typeface="Tahoma"/>
                        </a:rPr>
                        <a:t> </a:t>
                      </a:r>
                      <a:r>
                        <a:rPr lang="en-GB" sz="1400" spc="45">
                          <a:solidFill>
                            <a:srgbClr val="54535A"/>
                          </a:solidFill>
                          <a:latin typeface="Century Gothic" panose="020B0502020202020204" pitchFamily="34" charset="0"/>
                          <a:cs typeface="Tahoma"/>
                        </a:rPr>
                        <a:t>various</a:t>
                      </a:r>
                      <a:r>
                        <a:rPr lang="en-GB" sz="1400" spc="25">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accounting </a:t>
                      </a:r>
                      <a:r>
                        <a:rPr lang="en-GB" sz="1400">
                          <a:solidFill>
                            <a:srgbClr val="54535A"/>
                          </a:solidFill>
                          <a:latin typeface="Century Gothic" panose="020B0502020202020204" pitchFamily="34" charset="0"/>
                          <a:cs typeface="Tahoma"/>
                        </a:rPr>
                        <a:t>systems,</a:t>
                      </a:r>
                      <a:r>
                        <a:rPr lang="en-GB" sz="1400" spc="-35">
                          <a:solidFill>
                            <a:srgbClr val="54535A"/>
                          </a:solidFill>
                          <a:latin typeface="Century Gothic" panose="020B0502020202020204" pitchFamily="34" charset="0"/>
                          <a:cs typeface="Tahoma"/>
                        </a:rPr>
                        <a:t> </a:t>
                      </a:r>
                      <a:r>
                        <a:rPr lang="en-GB" sz="1400" spc="100">
                          <a:solidFill>
                            <a:srgbClr val="54535A"/>
                          </a:solidFill>
                          <a:latin typeface="Century Gothic" panose="020B0502020202020204" pitchFamily="34" charset="0"/>
                          <a:cs typeface="Tahoma"/>
                        </a:rPr>
                        <a:t>cloud-</a:t>
                      </a:r>
                      <a:r>
                        <a:rPr lang="en-GB" sz="1400" spc="90">
                          <a:solidFill>
                            <a:srgbClr val="54535A"/>
                          </a:solidFill>
                          <a:latin typeface="Century Gothic" panose="020B0502020202020204" pitchFamily="34" charset="0"/>
                          <a:cs typeface="Tahoma"/>
                        </a:rPr>
                        <a:t>native</a:t>
                      </a:r>
                      <a:r>
                        <a:rPr lang="en-GB" sz="1400" spc="-75">
                          <a:solidFill>
                            <a:srgbClr val="54535A"/>
                          </a:solidFill>
                          <a:latin typeface="Century Gothic" panose="020B0502020202020204" pitchFamily="34" charset="0"/>
                          <a:cs typeface="Tahoma"/>
                        </a:rPr>
                        <a:t> </a:t>
                      </a:r>
                      <a:r>
                        <a:rPr lang="en-GB" sz="1400" spc="160">
                          <a:solidFill>
                            <a:srgbClr val="54535A"/>
                          </a:solidFill>
                          <a:latin typeface="Century Gothic" panose="020B0502020202020204" pitchFamily="34" charset="0"/>
                          <a:cs typeface="Tahoma"/>
                        </a:rPr>
                        <a:t>and</a:t>
                      </a:r>
                      <a:r>
                        <a:rPr lang="en-GB" sz="1400" spc="-30">
                          <a:solidFill>
                            <a:srgbClr val="54535A"/>
                          </a:solidFill>
                          <a:latin typeface="Century Gothic" panose="020B0502020202020204" pitchFamily="34" charset="0"/>
                          <a:cs typeface="Tahoma"/>
                        </a:rPr>
                        <a:t> </a:t>
                      </a:r>
                      <a:r>
                        <a:rPr lang="en-GB" sz="1400" spc="145">
                          <a:solidFill>
                            <a:srgbClr val="54535A"/>
                          </a:solidFill>
                          <a:latin typeface="Century Gothic" panose="020B0502020202020204" pitchFamily="34" charset="0"/>
                          <a:cs typeface="Tahoma"/>
                        </a:rPr>
                        <a:t>legacy</a:t>
                      </a:r>
                      <a:r>
                        <a:rPr lang="en-GB" sz="1400" spc="-2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systems. </a:t>
                      </a:r>
                      <a:r>
                        <a:rPr lang="en-GB" sz="1400" spc="55">
                          <a:solidFill>
                            <a:srgbClr val="54535A"/>
                          </a:solidFill>
                          <a:latin typeface="Century Gothic" panose="020B0502020202020204" pitchFamily="34" charset="0"/>
                          <a:cs typeface="Tahoma"/>
                        </a:rPr>
                        <a:t>Break</a:t>
                      </a:r>
                      <a:r>
                        <a:rPr lang="en-GB" sz="1400" spc="-55">
                          <a:solidFill>
                            <a:srgbClr val="54535A"/>
                          </a:solidFill>
                          <a:latin typeface="Century Gothic" panose="020B0502020202020204" pitchFamily="34" charset="0"/>
                          <a:cs typeface="Tahoma"/>
                        </a:rPr>
                        <a:t> </a:t>
                      </a:r>
                      <a:r>
                        <a:rPr lang="en-GB" sz="1400" spc="165">
                          <a:solidFill>
                            <a:srgbClr val="54535A"/>
                          </a:solidFill>
                          <a:latin typeface="Century Gothic" panose="020B0502020202020204" pitchFamily="34" charset="0"/>
                          <a:cs typeface="Tahoma"/>
                        </a:rPr>
                        <a:t>and</a:t>
                      </a:r>
                      <a:r>
                        <a:rPr lang="en-GB" sz="1400" spc="-5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fix</a:t>
                      </a:r>
                      <a:r>
                        <a:rPr lang="en-GB" sz="1400" spc="-45">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support</a:t>
                      </a:r>
                      <a:r>
                        <a:rPr lang="en-GB" sz="1400" spc="-55">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as</a:t>
                      </a:r>
                      <a:r>
                        <a:rPr lang="en-GB" sz="1400" spc="-50">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well</a:t>
                      </a:r>
                      <a:r>
                        <a:rPr lang="en-GB" sz="1400" spc="-60">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as</a:t>
                      </a:r>
                      <a:r>
                        <a:rPr lang="en-GB" sz="1400" spc="-50">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custom </a:t>
                      </a:r>
                      <a:r>
                        <a:rPr lang="en-GB" sz="1400" spc="114">
                          <a:solidFill>
                            <a:srgbClr val="54535A"/>
                          </a:solidFill>
                          <a:latin typeface="Century Gothic" panose="020B0502020202020204" pitchFamily="34" charset="0"/>
                          <a:cs typeface="Tahoma"/>
                        </a:rPr>
                        <a:t>development</a:t>
                      </a:r>
                      <a:endParaRPr lang="en-GB" sz="14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2075" marR="421005">
                        <a:lnSpc>
                          <a:spcPts val="1800"/>
                        </a:lnSpc>
                        <a:spcBef>
                          <a:spcPts val="25"/>
                        </a:spcBef>
                      </a:pPr>
                      <a:r>
                        <a:rPr lang="en-GB" sz="1400" spc="160">
                          <a:solidFill>
                            <a:srgbClr val="54535A"/>
                          </a:solidFill>
                          <a:latin typeface="Century Gothic" panose="020B0502020202020204" pitchFamily="34" charset="0"/>
                          <a:cs typeface="Tahoma"/>
                        </a:rPr>
                        <a:t>Deep</a:t>
                      </a:r>
                      <a:r>
                        <a:rPr lang="en-GB" sz="1400" spc="-35">
                          <a:solidFill>
                            <a:srgbClr val="54535A"/>
                          </a:solidFill>
                          <a:latin typeface="Century Gothic" panose="020B0502020202020204" pitchFamily="34" charset="0"/>
                          <a:cs typeface="Tahoma"/>
                        </a:rPr>
                        <a:t> </a:t>
                      </a:r>
                      <a:r>
                        <a:rPr lang="en-GB" sz="1400" spc="125">
                          <a:solidFill>
                            <a:srgbClr val="54535A"/>
                          </a:solidFill>
                          <a:latin typeface="Century Gothic" panose="020B0502020202020204" pitchFamily="34" charset="0"/>
                          <a:cs typeface="Tahoma"/>
                        </a:rPr>
                        <a:t>domain</a:t>
                      </a:r>
                      <a:r>
                        <a:rPr lang="en-GB" sz="1400" spc="-4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expertise</a:t>
                      </a:r>
                      <a:r>
                        <a:rPr lang="en-GB" sz="1400" spc="-40">
                          <a:solidFill>
                            <a:srgbClr val="54535A"/>
                          </a:solidFill>
                          <a:latin typeface="Century Gothic" panose="020B0502020202020204" pitchFamily="34" charset="0"/>
                          <a:cs typeface="Tahoma"/>
                        </a:rPr>
                        <a:t> </a:t>
                      </a:r>
                      <a:r>
                        <a:rPr lang="en-GB" sz="1400" spc="-25">
                          <a:solidFill>
                            <a:srgbClr val="54535A"/>
                          </a:solidFill>
                          <a:latin typeface="Century Gothic" panose="020B0502020202020204" pitchFamily="34" charset="0"/>
                          <a:cs typeface="Tahoma"/>
                        </a:rPr>
                        <a:t>in </a:t>
                      </a:r>
                      <a:r>
                        <a:rPr lang="en-GB" sz="1400" spc="95">
                          <a:solidFill>
                            <a:srgbClr val="54535A"/>
                          </a:solidFill>
                          <a:latin typeface="Century Gothic" panose="020B0502020202020204" pitchFamily="34" charset="0"/>
                          <a:cs typeface="Tahoma"/>
                        </a:rPr>
                        <a:t>object-</a:t>
                      </a:r>
                      <a:r>
                        <a:rPr lang="en-GB" sz="1400" spc="85">
                          <a:solidFill>
                            <a:srgbClr val="54535A"/>
                          </a:solidFill>
                          <a:latin typeface="Century Gothic" panose="020B0502020202020204" pitchFamily="34" charset="0"/>
                          <a:cs typeface="Tahoma"/>
                        </a:rPr>
                        <a:t>oriented</a:t>
                      </a:r>
                      <a:r>
                        <a:rPr lang="en-GB" sz="1400" spc="-7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design, </a:t>
                      </a:r>
                      <a:r>
                        <a:rPr lang="en-GB" sz="1400" spc="80">
                          <a:solidFill>
                            <a:srgbClr val="54535A"/>
                          </a:solidFill>
                          <a:latin typeface="Century Gothic" panose="020B0502020202020204" pitchFamily="34" charset="0"/>
                          <a:cs typeface="Tahoma"/>
                        </a:rPr>
                        <a:t>design</a:t>
                      </a:r>
                      <a:r>
                        <a:rPr lang="en-GB" sz="1400" spc="-70">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patterns</a:t>
                      </a:r>
                      <a:r>
                        <a:rPr lang="en-GB" sz="1400" spc="-40">
                          <a:solidFill>
                            <a:srgbClr val="54535A"/>
                          </a:solidFill>
                          <a:latin typeface="Century Gothic" panose="020B0502020202020204" pitchFamily="34" charset="0"/>
                          <a:cs typeface="Tahoma"/>
                        </a:rPr>
                        <a:t> </a:t>
                      </a:r>
                      <a:r>
                        <a:rPr lang="en-GB" sz="1400" spc="160">
                          <a:solidFill>
                            <a:srgbClr val="54535A"/>
                          </a:solidFill>
                          <a:latin typeface="Century Gothic" panose="020B0502020202020204" pitchFamily="34" charset="0"/>
                          <a:cs typeface="Tahoma"/>
                        </a:rPr>
                        <a:t>and</a:t>
                      </a:r>
                      <a:r>
                        <a:rPr lang="en-GB" sz="1400" spc="-45">
                          <a:solidFill>
                            <a:srgbClr val="54535A"/>
                          </a:solidFill>
                          <a:latin typeface="Century Gothic" panose="020B0502020202020204" pitchFamily="34" charset="0"/>
                          <a:cs typeface="Tahoma"/>
                        </a:rPr>
                        <a:t> </a:t>
                      </a:r>
                      <a:r>
                        <a:rPr lang="en-GB" sz="1400" spc="-20">
                          <a:solidFill>
                            <a:srgbClr val="54535A"/>
                          </a:solidFill>
                          <a:latin typeface="Century Gothic" panose="020B0502020202020204" pitchFamily="34" charset="0"/>
                          <a:cs typeface="Tahoma"/>
                        </a:rPr>
                        <a:t>their </a:t>
                      </a:r>
                      <a:r>
                        <a:rPr lang="en-GB" sz="1400" spc="100">
                          <a:solidFill>
                            <a:srgbClr val="54535A"/>
                          </a:solidFill>
                          <a:latin typeface="Century Gothic" panose="020B0502020202020204" pitchFamily="34" charset="0"/>
                          <a:cs typeface="Tahoma"/>
                        </a:rPr>
                        <a:t>application,</a:t>
                      </a:r>
                      <a:r>
                        <a:rPr lang="en-GB" sz="1400" spc="-35">
                          <a:solidFill>
                            <a:srgbClr val="54535A"/>
                          </a:solidFill>
                          <a:latin typeface="Century Gothic" panose="020B0502020202020204" pitchFamily="34" charset="0"/>
                          <a:cs typeface="Tahoma"/>
                        </a:rPr>
                        <a:t> </a:t>
                      </a:r>
                      <a:r>
                        <a:rPr lang="en-GB" sz="1400" spc="105">
                          <a:solidFill>
                            <a:srgbClr val="54535A"/>
                          </a:solidFill>
                          <a:latin typeface="Century Gothic" panose="020B0502020202020204" pitchFamily="34" charset="0"/>
                          <a:cs typeface="Tahoma"/>
                        </a:rPr>
                        <a:t>databases </a:t>
                      </a:r>
                      <a:r>
                        <a:rPr lang="en-GB" sz="1400" spc="60">
                          <a:solidFill>
                            <a:srgbClr val="54535A"/>
                          </a:solidFill>
                          <a:latin typeface="Century Gothic" panose="020B0502020202020204" pitchFamily="34" charset="0"/>
                          <a:cs typeface="Tahoma"/>
                        </a:rPr>
                        <a:t>design,</a:t>
                      </a:r>
                      <a:r>
                        <a:rPr lang="en-GB" sz="1400" spc="-65">
                          <a:solidFill>
                            <a:srgbClr val="54535A"/>
                          </a:solidFill>
                          <a:latin typeface="Century Gothic" panose="020B0502020202020204" pitchFamily="34" charset="0"/>
                          <a:cs typeface="Tahoma"/>
                        </a:rPr>
                        <a:t> </a:t>
                      </a:r>
                      <a:r>
                        <a:rPr lang="en-GB" sz="1400" spc="90">
                          <a:solidFill>
                            <a:srgbClr val="54535A"/>
                          </a:solidFill>
                          <a:latin typeface="Century Gothic" panose="020B0502020202020204" pitchFamily="34" charset="0"/>
                          <a:cs typeface="Tahoma"/>
                        </a:rPr>
                        <a:t>modelling</a:t>
                      </a:r>
                      <a:r>
                        <a:rPr lang="en-GB" sz="1400" spc="-70">
                          <a:solidFill>
                            <a:srgbClr val="54535A"/>
                          </a:solidFill>
                          <a:latin typeface="Century Gothic" panose="020B0502020202020204" pitchFamily="34" charset="0"/>
                          <a:cs typeface="Tahoma"/>
                        </a:rPr>
                        <a:t> </a:t>
                      </a:r>
                      <a:r>
                        <a:rPr lang="en-GB" sz="1400" spc="135">
                          <a:solidFill>
                            <a:srgbClr val="54535A"/>
                          </a:solidFill>
                          <a:latin typeface="Century Gothic" panose="020B0502020202020204" pitchFamily="34" charset="0"/>
                          <a:cs typeface="Tahoma"/>
                        </a:rPr>
                        <a:t>and </a:t>
                      </a:r>
                      <a:r>
                        <a:rPr lang="en-GB" sz="1400" spc="50">
                          <a:solidFill>
                            <a:srgbClr val="54535A"/>
                          </a:solidFill>
                          <a:latin typeface="Century Gothic" panose="020B0502020202020204" pitchFamily="34" charset="0"/>
                          <a:cs typeface="Tahoma"/>
                        </a:rPr>
                        <a:t>enterprise</a:t>
                      </a:r>
                      <a:r>
                        <a:rPr lang="en-GB" sz="1400" spc="-8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architectures.</a:t>
                      </a:r>
                      <a:endParaRPr lang="en-GB" sz="1400">
                        <a:latin typeface="Century Gothic" panose="020B0502020202020204" pitchFamily="34" charset="0"/>
                        <a:cs typeface="Tahoma"/>
                      </a:endParaRPr>
                    </a:p>
                  </a:txBody>
                  <a:tcPr marL="0" marR="0" marT="317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r h="956310">
                <a:tc>
                  <a:txBody>
                    <a:bodyPr/>
                    <a:lstStyle/>
                    <a:p>
                      <a:pPr>
                        <a:lnSpc>
                          <a:spcPct val="100000"/>
                        </a:lnSpc>
                        <a:spcBef>
                          <a:spcPts val="395"/>
                        </a:spcBef>
                      </a:pPr>
                      <a:endParaRPr lang="en-GB" sz="1400">
                        <a:latin typeface="Century Gothic" panose="020B0502020202020204" pitchFamily="34" charset="0"/>
                        <a:cs typeface="Times New Roman"/>
                      </a:endParaRPr>
                    </a:p>
                    <a:p>
                      <a:pPr marL="91440" marR="598805">
                        <a:lnSpc>
                          <a:spcPct val="98300"/>
                        </a:lnSpc>
                      </a:pPr>
                      <a:r>
                        <a:rPr lang="en-GB" sz="1400" b="1" spc="-10">
                          <a:solidFill>
                            <a:srgbClr val="52535B"/>
                          </a:solidFill>
                          <a:latin typeface="Century Gothic" panose="020B0502020202020204" pitchFamily="34" charset="0"/>
                          <a:cs typeface="Tahoma"/>
                        </a:rPr>
                        <a:t>Service Management </a:t>
                      </a:r>
                      <a:r>
                        <a:rPr lang="en-GB" sz="1400" b="1" spc="-25">
                          <a:solidFill>
                            <a:srgbClr val="52535B"/>
                          </a:solidFill>
                          <a:latin typeface="Century Gothic" panose="020B0502020202020204" pitchFamily="34" charset="0"/>
                          <a:cs typeface="Tahoma"/>
                        </a:rPr>
                        <a:t>(ITSM)</a:t>
                      </a:r>
                      <a:endParaRPr lang="en-GB" sz="1400">
                        <a:latin typeface="Century Gothic" panose="020B0502020202020204" pitchFamily="34" charset="0"/>
                        <a:cs typeface="Tahoma"/>
                      </a:endParaRPr>
                    </a:p>
                  </a:txBody>
                  <a:tcPr marL="0" marR="0" marT="5016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815"/>
                        </a:spcBef>
                      </a:pPr>
                      <a:endParaRPr lang="en-GB" sz="1400">
                        <a:latin typeface="Century Gothic" panose="020B0502020202020204" pitchFamily="34" charset="0"/>
                        <a:cs typeface="Times New Roman"/>
                      </a:endParaRPr>
                    </a:p>
                    <a:p>
                      <a:pPr marL="91440">
                        <a:lnSpc>
                          <a:spcPct val="100000"/>
                        </a:lnSpc>
                        <a:spcBef>
                          <a:spcPts val="5"/>
                        </a:spcBef>
                      </a:pPr>
                      <a:r>
                        <a:rPr lang="en-GB" sz="1400" spc="65">
                          <a:solidFill>
                            <a:srgbClr val="54535A"/>
                          </a:solidFill>
                          <a:latin typeface="Century Gothic" panose="020B0502020202020204" pitchFamily="34" charset="0"/>
                          <a:cs typeface="Tahoma"/>
                        </a:rPr>
                        <a:t>ServiceNow</a:t>
                      </a:r>
                      <a:endParaRPr lang="en-GB" sz="1400">
                        <a:latin typeface="Century Gothic" panose="020B0502020202020204" pitchFamily="34" charset="0"/>
                        <a:cs typeface="Tahoma"/>
                      </a:endParaRPr>
                    </a:p>
                  </a:txBody>
                  <a:tcPr marL="0" marR="0" marT="10350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546735">
                        <a:lnSpc>
                          <a:spcPct val="100000"/>
                        </a:lnSpc>
                        <a:spcBef>
                          <a:spcPts val="229"/>
                        </a:spcBef>
                      </a:pPr>
                      <a:r>
                        <a:rPr lang="en-GB" sz="1400" spc="-220">
                          <a:solidFill>
                            <a:srgbClr val="54535A"/>
                          </a:solidFill>
                          <a:latin typeface="Century Gothic" panose="020B0502020202020204" pitchFamily="34" charset="0"/>
                          <a:cs typeface="Tahoma"/>
                        </a:rPr>
                        <a:t>IT</a:t>
                      </a:r>
                      <a:r>
                        <a:rPr lang="en-GB" sz="1400" spc="-4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Service</a:t>
                      </a:r>
                      <a:r>
                        <a:rPr lang="en-GB" sz="1400" spc="-30">
                          <a:solidFill>
                            <a:srgbClr val="54535A"/>
                          </a:solidFill>
                          <a:latin typeface="Century Gothic" panose="020B0502020202020204" pitchFamily="34" charset="0"/>
                          <a:cs typeface="Tahoma"/>
                        </a:rPr>
                        <a:t> </a:t>
                      </a:r>
                      <a:r>
                        <a:rPr lang="en-GB" sz="1400" spc="150">
                          <a:solidFill>
                            <a:srgbClr val="54535A"/>
                          </a:solidFill>
                          <a:latin typeface="Century Gothic" panose="020B0502020202020204" pitchFamily="34" charset="0"/>
                          <a:cs typeface="Tahoma"/>
                        </a:rPr>
                        <a:t>Management</a:t>
                      </a:r>
                      <a:r>
                        <a:rPr lang="en-GB" sz="1400" spc="5">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(Service</a:t>
                      </a:r>
                      <a:r>
                        <a:rPr lang="en-GB" sz="1400" spc="-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Desk),</a:t>
                      </a:r>
                      <a:r>
                        <a:rPr lang="en-GB" sz="1400" spc="-15">
                          <a:solidFill>
                            <a:srgbClr val="54535A"/>
                          </a:solidFill>
                          <a:latin typeface="Century Gothic" panose="020B0502020202020204" pitchFamily="34" charset="0"/>
                          <a:cs typeface="Tahoma"/>
                        </a:rPr>
                        <a:t> </a:t>
                      </a:r>
                      <a:r>
                        <a:rPr lang="en-GB" sz="1400" spc="-25">
                          <a:solidFill>
                            <a:srgbClr val="54535A"/>
                          </a:solidFill>
                          <a:latin typeface="Century Gothic" panose="020B0502020202020204" pitchFamily="34" charset="0"/>
                          <a:cs typeface="Tahoma"/>
                        </a:rPr>
                        <a:t>IT </a:t>
                      </a:r>
                      <a:r>
                        <a:rPr lang="en-GB" sz="1400" spc="130">
                          <a:solidFill>
                            <a:srgbClr val="54535A"/>
                          </a:solidFill>
                          <a:latin typeface="Century Gothic" panose="020B0502020202020204" pitchFamily="34" charset="0"/>
                          <a:cs typeface="Tahoma"/>
                        </a:rPr>
                        <a:t>Compliance,</a:t>
                      </a:r>
                      <a:r>
                        <a:rPr lang="en-GB" sz="1400" spc="400">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incident,</a:t>
                      </a:r>
                      <a:r>
                        <a:rPr lang="en-GB" sz="1400" spc="-7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problem,</a:t>
                      </a:r>
                      <a:r>
                        <a:rPr lang="en-GB" sz="1400" spc="-40">
                          <a:solidFill>
                            <a:srgbClr val="54535A"/>
                          </a:solidFill>
                          <a:latin typeface="Century Gothic" panose="020B0502020202020204" pitchFamily="34" charset="0"/>
                          <a:cs typeface="Tahoma"/>
                        </a:rPr>
                        <a:t> </a:t>
                      </a:r>
                      <a:r>
                        <a:rPr lang="en-GB" sz="1400" spc="120">
                          <a:solidFill>
                            <a:srgbClr val="54535A"/>
                          </a:solidFill>
                          <a:latin typeface="Century Gothic" panose="020B0502020202020204" pitchFamily="34" charset="0"/>
                          <a:cs typeface="Tahoma"/>
                        </a:rPr>
                        <a:t>&amp;</a:t>
                      </a:r>
                      <a:r>
                        <a:rPr lang="en-GB" sz="1400" spc="-25">
                          <a:solidFill>
                            <a:srgbClr val="54535A"/>
                          </a:solidFill>
                          <a:latin typeface="Century Gothic" panose="020B0502020202020204" pitchFamily="34" charset="0"/>
                          <a:cs typeface="Tahoma"/>
                        </a:rPr>
                        <a:t> </a:t>
                      </a:r>
                      <a:r>
                        <a:rPr lang="en-GB" sz="1400" spc="160">
                          <a:solidFill>
                            <a:srgbClr val="54535A"/>
                          </a:solidFill>
                          <a:latin typeface="Century Gothic" panose="020B0502020202020204" pitchFamily="34" charset="0"/>
                          <a:cs typeface="Tahoma"/>
                        </a:rPr>
                        <a:t>change </a:t>
                      </a:r>
                      <a:r>
                        <a:rPr lang="en-GB" sz="1400" spc="120">
                          <a:solidFill>
                            <a:srgbClr val="54535A"/>
                          </a:solidFill>
                          <a:latin typeface="Century Gothic" panose="020B0502020202020204" pitchFamily="34" charset="0"/>
                          <a:cs typeface="Tahoma"/>
                        </a:rPr>
                        <a:t>management,</a:t>
                      </a:r>
                      <a:r>
                        <a:rPr lang="en-GB" sz="1400" spc="2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systems</a:t>
                      </a:r>
                      <a:r>
                        <a:rPr lang="en-GB" sz="1400" spc="-10">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integrations</a:t>
                      </a:r>
                      <a:r>
                        <a:rPr lang="en-GB" sz="1400" spc="-2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&amp; </a:t>
                      </a:r>
                      <a:r>
                        <a:rPr lang="en-GB" sz="1400" spc="75">
                          <a:solidFill>
                            <a:srgbClr val="54535A"/>
                          </a:solidFill>
                          <a:latin typeface="Century Gothic" panose="020B0502020202020204" pitchFamily="34" charset="0"/>
                          <a:cs typeface="Tahoma"/>
                        </a:rPr>
                        <a:t>process</a:t>
                      </a:r>
                      <a:r>
                        <a:rPr lang="en-GB" sz="1400" spc="-40">
                          <a:solidFill>
                            <a:srgbClr val="54535A"/>
                          </a:solidFill>
                          <a:latin typeface="Century Gothic" panose="020B0502020202020204" pitchFamily="34" charset="0"/>
                          <a:cs typeface="Tahoma"/>
                        </a:rPr>
                        <a:t> </a:t>
                      </a:r>
                      <a:r>
                        <a:rPr lang="en-GB" sz="1400" spc="95">
                          <a:solidFill>
                            <a:srgbClr val="54535A"/>
                          </a:solidFill>
                          <a:latin typeface="Century Gothic" panose="020B0502020202020204" pitchFamily="34" charset="0"/>
                          <a:cs typeface="Tahoma"/>
                        </a:rPr>
                        <a:t>automation</a:t>
                      </a:r>
                      <a:endParaRPr lang="en-GB" sz="1400">
                        <a:latin typeface="Century Gothic" panose="020B0502020202020204" pitchFamily="34" charset="0"/>
                        <a:cs typeface="Tahoma"/>
                      </a:endParaRPr>
                    </a:p>
                  </a:txBody>
                  <a:tcPr marL="0" marR="0" marT="29209"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305"/>
                        </a:spcBef>
                      </a:pPr>
                      <a:endParaRPr lang="en-GB" sz="1400">
                        <a:latin typeface="Century Gothic" panose="020B0502020202020204" pitchFamily="34" charset="0"/>
                        <a:cs typeface="Times New Roman"/>
                      </a:endParaRPr>
                    </a:p>
                    <a:p>
                      <a:pPr marL="259715" marR="1066800" indent="-167640">
                        <a:lnSpc>
                          <a:spcPct val="100000"/>
                        </a:lnSpc>
                        <a:buFont typeface="Arial MT"/>
                        <a:buChar char="•"/>
                        <a:tabLst>
                          <a:tab pos="26162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9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2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3873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3"/>
                  </a:ext>
                </a:extLst>
              </a:tr>
              <a:tr h="1184910">
                <a:tc>
                  <a:txBody>
                    <a:bodyPr/>
                    <a:lstStyle/>
                    <a:p>
                      <a:pPr>
                        <a:lnSpc>
                          <a:spcPct val="100000"/>
                        </a:lnSpc>
                        <a:spcBef>
                          <a:spcPts val="380"/>
                        </a:spcBef>
                      </a:pPr>
                      <a:endParaRPr lang="en-GB" sz="1400">
                        <a:latin typeface="Century Gothic" panose="020B0502020202020204" pitchFamily="34" charset="0"/>
                        <a:cs typeface="Times New Roman"/>
                      </a:endParaRPr>
                    </a:p>
                    <a:p>
                      <a:pPr marL="91440">
                        <a:lnSpc>
                          <a:spcPct val="100000"/>
                        </a:lnSpc>
                      </a:pPr>
                      <a:r>
                        <a:rPr lang="en-GB" sz="1400" b="1" spc="-10">
                          <a:solidFill>
                            <a:srgbClr val="52535B"/>
                          </a:solidFill>
                          <a:latin typeface="Century Gothic" panose="020B0502020202020204" pitchFamily="34" charset="0"/>
                          <a:cs typeface="Tahoma"/>
                        </a:rPr>
                        <a:t>Cybersecurity</a:t>
                      </a:r>
                      <a:endParaRPr lang="en-GB" sz="1400">
                        <a:latin typeface="Century Gothic" panose="020B0502020202020204" pitchFamily="34" charset="0"/>
                        <a:cs typeface="Tahoma"/>
                      </a:endParaRPr>
                    </a:p>
                  </a:txBody>
                  <a:tcPr marL="0" marR="0" marT="4826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819"/>
                        </a:spcBef>
                      </a:pPr>
                      <a:endParaRPr lang="en-GB" sz="1400">
                        <a:latin typeface="Century Gothic" panose="020B0502020202020204" pitchFamily="34" charset="0"/>
                        <a:cs typeface="Times New Roman"/>
                      </a:endParaRPr>
                    </a:p>
                    <a:p>
                      <a:pPr marL="91440" marR="474345">
                        <a:lnSpc>
                          <a:spcPct val="100000"/>
                        </a:lnSpc>
                      </a:pPr>
                      <a:r>
                        <a:rPr lang="en-GB" sz="1400" spc="140">
                          <a:solidFill>
                            <a:srgbClr val="54535A"/>
                          </a:solidFill>
                          <a:latin typeface="Century Gothic" panose="020B0502020202020204" pitchFamily="34" charset="0"/>
                          <a:cs typeface="Tahoma"/>
                        </a:rPr>
                        <a:t>Cloud</a:t>
                      </a:r>
                      <a:r>
                        <a:rPr lang="en-GB" sz="1400" spc="-2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or</a:t>
                      </a:r>
                      <a:r>
                        <a:rPr lang="en-GB" sz="1400" spc="-15">
                          <a:solidFill>
                            <a:srgbClr val="54535A"/>
                          </a:solidFill>
                          <a:latin typeface="Century Gothic" panose="020B0502020202020204" pitchFamily="34" charset="0"/>
                          <a:cs typeface="Tahoma"/>
                        </a:rPr>
                        <a:t> </a:t>
                      </a:r>
                      <a:r>
                        <a:rPr lang="en-GB" sz="1400" spc="55">
                          <a:solidFill>
                            <a:srgbClr val="54535A"/>
                          </a:solidFill>
                          <a:latin typeface="Century Gothic" panose="020B0502020202020204" pitchFamily="34" charset="0"/>
                          <a:cs typeface="Tahoma"/>
                        </a:rPr>
                        <a:t>On- </a:t>
                      </a:r>
                      <a:r>
                        <a:rPr lang="en-GB" sz="1400" spc="-10">
                          <a:solidFill>
                            <a:srgbClr val="54535A"/>
                          </a:solidFill>
                          <a:latin typeface="Century Gothic" panose="020B0502020202020204" pitchFamily="34" charset="0"/>
                          <a:cs typeface="Tahoma"/>
                        </a:rPr>
                        <a:t>premises</a:t>
                      </a:r>
                      <a:endParaRPr lang="en-GB" sz="1400">
                        <a:latin typeface="Century Gothic" panose="020B0502020202020204" pitchFamily="34" charset="0"/>
                        <a:cs typeface="Tahoma"/>
                      </a:endParaRPr>
                    </a:p>
                  </a:txBody>
                  <a:tcPr marL="0" marR="0" marT="104139"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L="91440" marR="666750">
                        <a:lnSpc>
                          <a:spcPct val="100000"/>
                        </a:lnSpc>
                        <a:spcBef>
                          <a:spcPts val="229"/>
                        </a:spcBef>
                      </a:pPr>
                      <a:r>
                        <a:rPr lang="en-GB" sz="1400" spc="45">
                          <a:solidFill>
                            <a:srgbClr val="54535A"/>
                          </a:solidFill>
                          <a:latin typeface="Century Gothic" panose="020B0502020202020204" pitchFamily="34" charset="0"/>
                          <a:cs typeface="Tahoma"/>
                        </a:rPr>
                        <a:t>Security</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Operations</a:t>
                      </a:r>
                      <a:r>
                        <a:rPr lang="en-GB" sz="1400" spc="-45">
                          <a:solidFill>
                            <a:srgbClr val="54535A"/>
                          </a:solidFill>
                          <a:latin typeface="Century Gothic" panose="020B0502020202020204" pitchFamily="34" charset="0"/>
                          <a:cs typeface="Tahoma"/>
                        </a:rPr>
                        <a:t> </a:t>
                      </a:r>
                      <a:r>
                        <a:rPr lang="en-GB" sz="1400" spc="110">
                          <a:solidFill>
                            <a:srgbClr val="54535A"/>
                          </a:solidFill>
                          <a:latin typeface="Century Gothic" panose="020B0502020202020204" pitchFamily="34" charset="0"/>
                          <a:cs typeface="Tahoma"/>
                        </a:rPr>
                        <a:t>Centre</a:t>
                      </a:r>
                      <a:r>
                        <a:rPr lang="en-GB" sz="1400" spc="-4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(SOC)</a:t>
                      </a:r>
                      <a:r>
                        <a:rPr lang="en-GB" sz="1400" spc="-15">
                          <a:solidFill>
                            <a:srgbClr val="54535A"/>
                          </a:solidFill>
                          <a:latin typeface="Century Gothic" panose="020B0502020202020204" pitchFamily="34" charset="0"/>
                          <a:cs typeface="Tahoma"/>
                        </a:rPr>
                        <a:t> </a:t>
                      </a:r>
                      <a:r>
                        <a:rPr lang="en-GB" sz="1400" spc="40">
                          <a:solidFill>
                            <a:srgbClr val="54535A"/>
                          </a:solidFill>
                          <a:latin typeface="Century Gothic" panose="020B0502020202020204" pitchFamily="34" charset="0"/>
                          <a:cs typeface="Tahoma"/>
                        </a:rPr>
                        <a:t>services </a:t>
                      </a:r>
                      <a:r>
                        <a:rPr lang="en-GB" sz="1400" spc="165">
                          <a:solidFill>
                            <a:srgbClr val="54535A"/>
                          </a:solidFill>
                          <a:latin typeface="Century Gothic" panose="020B0502020202020204" pitchFamily="34" charset="0"/>
                          <a:cs typeface="Tahoma"/>
                        </a:rPr>
                        <a:t>and</a:t>
                      </a:r>
                      <a:r>
                        <a:rPr lang="en-GB" sz="1400" spc="-35">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Intelligence,</a:t>
                      </a:r>
                      <a:r>
                        <a:rPr lang="en-GB" sz="1400" spc="-55">
                          <a:solidFill>
                            <a:srgbClr val="54535A"/>
                          </a:solidFill>
                          <a:latin typeface="Century Gothic" panose="020B0502020202020204" pitchFamily="34" charset="0"/>
                          <a:cs typeface="Tahoma"/>
                        </a:rPr>
                        <a:t> </a:t>
                      </a:r>
                      <a:r>
                        <a:rPr lang="en-GB" sz="1400" spc="180">
                          <a:solidFill>
                            <a:srgbClr val="54535A"/>
                          </a:solidFill>
                          <a:latin typeface="Century Gothic" panose="020B0502020202020204" pitchFamily="34" charset="0"/>
                          <a:cs typeface="Tahoma"/>
                        </a:rPr>
                        <a:t>Managed</a:t>
                      </a:r>
                      <a:r>
                        <a:rPr lang="en-GB" sz="1400" spc="-25">
                          <a:solidFill>
                            <a:srgbClr val="54535A"/>
                          </a:solidFill>
                          <a:latin typeface="Century Gothic" panose="020B0502020202020204" pitchFamily="34" charset="0"/>
                          <a:cs typeface="Tahoma"/>
                        </a:rPr>
                        <a:t> </a:t>
                      </a:r>
                      <a:r>
                        <a:rPr lang="en-GB" sz="1400" spc="35">
                          <a:solidFill>
                            <a:srgbClr val="54535A"/>
                          </a:solidFill>
                          <a:latin typeface="Century Gothic" panose="020B0502020202020204" pitchFamily="34" charset="0"/>
                          <a:cs typeface="Tahoma"/>
                        </a:rPr>
                        <a:t>Security </a:t>
                      </a:r>
                      <a:r>
                        <a:rPr lang="en-GB" sz="1400">
                          <a:solidFill>
                            <a:srgbClr val="54535A"/>
                          </a:solidFill>
                          <a:latin typeface="Century Gothic" panose="020B0502020202020204" pitchFamily="34" charset="0"/>
                          <a:cs typeface="Tahoma"/>
                        </a:rPr>
                        <a:t>Services,</a:t>
                      </a:r>
                      <a:r>
                        <a:rPr lang="en-GB" sz="1400" spc="80">
                          <a:solidFill>
                            <a:srgbClr val="54535A"/>
                          </a:solidFill>
                          <a:latin typeface="Century Gothic" panose="020B0502020202020204" pitchFamily="34" charset="0"/>
                          <a:cs typeface="Tahoma"/>
                        </a:rPr>
                        <a:t> </a:t>
                      </a:r>
                      <a:r>
                        <a:rPr lang="en-GB" sz="1400" spc="75">
                          <a:solidFill>
                            <a:srgbClr val="54535A"/>
                          </a:solidFill>
                          <a:latin typeface="Century Gothic" panose="020B0502020202020204" pitchFamily="34" charset="0"/>
                          <a:cs typeface="Tahoma"/>
                        </a:rPr>
                        <a:t>Penetration</a:t>
                      </a:r>
                      <a:r>
                        <a:rPr lang="en-GB" sz="1400" spc="105">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Testing,</a:t>
                      </a:r>
                      <a:r>
                        <a:rPr lang="en-GB" sz="1400" spc="90">
                          <a:solidFill>
                            <a:srgbClr val="54535A"/>
                          </a:solidFill>
                          <a:latin typeface="Century Gothic" panose="020B0502020202020204" pitchFamily="34" charset="0"/>
                          <a:cs typeface="Tahoma"/>
                        </a:rPr>
                        <a:t> </a:t>
                      </a:r>
                      <a:r>
                        <a:rPr lang="en-GB" sz="1400" spc="45">
                          <a:solidFill>
                            <a:srgbClr val="54535A"/>
                          </a:solidFill>
                          <a:latin typeface="Century Gothic" panose="020B0502020202020204" pitchFamily="34" charset="0"/>
                          <a:cs typeface="Tahoma"/>
                        </a:rPr>
                        <a:t>Digital </a:t>
                      </a:r>
                      <a:r>
                        <a:rPr lang="en-GB" sz="1400">
                          <a:solidFill>
                            <a:srgbClr val="54535A"/>
                          </a:solidFill>
                          <a:latin typeface="Century Gothic" panose="020B0502020202020204" pitchFamily="34" charset="0"/>
                          <a:cs typeface="Tahoma"/>
                        </a:rPr>
                        <a:t>Forensics</a:t>
                      </a:r>
                      <a:r>
                        <a:rPr lang="en-GB" sz="1400" spc="20">
                          <a:solidFill>
                            <a:srgbClr val="54535A"/>
                          </a:solidFill>
                          <a:latin typeface="Century Gothic" panose="020B0502020202020204" pitchFamily="34" charset="0"/>
                          <a:cs typeface="Tahoma"/>
                        </a:rPr>
                        <a:t> </a:t>
                      </a:r>
                      <a:r>
                        <a:rPr lang="en-GB" sz="1400" spc="165">
                          <a:solidFill>
                            <a:srgbClr val="54535A"/>
                          </a:solidFill>
                          <a:latin typeface="Century Gothic" panose="020B0502020202020204" pitchFamily="34" charset="0"/>
                          <a:cs typeface="Tahoma"/>
                        </a:rPr>
                        <a:t>and</a:t>
                      </a:r>
                      <a:r>
                        <a:rPr lang="en-GB" sz="1400" spc="40">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Incident</a:t>
                      </a:r>
                      <a:r>
                        <a:rPr lang="en-GB" sz="1400">
                          <a:solidFill>
                            <a:srgbClr val="54535A"/>
                          </a:solidFill>
                          <a:latin typeface="Century Gothic" panose="020B0502020202020204" pitchFamily="34" charset="0"/>
                          <a:cs typeface="Tahoma"/>
                        </a:rPr>
                        <a:t> </a:t>
                      </a:r>
                      <a:r>
                        <a:rPr lang="en-GB" sz="1400" spc="60">
                          <a:solidFill>
                            <a:srgbClr val="54535A"/>
                          </a:solidFill>
                          <a:latin typeface="Century Gothic" panose="020B0502020202020204" pitchFamily="34" charset="0"/>
                          <a:cs typeface="Tahoma"/>
                        </a:rPr>
                        <a:t>Response.</a:t>
                      </a:r>
                      <a:r>
                        <a:rPr lang="en-GB" sz="1400" spc="25">
                          <a:solidFill>
                            <a:srgbClr val="54535A"/>
                          </a:solidFill>
                          <a:latin typeface="Century Gothic" panose="020B0502020202020204" pitchFamily="34" charset="0"/>
                          <a:cs typeface="Tahoma"/>
                        </a:rPr>
                        <a:t> </a:t>
                      </a:r>
                      <a:r>
                        <a:rPr lang="en-GB" sz="1400" spc="-10">
                          <a:solidFill>
                            <a:srgbClr val="54535A"/>
                          </a:solidFill>
                          <a:latin typeface="Century Gothic" panose="020B0502020202020204" pitchFamily="34" charset="0"/>
                          <a:cs typeface="Tahoma"/>
                        </a:rPr>
                        <a:t>Virtual </a:t>
                      </a:r>
                      <a:r>
                        <a:rPr lang="en-GB" sz="1400" spc="60">
                          <a:solidFill>
                            <a:srgbClr val="54535A"/>
                          </a:solidFill>
                          <a:latin typeface="Century Gothic" panose="020B0502020202020204" pitchFamily="34" charset="0"/>
                          <a:cs typeface="Tahoma"/>
                        </a:rPr>
                        <a:t>CISO</a:t>
                      </a:r>
                      <a:r>
                        <a:rPr lang="en-GB" sz="1400" spc="-85">
                          <a:solidFill>
                            <a:srgbClr val="54535A"/>
                          </a:solidFill>
                          <a:latin typeface="Century Gothic" panose="020B0502020202020204" pitchFamily="34" charset="0"/>
                          <a:cs typeface="Tahoma"/>
                        </a:rPr>
                        <a:t> </a:t>
                      </a:r>
                      <a:r>
                        <a:rPr lang="en-GB" sz="1400" spc="40">
                          <a:solidFill>
                            <a:srgbClr val="54535A"/>
                          </a:solidFill>
                          <a:latin typeface="Century Gothic" panose="020B0502020202020204" pitchFamily="34" charset="0"/>
                          <a:cs typeface="Tahoma"/>
                        </a:rPr>
                        <a:t>Services</a:t>
                      </a:r>
                      <a:endParaRPr lang="en-GB" sz="1400">
                        <a:latin typeface="Century Gothic" panose="020B0502020202020204" pitchFamily="34" charset="0"/>
                        <a:cs typeface="Tahoma"/>
                      </a:endParaRPr>
                    </a:p>
                  </a:txBody>
                  <a:tcPr marL="0" marR="0" marT="29209"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380"/>
                        </a:spcBef>
                      </a:pPr>
                      <a:endParaRPr lang="en-GB" sz="1400">
                        <a:latin typeface="Century Gothic" panose="020B0502020202020204" pitchFamily="34" charset="0"/>
                        <a:cs typeface="Times New Roman"/>
                      </a:endParaRPr>
                    </a:p>
                    <a:p>
                      <a:pPr marL="261620" marR="1065530" indent="-169545">
                        <a:lnSpc>
                          <a:spcPct val="100000"/>
                        </a:lnSpc>
                        <a:buFont typeface="Arial MT"/>
                        <a:buChar char="•"/>
                        <a:tabLst>
                          <a:tab pos="262890" algn="l"/>
                        </a:tabLst>
                      </a:pPr>
                      <a:r>
                        <a:rPr lang="en-GB" sz="1400" spc="70">
                          <a:solidFill>
                            <a:srgbClr val="54535A"/>
                          </a:solidFill>
                          <a:latin typeface="Century Gothic" panose="020B0502020202020204" pitchFamily="34" charset="0"/>
                          <a:cs typeface="Tahoma"/>
                        </a:rPr>
                        <a:t>Level</a:t>
                      </a:r>
                      <a:r>
                        <a:rPr lang="en-GB" sz="1400" spc="-100">
                          <a:solidFill>
                            <a:srgbClr val="54535A"/>
                          </a:solidFill>
                          <a:latin typeface="Century Gothic" panose="020B0502020202020204" pitchFamily="34" charset="0"/>
                          <a:cs typeface="Tahoma"/>
                        </a:rPr>
                        <a:t> </a:t>
                      </a:r>
                      <a:r>
                        <a:rPr lang="en-GB" sz="1400">
                          <a:solidFill>
                            <a:srgbClr val="54535A"/>
                          </a:solidFill>
                          <a:latin typeface="Century Gothic" panose="020B0502020202020204" pitchFamily="34" charset="0"/>
                          <a:cs typeface="Tahoma"/>
                        </a:rPr>
                        <a:t>1</a:t>
                      </a:r>
                      <a:r>
                        <a:rPr lang="en-GB" sz="1400" spc="-65">
                          <a:solidFill>
                            <a:srgbClr val="54535A"/>
                          </a:solidFill>
                          <a:latin typeface="Century Gothic" panose="020B0502020202020204" pitchFamily="34" charset="0"/>
                          <a:cs typeface="Tahoma"/>
                        </a:rPr>
                        <a:t> </a:t>
                      </a:r>
                      <a:r>
                        <a:rPr lang="en-GB" sz="1400" spc="85">
                          <a:solidFill>
                            <a:srgbClr val="54535A"/>
                          </a:solidFill>
                          <a:latin typeface="Century Gothic" panose="020B0502020202020204" pitchFamily="34" charset="0"/>
                          <a:cs typeface="Tahoma"/>
                        </a:rPr>
                        <a:t>to</a:t>
                      </a:r>
                      <a:r>
                        <a:rPr lang="en-GB" sz="1400" spc="-55">
                          <a:solidFill>
                            <a:srgbClr val="54535A"/>
                          </a:solidFill>
                          <a:latin typeface="Century Gothic" panose="020B0502020202020204" pitchFamily="34" charset="0"/>
                          <a:cs typeface="Tahoma"/>
                        </a:rPr>
                        <a:t> </a:t>
                      </a:r>
                      <a:r>
                        <a:rPr lang="en-GB" sz="1400" spc="70">
                          <a:solidFill>
                            <a:srgbClr val="54535A"/>
                          </a:solidFill>
                          <a:latin typeface="Century Gothic" panose="020B0502020202020204" pitchFamily="34" charset="0"/>
                          <a:cs typeface="Tahoma"/>
                        </a:rPr>
                        <a:t>Level</a:t>
                      </a:r>
                      <a:r>
                        <a:rPr lang="en-GB" sz="1400" spc="-95">
                          <a:solidFill>
                            <a:srgbClr val="54535A"/>
                          </a:solidFill>
                          <a:latin typeface="Century Gothic" panose="020B0502020202020204" pitchFamily="34" charset="0"/>
                          <a:cs typeface="Tahoma"/>
                        </a:rPr>
                        <a:t> </a:t>
                      </a:r>
                      <a:r>
                        <a:rPr lang="en-GB" sz="1400" spc="-50">
                          <a:solidFill>
                            <a:srgbClr val="54535A"/>
                          </a:solidFill>
                          <a:latin typeface="Century Gothic" panose="020B0502020202020204" pitchFamily="34" charset="0"/>
                          <a:cs typeface="Tahoma"/>
                        </a:rPr>
                        <a:t>3 	</a:t>
                      </a:r>
                      <a:r>
                        <a:rPr lang="en-GB" sz="1400" spc="65">
                          <a:solidFill>
                            <a:srgbClr val="54535A"/>
                          </a:solidFill>
                          <a:latin typeface="Century Gothic" panose="020B0502020202020204" pitchFamily="34" charset="0"/>
                          <a:cs typeface="Tahoma"/>
                        </a:rPr>
                        <a:t>Technology 	</a:t>
                      </a:r>
                      <a:r>
                        <a:rPr lang="en-GB" sz="1400" spc="45">
                          <a:solidFill>
                            <a:srgbClr val="54535A"/>
                          </a:solidFill>
                          <a:latin typeface="Century Gothic" panose="020B0502020202020204" pitchFamily="34" charset="0"/>
                          <a:cs typeface="Tahoma"/>
                        </a:rPr>
                        <a:t>Certifications</a:t>
                      </a:r>
                      <a:endParaRPr lang="en-GB" sz="1400">
                        <a:latin typeface="Century Gothic" panose="020B0502020202020204" pitchFamily="34" charset="0"/>
                        <a:cs typeface="Tahoma"/>
                      </a:endParaRPr>
                    </a:p>
                  </a:txBody>
                  <a:tcPr marL="0" marR="0" marT="4826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9505" y="186589"/>
            <a:ext cx="2709948" cy="381601"/>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10">
                <a:latin typeface="Century Gothic" panose="020B0502020202020204" pitchFamily="34" charset="0"/>
              </a:rPr>
              <a:t>Technical</a:t>
            </a:r>
            <a:r>
              <a:rPr lang="en-US" spc="-165">
                <a:latin typeface="Century Gothic" panose="020B0502020202020204" pitchFamily="34" charset="0"/>
              </a:rPr>
              <a:t> </a:t>
            </a:r>
            <a:r>
              <a:rPr lang="en-US" spc="-185">
                <a:latin typeface="Century Gothic" panose="020B0502020202020204" pitchFamily="34" charset="0"/>
              </a:rPr>
              <a:t>Skills:</a:t>
            </a:r>
            <a:r>
              <a:rPr lang="en-US" spc="-45">
                <a:latin typeface="Century Gothic" panose="020B0502020202020204" pitchFamily="34" charset="0"/>
              </a:rPr>
              <a:t> </a:t>
            </a:r>
            <a:r>
              <a:rPr lang="en-US" spc="-155">
                <a:latin typeface="Century Gothic" panose="020B0502020202020204" pitchFamily="34" charset="0"/>
              </a:rPr>
              <a:t>Heirs</a:t>
            </a:r>
            <a:r>
              <a:rPr lang="en-US" spc="-35">
                <a:latin typeface="Century Gothic" panose="020B0502020202020204" pitchFamily="34" charset="0"/>
              </a:rPr>
              <a:t> </a:t>
            </a:r>
            <a:r>
              <a:rPr lang="en-US" spc="-45">
                <a:latin typeface="Century Gothic" panose="020B0502020202020204" pitchFamily="34" charset="0"/>
              </a:rPr>
              <a:t>Technologies,</a:t>
            </a:r>
            <a:r>
              <a:rPr lang="en-US" spc="-70">
                <a:latin typeface="Century Gothic" panose="020B0502020202020204" pitchFamily="34" charset="0"/>
              </a:rPr>
              <a:t> </a:t>
            </a:r>
            <a:r>
              <a:rPr lang="en-US" spc="-40">
                <a:latin typeface="Century Gothic" panose="020B0502020202020204" pitchFamily="34" charset="0"/>
              </a:rPr>
              <a:t>Nigeria</a:t>
            </a:r>
            <a:r>
              <a:rPr lang="en-US" spc="-85">
                <a:latin typeface="Century Gothic" panose="020B0502020202020204" pitchFamily="34" charset="0"/>
              </a:rPr>
              <a:t> </a:t>
            </a:r>
            <a:r>
              <a:rPr lang="en-US" spc="-285">
                <a:latin typeface="Century Gothic" panose="020B0502020202020204" pitchFamily="34" charset="0"/>
              </a:rPr>
              <a:t>[3/3]</a:t>
            </a:r>
          </a:p>
        </p:txBody>
      </p:sp>
      <p:sp>
        <p:nvSpPr>
          <p:cNvPr id="5" name="object 5"/>
          <p:cNvSpPr txBox="1"/>
          <p:nvPr/>
        </p:nvSpPr>
        <p:spPr>
          <a:xfrm>
            <a:off x="9034398" y="6528705"/>
            <a:ext cx="2813685" cy="197485"/>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11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aphicFrame>
        <p:nvGraphicFramePr>
          <p:cNvPr id="4" name="object 4"/>
          <p:cNvGraphicFramePr>
            <a:graphicFrameLocks noGrp="1"/>
          </p:cNvGraphicFramePr>
          <p:nvPr/>
        </p:nvGraphicFramePr>
        <p:xfrm>
          <a:off x="379082" y="1071372"/>
          <a:ext cx="11132184" cy="3197860"/>
        </p:xfrm>
        <a:graphic>
          <a:graphicData uri="http://schemas.openxmlformats.org/drawingml/2006/table">
            <a:tbl>
              <a:tblPr firstRow="1" bandRow="1">
                <a:tableStyleId>{2D5ABB26-0587-4C30-8999-92F81FD0307C}</a:tableStyleId>
              </a:tblPr>
              <a:tblGrid>
                <a:gridCol w="1487170">
                  <a:extLst>
                    <a:ext uri="{9D8B030D-6E8A-4147-A177-3AD203B41FA5}">
                      <a16:colId xmlns:a16="http://schemas.microsoft.com/office/drawing/2014/main" val="20000"/>
                    </a:ext>
                  </a:extLst>
                </a:gridCol>
                <a:gridCol w="4311014">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315595">
                <a:tc>
                  <a:txBody>
                    <a:bodyPr/>
                    <a:lstStyle/>
                    <a:p>
                      <a:pPr marL="91440">
                        <a:lnSpc>
                          <a:spcPct val="100000"/>
                        </a:lnSpc>
                        <a:spcBef>
                          <a:spcPts val="430"/>
                        </a:spcBef>
                      </a:pPr>
                      <a:r>
                        <a:rPr lang="en-GB" sz="1500" b="1" spc="-10">
                          <a:solidFill>
                            <a:srgbClr val="FFFFFF"/>
                          </a:solidFill>
                          <a:latin typeface="Century Gothic" panose="020B0502020202020204" pitchFamily="34" charset="0"/>
                          <a:cs typeface="Tahoma"/>
                        </a:rPr>
                        <a:t>Roles</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1440">
                        <a:lnSpc>
                          <a:spcPct val="100000"/>
                        </a:lnSpc>
                        <a:spcBef>
                          <a:spcPts val="430"/>
                        </a:spcBef>
                      </a:pPr>
                      <a:r>
                        <a:rPr lang="en-GB" sz="1500" b="1" spc="-35">
                          <a:solidFill>
                            <a:srgbClr val="FFFFFF"/>
                          </a:solidFill>
                          <a:latin typeface="Century Gothic" panose="020B0502020202020204" pitchFamily="34" charset="0"/>
                          <a:cs typeface="Tahoma"/>
                        </a:rPr>
                        <a:t>Tech</a:t>
                      </a:r>
                      <a:r>
                        <a:rPr lang="en-GB" sz="1500" b="1" spc="-50">
                          <a:solidFill>
                            <a:srgbClr val="FFFFFF"/>
                          </a:solidFill>
                          <a:latin typeface="Century Gothic" panose="020B0502020202020204" pitchFamily="34" charset="0"/>
                          <a:cs typeface="Tahoma"/>
                        </a:rPr>
                        <a:t> </a:t>
                      </a:r>
                      <a:r>
                        <a:rPr lang="en-GB" sz="1500" b="1" spc="-10">
                          <a:solidFill>
                            <a:srgbClr val="FFFFFF"/>
                          </a:solidFill>
                          <a:latin typeface="Century Gothic" panose="020B0502020202020204" pitchFamily="34" charset="0"/>
                          <a:cs typeface="Tahoma"/>
                        </a:rPr>
                        <a:t>Stack</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tc>
                  <a:txBody>
                    <a:bodyPr/>
                    <a:lstStyle/>
                    <a:p>
                      <a:pPr marL="92075">
                        <a:lnSpc>
                          <a:spcPct val="100000"/>
                        </a:lnSpc>
                        <a:spcBef>
                          <a:spcPts val="430"/>
                        </a:spcBef>
                      </a:pPr>
                      <a:r>
                        <a:rPr lang="en-GB" sz="1500" b="1" spc="-10">
                          <a:solidFill>
                            <a:srgbClr val="FFFFFF"/>
                          </a:solidFill>
                          <a:latin typeface="Century Gothic" panose="020B0502020202020204" pitchFamily="34" charset="0"/>
                          <a:cs typeface="Tahoma"/>
                        </a:rPr>
                        <a:t>Expertise</a:t>
                      </a:r>
                      <a:endParaRPr lang="en-GB" sz="1500">
                        <a:latin typeface="Century Gothic" panose="020B0502020202020204" pitchFamily="34" charset="0"/>
                        <a:cs typeface="Tahoma"/>
                      </a:endParaRPr>
                    </a:p>
                  </a:txBody>
                  <a:tcPr marL="0" marR="0" marT="5461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solidFill>
                      <a:srgbClr val="808080"/>
                    </a:solidFill>
                  </a:tcPr>
                </a:tc>
                <a:extLst>
                  <a:ext uri="{0D108BD9-81ED-4DB2-BD59-A6C34878D82A}">
                    <a16:rowId xmlns:a16="http://schemas.microsoft.com/office/drawing/2014/main" val="10000"/>
                  </a:ext>
                </a:extLst>
              </a:tr>
              <a:tr h="1458595">
                <a:tc>
                  <a:txBody>
                    <a:bodyPr/>
                    <a:lstStyle/>
                    <a:p>
                      <a:pPr>
                        <a:lnSpc>
                          <a:spcPct val="100000"/>
                        </a:lnSpc>
                      </a:pPr>
                      <a:endParaRPr lang="en-GB" sz="1500">
                        <a:latin typeface="Century Gothic" panose="020B0502020202020204" pitchFamily="34" charset="0"/>
                        <a:cs typeface="Times New Roman"/>
                      </a:endParaRPr>
                    </a:p>
                    <a:p>
                      <a:pPr>
                        <a:lnSpc>
                          <a:spcPct val="100000"/>
                        </a:lnSpc>
                        <a:spcBef>
                          <a:spcPts val="1125"/>
                        </a:spcBef>
                      </a:pPr>
                      <a:endParaRPr lang="en-GB" sz="1500">
                        <a:latin typeface="Century Gothic" panose="020B0502020202020204" pitchFamily="34" charset="0"/>
                        <a:cs typeface="Times New Roman"/>
                      </a:endParaRPr>
                    </a:p>
                    <a:p>
                      <a:pPr marL="91440">
                        <a:lnSpc>
                          <a:spcPct val="100000"/>
                        </a:lnSpc>
                      </a:pPr>
                      <a:r>
                        <a:rPr lang="en-GB" sz="1500" b="1" spc="-10">
                          <a:solidFill>
                            <a:srgbClr val="52535B"/>
                          </a:solidFill>
                          <a:latin typeface="Century Gothic" panose="020B0502020202020204" pitchFamily="34" charset="0"/>
                          <a:cs typeface="Tahoma"/>
                        </a:rPr>
                        <a:t>Application</a:t>
                      </a:r>
                      <a:endParaRPr lang="en-GB" sz="1500">
                        <a:latin typeface="Century Gothic" panose="020B0502020202020204" pitchFamily="34" charset="0"/>
                        <a:cs typeface="Tahoma"/>
                      </a:endParaRPr>
                    </a:p>
                    <a:p>
                      <a:pPr marL="91440">
                        <a:lnSpc>
                          <a:spcPct val="100000"/>
                        </a:lnSpc>
                      </a:pPr>
                      <a:r>
                        <a:rPr lang="en-GB" sz="1500" b="1" spc="-10">
                          <a:solidFill>
                            <a:srgbClr val="52535B"/>
                          </a:solidFill>
                          <a:latin typeface="Century Gothic" panose="020B0502020202020204" pitchFamily="34" charset="0"/>
                          <a:cs typeface="Tahoma"/>
                        </a:rPr>
                        <a:t>Developers</a:t>
                      </a:r>
                      <a:endParaRPr lang="en-GB" sz="15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170"/>
                        </a:spcBef>
                      </a:pPr>
                      <a:endParaRPr lang="en-GB" sz="1500">
                        <a:latin typeface="Century Gothic" panose="020B0502020202020204" pitchFamily="34" charset="0"/>
                        <a:cs typeface="Times New Roman"/>
                      </a:endParaRPr>
                    </a:p>
                    <a:p>
                      <a:pPr marL="91440">
                        <a:lnSpc>
                          <a:spcPct val="100000"/>
                        </a:lnSpc>
                      </a:pPr>
                      <a:r>
                        <a:rPr lang="en-GB" sz="1500" spc="85">
                          <a:solidFill>
                            <a:srgbClr val="54535A"/>
                          </a:solidFill>
                          <a:latin typeface="Century Gothic" panose="020B0502020202020204" pitchFamily="34" charset="0"/>
                          <a:cs typeface="Tahoma"/>
                        </a:rPr>
                        <a:t>C#,</a:t>
                      </a:r>
                      <a:r>
                        <a:rPr lang="en-GB" sz="1500" spc="-35">
                          <a:solidFill>
                            <a:srgbClr val="54535A"/>
                          </a:solidFill>
                          <a:latin typeface="Century Gothic" panose="020B0502020202020204" pitchFamily="34" charset="0"/>
                          <a:cs typeface="Tahoma"/>
                        </a:rPr>
                        <a:t> </a:t>
                      </a:r>
                      <a:r>
                        <a:rPr lang="en-GB" sz="1500" spc="114">
                          <a:solidFill>
                            <a:srgbClr val="54535A"/>
                          </a:solidFill>
                          <a:latin typeface="Century Gothic" panose="020B0502020202020204" pitchFamily="34" charset="0"/>
                          <a:cs typeface="Tahoma"/>
                        </a:rPr>
                        <a:t>Java,</a:t>
                      </a:r>
                      <a:r>
                        <a:rPr lang="en-GB" sz="1500" spc="-1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Spring</a:t>
                      </a:r>
                      <a:r>
                        <a:rPr lang="en-GB" sz="1500" spc="-25">
                          <a:solidFill>
                            <a:srgbClr val="54535A"/>
                          </a:solidFill>
                          <a:latin typeface="Century Gothic" panose="020B0502020202020204" pitchFamily="34" charset="0"/>
                          <a:cs typeface="Tahoma"/>
                        </a:rPr>
                        <a:t> </a:t>
                      </a:r>
                      <a:r>
                        <a:rPr lang="en-GB" sz="1500" spc="155">
                          <a:solidFill>
                            <a:srgbClr val="54535A"/>
                          </a:solidFill>
                          <a:latin typeface="Century Gothic" panose="020B0502020202020204" pitchFamily="34" charset="0"/>
                          <a:cs typeface="Tahoma"/>
                        </a:rPr>
                        <a:t>MVC,</a:t>
                      </a:r>
                      <a:r>
                        <a:rPr lang="en-GB" sz="1500" spc="-15">
                          <a:solidFill>
                            <a:srgbClr val="54535A"/>
                          </a:solidFill>
                          <a:latin typeface="Century Gothic" panose="020B0502020202020204" pitchFamily="34" charset="0"/>
                          <a:cs typeface="Tahoma"/>
                        </a:rPr>
                        <a:t> </a:t>
                      </a:r>
                      <a:r>
                        <a:rPr lang="en-GB" sz="1500" spc="55">
                          <a:solidFill>
                            <a:srgbClr val="54535A"/>
                          </a:solidFill>
                          <a:latin typeface="Century Gothic" panose="020B0502020202020204" pitchFamily="34" charset="0"/>
                          <a:cs typeface="Tahoma"/>
                        </a:rPr>
                        <a:t>ASP</a:t>
                      </a:r>
                      <a:r>
                        <a:rPr lang="en-GB" sz="1500" spc="-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.NET</a:t>
                      </a:r>
                      <a:r>
                        <a:rPr lang="en-GB" sz="1500" spc="-15">
                          <a:solidFill>
                            <a:srgbClr val="54535A"/>
                          </a:solidFill>
                          <a:latin typeface="Century Gothic" panose="020B0502020202020204" pitchFamily="34" charset="0"/>
                          <a:cs typeface="Tahoma"/>
                        </a:rPr>
                        <a:t> </a:t>
                      </a:r>
                      <a:r>
                        <a:rPr lang="en-GB" sz="1500" spc="155">
                          <a:solidFill>
                            <a:srgbClr val="54535A"/>
                          </a:solidFill>
                          <a:latin typeface="Century Gothic" panose="020B0502020202020204" pitchFamily="34" charset="0"/>
                          <a:cs typeface="Tahoma"/>
                        </a:rPr>
                        <a:t>MVC,</a:t>
                      </a:r>
                      <a:r>
                        <a:rPr lang="en-GB" sz="1500" spc="-15">
                          <a:solidFill>
                            <a:srgbClr val="54535A"/>
                          </a:solidFill>
                          <a:latin typeface="Century Gothic" panose="020B0502020202020204" pitchFamily="34" charset="0"/>
                          <a:cs typeface="Tahoma"/>
                        </a:rPr>
                        <a:t> </a:t>
                      </a:r>
                      <a:r>
                        <a:rPr lang="en-GB" sz="1500" spc="-20">
                          <a:solidFill>
                            <a:srgbClr val="54535A"/>
                          </a:solidFill>
                          <a:latin typeface="Century Gothic" panose="020B0502020202020204" pitchFamily="34" charset="0"/>
                          <a:cs typeface="Tahoma"/>
                        </a:rPr>
                        <a:t>.NET</a:t>
                      </a:r>
                      <a:endParaRPr lang="en-GB" sz="1500">
                        <a:latin typeface="Century Gothic" panose="020B0502020202020204" pitchFamily="34" charset="0"/>
                        <a:cs typeface="Tahoma"/>
                      </a:endParaRPr>
                    </a:p>
                    <a:p>
                      <a:pPr marL="91440" marR="200025">
                        <a:lnSpc>
                          <a:spcPct val="100000"/>
                        </a:lnSpc>
                        <a:spcBef>
                          <a:spcPts val="5"/>
                        </a:spcBef>
                      </a:pPr>
                      <a:r>
                        <a:rPr lang="en-GB" sz="1500" spc="105">
                          <a:solidFill>
                            <a:srgbClr val="54535A"/>
                          </a:solidFill>
                          <a:latin typeface="Century Gothic" panose="020B0502020202020204" pitchFamily="34" charset="0"/>
                          <a:cs typeface="Tahoma"/>
                        </a:rPr>
                        <a:t>Core,</a:t>
                      </a:r>
                      <a:r>
                        <a:rPr lang="en-GB" sz="1500" spc="-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SQL</a:t>
                      </a:r>
                      <a:r>
                        <a:rPr lang="en-GB" sz="1500" spc="-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Server,</a:t>
                      </a:r>
                      <a:r>
                        <a:rPr lang="en-GB" sz="1500" spc="-25">
                          <a:solidFill>
                            <a:srgbClr val="54535A"/>
                          </a:solidFill>
                          <a:latin typeface="Century Gothic" panose="020B0502020202020204" pitchFamily="34" charset="0"/>
                          <a:cs typeface="Tahoma"/>
                        </a:rPr>
                        <a:t> </a:t>
                      </a:r>
                      <a:r>
                        <a:rPr lang="en-GB" sz="1500" spc="110">
                          <a:solidFill>
                            <a:srgbClr val="54535A"/>
                          </a:solidFill>
                          <a:latin typeface="Century Gothic" panose="020B0502020202020204" pitchFamily="34" charset="0"/>
                          <a:cs typeface="Tahoma"/>
                        </a:rPr>
                        <a:t>SOA</a:t>
                      </a:r>
                      <a:r>
                        <a:rPr lang="en-GB" sz="1500" spc="-5">
                          <a:solidFill>
                            <a:srgbClr val="54535A"/>
                          </a:solidFill>
                          <a:latin typeface="Century Gothic" panose="020B0502020202020204" pitchFamily="34" charset="0"/>
                          <a:cs typeface="Tahoma"/>
                        </a:rPr>
                        <a:t> </a:t>
                      </a:r>
                      <a:r>
                        <a:rPr lang="en-GB" sz="1500" spc="105">
                          <a:solidFill>
                            <a:srgbClr val="54535A"/>
                          </a:solidFill>
                          <a:latin typeface="Century Gothic" panose="020B0502020202020204" pitchFamily="34" charset="0"/>
                          <a:cs typeface="Tahoma"/>
                        </a:rPr>
                        <a:t>development,</a:t>
                      </a:r>
                      <a:r>
                        <a:rPr lang="en-GB" sz="1500" spc="5">
                          <a:solidFill>
                            <a:srgbClr val="54535A"/>
                          </a:solidFill>
                          <a:latin typeface="Century Gothic" panose="020B0502020202020204" pitchFamily="34" charset="0"/>
                          <a:cs typeface="Tahoma"/>
                        </a:rPr>
                        <a:t> </a:t>
                      </a:r>
                      <a:r>
                        <a:rPr lang="en-GB" sz="1500" spc="-20">
                          <a:solidFill>
                            <a:srgbClr val="54535A"/>
                          </a:solidFill>
                          <a:latin typeface="Century Gothic" panose="020B0502020202020204" pitchFamily="34" charset="0"/>
                          <a:cs typeface="Tahoma"/>
                        </a:rPr>
                        <a:t>XML, </a:t>
                      </a:r>
                      <a:r>
                        <a:rPr lang="en-GB" sz="1500" spc="70">
                          <a:solidFill>
                            <a:srgbClr val="54535A"/>
                          </a:solidFill>
                          <a:latin typeface="Century Gothic" panose="020B0502020202020204" pitchFamily="34" charset="0"/>
                          <a:cs typeface="Tahoma"/>
                        </a:rPr>
                        <a:t>Angular,</a:t>
                      </a:r>
                      <a:r>
                        <a:rPr lang="en-GB" sz="1500">
                          <a:solidFill>
                            <a:srgbClr val="54535A"/>
                          </a:solidFill>
                          <a:latin typeface="Century Gothic" panose="020B0502020202020204" pitchFamily="34" charset="0"/>
                          <a:cs typeface="Tahoma"/>
                        </a:rPr>
                        <a:t> </a:t>
                      </a:r>
                      <a:r>
                        <a:rPr lang="en-GB" sz="1500" spc="-10">
                          <a:solidFill>
                            <a:srgbClr val="54535A"/>
                          </a:solidFill>
                          <a:latin typeface="Century Gothic" panose="020B0502020202020204" pitchFamily="34" charset="0"/>
                          <a:cs typeface="Tahoma"/>
                        </a:rPr>
                        <a:t>HTML</a:t>
                      </a:r>
                      <a:r>
                        <a:rPr lang="en-GB" sz="1500" spc="20">
                          <a:solidFill>
                            <a:srgbClr val="54535A"/>
                          </a:solidFill>
                          <a:latin typeface="Century Gothic" panose="020B0502020202020204" pitchFamily="34" charset="0"/>
                          <a:cs typeface="Tahoma"/>
                        </a:rPr>
                        <a:t> </a:t>
                      </a:r>
                      <a:r>
                        <a:rPr lang="en-GB" sz="1500" spc="120">
                          <a:solidFill>
                            <a:srgbClr val="54535A"/>
                          </a:solidFill>
                          <a:latin typeface="Century Gothic" panose="020B0502020202020204" pitchFamily="34" charset="0"/>
                          <a:cs typeface="Tahoma"/>
                        </a:rPr>
                        <a:t>&amp;</a:t>
                      </a:r>
                      <a:r>
                        <a:rPr lang="en-GB" sz="1500" spc="20">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CSS,</a:t>
                      </a:r>
                      <a:r>
                        <a:rPr lang="en-GB" sz="1500" spc="30">
                          <a:solidFill>
                            <a:srgbClr val="54535A"/>
                          </a:solidFill>
                          <a:latin typeface="Century Gothic" panose="020B0502020202020204" pitchFamily="34" charset="0"/>
                          <a:cs typeface="Tahoma"/>
                        </a:rPr>
                        <a:t> </a:t>
                      </a:r>
                      <a:r>
                        <a:rPr lang="en-GB" sz="1500" spc="150">
                          <a:solidFill>
                            <a:srgbClr val="54535A"/>
                          </a:solidFill>
                          <a:latin typeface="Century Gothic" panose="020B0502020202020204" pitchFamily="34" charset="0"/>
                          <a:cs typeface="Tahoma"/>
                        </a:rPr>
                        <a:t>Web</a:t>
                      </a:r>
                      <a:r>
                        <a:rPr lang="en-GB" sz="1500" spc="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Services,</a:t>
                      </a:r>
                      <a:r>
                        <a:rPr lang="en-GB" sz="1500" spc="-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Service </a:t>
                      </a:r>
                      <a:r>
                        <a:rPr lang="en-GB" sz="1500" spc="120">
                          <a:solidFill>
                            <a:srgbClr val="54535A"/>
                          </a:solidFill>
                          <a:latin typeface="Century Gothic" panose="020B0502020202020204" pitchFamily="34" charset="0"/>
                          <a:cs typeface="Tahoma"/>
                        </a:rPr>
                        <a:t>&amp;</a:t>
                      </a:r>
                      <a:r>
                        <a:rPr lang="en-GB" sz="1500">
                          <a:solidFill>
                            <a:srgbClr val="54535A"/>
                          </a:solidFill>
                          <a:latin typeface="Century Gothic" panose="020B0502020202020204" pitchFamily="34" charset="0"/>
                          <a:cs typeface="Tahoma"/>
                        </a:rPr>
                        <a:t> Enterprise</a:t>
                      </a:r>
                      <a:r>
                        <a:rPr lang="en-GB" sz="1500" spc="-25">
                          <a:solidFill>
                            <a:srgbClr val="54535A"/>
                          </a:solidFill>
                          <a:latin typeface="Century Gothic" panose="020B0502020202020204" pitchFamily="34" charset="0"/>
                          <a:cs typeface="Tahoma"/>
                        </a:rPr>
                        <a:t> </a:t>
                      </a:r>
                      <a:r>
                        <a:rPr lang="en-GB" sz="1500" spc="95">
                          <a:solidFill>
                            <a:srgbClr val="54535A"/>
                          </a:solidFill>
                          <a:latin typeface="Century Gothic" panose="020B0502020202020204" pitchFamily="34" charset="0"/>
                          <a:cs typeface="Tahoma"/>
                        </a:rPr>
                        <a:t>Oriented</a:t>
                      </a:r>
                      <a:r>
                        <a:rPr lang="en-GB" sz="1500" spc="-30">
                          <a:solidFill>
                            <a:srgbClr val="54535A"/>
                          </a:solidFill>
                          <a:latin typeface="Century Gothic" panose="020B0502020202020204" pitchFamily="34" charset="0"/>
                          <a:cs typeface="Tahoma"/>
                        </a:rPr>
                        <a:t> </a:t>
                      </a:r>
                      <a:r>
                        <a:rPr lang="en-GB" sz="1500" spc="90">
                          <a:solidFill>
                            <a:srgbClr val="54535A"/>
                          </a:solidFill>
                          <a:latin typeface="Century Gothic" panose="020B0502020202020204" pitchFamily="34" charset="0"/>
                          <a:cs typeface="Tahoma"/>
                        </a:rPr>
                        <a:t>Architecture</a:t>
                      </a:r>
                      <a:r>
                        <a:rPr lang="en-GB" sz="1500" spc="-30">
                          <a:solidFill>
                            <a:srgbClr val="54535A"/>
                          </a:solidFill>
                          <a:latin typeface="Century Gothic" panose="020B0502020202020204" pitchFamily="34" charset="0"/>
                          <a:cs typeface="Tahoma"/>
                        </a:rPr>
                        <a:t> </a:t>
                      </a:r>
                      <a:r>
                        <a:rPr lang="en-GB" sz="1500" spc="80">
                          <a:solidFill>
                            <a:srgbClr val="54535A"/>
                          </a:solidFill>
                          <a:latin typeface="Century Gothic" panose="020B0502020202020204" pitchFamily="34" charset="0"/>
                          <a:cs typeface="Tahoma"/>
                        </a:rPr>
                        <a:t>/</a:t>
                      </a:r>
                      <a:r>
                        <a:rPr lang="en-GB" sz="1500" spc="-5">
                          <a:solidFill>
                            <a:srgbClr val="54535A"/>
                          </a:solidFill>
                          <a:latin typeface="Century Gothic" panose="020B0502020202020204" pitchFamily="34" charset="0"/>
                          <a:cs typeface="Tahoma"/>
                        </a:rPr>
                        <a:t> </a:t>
                      </a:r>
                      <a:r>
                        <a:rPr lang="en-GB" sz="1500" spc="-10">
                          <a:solidFill>
                            <a:srgbClr val="54535A"/>
                          </a:solidFill>
                          <a:latin typeface="Century Gothic" panose="020B0502020202020204" pitchFamily="34" charset="0"/>
                          <a:cs typeface="Tahoma"/>
                        </a:rPr>
                        <a:t>REST, </a:t>
                      </a:r>
                      <a:r>
                        <a:rPr lang="en-GB" sz="1500">
                          <a:solidFill>
                            <a:srgbClr val="54535A"/>
                          </a:solidFill>
                          <a:latin typeface="Century Gothic" panose="020B0502020202020204" pitchFamily="34" charset="0"/>
                          <a:cs typeface="Tahoma"/>
                        </a:rPr>
                        <a:t>API,</a:t>
                      </a:r>
                      <a:r>
                        <a:rPr lang="en-GB" sz="1500" spc="-6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PLSQL,</a:t>
                      </a:r>
                      <a:r>
                        <a:rPr lang="en-GB" sz="1500" spc="-45">
                          <a:solidFill>
                            <a:srgbClr val="54535A"/>
                          </a:solidFill>
                          <a:latin typeface="Century Gothic" panose="020B0502020202020204" pitchFamily="34" charset="0"/>
                          <a:cs typeface="Tahoma"/>
                        </a:rPr>
                        <a:t> </a:t>
                      </a:r>
                      <a:r>
                        <a:rPr lang="en-GB" sz="1500" spc="-85">
                          <a:solidFill>
                            <a:srgbClr val="54535A"/>
                          </a:solidFill>
                          <a:latin typeface="Century Gothic" panose="020B0502020202020204" pitchFamily="34" charset="0"/>
                          <a:cs typeface="Tahoma"/>
                        </a:rPr>
                        <a:t>BI,</a:t>
                      </a:r>
                      <a:r>
                        <a:rPr lang="en-GB" sz="1500" spc="-80">
                          <a:solidFill>
                            <a:srgbClr val="54535A"/>
                          </a:solidFill>
                          <a:latin typeface="Century Gothic" panose="020B0502020202020204" pitchFamily="34" charset="0"/>
                          <a:cs typeface="Tahoma"/>
                        </a:rPr>
                        <a:t> </a:t>
                      </a:r>
                      <a:r>
                        <a:rPr lang="en-GB" sz="1500" spc="145">
                          <a:solidFill>
                            <a:srgbClr val="54535A"/>
                          </a:solidFill>
                          <a:latin typeface="Century Gothic" panose="020B0502020202020204" pitchFamily="34" charset="0"/>
                          <a:cs typeface="Tahoma"/>
                        </a:rPr>
                        <a:t>NewGen</a:t>
                      </a:r>
                      <a:endParaRPr lang="en-GB" sz="1500">
                        <a:latin typeface="Century Gothic" panose="020B0502020202020204" pitchFamily="34" charset="0"/>
                        <a:cs typeface="Tahoma"/>
                      </a:endParaRPr>
                    </a:p>
                  </a:txBody>
                  <a:tcPr marL="0" marR="0" marT="2159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spcBef>
                          <a:spcPts val="40"/>
                        </a:spcBef>
                      </a:pPr>
                      <a:endParaRPr lang="en-GB" sz="1500">
                        <a:latin typeface="Century Gothic" panose="020B0502020202020204" pitchFamily="34" charset="0"/>
                        <a:cs typeface="Times New Roman"/>
                      </a:endParaRPr>
                    </a:p>
                    <a:p>
                      <a:pPr marL="434975" marR="294005" indent="-343535">
                        <a:lnSpc>
                          <a:spcPct val="100000"/>
                        </a:lnSpc>
                        <a:buFont typeface="Arial MT"/>
                        <a:buChar char="•"/>
                        <a:tabLst>
                          <a:tab pos="434975" algn="l"/>
                        </a:tabLst>
                      </a:pPr>
                      <a:r>
                        <a:rPr lang="en-GB" sz="1500" spc="160">
                          <a:solidFill>
                            <a:srgbClr val="54535A"/>
                          </a:solidFill>
                          <a:latin typeface="Century Gothic" panose="020B0502020202020204" pitchFamily="34" charset="0"/>
                          <a:cs typeface="Tahoma"/>
                        </a:rPr>
                        <a:t>Deep</a:t>
                      </a:r>
                      <a:r>
                        <a:rPr lang="en-GB" sz="1500" spc="-30">
                          <a:solidFill>
                            <a:srgbClr val="54535A"/>
                          </a:solidFill>
                          <a:latin typeface="Century Gothic" panose="020B0502020202020204" pitchFamily="34" charset="0"/>
                          <a:cs typeface="Tahoma"/>
                        </a:rPr>
                        <a:t> </a:t>
                      </a:r>
                      <a:r>
                        <a:rPr lang="en-GB" sz="1500" spc="125">
                          <a:solidFill>
                            <a:srgbClr val="54535A"/>
                          </a:solidFill>
                          <a:latin typeface="Century Gothic" panose="020B0502020202020204" pitchFamily="34" charset="0"/>
                          <a:cs typeface="Tahoma"/>
                        </a:rPr>
                        <a:t>domain</a:t>
                      </a:r>
                      <a:r>
                        <a:rPr lang="en-GB" sz="1500" spc="-40">
                          <a:solidFill>
                            <a:srgbClr val="54535A"/>
                          </a:solidFill>
                          <a:latin typeface="Century Gothic" panose="020B0502020202020204" pitchFamily="34" charset="0"/>
                          <a:cs typeface="Tahoma"/>
                        </a:rPr>
                        <a:t> </a:t>
                      </a:r>
                      <a:r>
                        <a:rPr lang="en-GB" sz="1500" spc="50">
                          <a:solidFill>
                            <a:srgbClr val="54535A"/>
                          </a:solidFill>
                          <a:latin typeface="Century Gothic" panose="020B0502020202020204" pitchFamily="34" charset="0"/>
                          <a:cs typeface="Tahoma"/>
                        </a:rPr>
                        <a:t>expertise</a:t>
                      </a:r>
                      <a:r>
                        <a:rPr lang="en-GB" sz="1500" spc="-3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in</a:t>
                      </a:r>
                      <a:r>
                        <a:rPr lang="en-GB" sz="1500" spc="-40">
                          <a:solidFill>
                            <a:srgbClr val="54535A"/>
                          </a:solidFill>
                          <a:latin typeface="Century Gothic" panose="020B0502020202020204" pitchFamily="34" charset="0"/>
                          <a:cs typeface="Tahoma"/>
                        </a:rPr>
                        <a:t> </a:t>
                      </a:r>
                      <a:r>
                        <a:rPr lang="en-GB" sz="1500" spc="95">
                          <a:solidFill>
                            <a:srgbClr val="54535A"/>
                          </a:solidFill>
                          <a:latin typeface="Century Gothic" panose="020B0502020202020204" pitchFamily="34" charset="0"/>
                          <a:cs typeface="Tahoma"/>
                        </a:rPr>
                        <a:t>object-</a:t>
                      </a:r>
                      <a:r>
                        <a:rPr lang="en-GB" sz="1500" spc="85">
                          <a:solidFill>
                            <a:srgbClr val="54535A"/>
                          </a:solidFill>
                          <a:latin typeface="Century Gothic" panose="020B0502020202020204" pitchFamily="34" charset="0"/>
                          <a:cs typeface="Tahoma"/>
                        </a:rPr>
                        <a:t>oriented</a:t>
                      </a:r>
                      <a:r>
                        <a:rPr lang="en-GB" sz="1500" spc="-60">
                          <a:solidFill>
                            <a:srgbClr val="54535A"/>
                          </a:solidFill>
                          <a:latin typeface="Century Gothic" panose="020B0502020202020204" pitchFamily="34" charset="0"/>
                          <a:cs typeface="Tahoma"/>
                        </a:rPr>
                        <a:t> </a:t>
                      </a:r>
                      <a:r>
                        <a:rPr lang="en-GB" sz="1500" spc="50">
                          <a:solidFill>
                            <a:srgbClr val="54535A"/>
                          </a:solidFill>
                          <a:latin typeface="Century Gothic" panose="020B0502020202020204" pitchFamily="34" charset="0"/>
                          <a:cs typeface="Tahoma"/>
                        </a:rPr>
                        <a:t>design, </a:t>
                      </a:r>
                      <a:r>
                        <a:rPr lang="en-GB" sz="1500" spc="80">
                          <a:solidFill>
                            <a:srgbClr val="54535A"/>
                          </a:solidFill>
                          <a:latin typeface="Century Gothic" panose="020B0502020202020204" pitchFamily="34" charset="0"/>
                          <a:cs typeface="Tahoma"/>
                        </a:rPr>
                        <a:t>design</a:t>
                      </a:r>
                      <a:r>
                        <a:rPr lang="en-GB" sz="1500" spc="-3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patterns</a:t>
                      </a:r>
                      <a:r>
                        <a:rPr lang="en-GB" sz="1500" spc="-5">
                          <a:solidFill>
                            <a:srgbClr val="54535A"/>
                          </a:solidFill>
                          <a:latin typeface="Century Gothic" panose="020B0502020202020204" pitchFamily="34" charset="0"/>
                          <a:cs typeface="Tahoma"/>
                        </a:rPr>
                        <a:t> </a:t>
                      </a:r>
                      <a:r>
                        <a:rPr lang="en-GB" sz="1500" spc="165">
                          <a:solidFill>
                            <a:srgbClr val="54535A"/>
                          </a:solidFill>
                          <a:latin typeface="Century Gothic" panose="020B0502020202020204" pitchFamily="34" charset="0"/>
                          <a:cs typeface="Tahoma"/>
                        </a:rPr>
                        <a:t>and</a:t>
                      </a:r>
                      <a:r>
                        <a:rPr lang="en-GB" sz="1500" spc="-1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their</a:t>
                      </a:r>
                      <a:r>
                        <a:rPr lang="en-GB" sz="1500" spc="-25">
                          <a:solidFill>
                            <a:srgbClr val="54535A"/>
                          </a:solidFill>
                          <a:latin typeface="Century Gothic" panose="020B0502020202020204" pitchFamily="34" charset="0"/>
                          <a:cs typeface="Tahoma"/>
                        </a:rPr>
                        <a:t> </a:t>
                      </a:r>
                      <a:r>
                        <a:rPr lang="en-GB" sz="1500" spc="100">
                          <a:solidFill>
                            <a:srgbClr val="54535A"/>
                          </a:solidFill>
                          <a:latin typeface="Century Gothic" panose="020B0502020202020204" pitchFamily="34" charset="0"/>
                          <a:cs typeface="Tahoma"/>
                        </a:rPr>
                        <a:t>application,</a:t>
                      </a:r>
                      <a:r>
                        <a:rPr lang="en-GB" sz="1500" spc="-30">
                          <a:solidFill>
                            <a:srgbClr val="54535A"/>
                          </a:solidFill>
                          <a:latin typeface="Century Gothic" panose="020B0502020202020204" pitchFamily="34" charset="0"/>
                          <a:cs typeface="Tahoma"/>
                        </a:rPr>
                        <a:t> </a:t>
                      </a:r>
                      <a:r>
                        <a:rPr lang="en-GB" sz="1500" spc="105">
                          <a:solidFill>
                            <a:srgbClr val="54535A"/>
                          </a:solidFill>
                          <a:latin typeface="Century Gothic" panose="020B0502020202020204" pitchFamily="34" charset="0"/>
                          <a:cs typeface="Tahoma"/>
                        </a:rPr>
                        <a:t>databases </a:t>
                      </a:r>
                      <a:r>
                        <a:rPr lang="en-GB" sz="1500" spc="60">
                          <a:solidFill>
                            <a:srgbClr val="54535A"/>
                          </a:solidFill>
                          <a:latin typeface="Century Gothic" panose="020B0502020202020204" pitchFamily="34" charset="0"/>
                          <a:cs typeface="Tahoma"/>
                        </a:rPr>
                        <a:t>design,</a:t>
                      </a:r>
                      <a:r>
                        <a:rPr lang="en-GB" sz="1500" spc="-55">
                          <a:solidFill>
                            <a:srgbClr val="54535A"/>
                          </a:solidFill>
                          <a:latin typeface="Century Gothic" panose="020B0502020202020204" pitchFamily="34" charset="0"/>
                          <a:cs typeface="Tahoma"/>
                        </a:rPr>
                        <a:t> </a:t>
                      </a:r>
                      <a:r>
                        <a:rPr lang="en-GB" sz="1500" spc="90">
                          <a:solidFill>
                            <a:srgbClr val="54535A"/>
                          </a:solidFill>
                          <a:latin typeface="Century Gothic" panose="020B0502020202020204" pitchFamily="34" charset="0"/>
                          <a:cs typeface="Tahoma"/>
                        </a:rPr>
                        <a:t>modelling</a:t>
                      </a:r>
                      <a:r>
                        <a:rPr lang="en-GB" sz="1500" spc="-70">
                          <a:solidFill>
                            <a:srgbClr val="54535A"/>
                          </a:solidFill>
                          <a:latin typeface="Century Gothic" panose="020B0502020202020204" pitchFamily="34" charset="0"/>
                          <a:cs typeface="Tahoma"/>
                        </a:rPr>
                        <a:t> </a:t>
                      </a:r>
                      <a:r>
                        <a:rPr lang="en-GB" sz="1500" spc="160">
                          <a:solidFill>
                            <a:srgbClr val="54535A"/>
                          </a:solidFill>
                          <a:latin typeface="Century Gothic" panose="020B0502020202020204" pitchFamily="34" charset="0"/>
                          <a:cs typeface="Tahoma"/>
                        </a:rPr>
                        <a:t>and</a:t>
                      </a:r>
                      <a:r>
                        <a:rPr lang="en-GB" sz="1500" spc="-25">
                          <a:solidFill>
                            <a:srgbClr val="54535A"/>
                          </a:solidFill>
                          <a:latin typeface="Century Gothic" panose="020B0502020202020204" pitchFamily="34" charset="0"/>
                          <a:cs typeface="Tahoma"/>
                        </a:rPr>
                        <a:t> </a:t>
                      </a:r>
                      <a:r>
                        <a:rPr lang="en-GB" sz="1500" spc="45">
                          <a:solidFill>
                            <a:srgbClr val="54535A"/>
                          </a:solidFill>
                          <a:latin typeface="Century Gothic" panose="020B0502020202020204" pitchFamily="34" charset="0"/>
                          <a:cs typeface="Tahoma"/>
                        </a:rPr>
                        <a:t>enterprise</a:t>
                      </a:r>
                      <a:r>
                        <a:rPr lang="en-GB" sz="1500" spc="-55">
                          <a:solidFill>
                            <a:srgbClr val="54535A"/>
                          </a:solidFill>
                          <a:latin typeface="Century Gothic" panose="020B0502020202020204" pitchFamily="34" charset="0"/>
                          <a:cs typeface="Tahoma"/>
                        </a:rPr>
                        <a:t> </a:t>
                      </a:r>
                      <a:r>
                        <a:rPr lang="en-GB" sz="1500" spc="55">
                          <a:solidFill>
                            <a:srgbClr val="54535A"/>
                          </a:solidFill>
                          <a:latin typeface="Century Gothic" panose="020B0502020202020204" pitchFamily="34" charset="0"/>
                          <a:cs typeface="Tahoma"/>
                        </a:rPr>
                        <a:t>architectures.</a:t>
                      </a:r>
                      <a:endParaRPr lang="en-GB" sz="1500">
                        <a:latin typeface="Century Gothic" panose="020B0502020202020204" pitchFamily="34" charset="0"/>
                        <a:cs typeface="Tahoma"/>
                      </a:endParaRPr>
                    </a:p>
                    <a:p>
                      <a:pPr marL="434975" marR="187325" indent="-343535">
                        <a:lnSpc>
                          <a:spcPct val="100000"/>
                        </a:lnSpc>
                        <a:spcBef>
                          <a:spcPts val="5"/>
                        </a:spcBef>
                        <a:buFont typeface="Arial MT"/>
                        <a:buChar char="•"/>
                        <a:tabLst>
                          <a:tab pos="434975" algn="l"/>
                        </a:tabLst>
                      </a:pPr>
                      <a:r>
                        <a:rPr lang="en-GB" sz="1500">
                          <a:solidFill>
                            <a:srgbClr val="54535A"/>
                          </a:solidFill>
                          <a:latin typeface="Century Gothic" panose="020B0502020202020204" pitchFamily="34" charset="0"/>
                          <a:cs typeface="Tahoma"/>
                        </a:rPr>
                        <a:t>Expertise</a:t>
                      </a:r>
                      <a:r>
                        <a:rPr lang="en-GB" sz="1500" spc="10">
                          <a:solidFill>
                            <a:srgbClr val="54535A"/>
                          </a:solidFill>
                          <a:latin typeface="Century Gothic" panose="020B0502020202020204" pitchFamily="34" charset="0"/>
                          <a:cs typeface="Tahoma"/>
                        </a:rPr>
                        <a:t> </a:t>
                      </a:r>
                      <a:r>
                        <a:rPr lang="en-GB" sz="1500" spc="80">
                          <a:solidFill>
                            <a:srgbClr val="54535A"/>
                          </a:solidFill>
                          <a:latin typeface="Century Gothic" panose="020B0502020202020204" pitchFamily="34" charset="0"/>
                          <a:cs typeface="Tahoma"/>
                        </a:rPr>
                        <a:t>including</a:t>
                      </a:r>
                      <a:r>
                        <a:rPr lang="en-GB" sz="1500" spc="-15">
                          <a:solidFill>
                            <a:srgbClr val="54535A"/>
                          </a:solidFill>
                          <a:latin typeface="Century Gothic" panose="020B0502020202020204" pitchFamily="34" charset="0"/>
                          <a:cs typeface="Tahoma"/>
                        </a:rPr>
                        <a:t> </a:t>
                      </a:r>
                      <a:r>
                        <a:rPr lang="en-GB" sz="1500" spc="75">
                          <a:solidFill>
                            <a:srgbClr val="54535A"/>
                          </a:solidFill>
                          <a:latin typeface="Century Gothic" panose="020B0502020202020204" pitchFamily="34" charset="0"/>
                          <a:cs typeface="Tahoma"/>
                        </a:rPr>
                        <a:t>designing</a:t>
                      </a:r>
                      <a:r>
                        <a:rPr lang="en-GB" sz="1500">
                          <a:solidFill>
                            <a:srgbClr val="54535A"/>
                          </a:solidFill>
                          <a:latin typeface="Century Gothic" panose="020B0502020202020204" pitchFamily="34" charset="0"/>
                          <a:cs typeface="Tahoma"/>
                        </a:rPr>
                        <a:t> </a:t>
                      </a:r>
                      <a:r>
                        <a:rPr lang="en-GB" sz="1500" spc="120">
                          <a:solidFill>
                            <a:srgbClr val="54535A"/>
                          </a:solidFill>
                          <a:latin typeface="Century Gothic" panose="020B0502020202020204" pitchFamily="34" charset="0"/>
                          <a:cs typeface="Tahoma"/>
                        </a:rPr>
                        <a:t>&amp;</a:t>
                      </a:r>
                      <a:r>
                        <a:rPr lang="en-GB" sz="1500" spc="25">
                          <a:solidFill>
                            <a:srgbClr val="54535A"/>
                          </a:solidFill>
                          <a:latin typeface="Century Gothic" panose="020B0502020202020204" pitchFamily="34" charset="0"/>
                          <a:cs typeface="Tahoma"/>
                        </a:rPr>
                        <a:t> </a:t>
                      </a:r>
                      <a:r>
                        <a:rPr lang="en-GB" sz="1500" spc="85">
                          <a:solidFill>
                            <a:srgbClr val="54535A"/>
                          </a:solidFill>
                          <a:latin typeface="Century Gothic" panose="020B0502020202020204" pitchFamily="34" charset="0"/>
                          <a:cs typeface="Tahoma"/>
                        </a:rPr>
                        <a:t>implementing</a:t>
                      </a:r>
                      <a:r>
                        <a:rPr lang="en-GB" sz="1500" spc="15">
                          <a:solidFill>
                            <a:srgbClr val="54535A"/>
                          </a:solidFill>
                          <a:latin typeface="Century Gothic" panose="020B0502020202020204" pitchFamily="34" charset="0"/>
                          <a:cs typeface="Tahoma"/>
                        </a:rPr>
                        <a:t> </a:t>
                      </a:r>
                      <a:r>
                        <a:rPr lang="en-GB" sz="1500" spc="75">
                          <a:solidFill>
                            <a:srgbClr val="54535A"/>
                          </a:solidFill>
                          <a:latin typeface="Century Gothic" panose="020B0502020202020204" pitchFamily="34" charset="0"/>
                          <a:cs typeface="Tahoma"/>
                        </a:rPr>
                        <a:t>large </a:t>
                      </a:r>
                      <a:r>
                        <a:rPr lang="en-GB" sz="1500" spc="110">
                          <a:solidFill>
                            <a:srgbClr val="54535A"/>
                          </a:solidFill>
                          <a:latin typeface="Century Gothic" panose="020B0502020202020204" pitchFamily="34" charset="0"/>
                          <a:cs typeface="Tahoma"/>
                        </a:rPr>
                        <a:t>scale</a:t>
                      </a:r>
                      <a:r>
                        <a:rPr lang="en-GB" sz="1500" spc="-40">
                          <a:solidFill>
                            <a:srgbClr val="54535A"/>
                          </a:solidFill>
                          <a:latin typeface="Century Gothic" panose="020B0502020202020204" pitchFamily="34" charset="0"/>
                          <a:cs typeface="Tahoma"/>
                        </a:rPr>
                        <a:t> </a:t>
                      </a:r>
                      <a:r>
                        <a:rPr lang="en-GB" sz="1500" spc="50">
                          <a:solidFill>
                            <a:srgbClr val="54535A"/>
                          </a:solidFill>
                          <a:latin typeface="Century Gothic" panose="020B0502020202020204" pitchFamily="34" charset="0"/>
                          <a:cs typeface="Tahoma"/>
                        </a:rPr>
                        <a:t>distributed</a:t>
                      </a:r>
                      <a:r>
                        <a:rPr lang="en-GB" sz="1500" spc="-75">
                          <a:solidFill>
                            <a:srgbClr val="54535A"/>
                          </a:solidFill>
                          <a:latin typeface="Century Gothic" panose="020B0502020202020204" pitchFamily="34" charset="0"/>
                          <a:cs typeface="Tahoma"/>
                        </a:rPr>
                        <a:t> </a:t>
                      </a:r>
                      <a:r>
                        <a:rPr lang="en-GB" sz="1500" spc="-10">
                          <a:solidFill>
                            <a:srgbClr val="54535A"/>
                          </a:solidFill>
                          <a:latin typeface="Century Gothic" panose="020B0502020202020204" pitchFamily="34" charset="0"/>
                          <a:cs typeface="Tahoma"/>
                        </a:rPr>
                        <a:t>systems</a:t>
                      </a:r>
                      <a:endParaRPr lang="en-GB" sz="1500">
                        <a:latin typeface="Century Gothic" panose="020B0502020202020204" pitchFamily="34" charset="0"/>
                        <a:cs typeface="Tahoma"/>
                      </a:endParaRPr>
                    </a:p>
                  </a:txBody>
                  <a:tcPr marL="0" marR="0" marT="508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1"/>
                  </a:ext>
                </a:extLst>
              </a:tr>
              <a:tr h="1260475">
                <a:tc>
                  <a:txBody>
                    <a:bodyPr/>
                    <a:lstStyle/>
                    <a:p>
                      <a:pPr>
                        <a:lnSpc>
                          <a:spcPct val="100000"/>
                        </a:lnSpc>
                        <a:spcBef>
                          <a:spcPts val="155"/>
                        </a:spcBef>
                      </a:pPr>
                      <a:endParaRPr lang="en-GB" sz="1500">
                        <a:latin typeface="Century Gothic" panose="020B0502020202020204" pitchFamily="34" charset="0"/>
                        <a:cs typeface="Times New Roman"/>
                      </a:endParaRPr>
                    </a:p>
                    <a:p>
                      <a:pPr marL="91440" marR="511175">
                        <a:lnSpc>
                          <a:spcPts val="1789"/>
                        </a:lnSpc>
                      </a:pPr>
                      <a:r>
                        <a:rPr lang="en-GB" sz="1500" b="1" spc="-10">
                          <a:solidFill>
                            <a:srgbClr val="52535B"/>
                          </a:solidFill>
                          <a:latin typeface="Century Gothic" panose="020B0502020202020204" pitchFamily="34" charset="0"/>
                          <a:cs typeface="Tahoma"/>
                        </a:rPr>
                        <a:t>Frontend </a:t>
                      </a:r>
                      <a:r>
                        <a:rPr lang="en-GB" sz="1500" b="1" spc="-75">
                          <a:solidFill>
                            <a:srgbClr val="52535B"/>
                          </a:solidFill>
                          <a:latin typeface="Century Gothic" panose="020B0502020202020204" pitchFamily="34" charset="0"/>
                          <a:cs typeface="Tahoma"/>
                        </a:rPr>
                        <a:t>Engineers</a:t>
                      </a:r>
                      <a:endParaRPr lang="en-GB" sz="1500">
                        <a:latin typeface="Century Gothic" panose="020B0502020202020204" pitchFamily="34" charset="0"/>
                        <a:cs typeface="Tahoma"/>
                      </a:endParaRPr>
                    </a:p>
                  </a:txBody>
                  <a:tcPr marL="0" marR="0" marT="19685"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marR="231140">
                        <a:lnSpc>
                          <a:spcPct val="100000"/>
                        </a:lnSpc>
                      </a:pPr>
                      <a:r>
                        <a:rPr lang="en-GB" sz="1500" spc="150">
                          <a:solidFill>
                            <a:srgbClr val="54535A"/>
                          </a:solidFill>
                          <a:latin typeface="Century Gothic" panose="020B0502020202020204" pitchFamily="34" charset="0"/>
                          <a:cs typeface="Tahoma"/>
                        </a:rPr>
                        <a:t>Web</a:t>
                      </a:r>
                      <a:r>
                        <a:rPr lang="en-GB" sz="1500" spc="-10">
                          <a:solidFill>
                            <a:srgbClr val="54535A"/>
                          </a:solidFill>
                          <a:latin typeface="Century Gothic" panose="020B0502020202020204" pitchFamily="34" charset="0"/>
                          <a:cs typeface="Tahoma"/>
                        </a:rPr>
                        <a:t> </a:t>
                      </a:r>
                      <a:r>
                        <a:rPr lang="en-GB" sz="1500" spc="70">
                          <a:solidFill>
                            <a:srgbClr val="54535A"/>
                          </a:solidFill>
                          <a:latin typeface="Century Gothic" panose="020B0502020202020204" pitchFamily="34" charset="0"/>
                          <a:cs typeface="Tahoma"/>
                        </a:rPr>
                        <a:t>Technologies</a:t>
                      </a:r>
                      <a:r>
                        <a:rPr lang="en-GB" sz="1500" spc="-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like</a:t>
                      </a:r>
                      <a:r>
                        <a:rPr lang="en-GB" sz="1500" spc="-35">
                          <a:solidFill>
                            <a:srgbClr val="54535A"/>
                          </a:solidFill>
                          <a:latin typeface="Century Gothic" panose="020B0502020202020204" pitchFamily="34" charset="0"/>
                          <a:cs typeface="Tahoma"/>
                        </a:rPr>
                        <a:t> </a:t>
                      </a:r>
                      <a:r>
                        <a:rPr lang="en-GB" sz="1500" spc="-25">
                          <a:solidFill>
                            <a:srgbClr val="54535A"/>
                          </a:solidFill>
                          <a:latin typeface="Century Gothic" panose="020B0502020202020204" pitchFamily="34" charset="0"/>
                          <a:cs typeface="Tahoma"/>
                        </a:rPr>
                        <a:t>HTML,</a:t>
                      </a:r>
                      <a:r>
                        <a:rPr lang="en-GB" sz="1500" spc="-20">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CSS,</a:t>
                      </a:r>
                      <a:r>
                        <a:rPr lang="en-GB" sz="1500" spc="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Angular, </a:t>
                      </a:r>
                      <a:r>
                        <a:rPr lang="en-GB" sz="1500" spc="85">
                          <a:solidFill>
                            <a:srgbClr val="54535A"/>
                          </a:solidFill>
                          <a:latin typeface="Century Gothic" panose="020B0502020202020204" pitchFamily="34" charset="0"/>
                          <a:cs typeface="Tahoma"/>
                        </a:rPr>
                        <a:t>Vue,</a:t>
                      </a:r>
                      <a:r>
                        <a:rPr lang="en-GB" sz="1500" spc="-3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React.JS,</a:t>
                      </a:r>
                      <a:r>
                        <a:rPr lang="en-GB" sz="1500" spc="-35">
                          <a:solidFill>
                            <a:srgbClr val="54535A"/>
                          </a:solidFill>
                          <a:latin typeface="Century Gothic" panose="020B0502020202020204" pitchFamily="34" charset="0"/>
                          <a:cs typeface="Tahoma"/>
                        </a:rPr>
                        <a:t> </a:t>
                      </a:r>
                      <a:r>
                        <a:rPr lang="en-GB" sz="1500" spc="130">
                          <a:solidFill>
                            <a:srgbClr val="54535A"/>
                          </a:solidFill>
                          <a:latin typeface="Century Gothic" panose="020B0502020202020204" pitchFamily="34" charset="0"/>
                          <a:cs typeface="Tahoma"/>
                        </a:rPr>
                        <a:t>React</a:t>
                      </a:r>
                      <a:r>
                        <a:rPr lang="en-GB" sz="1500" spc="-30">
                          <a:solidFill>
                            <a:srgbClr val="54535A"/>
                          </a:solidFill>
                          <a:latin typeface="Century Gothic" panose="020B0502020202020204" pitchFamily="34" charset="0"/>
                          <a:cs typeface="Tahoma"/>
                        </a:rPr>
                        <a:t> </a:t>
                      </a:r>
                      <a:r>
                        <a:rPr lang="en-GB" sz="1500" spc="75">
                          <a:solidFill>
                            <a:srgbClr val="54535A"/>
                          </a:solidFill>
                          <a:latin typeface="Century Gothic" panose="020B0502020202020204" pitchFamily="34" charset="0"/>
                          <a:cs typeface="Tahoma"/>
                        </a:rPr>
                        <a:t>native,</a:t>
                      </a:r>
                      <a:r>
                        <a:rPr lang="en-GB" sz="1500" spc="-70">
                          <a:solidFill>
                            <a:srgbClr val="54535A"/>
                          </a:solidFill>
                          <a:latin typeface="Century Gothic" panose="020B0502020202020204" pitchFamily="34" charset="0"/>
                          <a:cs typeface="Tahoma"/>
                        </a:rPr>
                        <a:t> </a:t>
                      </a:r>
                      <a:r>
                        <a:rPr lang="en-GB" sz="1500" spc="85">
                          <a:solidFill>
                            <a:srgbClr val="54535A"/>
                          </a:solidFill>
                          <a:latin typeface="Century Gothic" panose="020B0502020202020204" pitchFamily="34" charset="0"/>
                          <a:cs typeface="Tahoma"/>
                        </a:rPr>
                        <a:t>JavaScript</a:t>
                      </a:r>
                      <a:r>
                        <a:rPr lang="en-GB" sz="1500" spc="-45">
                          <a:solidFill>
                            <a:srgbClr val="54535A"/>
                          </a:solidFill>
                          <a:latin typeface="Century Gothic" panose="020B0502020202020204" pitchFamily="34" charset="0"/>
                          <a:cs typeface="Tahoma"/>
                        </a:rPr>
                        <a:t> </a:t>
                      </a:r>
                      <a:r>
                        <a:rPr lang="en-GB" sz="1500" spc="135">
                          <a:solidFill>
                            <a:srgbClr val="54535A"/>
                          </a:solidFill>
                          <a:latin typeface="Century Gothic" panose="020B0502020202020204" pitchFamily="34" charset="0"/>
                          <a:cs typeface="Tahoma"/>
                        </a:rPr>
                        <a:t>and </a:t>
                      </a:r>
                      <a:r>
                        <a:rPr lang="en-GB" sz="1500">
                          <a:solidFill>
                            <a:srgbClr val="54535A"/>
                          </a:solidFill>
                          <a:latin typeface="Century Gothic" panose="020B0502020202020204" pitchFamily="34" charset="0"/>
                          <a:cs typeface="Tahoma"/>
                        </a:rPr>
                        <a:t>jQuery,</a:t>
                      </a:r>
                      <a:r>
                        <a:rPr lang="en-GB" sz="1500" spc="210">
                          <a:solidFill>
                            <a:srgbClr val="54535A"/>
                          </a:solidFill>
                          <a:latin typeface="Century Gothic" panose="020B0502020202020204" pitchFamily="34" charset="0"/>
                          <a:cs typeface="Tahoma"/>
                        </a:rPr>
                        <a:t> </a:t>
                      </a:r>
                      <a:r>
                        <a:rPr lang="en-GB" sz="1500" spc="45">
                          <a:solidFill>
                            <a:srgbClr val="54535A"/>
                          </a:solidFill>
                          <a:latin typeface="Century Gothic" panose="020B0502020202020204" pitchFamily="34" charset="0"/>
                          <a:cs typeface="Tahoma"/>
                        </a:rPr>
                        <a:t>Bootstrap,</a:t>
                      </a:r>
                      <a:endParaRPr lang="en-GB" sz="1500">
                        <a:latin typeface="Century Gothic" panose="020B0502020202020204" pitchFamily="34" charset="0"/>
                        <a:cs typeface="Tahoma"/>
                      </a:endParaRPr>
                    </a:p>
                    <a:p>
                      <a:pPr marR="231775">
                        <a:lnSpc>
                          <a:spcPct val="100000"/>
                        </a:lnSpc>
                        <a:spcBef>
                          <a:spcPts val="110"/>
                        </a:spcBef>
                      </a:pPr>
                      <a:r>
                        <a:rPr lang="en-GB" sz="1500" spc="100">
                          <a:solidFill>
                            <a:srgbClr val="54535A"/>
                          </a:solidFill>
                          <a:latin typeface="Century Gothic" panose="020B0502020202020204" pitchFamily="34" charset="0"/>
                          <a:cs typeface="Tahoma"/>
                        </a:rPr>
                        <a:t>Markup</a:t>
                      </a:r>
                      <a:r>
                        <a:rPr lang="en-GB" sz="1500" spc="5">
                          <a:solidFill>
                            <a:srgbClr val="54535A"/>
                          </a:solidFill>
                          <a:latin typeface="Century Gothic" panose="020B0502020202020204" pitchFamily="34" charset="0"/>
                          <a:cs typeface="Tahoma"/>
                        </a:rPr>
                        <a:t> </a:t>
                      </a:r>
                      <a:r>
                        <a:rPr lang="en-GB" sz="1500" spc="105">
                          <a:solidFill>
                            <a:srgbClr val="54535A"/>
                          </a:solidFill>
                          <a:latin typeface="Century Gothic" panose="020B0502020202020204" pitchFamily="34" charset="0"/>
                          <a:cs typeface="Tahoma"/>
                        </a:rPr>
                        <a:t>Languages</a:t>
                      </a:r>
                      <a:r>
                        <a:rPr lang="en-GB" sz="1500" spc="2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like</a:t>
                      </a:r>
                      <a:r>
                        <a:rPr lang="en-GB" sz="1500" spc="-5">
                          <a:solidFill>
                            <a:srgbClr val="54535A"/>
                          </a:solidFill>
                          <a:latin typeface="Century Gothic" panose="020B0502020202020204" pitchFamily="34" charset="0"/>
                          <a:cs typeface="Tahoma"/>
                        </a:rPr>
                        <a:t> </a:t>
                      </a:r>
                      <a:r>
                        <a:rPr lang="en-GB" sz="1500" spc="60">
                          <a:solidFill>
                            <a:srgbClr val="54535A"/>
                          </a:solidFill>
                          <a:latin typeface="Century Gothic" panose="020B0502020202020204" pitchFamily="34" charset="0"/>
                          <a:cs typeface="Tahoma"/>
                        </a:rPr>
                        <a:t>XML</a:t>
                      </a:r>
                      <a:r>
                        <a:rPr lang="en-GB" sz="1500">
                          <a:solidFill>
                            <a:srgbClr val="54535A"/>
                          </a:solidFill>
                          <a:latin typeface="Century Gothic" panose="020B0502020202020204" pitchFamily="34" charset="0"/>
                          <a:cs typeface="Tahoma"/>
                        </a:rPr>
                        <a:t> </a:t>
                      </a:r>
                      <a:r>
                        <a:rPr lang="en-GB" sz="1500" spc="160">
                          <a:solidFill>
                            <a:srgbClr val="54535A"/>
                          </a:solidFill>
                          <a:latin typeface="Century Gothic" panose="020B0502020202020204" pitchFamily="34" charset="0"/>
                          <a:cs typeface="Tahoma"/>
                        </a:rPr>
                        <a:t>and</a:t>
                      </a:r>
                      <a:r>
                        <a:rPr lang="en-GB" sz="1500" spc="15">
                          <a:solidFill>
                            <a:srgbClr val="54535A"/>
                          </a:solidFill>
                          <a:latin typeface="Century Gothic" panose="020B0502020202020204" pitchFamily="34" charset="0"/>
                          <a:cs typeface="Tahoma"/>
                        </a:rPr>
                        <a:t> </a:t>
                      </a:r>
                      <a:r>
                        <a:rPr lang="en-GB" sz="1500">
                          <a:solidFill>
                            <a:srgbClr val="54535A"/>
                          </a:solidFill>
                          <a:latin typeface="Century Gothic" panose="020B0502020202020204" pitchFamily="34" charset="0"/>
                          <a:cs typeface="Tahoma"/>
                        </a:rPr>
                        <a:t>JSON.,</a:t>
                      </a:r>
                      <a:r>
                        <a:rPr lang="en-GB" sz="1500" spc="25">
                          <a:solidFill>
                            <a:srgbClr val="54535A"/>
                          </a:solidFill>
                          <a:latin typeface="Century Gothic" panose="020B0502020202020204" pitchFamily="34" charset="0"/>
                          <a:cs typeface="Tahoma"/>
                        </a:rPr>
                        <a:t> </a:t>
                      </a:r>
                      <a:r>
                        <a:rPr lang="en-GB" sz="1500" spc="-20">
                          <a:solidFill>
                            <a:srgbClr val="54535A"/>
                          </a:solidFill>
                          <a:latin typeface="Century Gothic" panose="020B0502020202020204" pitchFamily="34" charset="0"/>
                          <a:cs typeface="Tahoma"/>
                        </a:rPr>
                        <a:t>Unix </a:t>
                      </a:r>
                      <a:r>
                        <a:rPr lang="en-GB" sz="1500" spc="40">
                          <a:solidFill>
                            <a:srgbClr val="54535A"/>
                          </a:solidFill>
                          <a:latin typeface="Century Gothic" panose="020B0502020202020204" pitchFamily="34" charset="0"/>
                          <a:cs typeface="Tahoma"/>
                        </a:rPr>
                        <a:t>Scripting</a:t>
                      </a:r>
                      <a:endParaRPr lang="en-GB" sz="15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tc>
                  <a:txBody>
                    <a:bodyPr/>
                    <a:lstStyle/>
                    <a:p>
                      <a:pPr>
                        <a:lnSpc>
                          <a:spcPct val="100000"/>
                        </a:lnSpc>
                      </a:pPr>
                      <a:endParaRPr lang="en-GB" sz="1500">
                        <a:latin typeface="Century Gothic" panose="020B0502020202020204" pitchFamily="34" charset="0"/>
                        <a:cs typeface="Times New Roman"/>
                      </a:endParaRPr>
                    </a:p>
                    <a:p>
                      <a:pPr>
                        <a:lnSpc>
                          <a:spcPct val="100000"/>
                        </a:lnSpc>
                        <a:spcBef>
                          <a:spcPts val="225"/>
                        </a:spcBef>
                      </a:pPr>
                      <a:endParaRPr lang="en-GB" sz="1500">
                        <a:latin typeface="Century Gothic" panose="020B0502020202020204" pitchFamily="34" charset="0"/>
                        <a:cs typeface="Times New Roman"/>
                      </a:endParaRPr>
                    </a:p>
                    <a:p>
                      <a:pPr marL="259079" marR="248920" indent="-167640">
                        <a:lnSpc>
                          <a:spcPct val="100000"/>
                        </a:lnSpc>
                        <a:buFont typeface="Arial MT"/>
                        <a:buChar char="•"/>
                        <a:tabLst>
                          <a:tab pos="260985" algn="l"/>
                        </a:tabLst>
                      </a:pPr>
                      <a:r>
                        <a:rPr lang="en-GB" sz="1500">
                          <a:solidFill>
                            <a:srgbClr val="54535A"/>
                          </a:solidFill>
                          <a:latin typeface="Century Gothic" panose="020B0502020202020204" pitchFamily="34" charset="0"/>
                          <a:cs typeface="Tahoma"/>
                        </a:rPr>
                        <a:t>Strong</a:t>
                      </a:r>
                      <a:r>
                        <a:rPr lang="en-GB" sz="1500" spc="10">
                          <a:solidFill>
                            <a:srgbClr val="54535A"/>
                          </a:solidFill>
                          <a:latin typeface="Century Gothic" panose="020B0502020202020204" pitchFamily="34" charset="0"/>
                          <a:cs typeface="Tahoma"/>
                        </a:rPr>
                        <a:t> </a:t>
                      </a:r>
                      <a:r>
                        <a:rPr lang="en-GB" sz="1500" spc="114">
                          <a:solidFill>
                            <a:srgbClr val="54535A"/>
                          </a:solidFill>
                          <a:latin typeface="Century Gothic" panose="020B0502020202020204" pitchFamily="34" charset="0"/>
                          <a:cs typeface="Tahoma"/>
                        </a:rPr>
                        <a:t>knowledge</a:t>
                      </a:r>
                      <a:r>
                        <a:rPr lang="en-GB" sz="1500" spc="-15">
                          <a:solidFill>
                            <a:srgbClr val="54535A"/>
                          </a:solidFill>
                          <a:latin typeface="Century Gothic" panose="020B0502020202020204" pitchFamily="34" charset="0"/>
                          <a:cs typeface="Tahoma"/>
                        </a:rPr>
                        <a:t> </a:t>
                      </a:r>
                      <a:r>
                        <a:rPr lang="en-GB" sz="1500" spc="75">
                          <a:solidFill>
                            <a:srgbClr val="54535A"/>
                          </a:solidFill>
                          <a:latin typeface="Century Gothic" panose="020B0502020202020204" pitchFamily="34" charset="0"/>
                          <a:cs typeface="Tahoma"/>
                        </a:rPr>
                        <a:t>of</a:t>
                      </a:r>
                      <a:r>
                        <a:rPr lang="en-GB" sz="1500" spc="25">
                          <a:solidFill>
                            <a:srgbClr val="54535A"/>
                          </a:solidFill>
                          <a:latin typeface="Century Gothic" panose="020B0502020202020204" pitchFamily="34" charset="0"/>
                          <a:cs typeface="Tahoma"/>
                        </a:rPr>
                        <a:t> </a:t>
                      </a:r>
                      <a:r>
                        <a:rPr lang="en-GB" sz="1500" spc="165">
                          <a:solidFill>
                            <a:srgbClr val="54535A"/>
                          </a:solidFill>
                          <a:latin typeface="Century Gothic" panose="020B0502020202020204" pitchFamily="34" charset="0"/>
                          <a:cs typeface="Tahoma"/>
                        </a:rPr>
                        <a:t>web</a:t>
                      </a:r>
                      <a:r>
                        <a:rPr lang="en-GB" sz="1500" spc="15">
                          <a:solidFill>
                            <a:srgbClr val="54535A"/>
                          </a:solidFill>
                          <a:latin typeface="Century Gothic" panose="020B0502020202020204" pitchFamily="34" charset="0"/>
                          <a:cs typeface="Tahoma"/>
                        </a:rPr>
                        <a:t> </a:t>
                      </a:r>
                      <a:r>
                        <a:rPr lang="en-GB" sz="1500" spc="125">
                          <a:solidFill>
                            <a:srgbClr val="54535A"/>
                          </a:solidFill>
                          <a:latin typeface="Century Gothic" panose="020B0502020202020204" pitchFamily="34" charset="0"/>
                          <a:cs typeface="Tahoma"/>
                        </a:rPr>
                        <a:t>development</a:t>
                      </a:r>
                      <a:r>
                        <a:rPr lang="en-GB" sz="1500" spc="-10">
                          <a:solidFill>
                            <a:srgbClr val="54535A"/>
                          </a:solidFill>
                          <a:latin typeface="Century Gothic" panose="020B0502020202020204" pitchFamily="34" charset="0"/>
                          <a:cs typeface="Tahoma"/>
                        </a:rPr>
                        <a:t> </a:t>
                      </a:r>
                      <a:r>
                        <a:rPr lang="en-GB" sz="1500" spc="45">
                          <a:solidFill>
                            <a:srgbClr val="54535A"/>
                          </a:solidFill>
                          <a:latin typeface="Century Gothic" panose="020B0502020202020204" pitchFamily="34" charset="0"/>
                          <a:cs typeface="Tahoma"/>
                        </a:rPr>
                        <a:t>frameworks 	</a:t>
                      </a:r>
                      <a:r>
                        <a:rPr lang="en-GB" sz="1500" spc="165">
                          <a:solidFill>
                            <a:srgbClr val="54535A"/>
                          </a:solidFill>
                          <a:latin typeface="Century Gothic" panose="020B0502020202020204" pitchFamily="34" charset="0"/>
                          <a:cs typeface="Tahoma"/>
                        </a:rPr>
                        <a:t>and</a:t>
                      </a:r>
                      <a:r>
                        <a:rPr lang="en-GB" sz="1500" spc="-40">
                          <a:solidFill>
                            <a:srgbClr val="54535A"/>
                          </a:solidFill>
                          <a:latin typeface="Century Gothic" panose="020B0502020202020204" pitchFamily="34" charset="0"/>
                          <a:cs typeface="Tahoma"/>
                        </a:rPr>
                        <a:t> </a:t>
                      </a:r>
                      <a:r>
                        <a:rPr lang="en-GB" sz="1500" spc="-30">
                          <a:solidFill>
                            <a:srgbClr val="54535A"/>
                          </a:solidFill>
                          <a:latin typeface="Century Gothic" panose="020B0502020202020204" pitchFamily="34" charset="0"/>
                          <a:cs typeface="Tahoma"/>
                        </a:rPr>
                        <a:t>12-</a:t>
                      </a:r>
                      <a:r>
                        <a:rPr lang="en-GB" sz="1500" spc="85">
                          <a:solidFill>
                            <a:srgbClr val="54535A"/>
                          </a:solidFill>
                          <a:latin typeface="Century Gothic" panose="020B0502020202020204" pitchFamily="34" charset="0"/>
                          <a:cs typeface="Tahoma"/>
                        </a:rPr>
                        <a:t>Factor</a:t>
                      </a:r>
                      <a:r>
                        <a:rPr lang="en-GB" sz="1500" spc="-35">
                          <a:solidFill>
                            <a:srgbClr val="54535A"/>
                          </a:solidFill>
                          <a:latin typeface="Century Gothic" panose="020B0502020202020204" pitchFamily="34" charset="0"/>
                          <a:cs typeface="Tahoma"/>
                        </a:rPr>
                        <a:t> </a:t>
                      </a:r>
                      <a:r>
                        <a:rPr lang="en-GB" sz="1500" spc="200">
                          <a:solidFill>
                            <a:srgbClr val="54535A"/>
                          </a:solidFill>
                          <a:latin typeface="Century Gothic" panose="020B0502020202020204" pitchFamily="34" charset="0"/>
                          <a:cs typeface="Tahoma"/>
                        </a:rPr>
                        <a:t>App</a:t>
                      </a:r>
                      <a:r>
                        <a:rPr lang="en-GB" sz="1500" spc="-40">
                          <a:solidFill>
                            <a:srgbClr val="54535A"/>
                          </a:solidFill>
                          <a:latin typeface="Century Gothic" panose="020B0502020202020204" pitchFamily="34" charset="0"/>
                          <a:cs typeface="Tahoma"/>
                        </a:rPr>
                        <a:t> </a:t>
                      </a:r>
                      <a:r>
                        <a:rPr lang="en-GB" sz="1500" spc="105">
                          <a:solidFill>
                            <a:srgbClr val="54535A"/>
                          </a:solidFill>
                          <a:latin typeface="Century Gothic" panose="020B0502020202020204" pitchFamily="34" charset="0"/>
                          <a:cs typeface="Tahoma"/>
                        </a:rPr>
                        <a:t>methodology</a:t>
                      </a:r>
                      <a:endParaRPr lang="en-GB" sz="1500">
                        <a:latin typeface="Century Gothic" panose="020B0502020202020204" pitchFamily="34" charset="0"/>
                        <a:cs typeface="Tahoma"/>
                      </a:endParaRPr>
                    </a:p>
                  </a:txBody>
                  <a:tcPr marL="0" marR="0" marT="0" marB="0">
                    <a:lnL w="12700">
                      <a:solidFill>
                        <a:srgbClr val="A6A6A6"/>
                      </a:solidFill>
                      <a:prstDash val="solid"/>
                    </a:lnL>
                    <a:lnR w="12700">
                      <a:solidFill>
                        <a:srgbClr val="A6A6A6"/>
                      </a:solidFill>
                      <a:prstDash val="solid"/>
                    </a:lnR>
                    <a:lnT w="12700">
                      <a:solidFill>
                        <a:srgbClr val="A6A6A6"/>
                      </a:solidFill>
                      <a:prstDash val="solid"/>
                    </a:lnT>
                    <a:lnB w="12700">
                      <a:solidFill>
                        <a:srgbClr val="A6A6A6"/>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DF60-ECD3-E4B3-E679-9D24F97B42F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FC6DCA-8407-E338-67A3-8DC31579B15B}"/>
              </a:ext>
            </a:extLst>
          </p:cNvPr>
          <p:cNvSpPr txBox="1"/>
          <p:nvPr/>
        </p:nvSpPr>
        <p:spPr>
          <a:xfrm>
            <a:off x="9034398" y="6468141"/>
            <a:ext cx="2813685" cy="19367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100" b="0" i="1" u="none" strike="noStrike" kern="0" cap="none" spc="-40" normalizeH="0" baseline="0" noProof="0">
                <a:ln>
                  <a:noFill/>
                </a:ln>
                <a:solidFill>
                  <a:srgbClr val="FF0000"/>
                </a:solidFill>
                <a:effectLst/>
                <a:uLnTx/>
                <a:uFillTx/>
                <a:latin typeface="Verdana"/>
                <a:cs typeface="Verdana"/>
              </a:rPr>
              <a:t>World</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40" normalizeH="0" baseline="0" noProof="0">
                <a:ln>
                  <a:noFill/>
                </a:ln>
                <a:solidFill>
                  <a:srgbClr val="FF0000"/>
                </a:solidFill>
                <a:effectLst/>
                <a:uLnTx/>
                <a:uFillTx/>
                <a:latin typeface="Verdana"/>
                <a:cs typeface="Verdana"/>
              </a:rPr>
              <a:t>class </a:t>
            </a:r>
            <a:r>
              <a:rPr kumimoji="0" sz="1100" b="0" i="1" u="none" strike="noStrike" kern="0" cap="none" spc="-50" normalizeH="0" baseline="0" noProof="0">
                <a:ln>
                  <a:noFill/>
                </a:ln>
                <a:solidFill>
                  <a:srgbClr val="FF0000"/>
                </a:solidFill>
                <a:effectLst/>
                <a:uLnTx/>
                <a:uFillTx/>
                <a:latin typeface="Verdana"/>
                <a:cs typeface="Verdana"/>
              </a:rPr>
              <a:t>expertise,</a:t>
            </a:r>
            <a:r>
              <a:rPr kumimoji="0" sz="1100" b="0" i="1" u="none" strike="noStrike" kern="0" cap="none" spc="-70" normalizeH="0" baseline="0" noProof="0">
                <a:ln>
                  <a:noFill/>
                </a:ln>
                <a:solidFill>
                  <a:srgbClr val="FF0000"/>
                </a:solidFill>
                <a:effectLst/>
                <a:uLnTx/>
                <a:uFillTx/>
                <a:latin typeface="Verdana"/>
                <a:cs typeface="Verdana"/>
              </a:rPr>
              <a:t> </a:t>
            </a:r>
            <a:r>
              <a:rPr kumimoji="0" sz="1100" b="0" i="1" u="none" strike="noStrike" kern="0" cap="none" spc="0" normalizeH="0" baseline="0" noProof="0">
                <a:ln>
                  <a:noFill/>
                </a:ln>
                <a:solidFill>
                  <a:srgbClr val="FF0000"/>
                </a:solidFill>
                <a:effectLst/>
                <a:uLnTx/>
                <a:uFillTx/>
                <a:latin typeface="Verdana"/>
                <a:cs typeface="Verdana"/>
              </a:rPr>
              <a:t>local</a:t>
            </a:r>
            <a:r>
              <a:rPr kumimoji="0" sz="1100" b="0" i="1" u="none" strike="noStrike" kern="0" cap="none" spc="-30" normalizeH="0" baseline="0" noProof="0">
                <a:ln>
                  <a:noFill/>
                </a:ln>
                <a:solidFill>
                  <a:srgbClr val="FF0000"/>
                </a:solidFill>
                <a:effectLst/>
                <a:uLnTx/>
                <a:uFillTx/>
                <a:latin typeface="Verdana"/>
                <a:cs typeface="Verdana"/>
              </a:rPr>
              <a:t> </a:t>
            </a:r>
            <a:r>
              <a:rPr kumimoji="0" sz="1100" b="0" i="1" u="none" strike="noStrike" kern="0" cap="none" spc="-10" normalizeH="0" baseline="0" noProof="0">
                <a:ln>
                  <a:noFill/>
                </a:ln>
                <a:solidFill>
                  <a:srgbClr val="FF0000"/>
                </a:solidFill>
                <a:effectLst/>
                <a:uLnTx/>
                <a:uFillTx/>
                <a:latin typeface="Verdana"/>
                <a:cs typeface="Verdana"/>
              </a:rPr>
              <a:t>accessibility…</a:t>
            </a:r>
            <a:endParaRPr kumimoji="0" sz="1100" b="0" i="0" u="none" strike="noStrike" kern="0" cap="none" spc="0" normalizeH="0" baseline="0" noProof="0">
              <a:ln>
                <a:noFill/>
              </a:ln>
              <a:solidFill>
                <a:sysClr val="windowText" lastClr="000000"/>
              </a:solidFill>
              <a:effectLst/>
              <a:uLnTx/>
              <a:uFillTx/>
              <a:latin typeface="Verdana"/>
              <a:cs typeface="Verdana"/>
            </a:endParaRPr>
          </a:p>
        </p:txBody>
      </p:sp>
      <p:grpSp>
        <p:nvGrpSpPr>
          <p:cNvPr id="3" name="object 3">
            <a:extLst>
              <a:ext uri="{FF2B5EF4-FFF2-40B4-BE49-F238E27FC236}">
                <a16:creationId xmlns:a16="http://schemas.microsoft.com/office/drawing/2014/main" id="{D03D68C0-9CAC-E636-D336-9BF9187C3853}"/>
              </a:ext>
            </a:extLst>
          </p:cNvPr>
          <p:cNvGrpSpPr/>
          <p:nvPr/>
        </p:nvGrpSpPr>
        <p:grpSpPr>
          <a:xfrm>
            <a:off x="734923" y="1597660"/>
            <a:ext cx="5081524" cy="2291460"/>
            <a:chOff x="734923" y="1597660"/>
            <a:chExt cx="5081524" cy="2291460"/>
          </a:xfrm>
        </p:grpSpPr>
        <p:pic>
          <p:nvPicPr>
            <p:cNvPr id="4" name="object 4">
              <a:extLst>
                <a:ext uri="{FF2B5EF4-FFF2-40B4-BE49-F238E27FC236}">
                  <a16:creationId xmlns:a16="http://schemas.microsoft.com/office/drawing/2014/main" id="{B4655E73-1455-2ED9-D43B-8885655E27A1}"/>
                </a:ext>
              </a:extLst>
            </p:cNvPr>
            <p:cNvPicPr/>
            <p:nvPr/>
          </p:nvPicPr>
          <p:blipFill>
            <a:blip r:embed="rId2" cstate="print"/>
            <a:stretch>
              <a:fillRect/>
            </a:stretch>
          </p:blipFill>
          <p:spPr>
            <a:xfrm>
              <a:off x="734923" y="1597660"/>
              <a:ext cx="5081524" cy="1745614"/>
            </a:xfrm>
            <a:prstGeom prst="rect">
              <a:avLst/>
            </a:prstGeom>
          </p:spPr>
        </p:pic>
        <p:pic>
          <p:nvPicPr>
            <p:cNvPr id="5" name="object 5">
              <a:extLst>
                <a:ext uri="{FF2B5EF4-FFF2-40B4-BE49-F238E27FC236}">
                  <a16:creationId xmlns:a16="http://schemas.microsoft.com/office/drawing/2014/main" id="{AB1B658B-129F-444E-4980-01C37CA65EEE}"/>
                </a:ext>
              </a:extLst>
            </p:cNvPr>
            <p:cNvPicPr/>
            <p:nvPr/>
          </p:nvPicPr>
          <p:blipFill>
            <a:blip r:embed="rId3" cstate="print"/>
            <a:stretch>
              <a:fillRect/>
            </a:stretch>
          </p:blipFill>
          <p:spPr>
            <a:xfrm>
              <a:off x="4303522" y="3319056"/>
              <a:ext cx="1428750" cy="570064"/>
            </a:xfrm>
            <a:prstGeom prst="rect">
              <a:avLst/>
            </a:prstGeom>
          </p:spPr>
        </p:pic>
        <p:pic>
          <p:nvPicPr>
            <p:cNvPr id="6" name="object 6">
              <a:extLst>
                <a:ext uri="{FF2B5EF4-FFF2-40B4-BE49-F238E27FC236}">
                  <a16:creationId xmlns:a16="http://schemas.microsoft.com/office/drawing/2014/main" id="{3705396B-6CB6-E5E7-711B-3093784198E9}"/>
                </a:ext>
              </a:extLst>
            </p:cNvPr>
            <p:cNvPicPr/>
            <p:nvPr/>
          </p:nvPicPr>
          <p:blipFill>
            <a:blip r:embed="rId4" cstate="print"/>
            <a:stretch>
              <a:fillRect/>
            </a:stretch>
          </p:blipFill>
          <p:spPr>
            <a:xfrm>
              <a:off x="743580" y="3325888"/>
              <a:ext cx="1396998" cy="563232"/>
            </a:xfrm>
            <a:prstGeom prst="rect">
              <a:avLst/>
            </a:prstGeom>
          </p:spPr>
        </p:pic>
        <p:pic>
          <p:nvPicPr>
            <p:cNvPr id="7" name="object 7">
              <a:extLst>
                <a:ext uri="{FF2B5EF4-FFF2-40B4-BE49-F238E27FC236}">
                  <a16:creationId xmlns:a16="http://schemas.microsoft.com/office/drawing/2014/main" id="{F2AD7D35-62C3-922E-4000-DC4EBDDC1C02}"/>
                </a:ext>
              </a:extLst>
            </p:cNvPr>
            <p:cNvPicPr/>
            <p:nvPr/>
          </p:nvPicPr>
          <p:blipFill>
            <a:blip r:embed="rId5" cstate="print"/>
            <a:stretch>
              <a:fillRect/>
            </a:stretch>
          </p:blipFill>
          <p:spPr>
            <a:xfrm>
              <a:off x="4158361" y="2495740"/>
              <a:ext cx="509943" cy="382460"/>
            </a:xfrm>
            <a:prstGeom prst="rect">
              <a:avLst/>
            </a:prstGeom>
          </p:spPr>
        </p:pic>
      </p:grpSp>
      <p:pic>
        <p:nvPicPr>
          <p:cNvPr id="8" name="object 8">
            <a:extLst>
              <a:ext uri="{FF2B5EF4-FFF2-40B4-BE49-F238E27FC236}">
                <a16:creationId xmlns:a16="http://schemas.microsoft.com/office/drawing/2014/main" id="{2BD149A2-D45F-DFFB-EC6C-D3285CCED2D1}"/>
              </a:ext>
            </a:extLst>
          </p:cNvPr>
          <p:cNvPicPr/>
          <p:nvPr/>
        </p:nvPicPr>
        <p:blipFill>
          <a:blip r:embed="rId6" cstate="print"/>
          <a:stretch>
            <a:fillRect/>
          </a:stretch>
        </p:blipFill>
        <p:spPr>
          <a:xfrm>
            <a:off x="6263513" y="1597660"/>
            <a:ext cx="5081523" cy="1745614"/>
          </a:xfrm>
          <a:prstGeom prst="rect">
            <a:avLst/>
          </a:prstGeom>
        </p:spPr>
      </p:pic>
      <p:sp>
        <p:nvSpPr>
          <p:cNvPr id="9" name="object 9">
            <a:extLst>
              <a:ext uri="{FF2B5EF4-FFF2-40B4-BE49-F238E27FC236}">
                <a16:creationId xmlns:a16="http://schemas.microsoft.com/office/drawing/2014/main" id="{1D0F478E-7029-1FE3-1E41-CAE80E51A65A}"/>
              </a:ext>
            </a:extLst>
          </p:cNvPr>
          <p:cNvSpPr txBox="1">
            <a:spLocks noGrp="1"/>
          </p:cNvSpPr>
          <p:nvPr>
            <p:ph type="title"/>
          </p:nvPr>
        </p:nvSpPr>
        <p:spPr>
          <a:xfrm>
            <a:off x="8903969" y="709930"/>
            <a:ext cx="2210435" cy="513715"/>
          </a:xfrm>
          <a:prstGeom prst="rect">
            <a:avLst/>
          </a:prstGeom>
        </p:spPr>
        <p:txBody>
          <a:bodyPr vert="horz" wrap="square" lIns="0" tIns="13335" rIns="0" bIns="0" rtlCol="0">
            <a:spAutoFit/>
          </a:bodyPr>
          <a:lstStyle/>
          <a:p>
            <a:pPr marL="12700">
              <a:lnSpc>
                <a:spcPct val="100000"/>
              </a:lnSpc>
              <a:spcBef>
                <a:spcPts val="105"/>
              </a:spcBef>
            </a:pPr>
            <a:r>
              <a:rPr sz="3200" b="0">
                <a:solidFill>
                  <a:srgbClr val="7E7E7E"/>
                </a:solidFill>
                <a:latin typeface="Tahoma"/>
                <a:cs typeface="Tahoma"/>
              </a:rPr>
              <a:t>Our</a:t>
            </a:r>
            <a:r>
              <a:rPr sz="3200" b="0" spc="-235">
                <a:solidFill>
                  <a:srgbClr val="7E7E7E"/>
                </a:solidFill>
                <a:latin typeface="Tahoma"/>
                <a:cs typeface="Tahoma"/>
              </a:rPr>
              <a:t> </a:t>
            </a:r>
            <a:r>
              <a:rPr sz="3200" spc="-340"/>
              <a:t>Partners</a:t>
            </a:r>
            <a:endParaRPr sz="3200">
              <a:latin typeface="Tahoma"/>
              <a:cs typeface="Tahoma"/>
            </a:endParaRPr>
          </a:p>
        </p:txBody>
      </p:sp>
      <p:sp>
        <p:nvSpPr>
          <p:cNvPr id="10" name="object 10">
            <a:extLst>
              <a:ext uri="{FF2B5EF4-FFF2-40B4-BE49-F238E27FC236}">
                <a16:creationId xmlns:a16="http://schemas.microsoft.com/office/drawing/2014/main" id="{E4CD0BAE-9066-D423-D64D-AB6BCB1CEBF8}"/>
              </a:ext>
            </a:extLst>
          </p:cNvPr>
          <p:cNvSpPr txBox="1"/>
          <p:nvPr/>
        </p:nvSpPr>
        <p:spPr>
          <a:xfrm>
            <a:off x="817575" y="4063365"/>
            <a:ext cx="2386330" cy="5137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3200" b="0" i="0" u="none" strike="noStrike" kern="0" cap="none" spc="0" normalizeH="0" baseline="0" noProof="0">
                <a:ln>
                  <a:noFill/>
                </a:ln>
                <a:solidFill>
                  <a:srgbClr val="7E7E7E"/>
                </a:solidFill>
                <a:effectLst/>
                <a:uLnTx/>
                <a:uFillTx/>
                <a:latin typeface="Tahoma"/>
                <a:cs typeface="Tahoma"/>
              </a:rPr>
              <a:t>Our</a:t>
            </a:r>
            <a:r>
              <a:rPr kumimoji="0" sz="3200" b="0" i="0" u="none" strike="noStrike" kern="0" cap="none" spc="-250" normalizeH="0" baseline="0" noProof="0">
                <a:ln>
                  <a:noFill/>
                </a:ln>
                <a:solidFill>
                  <a:srgbClr val="7E7E7E"/>
                </a:solidFill>
                <a:effectLst/>
                <a:uLnTx/>
                <a:uFillTx/>
                <a:latin typeface="Tahoma"/>
                <a:cs typeface="Tahoma"/>
              </a:rPr>
              <a:t> </a:t>
            </a:r>
            <a:r>
              <a:rPr kumimoji="0" sz="3200" b="1" i="0" u="none" strike="noStrike" kern="0" cap="none" spc="-165" normalizeH="0" baseline="0" noProof="0">
                <a:ln>
                  <a:noFill/>
                </a:ln>
                <a:solidFill>
                  <a:srgbClr val="FF0000"/>
                </a:solidFill>
                <a:effectLst/>
                <a:uLnTx/>
                <a:uFillTx/>
                <a:latin typeface="Tahoma"/>
                <a:cs typeface="Tahoma"/>
              </a:rPr>
              <a:t>Clientele</a:t>
            </a:r>
            <a:endParaRPr kumimoji="0" sz="3200" b="0" i="0" u="none" strike="noStrike" kern="0" cap="none" spc="0" normalizeH="0" baseline="0" noProof="0">
              <a:ln>
                <a:noFill/>
              </a:ln>
              <a:solidFill>
                <a:sysClr val="windowText" lastClr="000000"/>
              </a:solidFill>
              <a:effectLst/>
              <a:uLnTx/>
              <a:uFillTx/>
              <a:latin typeface="Tahoma"/>
              <a:cs typeface="Tahoma"/>
            </a:endParaRPr>
          </a:p>
        </p:txBody>
      </p:sp>
      <p:grpSp>
        <p:nvGrpSpPr>
          <p:cNvPr id="11" name="object 11">
            <a:extLst>
              <a:ext uri="{FF2B5EF4-FFF2-40B4-BE49-F238E27FC236}">
                <a16:creationId xmlns:a16="http://schemas.microsoft.com/office/drawing/2014/main" id="{C8576925-90CD-2A8B-BE34-63F26B8A3C8C}"/>
              </a:ext>
            </a:extLst>
          </p:cNvPr>
          <p:cNvGrpSpPr/>
          <p:nvPr/>
        </p:nvGrpSpPr>
        <p:grpSpPr>
          <a:xfrm>
            <a:off x="839000" y="4875212"/>
            <a:ext cx="6688455" cy="1704975"/>
            <a:chOff x="839000" y="4875212"/>
            <a:chExt cx="6688455" cy="1704975"/>
          </a:xfrm>
        </p:grpSpPr>
        <p:pic>
          <p:nvPicPr>
            <p:cNvPr id="12" name="object 12">
              <a:extLst>
                <a:ext uri="{FF2B5EF4-FFF2-40B4-BE49-F238E27FC236}">
                  <a16:creationId xmlns:a16="http://schemas.microsoft.com/office/drawing/2014/main" id="{63CC6500-C2CF-CD2D-B1ED-F7501BDF7EF6}"/>
                </a:ext>
              </a:extLst>
            </p:cNvPr>
            <p:cNvPicPr/>
            <p:nvPr/>
          </p:nvPicPr>
          <p:blipFill>
            <a:blip r:embed="rId7" cstate="print"/>
            <a:stretch>
              <a:fillRect/>
            </a:stretch>
          </p:blipFill>
          <p:spPr>
            <a:xfrm>
              <a:off x="839000" y="4875212"/>
              <a:ext cx="5081524" cy="926274"/>
            </a:xfrm>
            <a:prstGeom prst="rect">
              <a:avLst/>
            </a:prstGeom>
          </p:spPr>
        </p:pic>
        <p:pic>
          <p:nvPicPr>
            <p:cNvPr id="13" name="object 13">
              <a:extLst>
                <a:ext uri="{FF2B5EF4-FFF2-40B4-BE49-F238E27FC236}">
                  <a16:creationId xmlns:a16="http://schemas.microsoft.com/office/drawing/2014/main" id="{14135BCE-1D64-3EDF-1C88-5EBA3838F9CE}"/>
                </a:ext>
              </a:extLst>
            </p:cNvPr>
            <p:cNvPicPr/>
            <p:nvPr/>
          </p:nvPicPr>
          <p:blipFill>
            <a:blip r:embed="rId8" cstate="print"/>
            <a:stretch>
              <a:fillRect/>
            </a:stretch>
          </p:blipFill>
          <p:spPr>
            <a:xfrm>
              <a:off x="6149359" y="5509482"/>
              <a:ext cx="279666" cy="279666"/>
            </a:xfrm>
            <a:prstGeom prst="rect">
              <a:avLst/>
            </a:prstGeom>
          </p:spPr>
        </p:pic>
        <p:pic>
          <p:nvPicPr>
            <p:cNvPr id="14" name="object 14">
              <a:extLst>
                <a:ext uri="{FF2B5EF4-FFF2-40B4-BE49-F238E27FC236}">
                  <a16:creationId xmlns:a16="http://schemas.microsoft.com/office/drawing/2014/main" id="{7E7957FE-4AA7-7C77-0C58-C4FBB9F1710D}"/>
                </a:ext>
              </a:extLst>
            </p:cNvPr>
            <p:cNvPicPr/>
            <p:nvPr/>
          </p:nvPicPr>
          <p:blipFill>
            <a:blip r:embed="rId9" cstate="print"/>
            <a:stretch>
              <a:fillRect/>
            </a:stretch>
          </p:blipFill>
          <p:spPr>
            <a:xfrm>
              <a:off x="6657720" y="5499785"/>
              <a:ext cx="731583" cy="304342"/>
            </a:xfrm>
            <a:prstGeom prst="rect">
              <a:avLst/>
            </a:prstGeom>
          </p:spPr>
        </p:pic>
        <p:pic>
          <p:nvPicPr>
            <p:cNvPr id="15" name="object 15">
              <a:extLst>
                <a:ext uri="{FF2B5EF4-FFF2-40B4-BE49-F238E27FC236}">
                  <a16:creationId xmlns:a16="http://schemas.microsoft.com/office/drawing/2014/main" id="{61C00BCA-F037-DE42-2701-4B5A7C36A7C4}"/>
                </a:ext>
              </a:extLst>
            </p:cNvPr>
            <p:cNvPicPr/>
            <p:nvPr/>
          </p:nvPicPr>
          <p:blipFill>
            <a:blip r:embed="rId10" cstate="print"/>
            <a:stretch>
              <a:fillRect/>
            </a:stretch>
          </p:blipFill>
          <p:spPr>
            <a:xfrm>
              <a:off x="5920613" y="5754890"/>
              <a:ext cx="1606804" cy="824941"/>
            </a:xfrm>
            <a:prstGeom prst="rect">
              <a:avLst/>
            </a:prstGeom>
          </p:spPr>
        </p:pic>
      </p:grpSp>
      <p:pic>
        <p:nvPicPr>
          <p:cNvPr id="16" name="object 16">
            <a:extLst>
              <a:ext uri="{FF2B5EF4-FFF2-40B4-BE49-F238E27FC236}">
                <a16:creationId xmlns:a16="http://schemas.microsoft.com/office/drawing/2014/main" id="{38C8DE3B-AFEB-392C-C810-FCE1B2F1087C}"/>
              </a:ext>
            </a:extLst>
          </p:cNvPr>
          <p:cNvPicPr/>
          <p:nvPr/>
        </p:nvPicPr>
        <p:blipFill>
          <a:blip r:embed="rId11" cstate="print"/>
          <a:stretch>
            <a:fillRect/>
          </a:stretch>
        </p:blipFill>
        <p:spPr>
          <a:xfrm>
            <a:off x="6250883" y="4856224"/>
            <a:ext cx="1119517" cy="397018"/>
          </a:xfrm>
          <a:prstGeom prst="rect">
            <a:avLst/>
          </a:prstGeom>
        </p:spPr>
      </p:pic>
      <p:sp>
        <p:nvSpPr>
          <p:cNvPr id="17" name="object 17">
            <a:extLst>
              <a:ext uri="{FF2B5EF4-FFF2-40B4-BE49-F238E27FC236}">
                <a16:creationId xmlns:a16="http://schemas.microsoft.com/office/drawing/2014/main" id="{4187EB35-C8C2-27DB-840D-FA31D3C9D5B5}"/>
              </a:ext>
            </a:extLst>
          </p:cNvPr>
          <p:cNvSpPr txBox="1"/>
          <p:nvPr/>
        </p:nvSpPr>
        <p:spPr>
          <a:xfrm>
            <a:off x="8147684" y="4081837"/>
            <a:ext cx="2339975" cy="5137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3200" b="0" i="0" u="none" strike="noStrike" kern="0" cap="none" spc="0" normalizeH="0" baseline="0" noProof="0">
                <a:ln>
                  <a:noFill/>
                </a:ln>
                <a:solidFill>
                  <a:srgbClr val="7E7E7E"/>
                </a:solidFill>
                <a:effectLst/>
                <a:uLnTx/>
                <a:uFillTx/>
                <a:latin typeface="Tahoma"/>
                <a:cs typeface="Tahoma"/>
              </a:rPr>
              <a:t>Our</a:t>
            </a:r>
            <a:r>
              <a:rPr kumimoji="0" sz="3200" b="0" i="0" u="none" strike="noStrike" kern="0" cap="none" spc="-250" normalizeH="0" baseline="0" noProof="0">
                <a:ln>
                  <a:noFill/>
                </a:ln>
                <a:solidFill>
                  <a:srgbClr val="7E7E7E"/>
                </a:solidFill>
                <a:effectLst/>
                <a:uLnTx/>
                <a:uFillTx/>
                <a:latin typeface="Tahoma"/>
                <a:cs typeface="Tahoma"/>
              </a:rPr>
              <a:t> </a:t>
            </a:r>
            <a:r>
              <a:rPr kumimoji="0" sz="3200" b="1" i="0" u="none" strike="noStrike" kern="0" cap="none" spc="-270" normalizeH="0" baseline="0" noProof="0">
                <a:ln>
                  <a:noFill/>
                </a:ln>
                <a:solidFill>
                  <a:srgbClr val="FF0000"/>
                </a:solidFill>
                <a:effectLst/>
                <a:uLnTx/>
                <a:uFillTx/>
                <a:latin typeface="Tahoma"/>
                <a:cs typeface="Tahoma"/>
              </a:rPr>
              <a:t>Products</a:t>
            </a:r>
            <a:endParaRPr kumimoji="0" sz="3200" b="0" i="0" u="none" strike="noStrike" kern="0" cap="none" spc="0" normalizeH="0" baseline="0" noProof="0">
              <a:ln>
                <a:noFill/>
              </a:ln>
              <a:solidFill>
                <a:sysClr val="windowText" lastClr="000000"/>
              </a:solidFill>
              <a:effectLst/>
              <a:uLnTx/>
              <a:uFillTx/>
              <a:latin typeface="Tahoma"/>
              <a:cs typeface="Tahoma"/>
            </a:endParaRPr>
          </a:p>
        </p:txBody>
      </p:sp>
      <p:pic>
        <p:nvPicPr>
          <p:cNvPr id="18" name="object 18">
            <a:extLst>
              <a:ext uri="{FF2B5EF4-FFF2-40B4-BE49-F238E27FC236}">
                <a16:creationId xmlns:a16="http://schemas.microsoft.com/office/drawing/2014/main" id="{1ACA75B8-7D28-3D80-03C4-530945087386}"/>
              </a:ext>
            </a:extLst>
          </p:cNvPr>
          <p:cNvPicPr/>
          <p:nvPr/>
        </p:nvPicPr>
        <p:blipFill>
          <a:blip r:embed="rId12" cstate="print"/>
          <a:stretch>
            <a:fillRect/>
          </a:stretch>
        </p:blipFill>
        <p:spPr>
          <a:xfrm>
            <a:off x="8152544" y="4750447"/>
            <a:ext cx="1206632" cy="506832"/>
          </a:xfrm>
          <a:prstGeom prst="rect">
            <a:avLst/>
          </a:prstGeom>
        </p:spPr>
      </p:pic>
      <p:sp>
        <p:nvSpPr>
          <p:cNvPr id="19" name="object 19">
            <a:extLst>
              <a:ext uri="{FF2B5EF4-FFF2-40B4-BE49-F238E27FC236}">
                <a16:creationId xmlns:a16="http://schemas.microsoft.com/office/drawing/2014/main" id="{0833CA51-44D4-0795-B421-DDCB2BB9BD07}"/>
              </a:ext>
            </a:extLst>
          </p:cNvPr>
          <p:cNvSpPr/>
          <p:nvPr/>
        </p:nvSpPr>
        <p:spPr>
          <a:xfrm>
            <a:off x="734923" y="1330578"/>
            <a:ext cx="10610215" cy="0"/>
          </a:xfrm>
          <a:custGeom>
            <a:avLst/>
            <a:gdLst/>
            <a:ahLst/>
            <a:cxnLst/>
            <a:rect l="l" t="t" r="r" b="b"/>
            <a:pathLst>
              <a:path w="10610215">
                <a:moveTo>
                  <a:pt x="0" y="0"/>
                </a:moveTo>
                <a:lnTo>
                  <a:pt x="10610113" y="0"/>
                </a:lnTo>
              </a:path>
            </a:pathLst>
          </a:custGeom>
          <a:ln w="952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20">
            <a:extLst>
              <a:ext uri="{FF2B5EF4-FFF2-40B4-BE49-F238E27FC236}">
                <a16:creationId xmlns:a16="http://schemas.microsoft.com/office/drawing/2014/main" id="{A8912FB0-0C40-DB5E-AC20-461C63BE8A30}"/>
              </a:ext>
            </a:extLst>
          </p:cNvPr>
          <p:cNvSpPr/>
          <p:nvPr/>
        </p:nvSpPr>
        <p:spPr>
          <a:xfrm>
            <a:off x="819848" y="4647946"/>
            <a:ext cx="6494145" cy="0"/>
          </a:xfrm>
          <a:custGeom>
            <a:avLst/>
            <a:gdLst/>
            <a:ahLst/>
            <a:cxnLst/>
            <a:rect l="l" t="t" r="r" b="b"/>
            <a:pathLst>
              <a:path w="6494145">
                <a:moveTo>
                  <a:pt x="0" y="0"/>
                </a:moveTo>
                <a:lnTo>
                  <a:pt x="6493700" y="0"/>
                </a:lnTo>
              </a:path>
            </a:pathLst>
          </a:custGeom>
          <a:ln w="952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21">
            <a:extLst>
              <a:ext uri="{FF2B5EF4-FFF2-40B4-BE49-F238E27FC236}">
                <a16:creationId xmlns:a16="http://schemas.microsoft.com/office/drawing/2014/main" id="{4B353214-9199-A6A6-FE36-99DFC5F067E8}"/>
              </a:ext>
            </a:extLst>
          </p:cNvPr>
          <p:cNvSpPr/>
          <p:nvPr/>
        </p:nvSpPr>
        <p:spPr>
          <a:xfrm>
            <a:off x="8071484" y="4664893"/>
            <a:ext cx="3358515" cy="1905"/>
          </a:xfrm>
          <a:custGeom>
            <a:avLst/>
            <a:gdLst/>
            <a:ahLst/>
            <a:cxnLst/>
            <a:rect l="l" t="t" r="r" b="b"/>
            <a:pathLst>
              <a:path w="3358515" h="1904">
                <a:moveTo>
                  <a:pt x="0" y="1523"/>
                </a:moveTo>
                <a:lnTo>
                  <a:pt x="3358515" y="0"/>
                </a:lnTo>
              </a:path>
            </a:pathLst>
          </a:custGeom>
          <a:ln w="952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2" name="object 22">
            <a:extLst>
              <a:ext uri="{FF2B5EF4-FFF2-40B4-BE49-F238E27FC236}">
                <a16:creationId xmlns:a16="http://schemas.microsoft.com/office/drawing/2014/main" id="{3014F641-9381-02BC-762F-7399DC0FA125}"/>
              </a:ext>
            </a:extLst>
          </p:cNvPr>
          <p:cNvPicPr/>
          <p:nvPr/>
        </p:nvPicPr>
        <p:blipFill>
          <a:blip r:embed="rId13" cstate="print"/>
          <a:stretch>
            <a:fillRect/>
          </a:stretch>
        </p:blipFill>
        <p:spPr>
          <a:xfrm>
            <a:off x="2583179" y="3455034"/>
            <a:ext cx="1396999" cy="298450"/>
          </a:xfrm>
          <a:prstGeom prst="rect">
            <a:avLst/>
          </a:prstGeom>
        </p:spPr>
      </p:pic>
      <p:pic>
        <p:nvPicPr>
          <p:cNvPr id="23" name="object 23">
            <a:extLst>
              <a:ext uri="{FF2B5EF4-FFF2-40B4-BE49-F238E27FC236}">
                <a16:creationId xmlns:a16="http://schemas.microsoft.com/office/drawing/2014/main" id="{6CEE1A45-BD09-1D4D-4F53-A138388EE72D}"/>
              </a:ext>
            </a:extLst>
          </p:cNvPr>
          <p:cNvPicPr/>
          <p:nvPr/>
        </p:nvPicPr>
        <p:blipFill>
          <a:blip r:embed="rId14" cstate="print"/>
          <a:stretch>
            <a:fillRect/>
          </a:stretch>
        </p:blipFill>
        <p:spPr>
          <a:xfrm>
            <a:off x="881336" y="5993003"/>
            <a:ext cx="761087" cy="324084"/>
          </a:xfrm>
          <a:prstGeom prst="rect">
            <a:avLst/>
          </a:prstGeom>
        </p:spPr>
      </p:pic>
      <p:pic>
        <p:nvPicPr>
          <p:cNvPr id="24" name="object 24">
            <a:extLst>
              <a:ext uri="{FF2B5EF4-FFF2-40B4-BE49-F238E27FC236}">
                <a16:creationId xmlns:a16="http://schemas.microsoft.com/office/drawing/2014/main" id="{1B040FD3-6EF3-98A5-CE0B-C70CDDD7ABCF}"/>
              </a:ext>
            </a:extLst>
          </p:cNvPr>
          <p:cNvPicPr/>
          <p:nvPr/>
        </p:nvPicPr>
        <p:blipFill>
          <a:blip r:embed="rId15" cstate="print"/>
          <a:stretch>
            <a:fillRect/>
          </a:stretch>
        </p:blipFill>
        <p:spPr>
          <a:xfrm>
            <a:off x="2093341" y="6051296"/>
            <a:ext cx="1244942" cy="346989"/>
          </a:xfrm>
          <a:prstGeom prst="rect">
            <a:avLst/>
          </a:prstGeom>
        </p:spPr>
      </p:pic>
      <p:grpSp>
        <p:nvGrpSpPr>
          <p:cNvPr id="25" name="object 25">
            <a:extLst>
              <a:ext uri="{FF2B5EF4-FFF2-40B4-BE49-F238E27FC236}">
                <a16:creationId xmlns:a16="http://schemas.microsoft.com/office/drawing/2014/main" id="{BC70CB87-51C0-EACD-582F-4AC459C665E1}"/>
              </a:ext>
            </a:extLst>
          </p:cNvPr>
          <p:cNvGrpSpPr/>
          <p:nvPr/>
        </p:nvGrpSpPr>
        <p:grpSpPr>
          <a:xfrm>
            <a:off x="8071484" y="4897622"/>
            <a:ext cx="3175000" cy="925194"/>
            <a:chOff x="8071484" y="4879150"/>
            <a:chExt cx="3175000" cy="925194"/>
          </a:xfrm>
        </p:grpSpPr>
        <p:pic>
          <p:nvPicPr>
            <p:cNvPr id="26" name="object 26">
              <a:extLst>
                <a:ext uri="{FF2B5EF4-FFF2-40B4-BE49-F238E27FC236}">
                  <a16:creationId xmlns:a16="http://schemas.microsoft.com/office/drawing/2014/main" id="{209B7C39-D0F3-E0FE-EDCE-326061D977B1}"/>
                </a:ext>
              </a:extLst>
            </p:cNvPr>
            <p:cNvPicPr/>
            <p:nvPr/>
          </p:nvPicPr>
          <p:blipFill>
            <a:blip r:embed="rId16" cstate="print"/>
            <a:stretch>
              <a:fillRect/>
            </a:stretch>
          </p:blipFill>
          <p:spPr>
            <a:xfrm>
              <a:off x="9632829" y="4879150"/>
              <a:ext cx="1613138" cy="444556"/>
            </a:xfrm>
            <a:prstGeom prst="rect">
              <a:avLst/>
            </a:prstGeom>
          </p:spPr>
        </p:pic>
        <p:pic>
          <p:nvPicPr>
            <p:cNvPr id="27" name="object 27">
              <a:extLst>
                <a:ext uri="{FF2B5EF4-FFF2-40B4-BE49-F238E27FC236}">
                  <a16:creationId xmlns:a16="http://schemas.microsoft.com/office/drawing/2014/main" id="{9E5B6249-AB5E-F662-AD50-8AB8B1360445}"/>
                </a:ext>
              </a:extLst>
            </p:cNvPr>
            <p:cNvPicPr/>
            <p:nvPr/>
          </p:nvPicPr>
          <p:blipFill>
            <a:blip r:embed="rId17" cstate="print"/>
            <a:stretch>
              <a:fillRect/>
            </a:stretch>
          </p:blipFill>
          <p:spPr>
            <a:xfrm>
              <a:off x="8071484" y="5317794"/>
              <a:ext cx="1606803" cy="486333"/>
            </a:xfrm>
            <a:prstGeom prst="rect">
              <a:avLst/>
            </a:prstGeom>
          </p:spPr>
        </p:pic>
      </p:grpSp>
      <p:pic>
        <p:nvPicPr>
          <p:cNvPr id="28" name="object 28">
            <a:extLst>
              <a:ext uri="{FF2B5EF4-FFF2-40B4-BE49-F238E27FC236}">
                <a16:creationId xmlns:a16="http://schemas.microsoft.com/office/drawing/2014/main" id="{7F1FD565-309C-F114-18B6-AA51DC303B4D}"/>
              </a:ext>
            </a:extLst>
          </p:cNvPr>
          <p:cNvPicPr/>
          <p:nvPr/>
        </p:nvPicPr>
        <p:blipFill>
          <a:blip r:embed="rId18" cstate="print"/>
          <a:stretch>
            <a:fillRect/>
          </a:stretch>
        </p:blipFill>
        <p:spPr>
          <a:xfrm>
            <a:off x="3389121" y="6037980"/>
            <a:ext cx="2266950" cy="305339"/>
          </a:xfrm>
          <a:prstGeom prst="rect">
            <a:avLst/>
          </a:prstGeom>
        </p:spPr>
      </p:pic>
      <p:pic>
        <p:nvPicPr>
          <p:cNvPr id="29" name="object 29">
            <a:extLst>
              <a:ext uri="{FF2B5EF4-FFF2-40B4-BE49-F238E27FC236}">
                <a16:creationId xmlns:a16="http://schemas.microsoft.com/office/drawing/2014/main" id="{63EC937C-C027-EC05-0BEF-1EC5526357F2}"/>
              </a:ext>
            </a:extLst>
          </p:cNvPr>
          <p:cNvPicPr/>
          <p:nvPr/>
        </p:nvPicPr>
        <p:blipFill>
          <a:blip r:embed="rId19" cstate="print"/>
          <a:stretch>
            <a:fillRect/>
          </a:stretch>
        </p:blipFill>
        <p:spPr>
          <a:xfrm>
            <a:off x="6096000" y="3602575"/>
            <a:ext cx="1422400" cy="226463"/>
          </a:xfrm>
          <a:prstGeom prst="rect">
            <a:avLst/>
          </a:prstGeom>
        </p:spPr>
      </p:pic>
      <p:pic>
        <p:nvPicPr>
          <p:cNvPr id="30" name="object 30">
            <a:extLst>
              <a:ext uri="{FF2B5EF4-FFF2-40B4-BE49-F238E27FC236}">
                <a16:creationId xmlns:a16="http://schemas.microsoft.com/office/drawing/2014/main" id="{A3C775E1-6A9C-7C28-FDC6-94727FE98948}"/>
              </a:ext>
            </a:extLst>
          </p:cNvPr>
          <p:cNvPicPr/>
          <p:nvPr/>
        </p:nvPicPr>
        <p:blipFill>
          <a:blip r:embed="rId20" cstate="print"/>
          <a:stretch>
            <a:fillRect/>
          </a:stretch>
        </p:blipFill>
        <p:spPr>
          <a:xfrm>
            <a:off x="7852409" y="3595244"/>
            <a:ext cx="1638300" cy="155509"/>
          </a:xfrm>
          <a:prstGeom prst="rect">
            <a:avLst/>
          </a:prstGeom>
        </p:spPr>
      </p:pic>
      <p:pic>
        <p:nvPicPr>
          <p:cNvPr id="31" name="object 31">
            <a:extLst>
              <a:ext uri="{FF2B5EF4-FFF2-40B4-BE49-F238E27FC236}">
                <a16:creationId xmlns:a16="http://schemas.microsoft.com/office/drawing/2014/main" id="{5EDCB54D-CB4A-82A8-58E8-EAC658B3AC74}"/>
              </a:ext>
            </a:extLst>
          </p:cNvPr>
          <p:cNvPicPr/>
          <p:nvPr/>
        </p:nvPicPr>
        <p:blipFill>
          <a:blip r:embed="rId21" cstate="print"/>
          <a:stretch>
            <a:fillRect/>
          </a:stretch>
        </p:blipFill>
        <p:spPr>
          <a:xfrm>
            <a:off x="9701021" y="3407930"/>
            <a:ext cx="886752" cy="550786"/>
          </a:xfrm>
          <a:prstGeom prst="rect">
            <a:avLst/>
          </a:prstGeom>
        </p:spPr>
      </p:pic>
      <p:pic>
        <p:nvPicPr>
          <p:cNvPr id="32" name="object 32">
            <a:extLst>
              <a:ext uri="{FF2B5EF4-FFF2-40B4-BE49-F238E27FC236}">
                <a16:creationId xmlns:a16="http://schemas.microsoft.com/office/drawing/2014/main" id="{7D213F11-98E8-5A28-42E3-4436CCE1DC5C}"/>
              </a:ext>
            </a:extLst>
          </p:cNvPr>
          <p:cNvPicPr/>
          <p:nvPr/>
        </p:nvPicPr>
        <p:blipFill>
          <a:blip r:embed="rId22" cstate="print"/>
          <a:stretch>
            <a:fillRect/>
          </a:stretch>
        </p:blipFill>
        <p:spPr>
          <a:xfrm>
            <a:off x="10654441" y="3426315"/>
            <a:ext cx="775507" cy="545052"/>
          </a:xfrm>
          <a:prstGeom prst="rect">
            <a:avLst/>
          </a:prstGeom>
        </p:spPr>
      </p:pic>
    </p:spTree>
    <p:extLst>
      <p:ext uri="{BB962C8B-B14F-4D97-AF65-F5344CB8AC3E}">
        <p14:creationId xmlns:p14="http://schemas.microsoft.com/office/powerpoint/2010/main" val="34574021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CACD-B252-62CA-E349-1D590C148F2F}"/>
            </a:ext>
          </a:extLst>
        </p:cNvPr>
        <p:cNvGrpSpPr/>
        <p:nvPr/>
      </p:nvGrpSpPr>
      <p:grpSpPr>
        <a:xfrm>
          <a:off x="0" y="0"/>
          <a:ext cx="0" cy="0"/>
          <a:chOff x="0" y="0"/>
          <a:chExt cx="0" cy="0"/>
        </a:xfrm>
      </p:grpSpPr>
      <p:pic>
        <p:nvPicPr>
          <p:cNvPr id="52" name="bg object 16">
            <a:extLst>
              <a:ext uri="{FF2B5EF4-FFF2-40B4-BE49-F238E27FC236}">
                <a16:creationId xmlns:a16="http://schemas.microsoft.com/office/drawing/2014/main" id="{0371C2F5-B2CF-BC8F-F0DD-0F1052AD26E2}"/>
              </a:ext>
            </a:extLst>
          </p:cNvPr>
          <p:cNvPicPr/>
          <p:nvPr/>
        </p:nvPicPr>
        <p:blipFill>
          <a:blip r:embed="rId2" cstate="print"/>
          <a:stretch>
            <a:fillRect/>
          </a:stretch>
        </p:blipFill>
        <p:spPr>
          <a:xfrm>
            <a:off x="3565236" y="3059545"/>
            <a:ext cx="5061527" cy="738909"/>
          </a:xfrm>
          <a:prstGeom prst="rect">
            <a:avLst/>
          </a:prstGeom>
        </p:spPr>
      </p:pic>
    </p:spTree>
    <p:extLst>
      <p:ext uri="{BB962C8B-B14F-4D97-AF65-F5344CB8AC3E}">
        <p14:creationId xmlns:p14="http://schemas.microsoft.com/office/powerpoint/2010/main" val="1422951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3991</Words>
  <Application>Microsoft Office PowerPoint</Application>
  <PresentationFormat>Widescreen</PresentationFormat>
  <Paragraphs>798</Paragraphs>
  <Slides>60</Slides>
  <Notes>11</Notes>
  <HiddenSlides>0</HiddenSlides>
  <MMClips>0</MMClips>
  <ScaleCrop>false</ScaleCrop>
  <HeadingPairs>
    <vt:vector size="4" baseType="variant">
      <vt:variant>
        <vt:lpstr>Theme</vt:lpstr>
      </vt:variant>
      <vt:variant>
        <vt:i4>3</vt:i4>
      </vt:variant>
      <vt:variant>
        <vt:lpstr>Slide Titles</vt:lpstr>
      </vt:variant>
      <vt:variant>
        <vt:i4>60</vt:i4>
      </vt:variant>
    </vt:vector>
  </HeadingPairs>
  <TitlesOfParts>
    <vt:vector size="63" baseType="lpstr">
      <vt:lpstr>Office Theme</vt:lpstr>
      <vt:lpstr>1_Office Theme</vt:lpstr>
      <vt:lpstr>2_Office Theme</vt:lpstr>
      <vt:lpstr>PowerPoint Presentation</vt:lpstr>
      <vt:lpstr>Table of Contents</vt:lpstr>
      <vt:lpstr>Executive Summary</vt:lpstr>
      <vt:lpstr>Our Understanding of the Problem</vt:lpstr>
      <vt:lpstr>Our Proposed Solutions</vt:lpstr>
      <vt:lpstr>Enterprise Resource Planning System</vt:lpstr>
      <vt:lpstr>Enterprise Resource Planning System</vt:lpstr>
      <vt:lpstr>Sample Project Management Dashboard</vt:lpstr>
      <vt:lpstr>ERP – Departmental Coverage</vt:lpstr>
      <vt:lpstr>Smart Security &amp; Visitor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Smart Security &amp; Incident Management</vt:lpstr>
      <vt:lpstr>Document &amp; Records Management</vt:lpstr>
      <vt:lpstr>PowerPoint Presentation</vt:lpstr>
      <vt:lpstr>Utility &amp; Metering Management</vt:lpstr>
      <vt:lpstr>Utility &amp; Metering Management  Project &amp; Utility Services Department (PUSD)</vt:lpstr>
      <vt:lpstr>Reporting &amp; Analytics Platform</vt:lpstr>
      <vt:lpstr>Reporting Dashboard</vt:lpstr>
      <vt:lpstr>Enterprise &amp; Investor Portal</vt:lpstr>
      <vt:lpstr>Enterprise &amp; Investor Portal</vt:lpstr>
      <vt:lpstr>Integration &amp; API Layer</vt:lpstr>
      <vt:lpstr>Solution Coverage by Department &amp; Phase</vt:lpstr>
      <vt:lpstr>Solutions-to-Department Mapping</vt:lpstr>
      <vt:lpstr>Proposed Implementation Plan</vt:lpstr>
      <vt:lpstr>Proposed Implementation Plan – Phased Approach</vt:lpstr>
      <vt:lpstr>PowerPoint Presentation</vt:lpstr>
      <vt:lpstr>High-Level Solution Components</vt:lpstr>
      <vt:lpstr>Solution Architecture (High Level)</vt:lpstr>
      <vt:lpstr>Component Description (A)</vt:lpstr>
      <vt:lpstr>Component Description (B)</vt:lpstr>
      <vt:lpstr>PowerPoint Presentation</vt:lpstr>
      <vt:lpstr>Data Migration Strategy</vt:lpstr>
      <vt:lpstr>PowerPoint Presentation</vt:lpstr>
      <vt:lpstr>Team Composition Our proposed Heirs Tech team of experts will ensure successful project delivery for LFTZDC</vt:lpstr>
      <vt:lpstr>Local Expertise</vt:lpstr>
      <vt:lpstr>Benefits to LFTZ</vt:lpstr>
      <vt:lpstr>08 Our Support Centre</vt:lpstr>
      <vt:lpstr>Our Customer Call &amp; Support Centre Overview</vt:lpstr>
      <vt:lpstr>Next Steps</vt:lpstr>
      <vt:lpstr>Conclusion</vt:lpstr>
      <vt:lpstr>09 Corporate Profile</vt:lpstr>
      <vt:lpstr>About Us</vt:lpstr>
      <vt:lpstr>Heirs Technologies at a glance</vt:lpstr>
      <vt:lpstr>Who We Are Heirs Technologies is a proudly African technology services and innovation company - a subsidiary of Heirs Holdings, established to drive digital transformation globally. We bridge local realities with global standards to deliver intelligent, scalable, and secure digital solutions tailored specifically to the African context.</vt:lpstr>
      <vt:lpstr>PowerPoint Presentation</vt:lpstr>
      <vt:lpstr>Technical Skills: Heirs Technologies, Nigeria [1/3]</vt:lpstr>
      <vt:lpstr>Technical Skills: Heirs Technologies, Nigeria [2/3]</vt:lpstr>
      <vt:lpstr>Technical Skills: Heirs Technologies, Nigeria [3/3]</vt:lpstr>
      <vt:lpstr>Our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Adeife</dc:creator>
  <cp:lastModifiedBy>Victor Adeife</cp:lastModifiedBy>
  <cp:revision>2</cp:revision>
  <dcterms:created xsi:type="dcterms:W3CDTF">2026-02-04T09:51:22Z</dcterms:created>
  <dcterms:modified xsi:type="dcterms:W3CDTF">2026-03-16T02:15:07Z</dcterms:modified>
</cp:coreProperties>
</file>